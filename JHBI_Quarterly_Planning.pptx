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9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1463040"/>
            <a:ext cx="1709928" cy="-1088136"/>
          </a:xfrm>
          <a:prstGeom prst="line">
            <a:avLst/>
          </a:prstGeom>
          <a:noFill/>
          <a:ln w="1587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1463040"/>
            <a:ext cx="2331720" cy="777240"/>
          </a:xfrm>
          <a:prstGeom prst="line">
            <a:avLst/>
          </a:prstGeom>
          <a:noFill/>
          <a:ln w="1587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1463040"/>
            <a:ext cx="621792" cy="1709928"/>
          </a:xfrm>
          <a:prstGeom prst="line">
            <a:avLst/>
          </a:prstGeom>
          <a:noFill/>
          <a:ln w="1587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1463040"/>
            <a:ext cx="-1243584" cy="932688"/>
          </a:xfrm>
          <a:prstGeom prst="line">
            <a:avLst/>
          </a:prstGeom>
          <a:noFill/>
          <a:ln w="1587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24360" y="2240280"/>
            <a:ext cx="-621792" cy="-1865376"/>
          </a:xfrm>
          <a:prstGeom prst="line">
            <a:avLst/>
          </a:prstGeom>
          <a:noFill/>
          <a:ln w="1587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2834" y="1183234"/>
            <a:ext cx="559613" cy="559613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216030" y="188366"/>
            <a:ext cx="373075" cy="373075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682374" y="1898294"/>
            <a:ext cx="683971" cy="683971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158984" y="3017520"/>
            <a:ext cx="310896" cy="310896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231429" y="2178101"/>
            <a:ext cx="435254" cy="435254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0" y="5806440"/>
            <a:ext cx="653796" cy="-416052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5806440"/>
            <a:ext cx="891540" cy="29718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0" y="5806440"/>
            <a:ext cx="237744" cy="653796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07040" y="5806440"/>
            <a:ext cx="-475488" cy="356616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98580" y="6103620"/>
            <a:ext cx="-237744" cy="-713232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00055" y="5699455"/>
            <a:ext cx="213970" cy="213970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189513" y="5319065"/>
            <a:ext cx="142646" cy="142646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367821" y="5972861"/>
            <a:ext cx="261518" cy="261518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785348" y="6400800"/>
            <a:ext cx="118872" cy="118872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048342" y="6079846"/>
            <a:ext cx="166421" cy="166421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2606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QUARTERLY PLANNING SESSION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29718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Competing With Data</a:t>
            </a:r>
            <a:endParaRPr lang="en-US" sz="5400" dirty="0"/>
          </a:p>
        </p:txBody>
      </p:sp>
      <p:sp>
        <p:nvSpPr>
          <p:cNvPr id="26" name="Text 24"/>
          <p:cNvSpPr/>
          <p:nvPr/>
        </p:nvSpPr>
        <p:spPr>
          <a:xfrm>
            <a:off x="82296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three-day working session to set our OKR, align the team, and finalize a realistic roadmap into Q4.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Three-Day Offsite  ·  Day 1 – Day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685800"/>
            <a:ext cx="452628" cy="-28803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685800"/>
            <a:ext cx="617220" cy="205740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685800"/>
            <a:ext cx="164592" cy="45262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85800"/>
            <a:ext cx="-329184" cy="24688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7180" y="891540"/>
            <a:ext cx="-164592" cy="-49377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5894" y="611734"/>
            <a:ext cx="148133" cy="148133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13210" y="348386"/>
            <a:ext cx="98755" cy="98755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6654" y="801014"/>
            <a:ext cx="181051" cy="181051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33404" y="1097280"/>
            <a:ext cx="82296" cy="8229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23169" y="875081"/>
            <a:ext cx="115214" cy="115214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– 8:45 AM  ·  DAY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&amp; Introductions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73736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2103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92024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Hosted by Paige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920240" y="24871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remarks &amp; session kickoff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10896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here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days to align as one team around a single, ambitious goal: enabling our clients to win by competing with data.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technical deep-dives, hands-on brainstorming, and dedicated planning time — plus two team dinners.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89320" y="1737360"/>
            <a:ext cx="566928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10607040" y="2286000"/>
            <a:ext cx="553212" cy="-352044"/>
          </a:xfrm>
          <a:prstGeom prst="line">
            <a:avLst/>
          </a:prstGeom>
          <a:noFill/>
          <a:ln w="15875">
            <a:solidFill>
              <a:srgbClr val="C9A227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7040" y="2286000"/>
            <a:ext cx="754380" cy="251460"/>
          </a:xfrm>
          <a:prstGeom prst="line">
            <a:avLst/>
          </a:prstGeom>
          <a:noFill/>
          <a:ln w="15875">
            <a:solidFill>
              <a:srgbClr val="C9A227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07040" y="2286000"/>
            <a:ext cx="201168" cy="553212"/>
          </a:xfrm>
          <a:prstGeom prst="line">
            <a:avLst/>
          </a:prstGeom>
          <a:noFill/>
          <a:ln w="15875">
            <a:solidFill>
              <a:srgbClr val="C9A227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607040" y="2286000"/>
            <a:ext cx="-402336" cy="301752"/>
          </a:xfrm>
          <a:prstGeom prst="line">
            <a:avLst/>
          </a:prstGeom>
          <a:noFill/>
          <a:ln w="15875">
            <a:solidFill>
              <a:srgbClr val="C9A227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61420" y="2537460"/>
            <a:ext cx="-201168" cy="-603504"/>
          </a:xfrm>
          <a:prstGeom prst="line">
            <a:avLst/>
          </a:prstGeom>
          <a:noFill/>
          <a:ln w="15875">
            <a:solidFill>
              <a:srgbClr val="C9A227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16514" y="2195474"/>
            <a:ext cx="181051" cy="181051"/>
          </a:xfrm>
          <a:prstGeom prst="ellipse">
            <a:avLst/>
          </a:prstGeom>
          <a:solidFill>
            <a:srgbClr val="C9A227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099902" y="1873606"/>
            <a:ext cx="120701" cy="120701"/>
          </a:xfrm>
          <a:prstGeom prst="ellipse">
            <a:avLst/>
          </a:prstGeom>
          <a:solidFill>
            <a:srgbClr val="C9A227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250778" y="2426818"/>
            <a:ext cx="221285" cy="221285"/>
          </a:xfrm>
          <a:prstGeom prst="ellipse">
            <a:avLst/>
          </a:prstGeom>
          <a:solidFill>
            <a:srgbClr val="C9A227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757916" y="2788920"/>
            <a:ext cx="100584" cy="100584"/>
          </a:xfrm>
          <a:prstGeom prst="ellipse">
            <a:avLst/>
          </a:prstGeom>
          <a:solidFill>
            <a:srgbClr val="C9A227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134295" y="2517343"/>
            <a:ext cx="140818" cy="140818"/>
          </a:xfrm>
          <a:prstGeom prst="ellipse">
            <a:avLst/>
          </a:prstGeom>
          <a:solidFill>
            <a:srgbClr val="C9A227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Around the Room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00800" y="260604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role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focus area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you're excited about this quarter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you want answered by Friday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685800"/>
            <a:ext cx="452628" cy="-28803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685800"/>
            <a:ext cx="617220" cy="205740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685800"/>
            <a:ext cx="164592" cy="45262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85800"/>
            <a:ext cx="-329184" cy="24688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7180" y="891540"/>
            <a:ext cx="-164592" cy="-49377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5894" y="611734"/>
            <a:ext cx="148133" cy="148133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13210" y="348386"/>
            <a:ext cx="98755" cy="98755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6654" y="801014"/>
            <a:ext cx="181051" cy="181051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33404" y="1097280"/>
            <a:ext cx="82296" cy="8229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23169" y="875081"/>
            <a:ext cx="115214" cy="115214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4–5 MONTHS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Zero to Momentum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691640"/>
            <a:ext cx="2679192" cy="2103120"/>
          </a:xfrm>
          <a:prstGeom prst="roundRect">
            <a:avLst>
              <a:gd name="adj" fmla="val 3043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1856232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LIVE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22402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JHBI Portal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49808" y="2743200"/>
            <a:ext cx="2276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the portal from scratch.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64992" y="1691640"/>
            <a:ext cx="2679192" cy="2103120"/>
          </a:xfrm>
          <a:prstGeom prst="roundRect">
            <a:avLst>
              <a:gd name="adj" fmla="val 3043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1856232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~COMPLETE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66160" y="22402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GCP Infrastructure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566160" y="2743200"/>
            <a:ext cx="2276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project setup nearly complete.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81344" y="1691640"/>
            <a:ext cx="2679192" cy="2103120"/>
          </a:xfrm>
          <a:prstGeom prst="roundRect">
            <a:avLst>
              <a:gd name="adj" fmla="val 3043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1856232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ONBOARDING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82512" y="22402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Alation Catalog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382512" y="2743200"/>
            <a:ext cx="2276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stood up; onboarding our first source.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97696" y="1691640"/>
            <a:ext cx="2679192" cy="2103120"/>
          </a:xfrm>
          <a:prstGeom prst="roundRect">
            <a:avLst>
              <a:gd name="adj" fmla="val 3043"/>
            </a:avLst>
          </a:prstGeom>
          <a:solidFill>
            <a:srgbClr val="F4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9198864" y="1856232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1ST SALE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98864" y="22402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Commercialization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198864" y="2743200"/>
            <a:ext cx="2276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sale closed — nearly a dozen more waiting on core banking integration.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977640"/>
            <a:ext cx="2679192" cy="2103120"/>
          </a:xfrm>
          <a:prstGeom prst="roundRect">
            <a:avLst>
              <a:gd name="adj" fmla="val 3043"/>
            </a:avLst>
          </a:prstGeom>
          <a:solidFill>
            <a:srgbClr val="F4F6FB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4142232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WEBINARS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9808" y="45262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Reach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49808" y="5029200"/>
            <a:ext cx="2276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avg. attendees, close to 100 institutions represented.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64992" y="3977640"/>
            <a:ext cx="2679192" cy="2103120"/>
          </a:xfrm>
          <a:prstGeom prst="roundRect">
            <a:avLst>
              <a:gd name="adj" fmla="val 3043"/>
            </a:avLst>
          </a:prstGeom>
          <a:solidFill>
            <a:srgbClr val="F4F6FB"/>
          </a:solidFill>
          <a:ln/>
        </p:spPr>
      </p:sp>
      <p:sp>
        <p:nvSpPr>
          <p:cNvPr id="37" name="Text 35"/>
          <p:cNvSpPr/>
          <p:nvPr/>
        </p:nvSpPr>
        <p:spPr>
          <a:xfrm>
            <a:off x="3566160" y="4142232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566160" y="45262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3566160" y="5029200"/>
            <a:ext cx="2276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data source onboarded end-to-end.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81344" y="3977640"/>
            <a:ext cx="2679192" cy="2103120"/>
          </a:xfrm>
          <a:prstGeom prst="roundRect">
            <a:avLst>
              <a:gd name="adj" fmla="val 3043"/>
            </a:avLst>
          </a:prstGeom>
          <a:solidFill>
            <a:srgbClr val="F4F6FB"/>
          </a:solidFill>
          <a:ln/>
        </p:spPr>
      </p:sp>
      <p:sp>
        <p:nvSpPr>
          <p:cNvPr id="41" name="Text 39"/>
          <p:cNvSpPr/>
          <p:nvPr/>
        </p:nvSpPr>
        <p:spPr>
          <a:xfrm>
            <a:off x="6382512" y="4142232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LIVE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82512" y="45262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PCI Project &amp; Service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6382512" y="5029200"/>
            <a:ext cx="22768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Stood up a PCI project and service from scratch.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Quarterly Planning  |  Q3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058400" y="654710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685800"/>
            <a:ext cx="452628" cy="-28803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685800"/>
            <a:ext cx="617220" cy="205740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685800"/>
            <a:ext cx="164592" cy="45262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85800"/>
            <a:ext cx="-329184" cy="24688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7180" y="891540"/>
            <a:ext cx="-164592" cy="-49377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5894" y="611734"/>
            <a:ext cx="148133" cy="148133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13210" y="348386"/>
            <a:ext cx="98755" cy="98755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6654" y="801014"/>
            <a:ext cx="181051" cy="181051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33404" y="1097280"/>
            <a:ext cx="82296" cy="8229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23169" y="875081"/>
            <a:ext cx="115214" cy="115214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4–5 MONTHS, CONTINUED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Contracting Resources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73736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0" y="5394960"/>
            <a:ext cx="502920" cy="-32004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5394960"/>
            <a:ext cx="685800" cy="22860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5394960"/>
            <a:ext cx="182880" cy="50292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5394960"/>
            <a:ext cx="-365760" cy="27432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5623560"/>
            <a:ext cx="-182880" cy="-54864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46904" y="5312664"/>
            <a:ext cx="164592" cy="164592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477256" y="5020056"/>
            <a:ext cx="109728" cy="109728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614416" y="5522976"/>
            <a:ext cx="201168" cy="201168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66360" y="5852160"/>
            <a:ext cx="91440" cy="91440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99432" y="5605272"/>
            <a:ext cx="128016" cy="128016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2011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CHANGES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24688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2468880" y="2606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 this quarter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14400" y="33375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2468880" y="3474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14400" y="42062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2468880" y="4343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headcount change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14400" y="52120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is part of the roadmap, too — new team members ramping alongside every workstream above.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89320" y="1737360"/>
            <a:ext cx="5669280" cy="4297680"/>
          </a:xfrm>
          <a:prstGeom prst="roundRect">
            <a:avLst>
              <a:gd name="adj" fmla="val 1702"/>
            </a:avLst>
          </a:prstGeom>
          <a:solidFill>
            <a:srgbClr val="F4F6FB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2011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CONTRACTING RESOURCES — TO PLAN THIS SESSION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55080" y="26060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workstreams need contract support this quarter, and for how long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engagement model — SOW vs. staff augmentation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ceiling and approval path for new contracts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access, and security requirements for contractors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for vendor/contractor performance and renewal decisions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Quarterly Planning  |  Q3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058400" y="654710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685800"/>
            <a:ext cx="452628" cy="-28803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685800"/>
            <a:ext cx="617220" cy="205740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685800"/>
            <a:ext cx="164592" cy="45262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85800"/>
            <a:ext cx="-329184" cy="24688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7180" y="891540"/>
            <a:ext cx="-164592" cy="-49377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5894" y="611734"/>
            <a:ext cx="148133" cy="148133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13210" y="348386"/>
            <a:ext cx="98755" cy="98755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6654" y="801014"/>
            <a:ext cx="181051" cy="181051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33404" y="1097280"/>
            <a:ext cx="82296" cy="8229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23169" y="875081"/>
            <a:ext cx="115214" cy="115214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8:45 – 9:30 AM  ·  DAY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&amp; Our Goal for This Meeting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000" dirty="0"/>
          </a:p>
        </p:txBody>
      </p:sp>
      <p:sp>
        <p:nvSpPr>
          <p:cNvPr id="18" name="Text 16"/>
          <p:cNvSpPr/>
          <p:nvPr/>
        </p:nvSpPr>
        <p:spPr>
          <a:xfrm>
            <a:off x="1463040" y="1965960"/>
            <a:ext cx="9784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session, we will have a realistic roadmap for Connect in October — and a clear plan to carry the team through the next six months.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502152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4617720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to Connect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5029200"/>
            <a:ext cx="2953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a realistic, sequenced roadmap of work we can commit to for the October Connect milestone.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5112" y="3749040"/>
            <a:ext cx="3502152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99432" y="402336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99432" y="4617720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Six Months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99432" y="5029200"/>
            <a:ext cx="2953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with shared clarity on priorities, dependencies, and ownership through year-end.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01584" y="3749040"/>
            <a:ext cx="3502152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</p:spPr>
      </p:sp>
      <p:sp>
        <p:nvSpPr>
          <p:cNvPr id="30" name="Shape 28"/>
          <p:cNvSpPr/>
          <p:nvPr/>
        </p:nvSpPr>
        <p:spPr>
          <a:xfrm>
            <a:off x="8375904" y="402336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8375904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75904" y="4617720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Aligned Team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75904" y="5029200"/>
            <a:ext cx="2953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— product, data science, engineering — working from the same OKR and plan.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Quarterly Planning  |  Q3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58400" y="654710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1005840"/>
            <a:ext cx="1207008" cy="-768096"/>
          </a:xfrm>
          <a:prstGeom prst="line">
            <a:avLst/>
          </a:prstGeom>
          <a:noFill/>
          <a:ln w="1587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1005840"/>
            <a:ext cx="1645920" cy="548640"/>
          </a:xfrm>
          <a:prstGeom prst="line">
            <a:avLst/>
          </a:prstGeom>
          <a:noFill/>
          <a:ln w="1587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1005840"/>
            <a:ext cx="438912" cy="1207008"/>
          </a:xfrm>
          <a:prstGeom prst="line">
            <a:avLst/>
          </a:prstGeom>
          <a:noFill/>
          <a:ln w="1587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0" y="1005840"/>
            <a:ext cx="-877824" cy="658368"/>
          </a:xfrm>
          <a:prstGeom prst="line">
            <a:avLst/>
          </a:prstGeom>
          <a:noFill/>
          <a:ln w="1587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0" y="1554480"/>
            <a:ext cx="-438912" cy="-1316736"/>
          </a:xfrm>
          <a:prstGeom prst="line">
            <a:avLst/>
          </a:prstGeom>
          <a:noFill/>
          <a:ln w="15875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43770" y="808330"/>
            <a:ext cx="395021" cy="395021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316614" y="106070"/>
            <a:ext cx="263347" cy="263347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45798" y="1313078"/>
            <a:ext cx="482803" cy="482803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570464" y="2103120"/>
            <a:ext cx="219456" cy="219456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209837" y="1510589"/>
            <a:ext cx="307238" cy="307238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QUARTER'S OKR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187452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our clients to win by competing with data.</a:t>
            </a:r>
            <a:endParaRPr lang="en-US" sz="4200" dirty="0"/>
          </a:p>
        </p:txBody>
      </p:sp>
      <p:sp>
        <p:nvSpPr>
          <p:cNvPr id="16" name="Shape 14"/>
          <p:cNvSpPr/>
          <p:nvPr/>
        </p:nvSpPr>
        <p:spPr>
          <a:xfrm>
            <a:off x="822960" y="3794760"/>
            <a:ext cx="10241280" cy="0"/>
          </a:xfrm>
          <a:prstGeom prst="line">
            <a:avLst/>
          </a:prstGeom>
          <a:noFill/>
          <a:ln w="12700">
            <a:solidFill>
              <a:srgbClr val="3A46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160520"/>
            <a:ext cx="3337560" cy="2194560"/>
          </a:xfrm>
          <a:prstGeom prst="roundRect">
            <a:avLst>
              <a:gd name="adj" fmla="val 3333"/>
            </a:avLst>
          </a:prstGeom>
          <a:solidFill>
            <a:srgbClr val="141B49">
              <a:alpha val="80000"/>
            </a:srgbClr>
          </a:solidFill>
          <a:ln w="12700">
            <a:solidFill>
              <a:srgbClr val="3A4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4389120"/>
            <a:ext cx="28254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Decisions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8992" y="5029200"/>
            <a:ext cx="28254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clients the visibility and trust to act on their data with confidence.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53128" y="4160520"/>
            <a:ext cx="3337560" cy="2194560"/>
          </a:xfrm>
          <a:prstGeom prst="roundRect">
            <a:avLst>
              <a:gd name="adj" fmla="val 3333"/>
            </a:avLst>
          </a:prstGeom>
          <a:solidFill>
            <a:srgbClr val="141B49">
              <a:alpha val="80000"/>
            </a:srgbClr>
          </a:solidFill>
          <a:ln w="12700">
            <a:solidFill>
              <a:srgbClr val="3A46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4389120"/>
            <a:ext cx="28254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Data Science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09160" y="5029200"/>
            <a:ext cx="28254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clients from hindsight to foresight with models that anticipate what's next.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83296" y="4160520"/>
            <a:ext cx="3337560" cy="2194560"/>
          </a:xfrm>
          <a:prstGeom prst="roundRect">
            <a:avLst>
              <a:gd name="adj" fmla="val 3333"/>
            </a:avLst>
          </a:prstGeom>
          <a:solidFill>
            <a:srgbClr val="141B49">
              <a:alpha val="80000"/>
            </a:srgbClr>
          </a:solidFill>
          <a:ln w="12700">
            <a:solidFill>
              <a:srgbClr val="3A46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4389120"/>
            <a:ext cx="28254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Smart, AI-Enabled Interactions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39328" y="5029200"/>
            <a:ext cx="282549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intelligence directly into the interactions clients have every day.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685800"/>
            <a:ext cx="452628" cy="-28803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685800"/>
            <a:ext cx="617220" cy="205740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685800"/>
            <a:ext cx="164592" cy="45262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85800"/>
            <a:ext cx="-329184" cy="24688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7180" y="891540"/>
            <a:ext cx="-164592" cy="-49377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5894" y="611734"/>
            <a:ext cx="148133" cy="148133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13210" y="348386"/>
            <a:ext cx="98755" cy="98755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6654" y="801014"/>
            <a:ext cx="181051" cy="181051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33404" y="1097280"/>
            <a:ext cx="82296" cy="8229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23169" y="875081"/>
            <a:ext cx="115214" cy="115214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KEY RESULTS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Know We Won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737360"/>
            <a:ext cx="3502152" cy="4297680"/>
          </a:xfrm>
          <a:prstGeom prst="roundRect">
            <a:avLst>
              <a:gd name="adj" fmla="val 2089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1737360"/>
            <a:ext cx="3502152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190195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04672" y="2880360"/>
            <a:ext cx="29900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Reach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04672" y="3794760"/>
            <a:ext cx="299008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JHBI to XX clients over the next year, establishing data-driven competition as a proof point across our client base.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25112" y="1737360"/>
            <a:ext cx="3502152" cy="4297680"/>
          </a:xfrm>
          <a:prstGeom prst="roundRect">
            <a:avLst>
              <a:gd name="adj" fmla="val 2089"/>
            </a:avLst>
          </a:prstGeom>
          <a:solidFill>
            <a:srgbClr val="F4F6FB"/>
          </a:solidFill>
          <a:ln/>
        </p:spPr>
      </p:sp>
      <p:sp>
        <p:nvSpPr>
          <p:cNvPr id="22" name="Shape 20"/>
          <p:cNvSpPr/>
          <p:nvPr/>
        </p:nvSpPr>
        <p:spPr>
          <a:xfrm>
            <a:off x="4325112" y="1737360"/>
            <a:ext cx="3502152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581144" y="190195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581144" y="2880360"/>
            <a:ext cx="29900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&amp; Persona ML in Production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581144" y="3794760"/>
            <a:ext cx="299008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churn and persona models as commercial ML products — complete with the supporting APIs and screens clients actually use.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01584" y="1737360"/>
            <a:ext cx="3502152" cy="4297680"/>
          </a:xfrm>
          <a:prstGeom prst="roundRect">
            <a:avLst>
              <a:gd name="adj" fmla="val 2089"/>
            </a:avLst>
          </a:prstGeom>
          <a:solidFill>
            <a:srgbClr val="F4F6FB"/>
          </a:solidFill>
          <a:ln/>
        </p:spPr>
      </p:sp>
      <p:sp>
        <p:nvSpPr>
          <p:cNvPr id="27" name="Shape 25"/>
          <p:cNvSpPr/>
          <p:nvPr/>
        </p:nvSpPr>
        <p:spPr>
          <a:xfrm>
            <a:off x="8101584" y="1737360"/>
            <a:ext cx="3502152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8357616" y="190195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357616" y="2880360"/>
            <a:ext cx="29900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ML/DS Framework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357616" y="3794760"/>
            <a:ext cx="299008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reusable framework for rapid model building, hosting, and closed-loop analytics — so every future model ships faster.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Quarterly Planning  |  Q3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58400" y="654710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914400"/>
            <a:ext cx="1106424" cy="-704088"/>
          </a:xfrm>
          <a:prstGeom prst="line">
            <a:avLst/>
          </a:prstGeom>
          <a:noFill/>
          <a:ln w="15875">
            <a:solidFill>
              <a:srgbClr val="CADCFC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0" y="914400"/>
            <a:ext cx="1508760" cy="502920"/>
          </a:xfrm>
          <a:prstGeom prst="line">
            <a:avLst/>
          </a:prstGeom>
          <a:noFill/>
          <a:ln w="15875">
            <a:solidFill>
              <a:srgbClr val="CADCFC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0" y="914400"/>
            <a:ext cx="402336" cy="1106424"/>
          </a:xfrm>
          <a:prstGeom prst="line">
            <a:avLst/>
          </a:prstGeom>
          <a:noFill/>
          <a:ln w="15875">
            <a:solidFill>
              <a:srgbClr val="CADCFC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914400"/>
            <a:ext cx="-804672" cy="603504"/>
          </a:xfrm>
          <a:prstGeom prst="line">
            <a:avLst/>
          </a:prstGeom>
          <a:noFill/>
          <a:ln w="15875">
            <a:solidFill>
              <a:srgbClr val="CADCFC">
                <a:alpha val="3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41480" y="1417320"/>
            <a:ext cx="-402336" cy="-1207008"/>
          </a:xfrm>
          <a:prstGeom prst="line">
            <a:avLst/>
          </a:prstGeom>
          <a:noFill/>
          <a:ln w="15875">
            <a:solidFill>
              <a:srgbClr val="CADCFC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51669" y="733349"/>
            <a:ext cx="362102" cy="362102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318443" y="89611"/>
            <a:ext cx="241402" cy="241402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20195" y="1196035"/>
            <a:ext cx="442570" cy="442570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634472" y="1920240"/>
            <a:ext cx="201168" cy="201168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387230" y="1377086"/>
            <a:ext cx="281635" cy="281635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SCIENCE IS HEADED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10058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&amp; Growth: The Business Case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2960" y="16916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revenue plays run through the same engine we're building into KR 02 and KR 03.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2423160"/>
            <a:ext cx="2587752" cy="2331720"/>
          </a:xfrm>
          <a:prstGeom prst="roundRect">
            <a:avLst>
              <a:gd name="adj" fmla="val 3137"/>
            </a:avLst>
          </a:prstGeom>
          <a:solidFill>
            <a:srgbClr val="141B49">
              <a:alpha val="85000"/>
            </a:srgbClr>
          </a:solidFill>
          <a:ln w="12700">
            <a:solidFill>
              <a:srgbClr val="3A46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2679192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$195B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24128" y="3383280"/>
            <a:ext cx="218541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annually to customer churn across U.S. banks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30168" y="2423160"/>
            <a:ext cx="2587752" cy="2331720"/>
          </a:xfrm>
          <a:prstGeom prst="roundRect">
            <a:avLst>
              <a:gd name="adj" fmla="val 3137"/>
            </a:avLst>
          </a:prstGeom>
          <a:solidFill>
            <a:srgbClr val="141B49">
              <a:alpha val="85000"/>
            </a:srgbClr>
          </a:solidFill>
          <a:ln w="12700">
            <a:solidFill>
              <a:srgbClr val="3A46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31336" y="2679192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~5x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831336" y="3383280"/>
            <a:ext cx="218541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acquire a new banking customer vs. retain one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37376" y="2423160"/>
            <a:ext cx="2587752" cy="2331720"/>
          </a:xfrm>
          <a:prstGeom prst="roundRect">
            <a:avLst>
              <a:gd name="adj" fmla="val 3137"/>
            </a:avLst>
          </a:prstGeom>
          <a:solidFill>
            <a:srgbClr val="141B49">
              <a:alpha val="85000"/>
            </a:srgbClr>
          </a:solidFill>
          <a:ln w="12700">
            <a:solidFill>
              <a:srgbClr val="3A46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38544" y="2679192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$130B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638544" y="3383280"/>
            <a:ext cx="218541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small-business banking revenue opportunity — winnable by community FIs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244584" y="2423160"/>
            <a:ext cx="2587752" cy="2331720"/>
          </a:xfrm>
          <a:prstGeom prst="roundRect">
            <a:avLst>
              <a:gd name="adj" fmla="val 3137"/>
            </a:avLst>
          </a:prstGeom>
          <a:solidFill>
            <a:srgbClr val="141B49">
              <a:alpha val="85000"/>
            </a:srgbClr>
          </a:solidFill>
          <a:ln w="12700">
            <a:solidFill>
              <a:srgbClr val="3A46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45752" y="2679192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$825K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445752" y="3383280"/>
            <a:ext cx="218541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new annual revenue at a $1B FI from converting just 330 hidden businesses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5074920"/>
            <a:ext cx="10241280" cy="0"/>
          </a:xfrm>
          <a:prstGeom prst="line">
            <a:avLst/>
          </a:prstGeom>
          <a:noFill/>
          <a:ln w="12700">
            <a:solidFill>
              <a:srgbClr val="3A46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2578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flag costs goodwill; a missed one doesn't — precision matters more than volume in both models.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63093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Mike Ames, "Unlocking Revenue with Data Science" briefing, July 2026 — NCUA, Reichheld &amp; Sasser/HBR, Bain, The Financial Brand / Segmint.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685800"/>
            <a:ext cx="452628" cy="-28803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685800"/>
            <a:ext cx="617220" cy="205740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685800"/>
            <a:ext cx="164592" cy="45262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85800"/>
            <a:ext cx="-329184" cy="24688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7180" y="891540"/>
            <a:ext cx="-164592" cy="-49377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5894" y="611734"/>
            <a:ext cx="148133" cy="148133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13210" y="348386"/>
            <a:ext cx="98755" cy="98755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6654" y="801014"/>
            <a:ext cx="181051" cy="181051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33404" y="1097280"/>
            <a:ext cx="82296" cy="8229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23169" y="875081"/>
            <a:ext cx="115214" cy="115214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REUSABLE ENGINE BEHIND KR 02 &amp; KR 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Two Revenue Plays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691640"/>
            <a:ext cx="2395728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18013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213055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" y="2532888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signals, not everything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62656" y="2258568"/>
            <a:ext cx="146304" cy="274320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1" name="Shape 19"/>
          <p:cNvSpPr/>
          <p:nvPr/>
        </p:nvSpPr>
        <p:spPr>
          <a:xfrm>
            <a:off x="3127248" y="1691640"/>
            <a:ext cx="2395728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3310128" y="18013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10128" y="213055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310128" y="2532888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ML scores the risk or the opportunity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41264" y="2258568"/>
            <a:ext cx="146304" cy="274320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26" name="Shape 24"/>
          <p:cNvSpPr/>
          <p:nvPr/>
        </p:nvSpPr>
        <p:spPr>
          <a:xfrm>
            <a:off x="5705856" y="1691640"/>
            <a:ext cx="2395728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888736" y="18013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888736" y="213055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888736" y="2532888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turns a score into a reason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19872" y="2258568"/>
            <a:ext cx="146304" cy="274320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31" name="Shape 29"/>
          <p:cNvSpPr/>
          <p:nvPr/>
        </p:nvSpPr>
        <p:spPr>
          <a:xfrm>
            <a:off x="8284464" y="1691640"/>
            <a:ext cx="2395728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467344" y="18013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67344" y="213055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467344" y="2532888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optimization deflects or converts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3246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fifth stage, Learn, feeds outcomes back into the model — every deflected churn and every converted account sharpens the next score.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38404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804672" y="4096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8" name="Text 36"/>
          <p:cNvSpPr/>
          <p:nvPr/>
        </p:nvSpPr>
        <p:spPr>
          <a:xfrm>
            <a:off x="1051560" y="40050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Detection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04672" y="4526280"/>
            <a:ext cx="488289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relationships worth ~5x their acquisition cost, before the exit decision is final. Leading indicators: single-product relationships, declining balances, DD drop-off, falling engagement.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38404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/>
        </p:spPr>
      </p:sp>
      <p:sp>
        <p:nvSpPr>
          <p:cNvPr id="41" name="Shape 39"/>
          <p:cNvSpPr/>
          <p:nvPr/>
        </p:nvSpPr>
        <p:spPr>
          <a:xfrm>
            <a:off x="6473952" y="40965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2" name="Text 40"/>
          <p:cNvSpPr/>
          <p:nvPr/>
        </p:nvSpPr>
        <p:spPr>
          <a:xfrm>
            <a:off x="6720840" y="40050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→ Commercial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73952" y="4526280"/>
            <a:ext cx="488289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hidden businesses running through personal accounts into full commercial relationships — roughly 7–13x cheaper than an externally acquired commercial lead.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Quarterly Planning  |  Q3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058400" y="654710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914400"/>
            <a:ext cx="1106424" cy="-704088"/>
          </a:xfrm>
          <a:prstGeom prst="line">
            <a:avLst/>
          </a:prstGeom>
          <a:noFill/>
          <a:ln w="15875">
            <a:solidFill>
              <a:srgbClr val="CADCFC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0" y="914400"/>
            <a:ext cx="1508760" cy="502920"/>
          </a:xfrm>
          <a:prstGeom prst="line">
            <a:avLst/>
          </a:prstGeom>
          <a:noFill/>
          <a:ln w="15875">
            <a:solidFill>
              <a:srgbClr val="CADCFC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0" y="914400"/>
            <a:ext cx="402336" cy="1106424"/>
          </a:xfrm>
          <a:prstGeom prst="line">
            <a:avLst/>
          </a:prstGeom>
          <a:noFill/>
          <a:ln w="15875">
            <a:solidFill>
              <a:srgbClr val="CADCFC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914400"/>
            <a:ext cx="-804672" cy="603504"/>
          </a:xfrm>
          <a:prstGeom prst="line">
            <a:avLst/>
          </a:prstGeom>
          <a:noFill/>
          <a:ln w="15875">
            <a:solidFill>
              <a:srgbClr val="CADCFC">
                <a:alpha val="3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41480" y="1417320"/>
            <a:ext cx="-402336" cy="-1207008"/>
          </a:xfrm>
          <a:prstGeom prst="line">
            <a:avLst/>
          </a:prstGeom>
          <a:noFill/>
          <a:ln w="15875">
            <a:solidFill>
              <a:srgbClr val="CADCFC">
                <a:alpha val="3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51669" y="733349"/>
            <a:ext cx="362102" cy="362102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318443" y="89611"/>
            <a:ext cx="241402" cy="241402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20195" y="1196035"/>
            <a:ext cx="442570" cy="442570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634472" y="1920240"/>
            <a:ext cx="201168" cy="201168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387230" y="1377086"/>
            <a:ext cx="281635" cy="281635"/>
          </a:xfrm>
          <a:prstGeom prst="ellipse">
            <a:avLst/>
          </a:prstGeom>
          <a:solidFill>
            <a:srgbClr val="CADCFC">
              <a:alpha val="3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NOW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10058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Advantage Is Up for Grabs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2960" y="169164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FIs already win on trust. AI decides whether that trust scales — or erodes to a bigger, faster competitor.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2423160"/>
            <a:ext cx="2587752" cy="2331720"/>
          </a:xfrm>
          <a:prstGeom prst="roundRect">
            <a:avLst>
              <a:gd name="adj" fmla="val 3137"/>
            </a:avLst>
          </a:prstGeom>
          <a:solidFill>
            <a:srgbClr val="141B49">
              <a:alpha val="85000"/>
            </a:srgbClr>
          </a:solidFill>
          <a:ln w="12700">
            <a:solidFill>
              <a:srgbClr val="3A46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2679192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24128" y="3383280"/>
            <a:ext cx="218541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banking customers considered switching institutions in the past year — 62% among Gen Z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30168" y="2423160"/>
            <a:ext cx="2587752" cy="2331720"/>
          </a:xfrm>
          <a:prstGeom prst="roundRect">
            <a:avLst>
              <a:gd name="adj" fmla="val 3137"/>
            </a:avLst>
          </a:prstGeom>
          <a:solidFill>
            <a:srgbClr val="141B49">
              <a:alpha val="85000"/>
            </a:srgbClr>
          </a:solidFill>
          <a:ln w="12700">
            <a:solidFill>
              <a:srgbClr val="3A46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31336" y="2679192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831336" y="3383280"/>
            <a:ext cx="218541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banks (mostly under $50B) still process new account opening manually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37376" y="2423160"/>
            <a:ext cx="2587752" cy="2331720"/>
          </a:xfrm>
          <a:prstGeom prst="roundRect">
            <a:avLst>
              <a:gd name="adj" fmla="val 3137"/>
            </a:avLst>
          </a:prstGeom>
          <a:solidFill>
            <a:srgbClr val="141B49">
              <a:alpha val="85000"/>
            </a:srgbClr>
          </a:solidFill>
          <a:ln w="12700">
            <a:solidFill>
              <a:srgbClr val="3A46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38544" y="2679192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638544" y="3383280"/>
            <a:ext cx="218541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say they re-enter the same information during onboarding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244584" y="2423160"/>
            <a:ext cx="2587752" cy="2331720"/>
          </a:xfrm>
          <a:prstGeom prst="roundRect">
            <a:avLst>
              <a:gd name="adj" fmla="val 3137"/>
            </a:avLst>
          </a:prstGeom>
          <a:solidFill>
            <a:srgbClr val="141B49">
              <a:alpha val="85000"/>
            </a:srgbClr>
          </a:solidFill>
          <a:ln w="12700">
            <a:solidFill>
              <a:srgbClr val="3A46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45752" y="2679192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$3M / 77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445752" y="3383280"/>
            <a:ext cx="218541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annual revenue and new relationships from cutting 10 days off onboarding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5074920"/>
            <a:ext cx="10241280" cy="0"/>
          </a:xfrm>
          <a:prstGeom prst="line">
            <a:avLst/>
          </a:prstGeom>
          <a:noFill/>
          <a:ln w="12700">
            <a:solidFill>
              <a:srgbClr val="3A46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2578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isn't trust or appetite — it's friction. AI already runs inside the bank today, governed or not; the choice is whether it's an operating capability or fragmented tool sprawl.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63093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Bank Director / EY NextWave research; nCino digital account-opening research; ABA / Verapath, "The AI Framework for Community Banks," 2026.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685800"/>
            <a:ext cx="452628" cy="-28803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685800"/>
            <a:ext cx="617220" cy="205740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685800"/>
            <a:ext cx="164592" cy="45262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85800"/>
            <a:ext cx="-329184" cy="24688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7180" y="891540"/>
            <a:ext cx="-164592" cy="-49377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5894" y="611734"/>
            <a:ext cx="148133" cy="148133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13210" y="348386"/>
            <a:ext cx="98755" cy="98755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6654" y="801014"/>
            <a:ext cx="181051" cy="181051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33404" y="1097280"/>
            <a:ext cx="82296" cy="8229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23169" y="875081"/>
            <a:ext cx="115214" cy="115214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SYNTHESIZED FRAMEWORK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Community FIs Win With Data &amp; AI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691640"/>
            <a:ext cx="2066544" cy="2880360"/>
          </a:xfrm>
          <a:prstGeom prst="roundRect">
            <a:avLst>
              <a:gd name="adj" fmla="val 3097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18928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2404872"/>
            <a:ext cx="17007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With the Relationship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108960"/>
            <a:ext cx="1700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amplifies the trust and personalization edge community FIs already have — it doesn't replace it.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88920" y="1691640"/>
            <a:ext cx="2066544" cy="2880360"/>
          </a:xfrm>
          <a:prstGeom prst="roundRect">
            <a:avLst>
              <a:gd name="adj" fmla="val 3097"/>
            </a:avLst>
          </a:prstGeom>
          <a:solidFill>
            <a:srgbClr val="F4F6FB"/>
          </a:solidFill>
          <a:ln/>
        </p:spPr>
      </p:sp>
      <p:sp>
        <p:nvSpPr>
          <p:cNvPr id="22" name="Shape 20"/>
          <p:cNvSpPr/>
          <p:nvPr/>
        </p:nvSpPr>
        <p:spPr>
          <a:xfrm>
            <a:off x="2990088" y="18928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2990088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971800" y="2404872"/>
            <a:ext cx="17007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at the Friction Points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71800" y="3108960"/>
            <a:ext cx="1700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opening and onboarding are the highest-leverage moments — pre-fill, straight-through processing, no re-entry.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1691640"/>
            <a:ext cx="2066544" cy="2880360"/>
          </a:xfrm>
          <a:prstGeom prst="roundRect">
            <a:avLst>
              <a:gd name="adj" fmla="val 3097"/>
            </a:avLst>
          </a:prstGeom>
          <a:solidFill>
            <a:srgbClr val="F4F6FB"/>
          </a:solidFill>
          <a:ln/>
        </p:spPr>
      </p:sp>
      <p:sp>
        <p:nvSpPr>
          <p:cNvPr id="27" name="Shape 25"/>
          <p:cNvSpPr/>
          <p:nvPr/>
        </p:nvSpPr>
        <p:spPr>
          <a:xfrm>
            <a:off x="5230368" y="18928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5230368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212080" y="2404872"/>
            <a:ext cx="17007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Foundation Before AI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12080" y="3108960"/>
            <a:ext cx="1700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and clean data first. Partner for AI capability rather than trying to out-hire big banks for it.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69480" y="1691640"/>
            <a:ext cx="2066544" cy="2880360"/>
          </a:xfrm>
          <a:prstGeom prst="roundRect">
            <a:avLst>
              <a:gd name="adj" fmla="val 3097"/>
            </a:avLst>
          </a:prstGeom>
          <a:solidFill>
            <a:srgbClr val="F4F6FB"/>
          </a:solidFill>
          <a:ln/>
        </p:spPr>
      </p:sp>
      <p:sp>
        <p:nvSpPr>
          <p:cNvPr id="32" name="Shape 30"/>
          <p:cNvSpPr/>
          <p:nvPr/>
        </p:nvSpPr>
        <p:spPr>
          <a:xfrm>
            <a:off x="7470648" y="18928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7470648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52360" y="2404872"/>
            <a:ext cx="17007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 as Infrastructure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52360" y="3108960"/>
            <a:ext cx="1700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architecture spanning risk, compliance, cybersecurity, and HR — every AI-influenced decision traceable and defensible.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509760" y="1691640"/>
            <a:ext cx="2066544" cy="2880360"/>
          </a:xfrm>
          <a:prstGeom prst="roundRect">
            <a:avLst>
              <a:gd name="adj" fmla="val 3097"/>
            </a:avLst>
          </a:prstGeom>
          <a:solidFill>
            <a:srgbClr val="F4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9710928" y="18928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9710928" y="1892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692640" y="2404872"/>
            <a:ext cx="17007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 in Revenue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692640" y="3108960"/>
            <a:ext cx="1700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relationship growth and revenue, not automation rates — the metrics that justify the next investment.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50292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sequence: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" y="5349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 from day one  →  fix the data foundation  →  attack the highest-friction moment (onboarding)  →  personalize the relationship  →  measure in relationships and revenue.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Quarterly Planning  |  Q3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058400" y="654710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685800"/>
            <a:ext cx="452628" cy="-28803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685800"/>
            <a:ext cx="617220" cy="205740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685800"/>
            <a:ext cx="164592" cy="45262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85800"/>
            <a:ext cx="-329184" cy="24688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7180" y="891540"/>
            <a:ext cx="-164592" cy="-49377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5894" y="611734"/>
            <a:ext cx="148133" cy="148133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13210" y="348386"/>
            <a:ext cx="98755" cy="98755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6654" y="801014"/>
            <a:ext cx="181051" cy="181051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33404" y="1097280"/>
            <a:ext cx="82296" cy="8229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23169" y="875081"/>
            <a:ext cx="115214" cy="115214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PLANNING FRAMEWORK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 Workstreams We're Planning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691640"/>
            <a:ext cx="2679192" cy="2103120"/>
          </a:xfrm>
          <a:prstGeom prst="roundRect">
            <a:avLst>
              <a:gd name="adj" fmla="val 3043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18562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" y="22402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9808" y="278892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systems, files, and feeds we pull data from to power JHBI's models and reporting.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3364992" y="1691640"/>
            <a:ext cx="2679192" cy="2103120"/>
          </a:xfrm>
          <a:prstGeom prst="roundRect">
            <a:avLst>
              <a:gd name="adj" fmla="val 3043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18562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66160" y="22402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Dashboards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566160" y="278892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Client-facing and internal reporting, rendered in Power BI from the JHBI portal.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6181344" y="1691640"/>
            <a:ext cx="2679192" cy="2103120"/>
          </a:xfrm>
          <a:prstGeom prst="roundRect">
            <a:avLst>
              <a:gd name="adj" fmla="val 3043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18562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82512" y="22402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Feature &amp; Function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382512" y="278892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JHBI portal itself — the client-facing surface for reports, models, and interactions.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8997696" y="1691640"/>
            <a:ext cx="2679192" cy="2103120"/>
          </a:xfrm>
          <a:prstGeom prst="roundRect">
            <a:avLst>
              <a:gd name="adj" fmla="val 3043"/>
            </a:avLst>
          </a:prstGeom>
          <a:solidFill>
            <a:srgbClr val="F4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9198864" y="18562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98864" y="22402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Alation Data &amp; Cataloging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198864" y="278892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 catalog and stewardship layer, where data is documented, classified, and made discoverable.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548640" y="3977640"/>
            <a:ext cx="2679192" cy="2103120"/>
          </a:xfrm>
          <a:prstGeom prst="roundRect">
            <a:avLst>
              <a:gd name="adj" fmla="val 3043"/>
            </a:avLst>
          </a:prstGeom>
          <a:solidFill>
            <a:srgbClr val="F4F6FB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41422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9808" y="45262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Data Management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49808" y="507492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and process for generating realistic, safe test data — including vendor selection.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3364992" y="3977640"/>
            <a:ext cx="2679192" cy="2103120"/>
          </a:xfrm>
          <a:prstGeom prst="roundRect">
            <a:avLst>
              <a:gd name="adj" fmla="val 3043"/>
            </a:avLst>
          </a:prstGeom>
          <a:solidFill>
            <a:srgbClr val="F4F6FB"/>
          </a:solidFill>
          <a:ln/>
        </p:spPr>
      </p:sp>
      <p:sp>
        <p:nvSpPr>
          <p:cNvPr id="37" name="Text 35"/>
          <p:cNvSpPr/>
          <p:nvPr/>
        </p:nvSpPr>
        <p:spPr>
          <a:xfrm>
            <a:off x="3566160" y="41422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566160" y="45262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Source Onboarding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3566160" y="507492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pipeline every new data source moves through: Profile → CDC → TDM → Medallion.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6181344" y="3977640"/>
            <a:ext cx="2679192" cy="2103120"/>
          </a:xfrm>
          <a:prstGeom prst="roundRect">
            <a:avLst>
              <a:gd name="adj" fmla="val 3043"/>
            </a:avLst>
          </a:prstGeom>
          <a:solidFill>
            <a:srgbClr val="F4F6FB"/>
          </a:solidFill>
          <a:ln/>
        </p:spPr>
      </p:sp>
      <p:sp>
        <p:nvSpPr>
          <p:cNvPr id="41" name="Text 39"/>
          <p:cNvSpPr/>
          <p:nvPr/>
        </p:nvSpPr>
        <p:spPr>
          <a:xfrm>
            <a:off x="6382512" y="41422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382512" y="45262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Profiling &amp; Sensitive Data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382512" y="507492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detect, classify, and protect sensitive data across every source before it's used downstream.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8997696" y="3977640"/>
            <a:ext cx="2679192" cy="2103120"/>
          </a:xfrm>
          <a:prstGeom prst="roundRect">
            <a:avLst>
              <a:gd name="adj" fmla="val 3043"/>
            </a:avLst>
          </a:prstGeom>
          <a:solidFill>
            <a:srgbClr val="F4F6FB"/>
          </a:solidFill>
          <a:ln/>
        </p:spPr>
      </p:sp>
      <p:sp>
        <p:nvSpPr>
          <p:cNvPr id="45" name="Text 43"/>
          <p:cNvSpPr/>
          <p:nvPr/>
        </p:nvSpPr>
        <p:spPr>
          <a:xfrm>
            <a:off x="9198864" y="41422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198864" y="452628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Commercialization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9198864" y="5074920"/>
            <a:ext cx="22768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JHBI capabilities get packaged, priced, and sold to reach XX clients this year.</a:t>
            </a:r>
            <a:endParaRPr lang="en-US" sz="970" dirty="0"/>
          </a:p>
        </p:txBody>
      </p:sp>
      <p:sp>
        <p:nvSpPr>
          <p:cNvPr id="48" name="Text 46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Quarterly Planning  |  Q3 2026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058400" y="654710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685800"/>
            <a:ext cx="452628" cy="-28803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685800"/>
            <a:ext cx="617220" cy="205740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685800"/>
            <a:ext cx="164592" cy="45262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85800"/>
            <a:ext cx="-329184" cy="24688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7180" y="891540"/>
            <a:ext cx="-164592" cy="-49377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5894" y="611734"/>
            <a:ext cx="148133" cy="148133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13210" y="348386"/>
            <a:ext cx="98755" cy="98755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6654" y="801014"/>
            <a:ext cx="181051" cy="181051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33404" y="1097280"/>
            <a:ext cx="82296" cy="8229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23169" y="875081"/>
            <a:ext cx="115214" cy="115214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01 OF 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73736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0" y="5394960"/>
            <a:ext cx="502920" cy="-32004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5394960"/>
            <a:ext cx="685800" cy="22860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5394960"/>
            <a:ext cx="182880" cy="50292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5394960"/>
            <a:ext cx="-365760" cy="27432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5623560"/>
            <a:ext cx="-182880" cy="-54864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46904" y="5312664"/>
            <a:ext cx="164592" cy="164592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477256" y="5020056"/>
            <a:ext cx="109728" cy="109728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614416" y="5522976"/>
            <a:ext cx="201168" cy="201168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66360" y="5852160"/>
            <a:ext cx="91440" cy="91440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99432" y="5605272"/>
            <a:ext cx="128016" cy="128016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2011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242316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systems, files, and feeds we pull data from to power JHBI's models and reporting — the raw material every downstream workstream depends on.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989320" y="1737360"/>
            <a:ext cx="5669280" cy="4297680"/>
          </a:xfrm>
          <a:prstGeom prst="roundRect">
            <a:avLst>
              <a:gd name="adj" fmla="val 1702"/>
            </a:avLst>
          </a:prstGeom>
          <a:solidFill>
            <a:srgbClr val="F4F6FB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DECIDE THIS SESSION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251460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inventory of current and candidate sources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sources for the next two quarters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access, and connection method per source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on Data Hub Integration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Quarterly Planning  |  Q3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58400" y="654710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685800"/>
            <a:ext cx="452628" cy="-28803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685800"/>
            <a:ext cx="617220" cy="205740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685800"/>
            <a:ext cx="164592" cy="45262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85800"/>
            <a:ext cx="-329184" cy="24688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7180" y="891540"/>
            <a:ext cx="-164592" cy="-49377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5894" y="611734"/>
            <a:ext cx="148133" cy="148133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13210" y="348386"/>
            <a:ext cx="98755" cy="98755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6654" y="801014"/>
            <a:ext cx="181051" cy="181051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33404" y="1097280"/>
            <a:ext cx="82296" cy="8229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23169" y="875081"/>
            <a:ext cx="115214" cy="115214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02 OF 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Dashboards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73736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0" y="5394960"/>
            <a:ext cx="502920" cy="-32004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5394960"/>
            <a:ext cx="685800" cy="22860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5394960"/>
            <a:ext cx="182880" cy="50292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5394960"/>
            <a:ext cx="-365760" cy="27432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5623560"/>
            <a:ext cx="-182880" cy="-54864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46904" y="5312664"/>
            <a:ext cx="164592" cy="164592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477256" y="5020056"/>
            <a:ext cx="109728" cy="109728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614416" y="5522976"/>
            <a:ext cx="201168" cy="201168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66360" y="5852160"/>
            <a:ext cx="91440" cy="91440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99432" y="5605272"/>
            <a:ext cx="128016" cy="128016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2011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242316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Client-facing and internal reporting, rendered in Power BI directly from the JHBI portal — how clients and our team actually see the data.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989320" y="1737360"/>
            <a:ext cx="5669280" cy="4297680"/>
          </a:xfrm>
          <a:prstGeom prst="roundRect">
            <a:avLst>
              <a:gd name="adj" fmla="val 1702"/>
            </a:avLst>
          </a:prstGeom>
          <a:solidFill>
            <a:srgbClr val="F4F6FB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DECIDE THIS SESSION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251460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catalog: what exists vs. what's needed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cadence and data freshness requirements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approach for Power BI in the portal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vs. curated report access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Quarterly Planning  |  Q3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58400" y="654710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685800"/>
            <a:ext cx="452628" cy="-28803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685800"/>
            <a:ext cx="617220" cy="205740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685800"/>
            <a:ext cx="164592" cy="45262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85800"/>
            <a:ext cx="-329184" cy="24688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7180" y="891540"/>
            <a:ext cx="-164592" cy="-49377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5894" y="611734"/>
            <a:ext cx="148133" cy="148133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13210" y="348386"/>
            <a:ext cx="98755" cy="98755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6654" y="801014"/>
            <a:ext cx="181051" cy="181051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33404" y="1097280"/>
            <a:ext cx="82296" cy="8229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23169" y="875081"/>
            <a:ext cx="115214" cy="115214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03 OF 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Feature &amp; Function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73736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0" y="5394960"/>
            <a:ext cx="502920" cy="-32004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5394960"/>
            <a:ext cx="685800" cy="22860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5394960"/>
            <a:ext cx="182880" cy="50292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5394960"/>
            <a:ext cx="-365760" cy="27432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5623560"/>
            <a:ext cx="-182880" cy="-54864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46904" y="5312664"/>
            <a:ext cx="164592" cy="164592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477256" y="5020056"/>
            <a:ext cx="109728" cy="109728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614416" y="5522976"/>
            <a:ext cx="201168" cy="201168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66360" y="5852160"/>
            <a:ext cx="91440" cy="91440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99432" y="5605272"/>
            <a:ext cx="128016" cy="128016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2011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242316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JHBI portal itself — the client-facing application surface where reports, models, and interactions come together, secured by JHID authorization.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989320" y="1737360"/>
            <a:ext cx="5669280" cy="4297680"/>
          </a:xfrm>
          <a:prstGeom prst="roundRect">
            <a:avLst>
              <a:gd name="adj" fmla="val 1702"/>
            </a:avLst>
          </a:prstGeom>
          <a:solidFill>
            <a:srgbClr val="F4F6FB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DECIDE THIS SESSION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251460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feature set vs. brainstormed additions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JHID authorization requirements and flow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priorities for the next release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sequencing against the Connect deadline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Quarterly Planning  |  Q3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58400" y="654710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685800"/>
            <a:ext cx="452628" cy="-28803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685800"/>
            <a:ext cx="617220" cy="205740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685800"/>
            <a:ext cx="164592" cy="45262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85800"/>
            <a:ext cx="-329184" cy="24688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7180" y="891540"/>
            <a:ext cx="-164592" cy="-49377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5894" y="611734"/>
            <a:ext cx="148133" cy="148133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13210" y="348386"/>
            <a:ext cx="98755" cy="98755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6654" y="801014"/>
            <a:ext cx="181051" cy="181051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33404" y="1097280"/>
            <a:ext cx="82296" cy="8229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23169" y="875081"/>
            <a:ext cx="115214" cy="115214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04 OF 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Alation Data &amp; Cataloging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73736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0" y="5394960"/>
            <a:ext cx="502920" cy="-32004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5394960"/>
            <a:ext cx="685800" cy="22860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5394960"/>
            <a:ext cx="182880" cy="50292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5394960"/>
            <a:ext cx="-365760" cy="27432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5623560"/>
            <a:ext cx="-182880" cy="-54864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46904" y="5312664"/>
            <a:ext cx="164592" cy="164592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477256" y="5020056"/>
            <a:ext cx="109728" cy="109728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614416" y="5522976"/>
            <a:ext cx="201168" cy="201168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66360" y="5852160"/>
            <a:ext cx="91440" cy="91440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99432" y="5605272"/>
            <a:ext cx="128016" cy="128016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2011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242316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data catalog and stewardship layer — where every dataset is documented, classified, and made discoverable across the organization.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989320" y="1737360"/>
            <a:ext cx="5669280" cy="4297680"/>
          </a:xfrm>
          <a:prstGeom prst="roundRect">
            <a:avLst>
              <a:gd name="adj" fmla="val 1702"/>
            </a:avLst>
          </a:prstGeom>
          <a:solidFill>
            <a:srgbClr val="F4F6FB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DECIDE THIS SESSION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251460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stewardship model and role assignments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catalog coverage vs. target coverage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sensitive data classification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for keeping the catalog current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Quarterly Planning  |  Q3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58400" y="654710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685800"/>
            <a:ext cx="452628" cy="-28803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685800"/>
            <a:ext cx="617220" cy="205740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685800"/>
            <a:ext cx="164592" cy="45262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85800"/>
            <a:ext cx="-329184" cy="24688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7180" y="891540"/>
            <a:ext cx="-164592" cy="-49377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5894" y="611734"/>
            <a:ext cx="148133" cy="148133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13210" y="348386"/>
            <a:ext cx="98755" cy="98755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6654" y="801014"/>
            <a:ext cx="181051" cy="181051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33404" y="1097280"/>
            <a:ext cx="82296" cy="8229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23169" y="875081"/>
            <a:ext cx="115214" cy="115214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05 OF 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Data Management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73736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0" y="5394960"/>
            <a:ext cx="502920" cy="-32004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5394960"/>
            <a:ext cx="685800" cy="22860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5394960"/>
            <a:ext cx="182880" cy="50292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5394960"/>
            <a:ext cx="-365760" cy="27432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5623560"/>
            <a:ext cx="-182880" cy="-54864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46904" y="5312664"/>
            <a:ext cx="164592" cy="164592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477256" y="5020056"/>
            <a:ext cx="109728" cy="109728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614416" y="5522976"/>
            <a:ext cx="201168" cy="201168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66360" y="5852160"/>
            <a:ext cx="91440" cy="91440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99432" y="5605272"/>
            <a:ext cx="128016" cy="128016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2011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242316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 and process for generating or masking realistic test data, so we can build and test safely without exposing sensitive production data.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989320" y="1737360"/>
            <a:ext cx="5669280" cy="4297680"/>
          </a:xfrm>
          <a:prstGeom prst="roundRect">
            <a:avLst>
              <a:gd name="adj" fmla="val 1702"/>
            </a:avLst>
          </a:prstGeom>
          <a:solidFill>
            <a:srgbClr val="F4F6FB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DECIDE THIS SESSION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251460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shortlist and evaluation criteria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for vendor selection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dev/CI environments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of ongoing TDM operations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Quarterly Planning  |  Q3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58400" y="654710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685800"/>
            <a:ext cx="452628" cy="-28803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685800"/>
            <a:ext cx="617220" cy="205740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685800"/>
            <a:ext cx="164592" cy="45262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85800"/>
            <a:ext cx="-329184" cy="24688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7180" y="891540"/>
            <a:ext cx="-164592" cy="-49377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5894" y="611734"/>
            <a:ext cx="148133" cy="148133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13210" y="348386"/>
            <a:ext cx="98755" cy="98755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6654" y="801014"/>
            <a:ext cx="181051" cy="181051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33404" y="1097280"/>
            <a:ext cx="82296" cy="8229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23169" y="875081"/>
            <a:ext cx="115214" cy="115214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06 OF 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Source Onboarding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73736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0" y="5394960"/>
            <a:ext cx="502920" cy="-32004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5394960"/>
            <a:ext cx="685800" cy="22860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5394960"/>
            <a:ext cx="182880" cy="50292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5394960"/>
            <a:ext cx="-365760" cy="27432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5623560"/>
            <a:ext cx="-182880" cy="-54864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46904" y="5312664"/>
            <a:ext cx="164592" cy="164592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477256" y="5020056"/>
            <a:ext cx="109728" cy="109728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614416" y="5522976"/>
            <a:ext cx="201168" cy="201168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66360" y="5852160"/>
            <a:ext cx="91440" cy="91440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99432" y="5605272"/>
            <a:ext cx="128016" cy="128016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2011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242316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standard pipeline every new data source moves through — Profile, then CDC, then TDM, then Medallion — so onboarding is repeatable, not bespoke.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989320" y="1737360"/>
            <a:ext cx="5669280" cy="4297680"/>
          </a:xfrm>
          <a:prstGeom prst="roundRect">
            <a:avLst>
              <a:gd name="adj" fmla="val 1702"/>
            </a:avLst>
          </a:prstGeom>
          <a:solidFill>
            <a:srgbClr val="F4F6FB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DECIDE THIS SESSION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251460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entry/exit criteria for each stage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tooling: piloting Qlik Replicate for Phase 2 (moved off Striim — operability concerns)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 and handoff owners between stages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pipeline plugs into the reusable ML/DS framework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Quarterly Planning  |  Q3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58400" y="654710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685800"/>
            <a:ext cx="452628" cy="-28803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685800"/>
            <a:ext cx="617220" cy="205740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685800"/>
            <a:ext cx="164592" cy="45262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85800"/>
            <a:ext cx="-329184" cy="24688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7180" y="891540"/>
            <a:ext cx="-164592" cy="-49377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5894" y="611734"/>
            <a:ext cx="148133" cy="148133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13210" y="348386"/>
            <a:ext cx="98755" cy="98755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6654" y="801014"/>
            <a:ext cx="181051" cy="181051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33404" y="1097280"/>
            <a:ext cx="82296" cy="8229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23169" y="875081"/>
            <a:ext cx="115214" cy="115214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07 OF 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Profiling &amp; Sensitive Data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73736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0" y="5394960"/>
            <a:ext cx="502920" cy="-32004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5394960"/>
            <a:ext cx="685800" cy="22860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5394960"/>
            <a:ext cx="182880" cy="50292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5394960"/>
            <a:ext cx="-365760" cy="27432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5623560"/>
            <a:ext cx="-182880" cy="-54864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46904" y="5312664"/>
            <a:ext cx="164592" cy="164592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477256" y="5020056"/>
            <a:ext cx="109728" cy="109728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614416" y="5522976"/>
            <a:ext cx="201168" cy="201168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66360" y="5852160"/>
            <a:ext cx="91440" cy="91440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99432" y="5605272"/>
            <a:ext cx="128016" cy="128016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2011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242316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detect, classify, and protect sensitive data across every source before it's used downstream — the foundation of client trust.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989320" y="1737360"/>
            <a:ext cx="5669280" cy="4297680"/>
          </a:xfrm>
          <a:prstGeom prst="roundRect">
            <a:avLst>
              <a:gd name="adj" fmla="val 1702"/>
            </a:avLst>
          </a:prstGeom>
          <a:solidFill>
            <a:srgbClr val="F4F6FB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DECIDE THIS SESSION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251460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tooling and coverage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classification scheme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Handling, masking, and access rules by classification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requirements to satisfy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Quarterly Planning  |  Q3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58400" y="654710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685800"/>
            <a:ext cx="452628" cy="-28803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685800"/>
            <a:ext cx="617220" cy="205740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685800"/>
            <a:ext cx="164592" cy="45262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85800"/>
            <a:ext cx="-329184" cy="24688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7180" y="891540"/>
            <a:ext cx="-164592" cy="-49377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5894" y="611734"/>
            <a:ext cx="148133" cy="148133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13210" y="348386"/>
            <a:ext cx="98755" cy="98755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6654" y="801014"/>
            <a:ext cx="181051" cy="181051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33404" y="1097280"/>
            <a:ext cx="82296" cy="8229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23169" y="875081"/>
            <a:ext cx="115214" cy="115214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08 OF 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Commercialization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73736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0" y="5394960"/>
            <a:ext cx="502920" cy="-32004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5394960"/>
            <a:ext cx="685800" cy="22860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5394960"/>
            <a:ext cx="182880" cy="50292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5394960"/>
            <a:ext cx="-365760" cy="27432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5623560"/>
            <a:ext cx="-182880" cy="-548640"/>
          </a:xfrm>
          <a:prstGeom prst="line">
            <a:avLst/>
          </a:prstGeom>
          <a:noFill/>
          <a:ln w="15875">
            <a:solidFill>
              <a:srgbClr val="C9A227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46904" y="5312664"/>
            <a:ext cx="164592" cy="164592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477256" y="5020056"/>
            <a:ext cx="109728" cy="109728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614416" y="5522976"/>
            <a:ext cx="201168" cy="201168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66360" y="5852160"/>
            <a:ext cx="91440" cy="91440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99432" y="5605272"/>
            <a:ext cx="128016" cy="128016"/>
          </a:xfrm>
          <a:prstGeom prst="ellipse">
            <a:avLst/>
          </a:prstGeom>
          <a:solidFill>
            <a:srgbClr val="C9A227">
              <a:alpha val="3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2011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2423160"/>
            <a:ext cx="4206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JHBI capabilities — churn and persona models, APIs, screens — get packaged, priced, and sold on the path to XX clients this year.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989320" y="1737360"/>
            <a:ext cx="5669280" cy="4297680"/>
          </a:xfrm>
          <a:prstGeom prst="roundRect">
            <a:avLst>
              <a:gd name="adj" fmla="val 1702"/>
            </a:avLst>
          </a:prstGeom>
          <a:solidFill>
            <a:srgbClr val="F4F6FB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DECIDE THIS SESSION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251460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of ML models, APIs, and screens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 and payment approach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enablement and positioning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tied to the annual OKR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Quarterly Planning  |  Q3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58400" y="654710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685800"/>
            <a:ext cx="452628" cy="-28803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685800"/>
            <a:ext cx="617220" cy="205740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685800"/>
            <a:ext cx="164592" cy="45262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85800"/>
            <a:ext cx="-329184" cy="24688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7180" y="891540"/>
            <a:ext cx="-164592" cy="-49377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5894" y="611734"/>
            <a:ext cx="148133" cy="148133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13210" y="348386"/>
            <a:ext cx="98755" cy="98755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6654" y="801014"/>
            <a:ext cx="181051" cy="181051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33404" y="1097280"/>
            <a:ext cx="82296" cy="8229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23169" y="875081"/>
            <a:ext cx="115214" cy="115214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Agenda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691640"/>
            <a:ext cx="5349240" cy="457200"/>
          </a:xfrm>
          <a:prstGeom prst="rect">
            <a:avLst/>
          </a:prstGeom>
          <a:solidFill>
            <a:srgbClr val="F6EED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1691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– 8:30 AM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40280" y="18836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2423160" y="16916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 &amp; Chit Chat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148840"/>
            <a:ext cx="5349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148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– 8:45 AM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40280" y="23408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2423160" y="2148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2606040"/>
            <a:ext cx="53492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2606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8:45 – 9:30 AM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40280" y="27980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242316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Goals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063240"/>
            <a:ext cx="5349240" cy="457200"/>
          </a:xfrm>
          <a:prstGeom prst="rect">
            <a:avLst/>
          </a:prstGeom>
          <a:solidFill>
            <a:srgbClr val="F6EED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063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 – 10:15 AM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40280" y="32552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2423160" y="3063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520440"/>
            <a:ext cx="53492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3520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10:15 – 10:45 AM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240280" y="37124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6" name="Text 34"/>
          <p:cNvSpPr/>
          <p:nvPr/>
        </p:nvSpPr>
        <p:spPr>
          <a:xfrm>
            <a:off x="2423160" y="3520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Render a Report in Power BI from the Portal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3977640"/>
            <a:ext cx="5349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– 12:00 PM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40280" y="41696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0" name="Text 38"/>
          <p:cNvSpPr/>
          <p:nvPr/>
        </p:nvSpPr>
        <p:spPr>
          <a:xfrm>
            <a:off x="2423160" y="39776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JHID Authorization Session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4434840"/>
            <a:ext cx="5349240" cy="457200"/>
          </a:xfrm>
          <a:prstGeom prst="rect">
            <a:avLst/>
          </a:prstGeom>
          <a:solidFill>
            <a:srgbClr val="F6EEDA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4434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 – 1:00 PM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240280" y="46268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4" name="Text 42"/>
          <p:cNvSpPr/>
          <p:nvPr/>
        </p:nvSpPr>
        <p:spPr>
          <a:xfrm>
            <a:off x="2423160" y="4434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91072" y="1691640"/>
            <a:ext cx="53492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6" name="Text 44"/>
          <p:cNvSpPr/>
          <p:nvPr/>
        </p:nvSpPr>
        <p:spPr>
          <a:xfrm>
            <a:off x="6428232" y="1691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– 2:00 PM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982712" y="18836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8" name="Text 46"/>
          <p:cNvSpPr/>
          <p:nvPr/>
        </p:nvSpPr>
        <p:spPr>
          <a:xfrm>
            <a:off x="8165592" y="16916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Portal Brainstorming Session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91072" y="2148840"/>
            <a:ext cx="5349240" cy="457200"/>
          </a:xfrm>
          <a:prstGeom prst="rect">
            <a:avLst/>
          </a:prstGeom>
          <a:solidFill>
            <a:srgbClr val="F6EEDA"/>
          </a:solidFill>
          <a:ln/>
        </p:spPr>
      </p:sp>
      <p:sp>
        <p:nvSpPr>
          <p:cNvPr id="50" name="Text 48"/>
          <p:cNvSpPr/>
          <p:nvPr/>
        </p:nvSpPr>
        <p:spPr>
          <a:xfrm>
            <a:off x="6428232" y="2148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– 2:30 PM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982712" y="23408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2" name="Text 50"/>
          <p:cNvSpPr/>
          <p:nvPr/>
        </p:nvSpPr>
        <p:spPr>
          <a:xfrm>
            <a:off x="8165592" y="2148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291072" y="2606040"/>
            <a:ext cx="53492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4" name="Text 52"/>
          <p:cNvSpPr/>
          <p:nvPr/>
        </p:nvSpPr>
        <p:spPr>
          <a:xfrm>
            <a:off x="6428232" y="2606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 – 3:30 PM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982712" y="27980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6" name="Text 54"/>
          <p:cNvSpPr/>
          <p:nvPr/>
        </p:nvSpPr>
        <p:spPr>
          <a:xfrm>
            <a:off x="8165592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Handling, Profiling &amp; Data Catalog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291072" y="3063240"/>
            <a:ext cx="5349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6428232" y="3063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3:30 – 4:30 PM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982712" y="32552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0" name="Text 58"/>
          <p:cNvSpPr/>
          <p:nvPr/>
        </p:nvSpPr>
        <p:spPr>
          <a:xfrm>
            <a:off x="8165592" y="3063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Stewardship for Alation Data Catalog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291072" y="3520440"/>
            <a:ext cx="53492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2" name="Text 60"/>
          <p:cNvSpPr/>
          <p:nvPr/>
        </p:nvSpPr>
        <p:spPr>
          <a:xfrm>
            <a:off x="6428232" y="3520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4:30 – 5:30 PM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7982712" y="37124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4" name="Text 62"/>
          <p:cNvSpPr/>
          <p:nvPr/>
        </p:nvSpPr>
        <p:spPr>
          <a:xfrm>
            <a:off x="8165592" y="3520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Day Recap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291072" y="3977640"/>
            <a:ext cx="5349240" cy="457200"/>
          </a:xfrm>
          <a:prstGeom prst="rect">
            <a:avLst/>
          </a:prstGeom>
          <a:solidFill>
            <a:srgbClr val="F6EEDA"/>
          </a:solidFill>
          <a:ln/>
        </p:spPr>
      </p:sp>
      <p:sp>
        <p:nvSpPr>
          <p:cNvPr id="66" name="Text 64"/>
          <p:cNvSpPr/>
          <p:nvPr/>
        </p:nvSpPr>
        <p:spPr>
          <a:xfrm>
            <a:off x="6428232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5:30 PM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7982712" y="41696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8" name="Text 66"/>
          <p:cNvSpPr/>
          <p:nvPr/>
        </p:nvSpPr>
        <p:spPr>
          <a:xfrm>
            <a:off x="8165592" y="39776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Building Dinner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Quarterly Planning  |  Q3 2026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058400" y="654710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685800"/>
            <a:ext cx="452628" cy="-28803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685800"/>
            <a:ext cx="617220" cy="205740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685800"/>
            <a:ext cx="164592" cy="45262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85800"/>
            <a:ext cx="-329184" cy="24688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7180" y="891540"/>
            <a:ext cx="-164592" cy="-49377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5894" y="611734"/>
            <a:ext cx="148133" cy="148133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13210" y="348386"/>
            <a:ext cx="98755" cy="98755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6654" y="801014"/>
            <a:ext cx="181051" cy="181051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33404" y="1097280"/>
            <a:ext cx="82296" cy="8229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23169" y="875081"/>
            <a:ext cx="115214" cy="115214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Agenda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691640"/>
            <a:ext cx="5349240" cy="457200"/>
          </a:xfrm>
          <a:prstGeom prst="rect">
            <a:avLst/>
          </a:prstGeom>
          <a:solidFill>
            <a:srgbClr val="F6EED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1691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– 8:30 AM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40280" y="18836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2423160" y="16916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 Chat &amp; Coffee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148840"/>
            <a:ext cx="5349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148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– 9:30 AM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40280" y="23408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2423160" y="2148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Development Using Cursor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606040"/>
            <a:ext cx="53492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2606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 – 10:45 AM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40280" y="27980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242316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Integration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063240"/>
            <a:ext cx="5349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063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– 12:00 PM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40280" y="32552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2423160" y="3063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Architecture, Data Modeling &amp; ELT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3520440"/>
            <a:ext cx="5349240" cy="457200"/>
          </a:xfrm>
          <a:prstGeom prst="rect">
            <a:avLst/>
          </a:prstGeom>
          <a:solidFill>
            <a:srgbClr val="F6EEDA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3520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 – 1:00 PM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40280" y="37124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5" name="Text 33"/>
          <p:cNvSpPr/>
          <p:nvPr/>
        </p:nvSpPr>
        <p:spPr>
          <a:xfrm>
            <a:off x="2423160" y="3520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91072" y="1691640"/>
            <a:ext cx="53492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7" name="Text 35"/>
          <p:cNvSpPr/>
          <p:nvPr/>
        </p:nvSpPr>
        <p:spPr>
          <a:xfrm>
            <a:off x="6428232" y="1691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– 1:30 PM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982712" y="18836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9" name="Text 37"/>
          <p:cNvSpPr/>
          <p:nvPr/>
        </p:nvSpPr>
        <p:spPr>
          <a:xfrm>
            <a:off x="8165592" y="16916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Discussion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91072" y="2148840"/>
            <a:ext cx="5349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428232" y="2148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– 2:00 PM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982712" y="23408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3" name="Text 41"/>
          <p:cNvSpPr/>
          <p:nvPr/>
        </p:nvSpPr>
        <p:spPr>
          <a:xfrm>
            <a:off x="8165592" y="2148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Management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91072" y="2606040"/>
            <a:ext cx="53492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5" name="Text 43"/>
          <p:cNvSpPr/>
          <p:nvPr/>
        </p:nvSpPr>
        <p:spPr>
          <a:xfrm>
            <a:off x="6428232" y="2606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– 2:45 PM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982712" y="27980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7" name="Text 45"/>
          <p:cNvSpPr/>
          <p:nvPr/>
        </p:nvSpPr>
        <p:spPr>
          <a:xfrm>
            <a:off x="8165592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91072" y="3063240"/>
            <a:ext cx="5349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428232" y="3063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2:45 – 5:30 PM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982712" y="32552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1" name="Text 49"/>
          <p:cNvSpPr/>
          <p:nvPr/>
        </p:nvSpPr>
        <p:spPr>
          <a:xfrm>
            <a:off x="8165592" y="3063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Planning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291072" y="3520440"/>
            <a:ext cx="5349240" cy="457200"/>
          </a:xfrm>
          <a:prstGeom prst="rect">
            <a:avLst/>
          </a:prstGeom>
          <a:solidFill>
            <a:srgbClr val="F6EEDA"/>
          </a:solidFill>
          <a:ln/>
        </p:spPr>
      </p:sp>
      <p:sp>
        <p:nvSpPr>
          <p:cNvPr id="53" name="Text 51"/>
          <p:cNvSpPr/>
          <p:nvPr/>
        </p:nvSpPr>
        <p:spPr>
          <a:xfrm>
            <a:off x="6428232" y="3520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5:30 PM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982712" y="37124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5" name="Text 53"/>
          <p:cNvSpPr/>
          <p:nvPr/>
        </p:nvSpPr>
        <p:spPr>
          <a:xfrm>
            <a:off x="8165592" y="3520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Dinner &amp; Team Building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Quarterly Planning  |  Q3 2026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058400" y="654710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685800"/>
            <a:ext cx="452628" cy="-28803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685800"/>
            <a:ext cx="617220" cy="205740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685800"/>
            <a:ext cx="164592" cy="45262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85800"/>
            <a:ext cx="-329184" cy="24688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7180" y="891540"/>
            <a:ext cx="-164592" cy="-49377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5894" y="611734"/>
            <a:ext cx="148133" cy="148133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13210" y="348386"/>
            <a:ext cx="98755" cy="98755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6654" y="801014"/>
            <a:ext cx="181051" cy="181051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33404" y="1097280"/>
            <a:ext cx="82296" cy="8229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23169" y="875081"/>
            <a:ext cx="115214" cy="115214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Agenda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691640"/>
            <a:ext cx="5349240" cy="457200"/>
          </a:xfrm>
          <a:prstGeom prst="rect">
            <a:avLst/>
          </a:prstGeom>
          <a:solidFill>
            <a:srgbClr val="F6EED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1691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– 8:30 AM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40280" y="18836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2423160" y="16916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148840"/>
            <a:ext cx="5349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148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– 9:30 AM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40280" y="23408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2423160" y="2148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606040"/>
            <a:ext cx="53492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2606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 – 10:15 AM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40280" y="27980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2423160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Report Development Process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91072" y="1691640"/>
            <a:ext cx="5349240" cy="457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9" name="Text 27"/>
          <p:cNvSpPr/>
          <p:nvPr/>
        </p:nvSpPr>
        <p:spPr>
          <a:xfrm>
            <a:off x="6428232" y="1691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10:15 – 10:45 AM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982712" y="18836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8165592" y="16916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91072" y="2148840"/>
            <a:ext cx="5349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428232" y="2148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– 11:45 AM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982712" y="23408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5" name="Text 33"/>
          <p:cNvSpPr/>
          <p:nvPr/>
        </p:nvSpPr>
        <p:spPr>
          <a:xfrm>
            <a:off x="8165592" y="2148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Finalization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91072" y="2606040"/>
            <a:ext cx="5349240" cy="457200"/>
          </a:xfrm>
          <a:prstGeom prst="rect">
            <a:avLst/>
          </a:prstGeom>
          <a:solidFill>
            <a:srgbClr val="F6EEDA"/>
          </a:solidFill>
          <a:ln/>
        </p:spPr>
      </p:sp>
      <p:sp>
        <p:nvSpPr>
          <p:cNvPr id="37" name="Text 35"/>
          <p:cNvSpPr/>
          <p:nvPr/>
        </p:nvSpPr>
        <p:spPr>
          <a:xfrm>
            <a:off x="6428232" y="2606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11:45 AM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982712" y="2798064"/>
            <a:ext cx="73152" cy="7315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9" name="Text 37"/>
          <p:cNvSpPr/>
          <p:nvPr/>
        </p:nvSpPr>
        <p:spPr>
          <a:xfrm>
            <a:off x="8165592" y="2606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— Head Out!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Quarterly Planning  |  Q3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058400" y="654710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685800"/>
            <a:ext cx="452628" cy="-28803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685800"/>
            <a:ext cx="617220" cy="205740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685800"/>
            <a:ext cx="164592" cy="45262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85800"/>
            <a:ext cx="-329184" cy="24688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7180" y="891540"/>
            <a:ext cx="-164592" cy="-49377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5894" y="611734"/>
            <a:ext cx="148133" cy="148133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13210" y="348386"/>
            <a:ext cx="98755" cy="98755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6654" y="801014"/>
            <a:ext cx="181051" cy="181051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33404" y="1097280"/>
            <a:ext cx="82296" cy="8229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23169" y="875081"/>
            <a:ext cx="115214" cy="115214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DRAFT — TEMPLATE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by Workstream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4264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during Day 3 Roadmap Finalization — one lane per workstream, timed against the Connect deadline.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34640" y="1892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97680" y="1892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760720" y="1892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223760" y="1892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0" y="1892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149840" y="1892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219456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2240280"/>
            <a:ext cx="11064240" cy="485775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2240280"/>
            <a:ext cx="2148840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Data Sources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34640" y="224028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224028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224028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224028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0" y="224028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49840" y="224028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612880" y="224028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80360" y="2355152"/>
            <a:ext cx="2834640" cy="256032"/>
          </a:xfrm>
          <a:prstGeom prst="roundRect">
            <a:avLst>
              <a:gd name="adj" fmla="val 17857"/>
            </a:avLst>
          </a:prstGeom>
          <a:solidFill>
            <a:srgbClr val="C9A227">
              <a:alpha val="75000"/>
            </a:srgbClr>
          </a:solidFill>
          <a:ln w="12700">
            <a:solidFill>
              <a:srgbClr val="C9A227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85800" y="2726055"/>
            <a:ext cx="2148840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Reports &amp; Dashboards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834640" y="272605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97680" y="272605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60720" y="272605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23760" y="272605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0" y="272605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49840" y="272605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612880" y="272605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43400" y="2840927"/>
            <a:ext cx="2834640" cy="256032"/>
          </a:xfrm>
          <a:prstGeom prst="roundRect">
            <a:avLst>
              <a:gd name="adj" fmla="val 17857"/>
            </a:avLst>
          </a:prstGeom>
          <a:solidFill>
            <a:srgbClr val="C9A227">
              <a:alpha val="75000"/>
            </a:srgbClr>
          </a:solidFill>
          <a:ln w="12700">
            <a:solidFill>
              <a:srgbClr val="C9A227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548640" y="3211830"/>
            <a:ext cx="11064240" cy="485775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3211830"/>
            <a:ext cx="2148840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Portal Feature &amp; Function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834640" y="321183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97680" y="321183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60720" y="321183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23760" y="321183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86800" y="321183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149840" y="321183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612880" y="321183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06440" y="3326702"/>
            <a:ext cx="2834640" cy="256032"/>
          </a:xfrm>
          <a:prstGeom prst="roundRect">
            <a:avLst>
              <a:gd name="adj" fmla="val 17857"/>
            </a:avLst>
          </a:prstGeom>
          <a:solidFill>
            <a:srgbClr val="C9A227">
              <a:alpha val="75000"/>
            </a:srgbClr>
          </a:solidFill>
          <a:ln w="12700">
            <a:solidFill>
              <a:srgbClr val="C9A227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685800" y="3697605"/>
            <a:ext cx="2148840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Alation Data &amp; Cataloging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834640" y="369760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97680" y="369760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760720" y="369760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23760" y="369760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686800" y="369760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149840" y="369760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12880" y="369760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" y="4183380"/>
            <a:ext cx="11064240" cy="485775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2" name="Text 60"/>
          <p:cNvSpPr/>
          <p:nvPr/>
        </p:nvSpPr>
        <p:spPr>
          <a:xfrm>
            <a:off x="685800" y="4183380"/>
            <a:ext cx="2148840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Test Data Management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834640" y="418338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97680" y="418338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760720" y="418338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223760" y="418338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418338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149840" y="418338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612880" y="418338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5800" y="4669155"/>
            <a:ext cx="2148840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New Source Onboarding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834640" y="466915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97680" y="466915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760720" y="466915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223760" y="466915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686800" y="466915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149840" y="466915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612880" y="466915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48640" y="5154930"/>
            <a:ext cx="11064240" cy="485775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9" name="Text 77"/>
          <p:cNvSpPr/>
          <p:nvPr/>
        </p:nvSpPr>
        <p:spPr>
          <a:xfrm>
            <a:off x="685800" y="5154930"/>
            <a:ext cx="2148840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Profiling &amp; Sensitive Data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2834640" y="515493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297680" y="515493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760720" y="515493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223760" y="515493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686800" y="515493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149840" y="515493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612880" y="5154930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85800" y="5640705"/>
            <a:ext cx="2148840" cy="485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Commercialization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2834640" y="564070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297680" y="564070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760720" y="564070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23760" y="564070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686800" y="564070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149840" y="564070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612880" y="5640705"/>
            <a:ext cx="0" cy="485775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placeholders shown — edit bars live during Roadmap Finalization.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Quarterly Planning  |  Q3 2026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10058400" y="654710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685800"/>
            <a:ext cx="452628" cy="-28803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685800"/>
            <a:ext cx="617220" cy="205740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0" y="685800"/>
            <a:ext cx="164592" cy="45262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09960" y="685800"/>
            <a:ext cx="-329184" cy="246888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27180" y="891540"/>
            <a:ext cx="-164592" cy="-493776"/>
          </a:xfrm>
          <a:prstGeom prst="line">
            <a:avLst/>
          </a:prstGeom>
          <a:noFill/>
          <a:ln w="15875">
            <a:solidFill>
              <a:srgbClr val="1E2761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35894" y="611734"/>
            <a:ext cx="148133" cy="148133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13210" y="348386"/>
            <a:ext cx="98755" cy="98755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36654" y="801014"/>
            <a:ext cx="181051" cy="181051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33404" y="1097280"/>
            <a:ext cx="82296" cy="82296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723169" y="875081"/>
            <a:ext cx="115214" cy="115214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6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DRAFT — TEMPLATE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by Phase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4264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during Day 3 Roadmap Finalization — crawl/walk/run phases from the data-science roadmap, extended across the full program.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34640" y="1892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97680" y="1892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760720" y="1892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223760" y="1892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0" y="1892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149840" y="18928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219456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2240280"/>
            <a:ext cx="11064240" cy="56692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224028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Data Foundation &amp; Churn Pilot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834640" y="2240280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2240280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2240280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2240280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0" y="2240280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49840" y="2240280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612880" y="2240280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80360" y="2395728"/>
            <a:ext cx="2834640" cy="256032"/>
          </a:xfrm>
          <a:prstGeom prst="roundRect">
            <a:avLst>
              <a:gd name="adj" fmla="val 17857"/>
            </a:avLst>
          </a:prstGeom>
          <a:solidFill>
            <a:srgbClr val="C9A227">
              <a:alpha val="75000"/>
            </a:srgbClr>
          </a:solidFill>
          <a:ln w="12700">
            <a:solidFill>
              <a:srgbClr val="C9A227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685800" y="2807208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Explainability &amp; Governance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834640" y="2807208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97680" y="2807208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60720" y="2807208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23760" y="2807208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0" y="2807208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49840" y="2807208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612880" y="2807208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43400" y="2962656"/>
            <a:ext cx="2834640" cy="256032"/>
          </a:xfrm>
          <a:prstGeom prst="roundRect">
            <a:avLst>
              <a:gd name="adj" fmla="val 17857"/>
            </a:avLst>
          </a:prstGeom>
          <a:solidFill>
            <a:srgbClr val="C9A227">
              <a:alpha val="75000"/>
            </a:srgbClr>
          </a:solidFill>
          <a:ln w="12700">
            <a:solidFill>
              <a:srgbClr val="C9A227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548640" y="3374136"/>
            <a:ext cx="11064240" cy="56692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3374136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Personal-to-Commercial Pilot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834640" y="3374136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97680" y="3374136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60720" y="3374136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23760" y="3374136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86800" y="3374136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149840" y="3374136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612880" y="3374136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69480" y="3529584"/>
            <a:ext cx="2834640" cy="256032"/>
          </a:xfrm>
          <a:prstGeom prst="roundRect">
            <a:avLst>
              <a:gd name="adj" fmla="val 17857"/>
            </a:avLst>
          </a:prstGeom>
          <a:solidFill>
            <a:srgbClr val="C9A227">
              <a:alpha val="75000"/>
            </a:srgbClr>
          </a:solidFill>
          <a:ln w="12700">
            <a:solidFill>
              <a:srgbClr val="C9A227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685800" y="3941064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Unified Offer Optimization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834640" y="3941064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97680" y="3941064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760720" y="3941064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23760" y="3941064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686800" y="3941064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149840" y="3941064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12880" y="3941064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" y="4507992"/>
            <a:ext cx="11064240" cy="56692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2" name="Text 60"/>
          <p:cNvSpPr/>
          <p:nvPr/>
        </p:nvSpPr>
        <p:spPr>
          <a:xfrm>
            <a:off x="685800" y="4507992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Milestone (October)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834640" y="4507992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97680" y="4507992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760720" y="4507992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223760" y="4507992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4507992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149840" y="4507992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612880" y="4507992"/>
            <a:ext cx="0" cy="566928"/>
          </a:xfrm>
          <a:prstGeom prst="line">
            <a:avLst/>
          </a:prstGeom>
          <a:noFill/>
          <a:ln w="9525">
            <a:solidFill>
              <a:srgbClr val="E7EAF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5212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placeholders shown — edit bars live during Roadmap Finalization.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Quarterly Planning  |  Q3 2026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0058400" y="654710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1188720"/>
            <a:ext cx="1307592" cy="-832104"/>
          </a:xfrm>
          <a:prstGeom prst="line">
            <a:avLst/>
          </a:prstGeom>
          <a:noFill/>
          <a:ln w="15875">
            <a:solidFill>
              <a:srgbClr val="CADCFC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1188720"/>
            <a:ext cx="1783080" cy="594360"/>
          </a:xfrm>
          <a:prstGeom prst="line">
            <a:avLst/>
          </a:prstGeom>
          <a:noFill/>
          <a:ln w="15875">
            <a:solidFill>
              <a:srgbClr val="CADCFC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0" y="1188720"/>
            <a:ext cx="475488" cy="1307592"/>
          </a:xfrm>
          <a:prstGeom prst="line">
            <a:avLst/>
          </a:prstGeom>
          <a:noFill/>
          <a:ln w="15875">
            <a:solidFill>
              <a:srgbClr val="CADCFC">
                <a:alpha val="4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0" y="1188720"/>
            <a:ext cx="-950976" cy="713232"/>
          </a:xfrm>
          <a:prstGeom prst="line">
            <a:avLst/>
          </a:prstGeom>
          <a:noFill/>
          <a:ln w="15875">
            <a:solidFill>
              <a:srgbClr val="CADCFC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58600" y="1783080"/>
            <a:ext cx="-475488" cy="-1426464"/>
          </a:xfrm>
          <a:prstGeom prst="line">
            <a:avLst/>
          </a:prstGeom>
          <a:noFill/>
          <a:ln w="15875">
            <a:solidFill>
              <a:srgbClr val="CADCFC">
                <a:alpha val="4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61550" y="974750"/>
            <a:ext cx="427939" cy="427939"/>
          </a:xfrm>
          <a:prstGeom prst="ellipse">
            <a:avLst/>
          </a:prstGeom>
          <a:solidFill>
            <a:srgbClr val="CADCFC">
              <a:alpha val="4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040466" y="213970"/>
            <a:ext cx="285293" cy="285293"/>
          </a:xfrm>
          <a:prstGeom prst="ellipse">
            <a:avLst/>
          </a:prstGeom>
          <a:solidFill>
            <a:srgbClr val="CADCFC">
              <a:alpha val="4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97082" y="1521562"/>
            <a:ext cx="523037" cy="523037"/>
          </a:xfrm>
          <a:prstGeom prst="ellipse">
            <a:avLst/>
          </a:prstGeom>
          <a:solidFill>
            <a:srgbClr val="CADCFC">
              <a:alpha val="4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232136" y="2377440"/>
            <a:ext cx="237744" cy="237744"/>
          </a:xfrm>
          <a:prstGeom prst="ellipse">
            <a:avLst/>
          </a:prstGeom>
          <a:solidFill>
            <a:srgbClr val="CADCFC">
              <a:alpha val="4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758123" y="1735531"/>
            <a:ext cx="332842" cy="332842"/>
          </a:xfrm>
          <a:prstGeom prst="ellipse">
            <a:avLst/>
          </a:prstGeom>
          <a:solidFill>
            <a:srgbClr val="CADCFC">
              <a:alpha val="4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HEAD OUT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1600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Here With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822960" y="2798064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267004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finalized roadmap to Connect in October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3364992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23697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plan for the next six months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393192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3803904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owners for churn/persona models, APIs, and the reusable ML/DS framework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4498848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437083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team, one OKR: enabling clients to win by competing with data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three great days — see you at Connect.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2026-07-20T16:38:10Z</dcterms:created>
  <dcterms:modified xsi:type="dcterms:W3CDTF">2026-07-20T16:38:10Z</dcterms:modified>
</cp:coreProperties>
</file>