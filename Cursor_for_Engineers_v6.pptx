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LAIN">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F3A"/>
          </a:solidFill>
          <a:ln/>
        </p:spPr>
      </p:sp>
      <p:sp>
        <p:nvSpPr>
          <p:cNvPr id="3" name="Shape 1"/>
          <p:cNvSpPr/>
          <p:nvPr/>
        </p:nvSpPr>
        <p:spPr>
          <a:xfrm>
            <a:off x="8778240" y="822960"/>
            <a:ext cx="2926080" cy="2926080"/>
          </a:xfrm>
          <a:prstGeom prst="ellipse">
            <a:avLst/>
          </a:prstGeom>
          <a:ln w="17780">
            <a:solidFill>
              <a:srgbClr val="3282B8"/>
            </a:solidFill>
            <a:prstDash val="solid"/>
          </a:ln>
        </p:spPr>
      </p:sp>
      <p:sp>
        <p:nvSpPr>
          <p:cNvPr id="4" name="Shape 2"/>
          <p:cNvSpPr/>
          <p:nvPr/>
        </p:nvSpPr>
        <p:spPr>
          <a:xfrm>
            <a:off x="8823960" y="1874520"/>
            <a:ext cx="2468880" cy="2468880"/>
          </a:xfrm>
          <a:prstGeom prst="ellipse">
            <a:avLst/>
          </a:prstGeom>
          <a:ln w="17780">
            <a:solidFill>
              <a:srgbClr val="F2A541"/>
            </a:solidFill>
            <a:prstDash val="solid"/>
          </a:ln>
        </p:spPr>
      </p:sp>
      <p:sp>
        <p:nvSpPr>
          <p:cNvPr id="5" name="Shape 3"/>
          <p:cNvSpPr/>
          <p:nvPr/>
        </p:nvSpPr>
        <p:spPr>
          <a:xfrm>
            <a:off x="8869680" y="2926080"/>
            <a:ext cx="2011680" cy="2011680"/>
          </a:xfrm>
          <a:prstGeom prst="ellipse">
            <a:avLst/>
          </a:prstGeom>
          <a:ln w="17780">
            <a:solidFill>
              <a:srgbClr val="3282B8"/>
            </a:solidFill>
            <a:prstDash val="solid"/>
          </a:ln>
        </p:spPr>
      </p:sp>
      <p:sp>
        <p:nvSpPr>
          <p:cNvPr id="6" name="Text 4"/>
          <p:cNvSpPr/>
          <p:nvPr/>
        </p:nvSpPr>
        <p:spPr>
          <a:xfrm>
            <a:off x="822960" y="2148840"/>
            <a:ext cx="7315200" cy="457200"/>
          </a:xfrm>
          <a:prstGeom prst="rect">
            <a:avLst/>
          </a:prstGeom>
          <a:noFill/>
          <a:ln/>
        </p:spPr>
        <p:txBody>
          <a:bodyPr wrap="square" lIns="0" tIns="0" rIns="0" bIns="0" rtlCol="0" anchor="ctr"/>
          <a:lstStyle/>
          <a:p>
            <a:pPr indent="0" marL="0">
              <a:buNone/>
            </a:pPr>
            <a:r>
              <a:rPr lang="en-US" sz="1500" b="1" spc="300" kern="0" dirty="0">
                <a:solidFill>
                  <a:srgbClr val="F2A541"/>
                </a:solidFill>
                <a:latin typeface="Calibri" pitchFamily="34" charset="0"/>
                <a:ea typeface="Calibri" pitchFamily="34" charset="-122"/>
                <a:cs typeface="Calibri" pitchFamily="34" charset="-120"/>
              </a:rPr>
              <a:t>A TEAM TUTORIAL</a:t>
            </a:r>
            <a:endParaRPr lang="en-US" sz="1500" dirty="0"/>
          </a:p>
        </p:txBody>
      </p:sp>
      <p:sp>
        <p:nvSpPr>
          <p:cNvPr id="7" name="Text 5"/>
          <p:cNvSpPr/>
          <p:nvPr/>
        </p:nvSpPr>
        <p:spPr>
          <a:xfrm>
            <a:off x="777240" y="2606040"/>
            <a:ext cx="9601200" cy="137160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Cursor for Engineers</a:t>
            </a:r>
            <a:endParaRPr lang="en-US" sz="4800" dirty="0"/>
          </a:p>
        </p:txBody>
      </p:sp>
      <p:sp>
        <p:nvSpPr>
          <p:cNvPr id="8" name="Text 6"/>
          <p:cNvSpPr/>
          <p:nvPr/>
        </p:nvSpPr>
        <p:spPr>
          <a:xfrm>
            <a:off x="822960" y="3794760"/>
            <a:ext cx="8686800" cy="640080"/>
          </a:xfrm>
          <a:prstGeom prst="rect">
            <a:avLst/>
          </a:prstGeom>
          <a:noFill/>
          <a:ln/>
        </p:spPr>
        <p:txBody>
          <a:bodyPr wrap="square" lIns="0" tIns="0" rIns="0" bIns="0" rtlCol="0" anchor="ctr"/>
          <a:lstStyle/>
          <a:p>
            <a:pPr indent="0" marL="0">
              <a:buNone/>
            </a:pPr>
            <a:r>
              <a:rPr lang="en-US" sz="1800" dirty="0">
                <a:solidFill>
                  <a:srgbClr val="AFC6DE"/>
                </a:solidFill>
                <a:latin typeface="Calibri" pitchFamily="34" charset="0"/>
                <a:ea typeface="Calibri" pitchFamily="34" charset="-122"/>
                <a:cs typeface="Calibri" pitchFamily="34" charset="-120"/>
              </a:rPr>
              <a:t>AI-native software development — from notebook to CLI</a:t>
            </a:r>
            <a:endParaRPr lang="en-US" sz="1800" dirty="0"/>
          </a:p>
        </p:txBody>
      </p:sp>
      <p:sp>
        <p:nvSpPr>
          <p:cNvPr id="9" name="Text 7"/>
          <p:cNvSpPr/>
          <p:nvPr/>
        </p:nvSpPr>
        <p:spPr>
          <a:xfrm>
            <a:off x="822960" y="6035040"/>
            <a:ext cx="9144000" cy="365760"/>
          </a:xfrm>
          <a:prstGeom prst="rect">
            <a:avLst/>
          </a:prstGeom>
          <a:noFill/>
          <a:ln/>
        </p:spPr>
        <p:txBody>
          <a:bodyPr wrap="square" lIns="0" tIns="0" rIns="0" bIns="0" rtlCol="0" anchor="ctr"/>
          <a:lstStyle/>
          <a:p>
            <a:pPr indent="0" marL="0">
              <a:buNone/>
            </a:pPr>
            <a:r>
              <a:rPr lang="en-US" sz="1300" dirty="0">
                <a:solidFill>
                  <a:srgbClr val="3282B8"/>
                </a:solidFill>
                <a:latin typeface="Calibri" pitchFamily="34" charset="0"/>
                <a:ea typeface="Calibri" pitchFamily="34" charset="-122"/>
                <a:cs typeface="Calibri" pitchFamily="34" charset="-120"/>
              </a:rPr>
              <a:t>Foundations  •  Production Workflows  •  Scaling &amp; Security</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lIns="0" tIns="0" rIns="0" bIns="0" rtlCol="0" anchor="ctr"/>
          <a:lstStyle/>
          <a:p>
            <a:pPr indent="0" marL="0">
              <a:buNone/>
            </a:pPr>
            <a:r>
              <a:rPr lang="en-US" sz="1300" b="1" spc="200" kern="0" dirty="0">
                <a:solidFill>
                  <a:srgbClr val="3282B8"/>
                </a:solidFill>
                <a:latin typeface="Calibri" pitchFamily="34" charset="0"/>
                <a:ea typeface="Calibri" pitchFamily="34" charset="-122"/>
                <a:cs typeface="Calibri" pitchFamily="34" charset="-120"/>
              </a:rPr>
              <a:t>WHAT WE'LL COVER</a:t>
            </a:r>
            <a:endParaRPr lang="en-US" sz="1300" dirty="0"/>
          </a:p>
        </p:txBody>
      </p:sp>
      <p:sp>
        <p:nvSpPr>
          <p:cNvPr id="3" name="Text 1"/>
          <p:cNvSpPr/>
          <p:nvPr/>
        </p:nvSpPr>
        <p:spPr>
          <a:xfrm>
            <a:off x="548640" y="731520"/>
            <a:ext cx="11064240" cy="822960"/>
          </a:xfrm>
          <a:prstGeom prst="rect">
            <a:avLst/>
          </a:prstGeom>
          <a:noFill/>
          <a:ln/>
        </p:spPr>
        <p:txBody>
          <a:bodyPr wrap="square" lIns="0" tIns="0" rIns="0" bIns="0" rtlCol="0" anchor="ctr"/>
          <a:lstStyle/>
          <a:p>
            <a:pPr indent="0" marL="0">
              <a:buNone/>
            </a:pPr>
            <a:r>
              <a:rPr lang="en-US" sz="3000" b="1" dirty="0">
                <a:solidFill>
                  <a:srgbClr val="16233A"/>
                </a:solidFill>
                <a:latin typeface="Cambria" pitchFamily="34" charset="0"/>
                <a:ea typeface="Cambria" pitchFamily="34" charset="-122"/>
                <a:cs typeface="Cambria" pitchFamily="34" charset="-120"/>
              </a:rPr>
              <a:t>Three chapters, one working loop</a:t>
            </a:r>
            <a:endParaRPr lang="en-US" sz="3000" dirty="0"/>
          </a:p>
        </p:txBody>
      </p:sp>
      <p:sp>
        <p:nvSpPr>
          <p:cNvPr id="4" name="Text 2"/>
          <p:cNvSpPr/>
          <p:nvPr/>
        </p:nvSpPr>
        <p:spPr>
          <a:xfrm>
            <a:off x="548640" y="1417320"/>
            <a:ext cx="9144000" cy="365760"/>
          </a:xfrm>
          <a:prstGeom prst="rect">
            <a:avLst/>
          </a:prstGeom>
          <a:noFill/>
          <a:ln/>
        </p:spPr>
        <p:txBody>
          <a:bodyPr wrap="square" lIns="0" tIns="0" rIns="0" bIns="0" rtlCol="0" anchor="ctr"/>
          <a:lstStyle/>
          <a:p>
            <a:pPr indent="0" marL="0">
              <a:buNone/>
            </a:pPr>
            <a:r>
              <a:rPr lang="en-US" sz="1400" dirty="0">
                <a:solidFill>
                  <a:srgbClr val="5C6B7A"/>
                </a:solidFill>
                <a:latin typeface="Calibri" pitchFamily="34" charset="0"/>
                <a:ea typeface="Calibri" pitchFamily="34" charset="-122"/>
                <a:cs typeface="Calibri" pitchFamily="34" charset="-120"/>
              </a:rPr>
              <a:t>~90 minutes — live demo throughout. Bring a repo you know well.</a:t>
            </a:r>
            <a:endParaRPr lang="en-US" sz="1400" dirty="0"/>
          </a:p>
        </p:txBody>
      </p:sp>
      <p:sp>
        <p:nvSpPr>
          <p:cNvPr id="5" name="Shape 3"/>
          <p:cNvSpPr/>
          <p:nvPr/>
        </p:nvSpPr>
        <p:spPr>
          <a:xfrm>
            <a:off x="548640" y="2148840"/>
            <a:ext cx="3520440" cy="3931920"/>
          </a:xfrm>
          <a:prstGeom prst="roundRect">
            <a:avLst>
              <a:gd name="adj" fmla="val 2597"/>
            </a:avLst>
          </a:prstGeom>
          <a:solidFill>
            <a:srgbClr val="F0F4F8"/>
          </a:solidFill>
          <a:ln/>
          <a:effectLst>
            <a:outerShdw sx="100000" sy="100000" kx="0" ky="0" algn="bl" rotWithShape="0" blurRad="76200" dist="25400" dir="5400000">
              <a:srgbClr val="0B1F3A">
                <a:alpha val="18000"/>
              </a:srgbClr>
            </a:outerShdw>
          </a:effectLst>
        </p:spPr>
      </p:sp>
      <p:sp>
        <p:nvSpPr>
          <p:cNvPr id="6" name="Shape 4"/>
          <p:cNvSpPr/>
          <p:nvPr/>
        </p:nvSpPr>
        <p:spPr>
          <a:xfrm>
            <a:off x="868680" y="2468880"/>
            <a:ext cx="640080" cy="640080"/>
          </a:xfrm>
          <a:prstGeom prst="ellipse">
            <a:avLst/>
          </a:prstGeom>
          <a:solidFill>
            <a:srgbClr val="0F4C75"/>
          </a:solidFill>
          <a:ln/>
          <a:effectLst>
            <a:outerShdw sx="100000" sy="100000" kx="0" ky="0" algn="bl" rotWithShape="0" blurRad="76200" dist="25400" dir="5400000">
              <a:srgbClr val="0B1F3A">
                <a:alpha val="18000"/>
              </a:srgbClr>
            </a:outerShdw>
          </a:effectLst>
        </p:spPr>
      </p:sp>
      <p:sp>
        <p:nvSpPr>
          <p:cNvPr id="7" name="Text 5"/>
          <p:cNvSpPr/>
          <p:nvPr/>
        </p:nvSpPr>
        <p:spPr>
          <a:xfrm>
            <a:off x="868680" y="246888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8" name="Text 6"/>
          <p:cNvSpPr/>
          <p:nvPr/>
        </p:nvSpPr>
        <p:spPr>
          <a:xfrm>
            <a:off x="3063240" y="2423160"/>
            <a:ext cx="822960" cy="457200"/>
          </a:xfrm>
          <a:prstGeom prst="rect">
            <a:avLst/>
          </a:prstGeom>
          <a:noFill/>
          <a:ln/>
        </p:spPr>
        <p:txBody>
          <a:bodyPr wrap="square" lIns="0" tIns="0" rIns="0" bIns="0" rtlCol="0" anchor="ctr"/>
          <a:lstStyle/>
          <a:p>
            <a:pPr algn="r" indent="0" marL="0">
              <a:buNone/>
            </a:pPr>
            <a:r>
              <a:rPr lang="en-US" sz="2200" b="1" dirty="0">
                <a:solidFill>
                  <a:srgbClr val="C7D3DE"/>
                </a:solidFill>
                <a:latin typeface="Cambria" pitchFamily="34" charset="0"/>
                <a:ea typeface="Cambria" pitchFamily="34" charset="-122"/>
                <a:cs typeface="Cambria" pitchFamily="34" charset="-120"/>
              </a:rPr>
              <a:t>01</a:t>
            </a:r>
            <a:endParaRPr lang="en-US" sz="2200" dirty="0"/>
          </a:p>
        </p:txBody>
      </p:sp>
      <p:sp>
        <p:nvSpPr>
          <p:cNvPr id="9" name="Text 7"/>
          <p:cNvSpPr/>
          <p:nvPr/>
        </p:nvSpPr>
        <p:spPr>
          <a:xfrm>
            <a:off x="868680" y="3337560"/>
            <a:ext cx="2880360" cy="548640"/>
          </a:xfrm>
          <a:prstGeom prst="rect">
            <a:avLst/>
          </a:prstGeom>
          <a:noFill/>
          <a:ln/>
        </p:spPr>
        <p:txBody>
          <a:bodyPr wrap="square" lIns="0" tIns="0" rIns="0" bIns="0" rtlCol="0" anchor="ctr"/>
          <a:lstStyle/>
          <a:p>
            <a:pPr indent="0" marL="0">
              <a:buNone/>
            </a:pPr>
            <a:r>
              <a:rPr lang="en-US" sz="2000" b="1" dirty="0">
                <a:solidFill>
                  <a:srgbClr val="16233A"/>
                </a:solidFill>
                <a:latin typeface="Cambria" pitchFamily="34" charset="0"/>
                <a:ea typeface="Cambria" pitchFamily="34" charset="-122"/>
                <a:cs typeface="Cambria" pitchFamily="34" charset="-120"/>
              </a:rPr>
              <a:t>Foundations</a:t>
            </a:r>
            <a:endParaRPr lang="en-US" sz="2000" dirty="0"/>
          </a:p>
        </p:txBody>
      </p:sp>
      <p:sp>
        <p:nvSpPr>
          <p:cNvPr id="10" name="Text 8"/>
          <p:cNvSpPr/>
          <p:nvPr/>
        </p:nvSpPr>
        <p:spPr>
          <a:xfrm>
            <a:off x="868680" y="3931920"/>
            <a:ext cx="2880360" cy="1920240"/>
          </a:xfrm>
          <a:prstGeom prst="rect">
            <a:avLst/>
          </a:prstGeom>
          <a:noFill/>
          <a:ln/>
        </p:spPr>
        <p:txBody>
          <a:bodyPr wrap="square" lIns="0" tIns="0" rIns="0" bIns="0" rtlCol="0" anchor="ctr"/>
          <a:lstStyle/>
          <a:p>
            <a:pPr indent="0" marL="0">
              <a:lnSpc>
                <a:spcPct val="125000"/>
              </a:lnSpc>
              <a:buNone/>
            </a:pPr>
            <a:r>
              <a:rPr lang="en-US" sz="1300" dirty="0">
                <a:solidFill>
                  <a:srgbClr val="5C6B7A"/>
                </a:solidFill>
                <a:latin typeface="Calibri" pitchFamily="34" charset="0"/>
                <a:ea typeface="Calibri" pitchFamily="34" charset="-122"/>
                <a:cs typeface="Calibri" pitchFamily="34" charset="-120"/>
              </a:rPr>
              <a:t>Views, choosing a model, Tab, Inline Edit, Agent Chat, and modes — plus Rules, AGENTS.md, Memory, and writing a spec.</a:t>
            </a:r>
            <a:endParaRPr lang="en-US" sz="1300" dirty="0"/>
          </a:p>
        </p:txBody>
      </p:sp>
      <p:sp>
        <p:nvSpPr>
          <p:cNvPr id="11" name="Shape 9"/>
          <p:cNvSpPr/>
          <p:nvPr/>
        </p:nvSpPr>
        <p:spPr>
          <a:xfrm>
            <a:off x="4389120" y="2148840"/>
            <a:ext cx="3520440" cy="3931920"/>
          </a:xfrm>
          <a:prstGeom prst="roundRect">
            <a:avLst>
              <a:gd name="adj" fmla="val 2597"/>
            </a:avLst>
          </a:prstGeom>
          <a:solidFill>
            <a:srgbClr val="F0F4F8"/>
          </a:solidFill>
          <a:ln/>
          <a:effectLst>
            <a:outerShdw sx="100000" sy="100000" kx="0" ky="0" algn="bl" rotWithShape="0" blurRad="76200" dist="25400" dir="5400000">
              <a:srgbClr val="0B1F3A">
                <a:alpha val="18000"/>
              </a:srgbClr>
            </a:outerShdw>
          </a:effectLst>
        </p:spPr>
      </p:sp>
      <p:sp>
        <p:nvSpPr>
          <p:cNvPr id="12" name="Shape 10"/>
          <p:cNvSpPr/>
          <p:nvPr/>
        </p:nvSpPr>
        <p:spPr>
          <a:xfrm>
            <a:off x="4709160" y="2468880"/>
            <a:ext cx="640080" cy="640080"/>
          </a:xfrm>
          <a:prstGeom prst="ellipse">
            <a:avLst/>
          </a:prstGeom>
          <a:solidFill>
            <a:srgbClr val="3282B8"/>
          </a:solidFill>
          <a:ln/>
          <a:effectLst>
            <a:outerShdw sx="100000" sy="100000" kx="0" ky="0" algn="bl" rotWithShape="0" blurRad="76200" dist="25400" dir="5400000">
              <a:srgbClr val="0B1F3A">
                <a:alpha val="18000"/>
              </a:srgbClr>
            </a:outerShdw>
          </a:effectLst>
        </p:spPr>
      </p:sp>
      <p:sp>
        <p:nvSpPr>
          <p:cNvPr id="13" name="Text 11"/>
          <p:cNvSpPr/>
          <p:nvPr/>
        </p:nvSpPr>
        <p:spPr>
          <a:xfrm>
            <a:off x="4709160" y="246888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4" name="Text 12"/>
          <p:cNvSpPr/>
          <p:nvPr/>
        </p:nvSpPr>
        <p:spPr>
          <a:xfrm>
            <a:off x="6903720" y="2423160"/>
            <a:ext cx="822960" cy="457200"/>
          </a:xfrm>
          <a:prstGeom prst="rect">
            <a:avLst/>
          </a:prstGeom>
          <a:noFill/>
          <a:ln/>
        </p:spPr>
        <p:txBody>
          <a:bodyPr wrap="square" lIns="0" tIns="0" rIns="0" bIns="0" rtlCol="0" anchor="ctr"/>
          <a:lstStyle/>
          <a:p>
            <a:pPr algn="r" indent="0" marL="0">
              <a:buNone/>
            </a:pPr>
            <a:r>
              <a:rPr lang="en-US" sz="2200" b="1" dirty="0">
                <a:solidFill>
                  <a:srgbClr val="C7D3DE"/>
                </a:solidFill>
                <a:latin typeface="Cambria" pitchFamily="34" charset="0"/>
                <a:ea typeface="Cambria" pitchFamily="34" charset="-122"/>
                <a:cs typeface="Cambria" pitchFamily="34" charset="-120"/>
              </a:rPr>
              <a:t>02</a:t>
            </a:r>
            <a:endParaRPr lang="en-US" sz="2200" dirty="0"/>
          </a:p>
        </p:txBody>
      </p:sp>
      <p:sp>
        <p:nvSpPr>
          <p:cNvPr id="15" name="Text 13"/>
          <p:cNvSpPr/>
          <p:nvPr/>
        </p:nvSpPr>
        <p:spPr>
          <a:xfrm>
            <a:off x="4709160" y="3337560"/>
            <a:ext cx="2880360" cy="548640"/>
          </a:xfrm>
          <a:prstGeom prst="rect">
            <a:avLst/>
          </a:prstGeom>
          <a:noFill/>
          <a:ln/>
        </p:spPr>
        <p:txBody>
          <a:bodyPr wrap="square" lIns="0" tIns="0" rIns="0" bIns="0" rtlCol="0" anchor="ctr"/>
          <a:lstStyle/>
          <a:p>
            <a:pPr indent="0" marL="0">
              <a:buNone/>
            </a:pPr>
            <a:r>
              <a:rPr lang="en-US" sz="2000" b="1" dirty="0">
                <a:solidFill>
                  <a:srgbClr val="16233A"/>
                </a:solidFill>
                <a:latin typeface="Cambria" pitchFamily="34" charset="0"/>
                <a:ea typeface="Cambria" pitchFamily="34" charset="-122"/>
                <a:cs typeface="Cambria" pitchFamily="34" charset="-120"/>
              </a:rPr>
              <a:t>Production Workflows</a:t>
            </a:r>
            <a:endParaRPr lang="en-US" sz="2000" dirty="0"/>
          </a:p>
        </p:txBody>
      </p:sp>
      <p:sp>
        <p:nvSpPr>
          <p:cNvPr id="16" name="Text 14"/>
          <p:cNvSpPr/>
          <p:nvPr/>
        </p:nvSpPr>
        <p:spPr>
          <a:xfrm>
            <a:off x="4709160" y="3931920"/>
            <a:ext cx="2880360" cy="1920240"/>
          </a:xfrm>
          <a:prstGeom prst="rect">
            <a:avLst/>
          </a:prstGeom>
          <a:noFill/>
          <a:ln/>
        </p:spPr>
        <p:txBody>
          <a:bodyPr wrap="square" lIns="0" tIns="0" rIns="0" bIns="0" rtlCol="0" anchor="ctr"/>
          <a:lstStyle/>
          <a:p>
            <a:pPr indent="0" marL="0">
              <a:lnSpc>
                <a:spcPct val="125000"/>
              </a:lnSpc>
              <a:buNone/>
            </a:pPr>
            <a:r>
              <a:rPr lang="en-US" sz="1300" dirty="0">
                <a:solidFill>
                  <a:srgbClr val="5C6B7A"/>
                </a:solidFill>
                <a:latin typeface="Calibri" pitchFamily="34" charset="0"/>
                <a:ea typeface="Calibri" pitchFamily="34" charset="-122"/>
                <a:cs typeface="Calibri" pitchFamily="34" charset="-120"/>
              </a:rPr>
              <a:t>@ references, TDD, multi-file changes with the Agent, and debugging with logs and screenshots.</a:t>
            </a:r>
            <a:endParaRPr lang="en-US" sz="1300" dirty="0"/>
          </a:p>
        </p:txBody>
      </p:sp>
      <p:sp>
        <p:nvSpPr>
          <p:cNvPr id="17" name="Shape 15"/>
          <p:cNvSpPr/>
          <p:nvPr/>
        </p:nvSpPr>
        <p:spPr>
          <a:xfrm>
            <a:off x="8229600" y="2148840"/>
            <a:ext cx="3520440" cy="3931920"/>
          </a:xfrm>
          <a:prstGeom prst="roundRect">
            <a:avLst>
              <a:gd name="adj" fmla="val 2597"/>
            </a:avLst>
          </a:prstGeom>
          <a:solidFill>
            <a:srgbClr val="F0F4F8"/>
          </a:solidFill>
          <a:ln/>
          <a:effectLst>
            <a:outerShdw sx="100000" sy="100000" kx="0" ky="0" algn="bl" rotWithShape="0" blurRad="76200" dist="25400" dir="5400000">
              <a:srgbClr val="0B1F3A">
                <a:alpha val="18000"/>
              </a:srgbClr>
            </a:outerShdw>
          </a:effectLst>
        </p:spPr>
      </p:sp>
      <p:sp>
        <p:nvSpPr>
          <p:cNvPr id="18" name="Shape 16"/>
          <p:cNvSpPr/>
          <p:nvPr/>
        </p:nvSpPr>
        <p:spPr>
          <a:xfrm>
            <a:off x="8549640" y="2468880"/>
            <a:ext cx="640080" cy="640080"/>
          </a:xfrm>
          <a:prstGeom prst="ellipse">
            <a:avLst/>
          </a:prstGeom>
          <a:solidFill>
            <a:srgbClr val="0F4C75"/>
          </a:solidFill>
          <a:ln/>
          <a:effectLst>
            <a:outerShdw sx="100000" sy="100000" kx="0" ky="0" algn="bl" rotWithShape="0" blurRad="76200" dist="25400" dir="5400000">
              <a:srgbClr val="0B1F3A">
                <a:alpha val="18000"/>
              </a:srgbClr>
            </a:outerShdw>
          </a:effectLst>
        </p:spPr>
      </p:sp>
      <p:sp>
        <p:nvSpPr>
          <p:cNvPr id="19" name="Text 17"/>
          <p:cNvSpPr/>
          <p:nvPr/>
        </p:nvSpPr>
        <p:spPr>
          <a:xfrm>
            <a:off x="8549640" y="246888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0" name="Text 18"/>
          <p:cNvSpPr/>
          <p:nvPr/>
        </p:nvSpPr>
        <p:spPr>
          <a:xfrm>
            <a:off x="10744200" y="2423160"/>
            <a:ext cx="822960" cy="457200"/>
          </a:xfrm>
          <a:prstGeom prst="rect">
            <a:avLst/>
          </a:prstGeom>
          <a:noFill/>
          <a:ln/>
        </p:spPr>
        <p:txBody>
          <a:bodyPr wrap="square" lIns="0" tIns="0" rIns="0" bIns="0" rtlCol="0" anchor="ctr"/>
          <a:lstStyle/>
          <a:p>
            <a:pPr algn="r" indent="0" marL="0">
              <a:buNone/>
            </a:pPr>
            <a:r>
              <a:rPr lang="en-US" sz="2200" b="1" dirty="0">
                <a:solidFill>
                  <a:srgbClr val="C7D3DE"/>
                </a:solidFill>
                <a:latin typeface="Cambria" pitchFamily="34" charset="0"/>
                <a:ea typeface="Cambria" pitchFamily="34" charset="-122"/>
                <a:cs typeface="Cambria" pitchFamily="34" charset="-120"/>
              </a:rPr>
              <a:t>03</a:t>
            </a:r>
            <a:endParaRPr lang="en-US" sz="2200" dirty="0"/>
          </a:p>
        </p:txBody>
      </p:sp>
      <p:sp>
        <p:nvSpPr>
          <p:cNvPr id="21" name="Text 19"/>
          <p:cNvSpPr/>
          <p:nvPr/>
        </p:nvSpPr>
        <p:spPr>
          <a:xfrm>
            <a:off x="8549640" y="3337560"/>
            <a:ext cx="2880360" cy="548640"/>
          </a:xfrm>
          <a:prstGeom prst="rect">
            <a:avLst/>
          </a:prstGeom>
          <a:noFill/>
          <a:ln/>
        </p:spPr>
        <p:txBody>
          <a:bodyPr wrap="square" lIns="0" tIns="0" rIns="0" bIns="0" rtlCol="0" anchor="ctr"/>
          <a:lstStyle/>
          <a:p>
            <a:pPr indent="0" marL="0">
              <a:buNone/>
            </a:pPr>
            <a:r>
              <a:rPr lang="en-US" sz="2000" b="1" dirty="0">
                <a:solidFill>
                  <a:srgbClr val="16233A"/>
                </a:solidFill>
                <a:latin typeface="Cambria" pitchFamily="34" charset="0"/>
                <a:ea typeface="Cambria" pitchFamily="34" charset="-122"/>
                <a:cs typeface="Cambria" pitchFamily="34" charset="-120"/>
              </a:rPr>
              <a:t>Scaling &amp; Security</a:t>
            </a:r>
            <a:endParaRPr lang="en-US" sz="2000" dirty="0"/>
          </a:p>
        </p:txBody>
      </p:sp>
      <p:sp>
        <p:nvSpPr>
          <p:cNvPr id="22" name="Text 20"/>
          <p:cNvSpPr/>
          <p:nvPr/>
        </p:nvSpPr>
        <p:spPr>
          <a:xfrm>
            <a:off x="8549640" y="3931920"/>
            <a:ext cx="2880360" cy="1920240"/>
          </a:xfrm>
          <a:prstGeom prst="rect">
            <a:avLst/>
          </a:prstGeom>
          <a:noFill/>
          <a:ln/>
        </p:spPr>
        <p:txBody>
          <a:bodyPr wrap="square" lIns="0" tIns="0" rIns="0" bIns="0" rtlCol="0" anchor="ctr"/>
          <a:lstStyle/>
          <a:p>
            <a:pPr indent="0" marL="0">
              <a:lnSpc>
                <a:spcPct val="125000"/>
              </a:lnSpc>
              <a:buNone/>
            </a:pPr>
            <a:r>
              <a:rPr lang="en-US" sz="1300" dirty="0">
                <a:solidFill>
                  <a:srgbClr val="5C6B7A"/>
                </a:solidFill>
                <a:latin typeface="Calibri" pitchFamily="34" charset="0"/>
                <a:ea typeface="Calibri" pitchFamily="34" charset="-122"/>
                <a:cs typeface="Calibri" pitchFamily="34" charset="-120"/>
              </a:rPr>
              <a:t>Git, secrets and .cursorignore, Composer, parallel agents, Max Mode, and MCP servers.</a:t>
            </a:r>
            <a:endParaRPr lang="en-US" sz="1300" dirty="0"/>
          </a:p>
        </p:txBody>
      </p:sp>
      <p:sp>
        <p:nvSpPr>
          <p:cNvPr id="23" name="Text 21"/>
          <p:cNvSpPr/>
          <p:nvPr/>
        </p:nvSpPr>
        <p:spPr>
          <a:xfrm>
            <a:off x="548640" y="6537960"/>
            <a:ext cx="5486400" cy="274320"/>
          </a:xfrm>
          <a:prstGeom prst="rect">
            <a:avLst/>
          </a:prstGeom>
          <a:noFill/>
          <a:ln/>
        </p:spPr>
        <p:txBody>
          <a:bodyPr wrap="square" lIns="0" tIns="0" rIns="0" bIns="0" rtlCol="0" anchor="ctr"/>
          <a:lstStyle/>
          <a:p>
            <a:pPr indent="0" marL="0">
              <a:buNone/>
            </a:pPr>
            <a:r>
              <a:rPr lang="en-US" sz="900" dirty="0">
                <a:solidFill>
                  <a:srgbClr val="9AA7B5"/>
                </a:solidFill>
                <a:latin typeface="Calibri" pitchFamily="34" charset="0"/>
                <a:ea typeface="Calibri" pitchFamily="34" charset="-122"/>
                <a:cs typeface="Calibri" pitchFamily="34" charset="-120"/>
              </a:rPr>
              <a:t>Cursor for Engineers</a:t>
            </a:r>
            <a:endParaRPr lang="en-US" sz="900" dirty="0"/>
          </a:p>
        </p:txBody>
      </p:sp>
      <p:sp>
        <p:nvSpPr>
          <p:cNvPr id="24" name="Text 22"/>
          <p:cNvSpPr/>
          <p:nvPr/>
        </p:nvSpPr>
        <p:spPr>
          <a:xfrm>
            <a:off x="11338560" y="6537960"/>
            <a:ext cx="365760" cy="274320"/>
          </a:xfrm>
          <a:prstGeom prst="rect">
            <a:avLst/>
          </a:prstGeom>
          <a:noFill/>
          <a:ln/>
        </p:spPr>
        <p:txBody>
          <a:bodyPr wrap="square" lIns="0" tIns="0" rIns="0" bIns="0" rtlCol="0" anchor="ctr"/>
          <a:lstStyle/>
          <a:p>
            <a:pPr algn="r" indent="0" marL="0">
              <a:buNone/>
            </a:pPr>
            <a:r>
              <a:rPr lang="en-US" sz="900" dirty="0">
                <a:solidFill>
                  <a:srgbClr val="9AA7B5"/>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lIns="0" tIns="0" rIns="0" bIns="0" rtlCol="0" anchor="ctr"/>
          <a:lstStyle/>
          <a:p>
            <a:pPr indent="0" marL="0">
              <a:buNone/>
            </a:pPr>
            <a:r>
              <a:rPr lang="en-US" sz="1300" b="1" spc="200" kern="0" dirty="0">
                <a:solidFill>
                  <a:srgbClr val="3282B8"/>
                </a:solidFill>
                <a:latin typeface="Calibri" pitchFamily="34" charset="0"/>
                <a:ea typeface="Calibri" pitchFamily="34" charset="-122"/>
                <a:cs typeface="Calibri" pitchFamily="34" charset="-120"/>
              </a:rPr>
              <a:t>WHY THIS MATTERS</a:t>
            </a:r>
            <a:endParaRPr lang="en-US" sz="1300" dirty="0"/>
          </a:p>
        </p:txBody>
      </p:sp>
      <p:sp>
        <p:nvSpPr>
          <p:cNvPr id="3" name="Text 1"/>
          <p:cNvSpPr/>
          <p:nvPr/>
        </p:nvSpPr>
        <p:spPr>
          <a:xfrm>
            <a:off x="548640" y="731520"/>
            <a:ext cx="11064240" cy="822960"/>
          </a:xfrm>
          <a:prstGeom prst="rect">
            <a:avLst/>
          </a:prstGeom>
          <a:noFill/>
          <a:ln/>
        </p:spPr>
        <p:txBody>
          <a:bodyPr wrap="square" lIns="0" tIns="0" rIns="0" bIns="0" rtlCol="0" anchor="ctr"/>
          <a:lstStyle/>
          <a:p>
            <a:pPr indent="0" marL="0">
              <a:buNone/>
            </a:pPr>
            <a:r>
              <a:rPr lang="en-US" sz="3000" b="1" dirty="0">
                <a:solidFill>
                  <a:srgbClr val="16233A"/>
                </a:solidFill>
                <a:latin typeface="Cambria" pitchFamily="34" charset="0"/>
                <a:ea typeface="Cambria" pitchFamily="34" charset="-122"/>
                <a:cs typeface="Cambria" pitchFamily="34" charset="-120"/>
              </a:rPr>
              <a:t>Coding becomes a duet, not a solo act</a:t>
            </a:r>
            <a:endParaRPr lang="en-US" sz="3000" dirty="0"/>
          </a:p>
        </p:txBody>
      </p:sp>
      <p:sp>
        <p:nvSpPr>
          <p:cNvPr id="4" name="Text 2"/>
          <p:cNvSpPr/>
          <p:nvPr/>
        </p:nvSpPr>
        <p:spPr>
          <a:xfrm>
            <a:off x="548640" y="1463040"/>
            <a:ext cx="5212080" cy="2011680"/>
          </a:xfrm>
          <a:prstGeom prst="rect">
            <a:avLst/>
          </a:prstGeom>
          <a:noFill/>
          <a:ln/>
        </p:spPr>
        <p:txBody>
          <a:bodyPr wrap="square" lIns="0" tIns="0" rIns="0" bIns="0" rtlCol="0" anchor="ctr"/>
          <a:lstStyle/>
          <a:p>
            <a:pPr indent="0" marL="0">
              <a:lnSpc>
                <a:spcPct val="135000"/>
              </a:lnSpc>
              <a:buNone/>
            </a:pPr>
            <a:r>
              <a:rPr lang="en-US" sz="1500" dirty="0">
                <a:solidFill>
                  <a:srgbClr val="16233A"/>
                </a:solidFill>
                <a:latin typeface="Calibri" pitchFamily="34" charset="0"/>
                <a:ea typeface="Calibri" pitchFamily="34" charset="-122"/>
                <a:cs typeface="Calibri" pitchFamily="34" charset="-120"/>
              </a:rPr>
              <a:t>Cursor isn't autocomplete-plus. It's a loop you steer: you set direction and review, the model plans, edits, and runs code, and you correct course. Every feature in this deck tightens that loop.</a:t>
            </a:r>
            <a:endParaRPr lang="en-US" sz="1500" dirty="0"/>
          </a:p>
        </p:txBody>
      </p:sp>
      <p:sp>
        <p:nvSpPr>
          <p:cNvPr id="5" name="Text 3"/>
          <p:cNvSpPr/>
          <p:nvPr/>
        </p:nvSpPr>
        <p:spPr>
          <a:xfrm>
            <a:off x="548640" y="3566160"/>
            <a:ext cx="5212080" cy="2377440"/>
          </a:xfrm>
          <a:prstGeom prst="rect">
            <a:avLst/>
          </a:prstGeom>
          <a:noFill/>
          <a:ln/>
        </p:spPr>
        <p:txBody>
          <a:bodyPr wrap="square" lIns="0" tIns="0" rIns="0" bIns="0" rtlCol="0" anchor="ctr"/>
          <a:lstStyle/>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You stay the senior engineer — the model is a fast, tireless pair</a:t>
            </a:r>
            <a:endParaRPr lang="en-US" sz="1350" dirty="0"/>
          </a:p>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Context (@files, Rules, AGENTS.md, Memory) replaces re-explaining your codebase</a:t>
            </a:r>
            <a:endParaRPr lang="en-US" sz="1350" dirty="0"/>
          </a:p>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Review is still yours: diffs, tests, and runs are the checkpoints</a:t>
            </a:r>
            <a:endParaRPr lang="en-US" sz="1350" dirty="0"/>
          </a:p>
        </p:txBody>
      </p:sp>
      <p:sp>
        <p:nvSpPr>
          <p:cNvPr id="6" name="Shape 4"/>
          <p:cNvSpPr/>
          <p:nvPr/>
        </p:nvSpPr>
        <p:spPr>
          <a:xfrm>
            <a:off x="7973631" y="1535154"/>
            <a:ext cx="1554480" cy="822960"/>
          </a:xfrm>
          <a:prstGeom prst="roundRect">
            <a:avLst>
              <a:gd name="adj" fmla="val 13333"/>
            </a:avLst>
          </a:prstGeom>
          <a:solidFill>
            <a:srgbClr val="0F4C75"/>
          </a:solidFill>
          <a:ln/>
          <a:effectLst>
            <a:outerShdw sx="100000" sy="100000" kx="0" ky="0" algn="bl" rotWithShape="0" blurRad="76200" dist="25400" dir="5400000">
              <a:srgbClr val="0B1F3A">
                <a:alpha val="18000"/>
              </a:srgbClr>
            </a:outerShdw>
          </a:effectLst>
        </p:spPr>
      </p:sp>
      <p:sp>
        <p:nvSpPr>
          <p:cNvPr id="7" name="Text 5"/>
          <p:cNvSpPr/>
          <p:nvPr/>
        </p:nvSpPr>
        <p:spPr>
          <a:xfrm>
            <a:off x="7973631" y="1535154"/>
            <a:ext cx="1554480" cy="8229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Prompt</a:t>
            </a:r>
            <a:endParaRPr lang="en-US" sz="1400" dirty="0"/>
          </a:p>
        </p:txBody>
      </p:sp>
      <p:sp>
        <p:nvSpPr>
          <p:cNvPr id="8" name="Shape 6"/>
          <p:cNvSpPr/>
          <p:nvPr/>
        </p:nvSpPr>
        <p:spPr>
          <a:xfrm>
            <a:off x="9809318" y="2430479"/>
            <a:ext cx="1554480" cy="822960"/>
          </a:xfrm>
          <a:prstGeom prst="roundRect">
            <a:avLst>
              <a:gd name="adj" fmla="val 13333"/>
            </a:avLst>
          </a:prstGeom>
          <a:solidFill>
            <a:srgbClr val="0F4C75"/>
          </a:solidFill>
          <a:ln/>
          <a:effectLst>
            <a:outerShdw sx="100000" sy="100000" kx="0" ky="0" algn="bl" rotWithShape="0" blurRad="76200" dist="25400" dir="5400000">
              <a:srgbClr val="0B1F3A">
                <a:alpha val="18000"/>
              </a:srgbClr>
            </a:outerShdw>
          </a:effectLst>
        </p:spPr>
      </p:sp>
      <p:sp>
        <p:nvSpPr>
          <p:cNvPr id="9" name="Text 7"/>
          <p:cNvSpPr/>
          <p:nvPr/>
        </p:nvSpPr>
        <p:spPr>
          <a:xfrm>
            <a:off x="9809318" y="2430479"/>
            <a:ext cx="1554480" cy="8229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Plan</a:t>
            </a:r>
            <a:endParaRPr lang="en-US" sz="1400" dirty="0"/>
          </a:p>
        </p:txBody>
      </p:sp>
      <p:sp>
        <p:nvSpPr>
          <p:cNvPr id="10" name="Shape 8"/>
          <p:cNvSpPr/>
          <p:nvPr/>
        </p:nvSpPr>
        <p:spPr>
          <a:xfrm>
            <a:off x="9525072" y="4452992"/>
            <a:ext cx="1554480" cy="822960"/>
          </a:xfrm>
          <a:prstGeom prst="roundRect">
            <a:avLst>
              <a:gd name="adj" fmla="val 13333"/>
            </a:avLst>
          </a:prstGeom>
          <a:solidFill>
            <a:srgbClr val="0F4C75"/>
          </a:solidFill>
          <a:ln/>
          <a:effectLst>
            <a:outerShdw sx="100000" sy="100000" kx="0" ky="0" algn="bl" rotWithShape="0" blurRad="76200" dist="25400" dir="5400000">
              <a:srgbClr val="0B1F3A">
                <a:alpha val="18000"/>
              </a:srgbClr>
            </a:outerShdw>
          </a:effectLst>
        </p:spPr>
      </p:sp>
      <p:sp>
        <p:nvSpPr>
          <p:cNvPr id="11" name="Text 9"/>
          <p:cNvSpPr/>
          <p:nvPr/>
        </p:nvSpPr>
        <p:spPr>
          <a:xfrm>
            <a:off x="9525072" y="4452992"/>
            <a:ext cx="1554480" cy="8229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Edit</a:t>
            </a:r>
            <a:endParaRPr lang="en-US" sz="1400" dirty="0"/>
          </a:p>
        </p:txBody>
      </p:sp>
      <p:sp>
        <p:nvSpPr>
          <p:cNvPr id="12" name="Shape 10"/>
          <p:cNvSpPr/>
          <p:nvPr/>
        </p:nvSpPr>
        <p:spPr>
          <a:xfrm>
            <a:off x="7513712" y="4807649"/>
            <a:ext cx="1554480" cy="822960"/>
          </a:xfrm>
          <a:prstGeom prst="roundRect">
            <a:avLst>
              <a:gd name="adj" fmla="val 13333"/>
            </a:avLst>
          </a:prstGeom>
          <a:solidFill>
            <a:srgbClr val="0F4C75"/>
          </a:solidFill>
          <a:ln/>
          <a:effectLst>
            <a:outerShdw sx="100000" sy="100000" kx="0" ky="0" algn="bl" rotWithShape="0" blurRad="76200" dist="25400" dir="5400000">
              <a:srgbClr val="0B1F3A">
                <a:alpha val="18000"/>
              </a:srgbClr>
            </a:outerShdw>
          </a:effectLst>
        </p:spPr>
      </p:sp>
      <p:sp>
        <p:nvSpPr>
          <p:cNvPr id="13" name="Text 11"/>
          <p:cNvSpPr/>
          <p:nvPr/>
        </p:nvSpPr>
        <p:spPr>
          <a:xfrm>
            <a:off x="7513712" y="4807649"/>
            <a:ext cx="1554480" cy="8229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Run</a:t>
            </a:r>
            <a:endParaRPr lang="en-US" sz="1400" dirty="0"/>
          </a:p>
        </p:txBody>
      </p:sp>
      <p:sp>
        <p:nvSpPr>
          <p:cNvPr id="14" name="Shape 12"/>
          <p:cNvSpPr/>
          <p:nvPr/>
        </p:nvSpPr>
        <p:spPr>
          <a:xfrm>
            <a:off x="6554868" y="3004326"/>
            <a:ext cx="1554480" cy="822960"/>
          </a:xfrm>
          <a:prstGeom prst="roundRect">
            <a:avLst>
              <a:gd name="adj" fmla="val 13333"/>
            </a:avLst>
          </a:prstGeom>
          <a:solidFill>
            <a:srgbClr val="F2A541"/>
          </a:solidFill>
          <a:ln/>
          <a:effectLst>
            <a:outerShdw sx="100000" sy="100000" kx="0" ky="0" algn="bl" rotWithShape="0" blurRad="76200" dist="25400" dir="5400000">
              <a:srgbClr val="0B1F3A">
                <a:alpha val="18000"/>
              </a:srgbClr>
            </a:outerShdw>
          </a:effectLst>
        </p:spPr>
      </p:sp>
      <p:sp>
        <p:nvSpPr>
          <p:cNvPr id="15" name="Text 13"/>
          <p:cNvSpPr/>
          <p:nvPr/>
        </p:nvSpPr>
        <p:spPr>
          <a:xfrm>
            <a:off x="6554868" y="3004326"/>
            <a:ext cx="1554480" cy="822960"/>
          </a:xfrm>
          <a:prstGeom prst="rect">
            <a:avLst/>
          </a:prstGeom>
          <a:noFill/>
          <a:ln/>
        </p:spPr>
        <p:txBody>
          <a:bodyPr wrap="square" lIns="0" tIns="0" rIns="0" bIns="0"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Review</a:t>
            </a:r>
            <a:endParaRPr lang="en-US" sz="1400" dirty="0"/>
          </a:p>
        </p:txBody>
      </p:sp>
      <p:sp>
        <p:nvSpPr>
          <p:cNvPr id="16" name="Shape 14"/>
          <p:cNvSpPr/>
          <p:nvPr/>
        </p:nvSpPr>
        <p:spPr>
          <a:xfrm>
            <a:off x="6995160" y="1600200"/>
            <a:ext cx="4114800" cy="4114800"/>
          </a:xfrm>
          <a:prstGeom prst="ellipse">
            <a:avLst/>
          </a:prstGeom>
          <a:ln w="15240">
            <a:solidFill>
              <a:srgbClr val="C7D3DE"/>
            </a:solidFill>
            <a:prstDash val="dash"/>
          </a:ln>
        </p:spPr>
      </p:sp>
      <p:sp>
        <p:nvSpPr>
          <p:cNvPr id="17" name="Text 15"/>
          <p:cNvSpPr/>
          <p:nvPr/>
        </p:nvSpPr>
        <p:spPr>
          <a:xfrm>
            <a:off x="548640" y="6537960"/>
            <a:ext cx="5486400" cy="274320"/>
          </a:xfrm>
          <a:prstGeom prst="rect">
            <a:avLst/>
          </a:prstGeom>
          <a:noFill/>
          <a:ln/>
        </p:spPr>
        <p:txBody>
          <a:bodyPr wrap="square" lIns="0" tIns="0" rIns="0" bIns="0" rtlCol="0" anchor="ctr"/>
          <a:lstStyle/>
          <a:p>
            <a:pPr indent="0" marL="0">
              <a:buNone/>
            </a:pPr>
            <a:r>
              <a:rPr lang="en-US" sz="900" dirty="0">
                <a:solidFill>
                  <a:srgbClr val="9AA7B5"/>
                </a:solidFill>
                <a:latin typeface="Calibri" pitchFamily="34" charset="0"/>
                <a:ea typeface="Calibri" pitchFamily="34" charset="-122"/>
                <a:cs typeface="Calibri" pitchFamily="34" charset="-120"/>
              </a:rPr>
              <a:t>Cursor for Engineers</a:t>
            </a:r>
            <a:endParaRPr lang="en-US" sz="900" dirty="0"/>
          </a:p>
        </p:txBody>
      </p:sp>
      <p:sp>
        <p:nvSpPr>
          <p:cNvPr id="18" name="Text 16"/>
          <p:cNvSpPr/>
          <p:nvPr/>
        </p:nvSpPr>
        <p:spPr>
          <a:xfrm>
            <a:off x="11338560" y="6537960"/>
            <a:ext cx="365760" cy="274320"/>
          </a:xfrm>
          <a:prstGeom prst="rect">
            <a:avLst/>
          </a:prstGeom>
          <a:noFill/>
          <a:ln/>
        </p:spPr>
        <p:txBody>
          <a:bodyPr wrap="square" lIns="0" tIns="0" rIns="0" bIns="0" rtlCol="0" anchor="ctr"/>
          <a:lstStyle/>
          <a:p>
            <a:pPr algn="r" indent="0" marL="0">
              <a:buNone/>
            </a:pPr>
            <a:r>
              <a:rPr lang="en-US" sz="900" dirty="0">
                <a:solidFill>
                  <a:srgbClr val="9AA7B5"/>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F3A"/>
          </a:solidFill>
          <a:ln/>
        </p:spPr>
      </p:sp>
      <p:sp>
        <p:nvSpPr>
          <p:cNvPr id="3" name="Text 1"/>
          <p:cNvSpPr/>
          <p:nvPr/>
        </p:nvSpPr>
        <p:spPr>
          <a:xfrm>
            <a:off x="9418320" y="4206240"/>
            <a:ext cx="2743200" cy="2011680"/>
          </a:xfrm>
          <a:prstGeom prst="rect">
            <a:avLst/>
          </a:prstGeom>
          <a:noFill/>
          <a:ln/>
        </p:spPr>
        <p:txBody>
          <a:bodyPr wrap="square" lIns="0" tIns="0" rIns="0" bIns="0" rtlCol="0" anchor="ctr"/>
          <a:lstStyle/>
          <a:p>
            <a:pPr indent="0" marL="0">
              <a:buNone/>
            </a:pPr>
            <a:r>
              <a:rPr lang="en-US" sz="14000" b="1" dirty="0">
                <a:solidFill>
                  <a:srgbClr val="132A4C"/>
                </a:solidFill>
                <a:latin typeface="Courier New" pitchFamily="34" charset="0"/>
                <a:ea typeface="Courier New" pitchFamily="34" charset="-122"/>
                <a:cs typeface="Courier New" pitchFamily="34" charset="-120"/>
              </a:rPr>
              <a:t>{ }</a:t>
            </a:r>
            <a:endParaRPr lang="en-US" sz="14000" dirty="0"/>
          </a:p>
        </p:txBody>
      </p:sp>
      <p:sp>
        <p:nvSpPr>
          <p:cNvPr id="4" name="Text 2"/>
          <p:cNvSpPr/>
          <p:nvPr/>
        </p:nvSpPr>
        <p:spPr>
          <a:xfrm>
            <a:off x="822960" y="2331720"/>
            <a:ext cx="5486400" cy="457200"/>
          </a:xfrm>
          <a:prstGeom prst="rect">
            <a:avLst/>
          </a:prstGeom>
          <a:noFill/>
          <a:ln/>
        </p:spPr>
        <p:txBody>
          <a:bodyPr wrap="square" lIns="0" tIns="0" rIns="0" bIns="0" rtlCol="0" anchor="ctr"/>
          <a:lstStyle/>
          <a:p>
            <a:pPr indent="0" marL="0">
              <a:buNone/>
            </a:pPr>
            <a:r>
              <a:rPr lang="en-US" sz="1500" b="1" spc="300" kern="0" dirty="0">
                <a:solidFill>
                  <a:srgbClr val="F2A541"/>
                </a:solidFill>
                <a:latin typeface="Calibri" pitchFamily="34" charset="0"/>
                <a:ea typeface="Calibri" pitchFamily="34" charset="-122"/>
                <a:cs typeface="Calibri" pitchFamily="34" charset="-120"/>
              </a:rPr>
              <a:t>CHAPTER 1</a:t>
            </a:r>
            <a:endParaRPr lang="en-US" sz="1500" dirty="0"/>
          </a:p>
        </p:txBody>
      </p:sp>
      <p:sp>
        <p:nvSpPr>
          <p:cNvPr id="5" name="Text 3"/>
          <p:cNvSpPr/>
          <p:nvPr/>
        </p:nvSpPr>
        <p:spPr>
          <a:xfrm>
            <a:off x="822960" y="2788920"/>
            <a:ext cx="9875520" cy="146304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Foundations: Rethinking the Editor</a:t>
            </a:r>
            <a:endParaRPr lang="en-US" sz="3800" dirty="0"/>
          </a:p>
        </p:txBody>
      </p:sp>
      <p:sp>
        <p:nvSpPr>
          <p:cNvPr id="6" name="Text 4"/>
          <p:cNvSpPr/>
          <p:nvPr/>
        </p:nvSpPr>
        <p:spPr>
          <a:xfrm>
            <a:off x="822960" y="4160520"/>
            <a:ext cx="9418320" cy="731520"/>
          </a:xfrm>
          <a:prstGeom prst="rect">
            <a:avLst/>
          </a:prstGeom>
          <a:noFill/>
          <a:ln/>
        </p:spPr>
        <p:txBody>
          <a:bodyPr wrap="square" lIns="0" tIns="0" rIns="0" bIns="0" rtlCol="0" anchor="ctr"/>
          <a:lstStyle/>
          <a:p>
            <a:pPr indent="0" marL="0">
              <a:buNone/>
            </a:pPr>
            <a:r>
              <a:rPr lang="en-US" sz="1600" dirty="0">
                <a:solidFill>
                  <a:srgbClr val="AFC6DE"/>
                </a:solidFill>
                <a:latin typeface="Calibri" pitchFamily="34" charset="0"/>
                <a:ea typeface="Calibri" pitchFamily="34" charset="-122"/>
                <a:cs typeface="Calibri" pitchFamily="34" charset="-120"/>
              </a:rPr>
              <a:t>Views, features, modes, and how we shape AI behavior</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lIns="0" tIns="0" rIns="0" bIns="0" rtlCol="0" anchor="ctr"/>
          <a:lstStyle/>
          <a:p>
            <a:pPr indent="0" marL="0">
              <a:buNone/>
            </a:pPr>
            <a:r>
              <a:rPr lang="en-US" sz="1300" b="1" spc="200" kern="0" dirty="0">
                <a:solidFill>
                  <a:srgbClr val="3282B8"/>
                </a:solidFill>
                <a:latin typeface="Calibri" pitchFamily="34" charset="0"/>
                <a:ea typeface="Calibri" pitchFamily="34" charset="-122"/>
                <a:cs typeface="Calibri" pitchFamily="34" charset="-120"/>
              </a:rPr>
              <a:t>CHAPTER 1</a:t>
            </a:r>
            <a:endParaRPr lang="en-US" sz="1300" dirty="0"/>
          </a:p>
        </p:txBody>
      </p:sp>
      <p:sp>
        <p:nvSpPr>
          <p:cNvPr id="3" name="Text 1"/>
          <p:cNvSpPr/>
          <p:nvPr/>
        </p:nvSpPr>
        <p:spPr>
          <a:xfrm>
            <a:off x="548640" y="731520"/>
            <a:ext cx="11064240" cy="822960"/>
          </a:xfrm>
          <a:prstGeom prst="rect">
            <a:avLst/>
          </a:prstGeom>
          <a:noFill/>
          <a:ln/>
        </p:spPr>
        <p:txBody>
          <a:bodyPr wrap="square" lIns="0" tIns="0" rIns="0" bIns="0" rtlCol="0" anchor="ctr"/>
          <a:lstStyle/>
          <a:p>
            <a:pPr indent="0" marL="0">
              <a:buNone/>
            </a:pPr>
            <a:r>
              <a:rPr lang="en-US" sz="3000" b="1" dirty="0">
                <a:solidFill>
                  <a:srgbClr val="16233A"/>
                </a:solidFill>
                <a:latin typeface="Cambria" pitchFamily="34" charset="0"/>
                <a:ea typeface="Cambria" pitchFamily="34" charset="-122"/>
                <a:cs typeface="Cambria" pitchFamily="34" charset="-120"/>
              </a:rPr>
              <a:t>Not autocomplete — a collaborator with the whole repo</a:t>
            </a:r>
            <a:endParaRPr lang="en-US" sz="3000" dirty="0"/>
          </a:p>
        </p:txBody>
      </p:sp>
      <p:sp>
        <p:nvSpPr>
          <p:cNvPr id="4" name="Shape 2"/>
          <p:cNvSpPr/>
          <p:nvPr/>
        </p:nvSpPr>
        <p:spPr>
          <a:xfrm>
            <a:off x="548640" y="1645920"/>
            <a:ext cx="5257800" cy="4480560"/>
          </a:xfrm>
          <a:prstGeom prst="roundRect">
            <a:avLst>
              <a:gd name="adj" fmla="val 2041"/>
            </a:avLst>
          </a:prstGeom>
          <a:solidFill>
            <a:srgbClr val="F0F4F8"/>
          </a:solidFill>
          <a:ln/>
        </p:spPr>
      </p:sp>
      <p:sp>
        <p:nvSpPr>
          <p:cNvPr id="5" name="Shape 3"/>
          <p:cNvSpPr/>
          <p:nvPr/>
        </p:nvSpPr>
        <p:spPr>
          <a:xfrm>
            <a:off x="6172200" y="1645920"/>
            <a:ext cx="5257800" cy="4480560"/>
          </a:xfrm>
          <a:prstGeom prst="roundRect">
            <a:avLst>
              <a:gd name="adj" fmla="val 2041"/>
            </a:avLst>
          </a:prstGeom>
          <a:solidFill>
            <a:srgbClr val="0B1F3A"/>
          </a:solidFill>
          <a:ln/>
          <a:effectLst>
            <a:outerShdw sx="100000" sy="100000" kx="0" ky="0" algn="bl" rotWithShape="0" blurRad="76200" dist="25400" dir="5400000">
              <a:srgbClr val="0B1F3A">
                <a:alpha val="18000"/>
              </a:srgbClr>
            </a:outerShdw>
          </a:effectLst>
        </p:spPr>
      </p:sp>
      <p:sp>
        <p:nvSpPr>
          <p:cNvPr id="6" name="Text 4"/>
          <p:cNvSpPr/>
          <p:nvPr/>
        </p:nvSpPr>
        <p:spPr>
          <a:xfrm>
            <a:off x="914400" y="1965960"/>
            <a:ext cx="4526280" cy="457200"/>
          </a:xfrm>
          <a:prstGeom prst="rect">
            <a:avLst/>
          </a:prstGeom>
          <a:noFill/>
          <a:ln/>
        </p:spPr>
        <p:txBody>
          <a:bodyPr wrap="square" lIns="0" tIns="0" rIns="0" bIns="0" rtlCol="0" anchor="ctr"/>
          <a:lstStyle/>
          <a:p>
            <a:pPr indent="0" marL="0">
              <a:buNone/>
            </a:pPr>
            <a:r>
              <a:rPr lang="en-US" sz="1800" b="1" dirty="0">
                <a:solidFill>
                  <a:srgbClr val="16233A"/>
                </a:solidFill>
                <a:latin typeface="Cambria" pitchFamily="34" charset="0"/>
                <a:ea typeface="Cambria" pitchFamily="34" charset="-122"/>
                <a:cs typeface="Cambria" pitchFamily="34" charset="-120"/>
              </a:rPr>
              <a:t>Traditional IDE</a:t>
            </a:r>
            <a:endParaRPr lang="en-US" sz="1800" dirty="0"/>
          </a:p>
        </p:txBody>
      </p:sp>
      <p:sp>
        <p:nvSpPr>
          <p:cNvPr id="7" name="Text 5"/>
          <p:cNvSpPr/>
          <p:nvPr/>
        </p:nvSpPr>
        <p:spPr>
          <a:xfrm>
            <a:off x="6537960" y="1965960"/>
            <a:ext cx="4526280" cy="45720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Cursor</a:t>
            </a:r>
            <a:endParaRPr lang="en-US" sz="1800" dirty="0"/>
          </a:p>
        </p:txBody>
      </p:sp>
      <p:sp>
        <p:nvSpPr>
          <p:cNvPr id="8" name="Text 6"/>
          <p:cNvSpPr/>
          <p:nvPr/>
        </p:nvSpPr>
        <p:spPr>
          <a:xfrm>
            <a:off x="914400" y="2560320"/>
            <a:ext cx="4526280" cy="3291840"/>
          </a:xfrm>
          <a:prstGeom prst="rect">
            <a:avLst/>
          </a:prstGeom>
          <a:noFill/>
          <a:ln/>
        </p:spPr>
        <p:txBody>
          <a:bodyPr wrap="square" lIns="0" tIns="0" rIns="0" bIns="0" rtlCol="0" anchor="ctr"/>
          <a:lstStyle/>
          <a:p>
            <a:pPr marL="342900" indent="-342900">
              <a:spcAft>
                <a:spcPts val="1400"/>
              </a:spcAft>
              <a:buSzPct val="100000"/>
              <a:buChar char="•"/>
            </a:pPr>
            <a:r>
              <a:rPr lang="en-US" sz="1400" dirty="0">
                <a:solidFill>
                  <a:srgbClr val="16233A"/>
                </a:solidFill>
                <a:latin typeface="Calibri" pitchFamily="34" charset="0"/>
                <a:ea typeface="Calibri" pitchFamily="34" charset="-122"/>
                <a:cs typeface="Calibri" pitchFamily="34" charset="-120"/>
              </a:rPr>
              <a:t>One file in view at a time</a:t>
            </a:r>
            <a:endParaRPr lang="en-US" sz="1400" dirty="0"/>
          </a:p>
          <a:p>
            <a:pPr marL="342900" indent="-342900">
              <a:spcAft>
                <a:spcPts val="1400"/>
              </a:spcAft>
              <a:buSzPct val="100000"/>
              <a:buChar char="•"/>
            </a:pPr>
            <a:r>
              <a:rPr lang="en-US" sz="1400" dirty="0">
                <a:solidFill>
                  <a:srgbClr val="16233A"/>
                </a:solidFill>
                <a:latin typeface="Calibri" pitchFamily="34" charset="0"/>
                <a:ea typeface="Calibri" pitchFamily="34" charset="-122"/>
                <a:cs typeface="Calibri" pitchFamily="34" charset="-120"/>
              </a:rPr>
              <a:t>Autocomplete finishes your line</a:t>
            </a:r>
            <a:endParaRPr lang="en-US" sz="1400" dirty="0"/>
          </a:p>
          <a:p>
            <a:pPr marL="342900" indent="-342900">
              <a:spcAft>
                <a:spcPts val="1400"/>
              </a:spcAft>
              <a:buSzPct val="100000"/>
              <a:buChar char="•"/>
            </a:pPr>
            <a:r>
              <a:rPr lang="en-US" sz="1400" dirty="0">
                <a:solidFill>
                  <a:srgbClr val="16233A"/>
                </a:solidFill>
                <a:latin typeface="Calibri" pitchFamily="34" charset="0"/>
                <a:ea typeface="Calibri" pitchFamily="34" charset="-122"/>
                <a:cs typeface="Calibri" pitchFamily="34" charset="-120"/>
              </a:rPr>
              <a:t>You write every test and doc by hand</a:t>
            </a:r>
            <a:endParaRPr lang="en-US" sz="1400" dirty="0"/>
          </a:p>
          <a:p>
            <a:pPr marL="342900" indent="-342900">
              <a:spcAft>
                <a:spcPts val="1400"/>
              </a:spcAft>
              <a:buSzPct val="100000"/>
              <a:buChar char="•"/>
            </a:pPr>
            <a:r>
              <a:rPr lang="en-US" sz="1400" dirty="0">
                <a:solidFill>
                  <a:srgbClr val="16233A"/>
                </a:solidFill>
                <a:latin typeface="Calibri" pitchFamily="34" charset="0"/>
                <a:ea typeface="Calibri" pitchFamily="34" charset="-122"/>
                <a:cs typeface="Calibri" pitchFamily="34" charset="-120"/>
              </a:rPr>
              <a:t>Context = what's in your head</a:t>
            </a:r>
            <a:endParaRPr lang="en-US" sz="1400" dirty="0"/>
          </a:p>
          <a:p>
            <a:pPr marL="342900" indent="-342900">
              <a:spcAft>
                <a:spcPts val="1400"/>
              </a:spcAft>
              <a:buSzPct val="100000"/>
              <a:buChar char="•"/>
            </a:pPr>
            <a:r>
              <a:rPr lang="en-US" sz="1400" dirty="0">
                <a:solidFill>
                  <a:srgbClr val="16233A"/>
                </a:solidFill>
                <a:latin typeface="Calibri" pitchFamily="34" charset="0"/>
                <a:ea typeface="Calibri" pitchFamily="34" charset="-122"/>
                <a:cs typeface="Calibri" pitchFamily="34" charset="-120"/>
              </a:rPr>
              <a:t>Refactors are manual, file by file</a:t>
            </a:r>
            <a:endParaRPr lang="en-US" sz="1400" dirty="0"/>
          </a:p>
        </p:txBody>
      </p:sp>
      <p:sp>
        <p:nvSpPr>
          <p:cNvPr id="9" name="Text 7"/>
          <p:cNvSpPr/>
          <p:nvPr/>
        </p:nvSpPr>
        <p:spPr>
          <a:xfrm>
            <a:off x="6537960" y="2560320"/>
            <a:ext cx="4526280" cy="3291840"/>
          </a:xfrm>
          <a:prstGeom prst="rect">
            <a:avLst/>
          </a:prstGeom>
          <a:noFill/>
          <a:ln/>
        </p:spPr>
        <p:txBody>
          <a:bodyPr wrap="square" lIns="0" tIns="0" rIns="0" bIns="0" rtlCol="0" anchor="ctr"/>
          <a:lstStyle/>
          <a:p>
            <a:pPr marL="342900" indent="-342900">
              <a:spcAft>
                <a:spcPts val="1400"/>
              </a:spcAft>
              <a:buSzPct val="100000"/>
              <a:buChar char="•"/>
            </a:pPr>
            <a:r>
              <a:rPr lang="en-US" sz="1400" dirty="0">
                <a:solidFill>
                  <a:srgbClr val="DCE6F0"/>
                </a:solidFill>
                <a:latin typeface="Calibri" pitchFamily="34" charset="0"/>
                <a:ea typeface="Calibri" pitchFamily="34" charset="-122"/>
                <a:cs typeface="Calibri" pitchFamily="34" charset="-120"/>
              </a:rPr>
              <a:t>Reads and edits across the whole repo</a:t>
            </a:r>
            <a:endParaRPr lang="en-US" sz="1400" dirty="0"/>
          </a:p>
          <a:p>
            <a:pPr marL="342900" indent="-342900">
              <a:spcAft>
                <a:spcPts val="1400"/>
              </a:spcAft>
              <a:buSzPct val="100000"/>
              <a:buChar char="•"/>
            </a:pPr>
            <a:r>
              <a:rPr lang="en-US" sz="1400" dirty="0">
                <a:solidFill>
                  <a:srgbClr val="DCE6F0"/>
                </a:solidFill>
                <a:latin typeface="Calibri" pitchFamily="34" charset="0"/>
                <a:ea typeface="Calibri" pitchFamily="34" charset="-122"/>
                <a:cs typeface="Calibri" pitchFamily="34" charset="-120"/>
              </a:rPr>
              <a:t>Tab predicts your next edit, not just next token</a:t>
            </a:r>
            <a:endParaRPr lang="en-US" sz="1400" dirty="0"/>
          </a:p>
          <a:p>
            <a:pPr marL="342900" indent="-342900">
              <a:spcAft>
                <a:spcPts val="1400"/>
              </a:spcAft>
              <a:buSzPct val="100000"/>
              <a:buChar char="•"/>
            </a:pPr>
            <a:r>
              <a:rPr lang="en-US" sz="1400" dirty="0">
                <a:solidFill>
                  <a:srgbClr val="DCE6F0"/>
                </a:solidFill>
                <a:latin typeface="Calibri" pitchFamily="34" charset="0"/>
                <a:ea typeface="Calibri" pitchFamily="34" charset="-122"/>
                <a:cs typeface="Calibri" pitchFamily="34" charset="-120"/>
              </a:rPr>
              <a:t>Agent writes, runs, and iterates on tests</a:t>
            </a:r>
            <a:endParaRPr lang="en-US" sz="1400" dirty="0"/>
          </a:p>
          <a:p>
            <a:pPr marL="342900" indent="-342900">
              <a:spcAft>
                <a:spcPts val="1400"/>
              </a:spcAft>
              <a:buSzPct val="100000"/>
              <a:buChar char="•"/>
            </a:pPr>
            <a:r>
              <a:rPr lang="en-US" sz="1400" dirty="0">
                <a:solidFill>
                  <a:srgbClr val="DCE6F0"/>
                </a:solidFill>
                <a:latin typeface="Calibri" pitchFamily="34" charset="0"/>
                <a:ea typeface="Calibri" pitchFamily="34" charset="-122"/>
                <a:cs typeface="Calibri" pitchFamily="34" charset="-120"/>
              </a:rPr>
              <a:t>Context = @files, Rules, AGENTS.md, and Memory</a:t>
            </a:r>
            <a:endParaRPr lang="en-US" sz="1400" dirty="0"/>
          </a:p>
          <a:p>
            <a:pPr marL="342900" indent="-342900">
              <a:spcAft>
                <a:spcPts val="1400"/>
              </a:spcAft>
              <a:buSzPct val="100000"/>
              <a:buChar char="•"/>
            </a:pPr>
            <a:r>
              <a:rPr lang="en-US" sz="1400" dirty="0">
                <a:solidFill>
                  <a:srgbClr val="DCE6F0"/>
                </a:solidFill>
                <a:latin typeface="Calibri" pitchFamily="34" charset="0"/>
                <a:ea typeface="Calibri" pitchFamily="34" charset="-122"/>
                <a:cs typeface="Calibri" pitchFamily="34" charset="-120"/>
              </a:rPr>
              <a:t>One prompt can refactor a multi-file pipeline</a:t>
            </a:r>
            <a:endParaRPr lang="en-US" sz="1400" dirty="0"/>
          </a:p>
        </p:txBody>
      </p:sp>
      <p:sp>
        <p:nvSpPr>
          <p:cNvPr id="10" name="Text 8"/>
          <p:cNvSpPr/>
          <p:nvPr/>
        </p:nvSpPr>
        <p:spPr>
          <a:xfrm>
            <a:off x="548640" y="6537960"/>
            <a:ext cx="5486400" cy="274320"/>
          </a:xfrm>
          <a:prstGeom prst="rect">
            <a:avLst/>
          </a:prstGeom>
          <a:noFill/>
          <a:ln/>
        </p:spPr>
        <p:txBody>
          <a:bodyPr wrap="square" lIns="0" tIns="0" rIns="0" bIns="0" rtlCol="0" anchor="ctr"/>
          <a:lstStyle/>
          <a:p>
            <a:pPr indent="0" marL="0">
              <a:buNone/>
            </a:pPr>
            <a:r>
              <a:rPr lang="en-US" sz="900" dirty="0">
                <a:solidFill>
                  <a:srgbClr val="9AA7B5"/>
                </a:solidFill>
                <a:latin typeface="Calibri" pitchFamily="34" charset="0"/>
                <a:ea typeface="Calibri" pitchFamily="34" charset="-122"/>
                <a:cs typeface="Calibri" pitchFamily="34" charset="-120"/>
              </a:rPr>
              <a:t>Cursor for Engineers</a:t>
            </a:r>
            <a:endParaRPr lang="en-US" sz="900" dirty="0"/>
          </a:p>
        </p:txBody>
      </p:sp>
      <p:sp>
        <p:nvSpPr>
          <p:cNvPr id="11" name="Text 9"/>
          <p:cNvSpPr/>
          <p:nvPr/>
        </p:nvSpPr>
        <p:spPr>
          <a:xfrm>
            <a:off x="11338560" y="6537960"/>
            <a:ext cx="365760" cy="274320"/>
          </a:xfrm>
          <a:prstGeom prst="rect">
            <a:avLst/>
          </a:prstGeom>
          <a:noFill/>
          <a:ln/>
        </p:spPr>
        <p:txBody>
          <a:bodyPr wrap="square" lIns="0" tIns="0" rIns="0" bIns="0" rtlCol="0" anchor="ctr"/>
          <a:lstStyle/>
          <a:p>
            <a:pPr algn="r" indent="0" marL="0">
              <a:buNone/>
            </a:pPr>
            <a:r>
              <a:rPr lang="en-US" sz="900" dirty="0">
                <a:solidFill>
                  <a:srgbClr val="9AA7B5"/>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lIns="0" tIns="0" rIns="0" bIns="0" rtlCol="0" anchor="ctr"/>
          <a:lstStyle/>
          <a:p>
            <a:pPr indent="0" marL="0">
              <a:buNone/>
            </a:pPr>
            <a:r>
              <a:rPr lang="en-US" sz="1300" b="1" spc="200" kern="0" dirty="0">
                <a:solidFill>
                  <a:srgbClr val="3282B8"/>
                </a:solidFill>
                <a:latin typeface="Calibri" pitchFamily="34" charset="0"/>
                <a:ea typeface="Calibri" pitchFamily="34" charset="-122"/>
                <a:cs typeface="Calibri" pitchFamily="34" charset="-120"/>
              </a:rPr>
              <a:t>GET SET UP</a:t>
            </a:r>
            <a:endParaRPr lang="en-US" sz="1300" dirty="0"/>
          </a:p>
        </p:txBody>
      </p:sp>
      <p:sp>
        <p:nvSpPr>
          <p:cNvPr id="3" name="Text 1"/>
          <p:cNvSpPr/>
          <p:nvPr/>
        </p:nvSpPr>
        <p:spPr>
          <a:xfrm>
            <a:off x="548640" y="731520"/>
            <a:ext cx="11064240" cy="822960"/>
          </a:xfrm>
          <a:prstGeom prst="rect">
            <a:avLst/>
          </a:prstGeom>
          <a:noFill/>
          <a:ln/>
        </p:spPr>
        <p:txBody>
          <a:bodyPr wrap="square" lIns="0" tIns="0" rIns="0" bIns="0" rtlCol="0" anchor="ctr"/>
          <a:lstStyle/>
          <a:p>
            <a:pPr indent="0" marL="0">
              <a:buNone/>
            </a:pPr>
            <a:r>
              <a:rPr lang="en-US" sz="3000" b="1" dirty="0">
                <a:solidFill>
                  <a:srgbClr val="16233A"/>
                </a:solidFill>
                <a:latin typeface="Cambria" pitchFamily="34" charset="0"/>
                <a:ea typeface="Cambria" pitchFamily="34" charset="-122"/>
                <a:cs typeface="Cambria" pitchFamily="34" charset="-120"/>
              </a:rPr>
              <a:t>Two views, and a model picker for every task</a:t>
            </a:r>
            <a:endParaRPr lang="en-US" sz="3000" dirty="0"/>
          </a:p>
        </p:txBody>
      </p:sp>
      <p:sp>
        <p:nvSpPr>
          <p:cNvPr id="4" name="Text 2"/>
          <p:cNvSpPr/>
          <p:nvPr/>
        </p:nvSpPr>
        <p:spPr>
          <a:xfrm>
            <a:off x="548640" y="1417320"/>
            <a:ext cx="11064240" cy="777240"/>
          </a:xfrm>
          <a:prstGeom prst="rect">
            <a:avLst/>
          </a:prstGeom>
          <a:noFill/>
          <a:ln/>
        </p:spPr>
        <p:txBody>
          <a:bodyPr wrap="square" lIns="0" tIns="0" rIns="0" bIns="0" rtlCol="0" anchor="ctr"/>
          <a:lstStyle/>
          <a:p>
            <a:pPr indent="0" marL="0">
              <a:lnSpc>
                <a:spcPct val="130000"/>
              </a:lnSpc>
              <a:buNone/>
            </a:pPr>
            <a:r>
              <a:rPr lang="en-US" sz="1450" dirty="0">
                <a:solidFill>
                  <a:srgbClr val="16233A"/>
                </a:solidFill>
                <a:latin typeface="Calibri" pitchFamily="34" charset="0"/>
                <a:ea typeface="Calibri" pitchFamily="34" charset="-122"/>
                <a:cs typeface="Calibri" pitchFamily="34" charset="-120"/>
              </a:rPr>
              <a:t>Cursor splits your workspace into the Editor view (your files, Tab, Inline Edit) and the Agent view (the chat panel where Ask, Plan, and Agent modes live, and where diffs land for review).</a:t>
            </a:r>
            <a:endParaRPr lang="en-US" sz="1450" dirty="0"/>
          </a:p>
        </p:txBody>
      </p:sp>
      <p:sp>
        <p:nvSpPr>
          <p:cNvPr id="5" name="Shape 3"/>
          <p:cNvSpPr/>
          <p:nvPr/>
        </p:nvSpPr>
        <p:spPr>
          <a:xfrm>
            <a:off x="548640" y="2423160"/>
            <a:ext cx="3520440" cy="3383280"/>
          </a:xfrm>
          <a:prstGeom prst="roundRect">
            <a:avLst>
              <a:gd name="adj" fmla="val 2703"/>
            </a:avLst>
          </a:prstGeom>
          <a:solidFill>
            <a:srgbClr val="F0F4F8"/>
          </a:solidFill>
          <a:ln/>
          <a:effectLst>
            <a:outerShdw sx="100000" sy="100000" kx="0" ky="0" algn="bl" rotWithShape="0" blurRad="76200" dist="25400" dir="5400000">
              <a:srgbClr val="0B1F3A">
                <a:alpha val="18000"/>
              </a:srgbClr>
            </a:outerShdw>
          </a:effectLst>
        </p:spPr>
      </p:sp>
      <p:sp>
        <p:nvSpPr>
          <p:cNvPr id="6" name="Shape 4"/>
          <p:cNvSpPr/>
          <p:nvPr/>
        </p:nvSpPr>
        <p:spPr>
          <a:xfrm>
            <a:off x="822960" y="2697480"/>
            <a:ext cx="548640" cy="548640"/>
          </a:xfrm>
          <a:prstGeom prst="ellipse">
            <a:avLst/>
          </a:prstGeom>
          <a:solidFill>
            <a:srgbClr val="0F4C75"/>
          </a:solidFill>
          <a:ln/>
          <a:effectLst>
            <a:outerShdw sx="100000" sy="100000" kx="0" ky="0" algn="bl" rotWithShape="0" blurRad="76200" dist="25400" dir="5400000">
              <a:srgbClr val="0B1F3A">
                <a:alpha val="18000"/>
              </a:srgbClr>
            </a:outerShdw>
          </a:effectLst>
        </p:spPr>
      </p:sp>
      <p:sp>
        <p:nvSpPr>
          <p:cNvPr id="7" name="Text 5"/>
          <p:cNvSpPr/>
          <p:nvPr/>
        </p:nvSpPr>
        <p:spPr>
          <a:xfrm>
            <a:off x="822960" y="269748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822960" y="3429000"/>
            <a:ext cx="2971800" cy="548640"/>
          </a:xfrm>
          <a:prstGeom prst="rect">
            <a:avLst/>
          </a:prstGeom>
          <a:noFill/>
          <a:ln/>
        </p:spPr>
        <p:txBody>
          <a:bodyPr wrap="square" lIns="0" tIns="0" rIns="0" bIns="0" rtlCol="0" anchor="ctr"/>
          <a:lstStyle/>
          <a:p>
            <a:pPr indent="0" marL="0">
              <a:buNone/>
            </a:pPr>
            <a:r>
              <a:rPr lang="en-US" sz="1650" b="1" dirty="0">
                <a:solidFill>
                  <a:srgbClr val="16233A"/>
                </a:solidFill>
                <a:latin typeface="Cambria" pitchFamily="34" charset="0"/>
                <a:ea typeface="Cambria" pitchFamily="34" charset="-122"/>
                <a:cs typeface="Cambria" pitchFamily="34" charset="-120"/>
              </a:rPr>
              <a:t>Editor view</a:t>
            </a:r>
            <a:endParaRPr lang="en-US" sz="1650" dirty="0"/>
          </a:p>
        </p:txBody>
      </p:sp>
      <p:sp>
        <p:nvSpPr>
          <p:cNvPr id="9" name="Text 7"/>
          <p:cNvSpPr/>
          <p:nvPr/>
        </p:nvSpPr>
        <p:spPr>
          <a:xfrm>
            <a:off x="822960" y="3977640"/>
            <a:ext cx="2971800" cy="1645920"/>
          </a:xfrm>
          <a:prstGeom prst="rect">
            <a:avLst/>
          </a:prstGeom>
          <a:noFill/>
          <a:ln/>
        </p:spPr>
        <p:txBody>
          <a:bodyPr wrap="square" lIns="0" tIns="0" rIns="0" bIns="0" rtlCol="0" anchor="ctr"/>
          <a:lstStyle/>
          <a:p>
            <a:pPr indent="0" marL="0">
              <a:lnSpc>
                <a:spcPct val="125000"/>
              </a:lnSpc>
              <a:buNone/>
            </a:pPr>
            <a:r>
              <a:rPr lang="en-US" sz="1250" dirty="0">
                <a:solidFill>
                  <a:srgbClr val="5C6B7A"/>
                </a:solidFill>
                <a:latin typeface="Calibri" pitchFamily="34" charset="0"/>
                <a:ea typeface="Calibri" pitchFamily="34" charset="-122"/>
                <a:cs typeface="Calibri" pitchFamily="34" charset="-120"/>
              </a:rPr>
              <a:t>Your familiar file tree and code — Tab predicts inline, Inline Edit (Cmd+K) makes a targeted change without leaving the file.</a:t>
            </a:r>
            <a:endParaRPr lang="en-US" sz="1250" dirty="0"/>
          </a:p>
        </p:txBody>
      </p:sp>
      <p:sp>
        <p:nvSpPr>
          <p:cNvPr id="10" name="Shape 8"/>
          <p:cNvSpPr/>
          <p:nvPr/>
        </p:nvSpPr>
        <p:spPr>
          <a:xfrm>
            <a:off x="4389120" y="2423160"/>
            <a:ext cx="3520440" cy="3383280"/>
          </a:xfrm>
          <a:prstGeom prst="roundRect">
            <a:avLst>
              <a:gd name="adj" fmla="val 2703"/>
            </a:avLst>
          </a:prstGeom>
          <a:solidFill>
            <a:srgbClr val="F0F4F8"/>
          </a:solidFill>
          <a:ln/>
          <a:effectLst>
            <a:outerShdw sx="100000" sy="100000" kx="0" ky="0" algn="bl" rotWithShape="0" blurRad="76200" dist="25400" dir="5400000">
              <a:srgbClr val="0B1F3A">
                <a:alpha val="18000"/>
              </a:srgbClr>
            </a:outerShdw>
          </a:effectLst>
        </p:spPr>
      </p:sp>
      <p:sp>
        <p:nvSpPr>
          <p:cNvPr id="11" name="Shape 9"/>
          <p:cNvSpPr/>
          <p:nvPr/>
        </p:nvSpPr>
        <p:spPr>
          <a:xfrm>
            <a:off x="4663440" y="2697480"/>
            <a:ext cx="548640" cy="548640"/>
          </a:xfrm>
          <a:prstGeom prst="ellipse">
            <a:avLst/>
          </a:prstGeom>
          <a:solidFill>
            <a:srgbClr val="0F4C75"/>
          </a:solidFill>
          <a:ln/>
          <a:effectLst>
            <a:outerShdw sx="100000" sy="100000" kx="0" ky="0" algn="bl" rotWithShape="0" blurRad="76200" dist="25400" dir="5400000">
              <a:srgbClr val="0B1F3A">
                <a:alpha val="18000"/>
              </a:srgbClr>
            </a:outerShdw>
          </a:effectLst>
        </p:spPr>
      </p:sp>
      <p:sp>
        <p:nvSpPr>
          <p:cNvPr id="12" name="Text 10"/>
          <p:cNvSpPr/>
          <p:nvPr/>
        </p:nvSpPr>
        <p:spPr>
          <a:xfrm>
            <a:off x="4663440" y="269748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p:nvPr/>
        </p:nvSpPr>
        <p:spPr>
          <a:xfrm>
            <a:off x="4663440" y="3429000"/>
            <a:ext cx="2971800" cy="548640"/>
          </a:xfrm>
          <a:prstGeom prst="rect">
            <a:avLst/>
          </a:prstGeom>
          <a:noFill/>
          <a:ln/>
        </p:spPr>
        <p:txBody>
          <a:bodyPr wrap="square" lIns="0" tIns="0" rIns="0" bIns="0" rtlCol="0" anchor="ctr"/>
          <a:lstStyle/>
          <a:p>
            <a:pPr indent="0" marL="0">
              <a:buNone/>
            </a:pPr>
            <a:r>
              <a:rPr lang="en-US" sz="1650" b="1" dirty="0">
                <a:solidFill>
                  <a:srgbClr val="16233A"/>
                </a:solidFill>
                <a:latin typeface="Cambria" pitchFamily="34" charset="0"/>
                <a:ea typeface="Cambria" pitchFamily="34" charset="-122"/>
                <a:cs typeface="Cambria" pitchFamily="34" charset="-120"/>
              </a:rPr>
              <a:t>Agent view</a:t>
            </a:r>
            <a:endParaRPr lang="en-US" sz="1650" dirty="0"/>
          </a:p>
        </p:txBody>
      </p:sp>
      <p:sp>
        <p:nvSpPr>
          <p:cNvPr id="14" name="Text 12"/>
          <p:cNvSpPr/>
          <p:nvPr/>
        </p:nvSpPr>
        <p:spPr>
          <a:xfrm>
            <a:off x="4663440" y="3977640"/>
            <a:ext cx="2971800" cy="1645920"/>
          </a:xfrm>
          <a:prstGeom prst="rect">
            <a:avLst/>
          </a:prstGeom>
          <a:noFill/>
          <a:ln/>
        </p:spPr>
        <p:txBody>
          <a:bodyPr wrap="square" lIns="0" tIns="0" rIns="0" bIns="0" rtlCol="0" anchor="ctr"/>
          <a:lstStyle/>
          <a:p>
            <a:pPr indent="0" marL="0">
              <a:lnSpc>
                <a:spcPct val="125000"/>
              </a:lnSpc>
              <a:buNone/>
            </a:pPr>
            <a:r>
              <a:rPr lang="en-US" sz="1250" dirty="0">
                <a:solidFill>
                  <a:srgbClr val="5C6B7A"/>
                </a:solidFill>
                <a:latin typeface="Calibri" pitchFamily="34" charset="0"/>
                <a:ea typeface="Calibri" pitchFamily="34" charset="-122"/>
                <a:cs typeface="Calibri" pitchFamily="34" charset="-120"/>
              </a:rPr>
              <a:t>The conversational panel — describe the task, pick Ask / Plan / Agent, watch the plan or diff come together.</a:t>
            </a:r>
            <a:endParaRPr lang="en-US" sz="1250" dirty="0"/>
          </a:p>
        </p:txBody>
      </p:sp>
      <p:sp>
        <p:nvSpPr>
          <p:cNvPr id="15" name="Shape 13"/>
          <p:cNvSpPr/>
          <p:nvPr/>
        </p:nvSpPr>
        <p:spPr>
          <a:xfrm>
            <a:off x="8229600" y="2423160"/>
            <a:ext cx="3520440" cy="3383280"/>
          </a:xfrm>
          <a:prstGeom prst="roundRect">
            <a:avLst>
              <a:gd name="adj" fmla="val 2703"/>
            </a:avLst>
          </a:prstGeom>
          <a:solidFill>
            <a:srgbClr val="F0F4F8"/>
          </a:solidFill>
          <a:ln/>
          <a:effectLst>
            <a:outerShdw sx="100000" sy="100000" kx="0" ky="0" algn="bl" rotWithShape="0" blurRad="76200" dist="25400" dir="5400000">
              <a:srgbClr val="0B1F3A">
                <a:alpha val="18000"/>
              </a:srgbClr>
            </a:outerShdw>
          </a:effectLst>
        </p:spPr>
      </p:sp>
      <p:sp>
        <p:nvSpPr>
          <p:cNvPr id="16" name="Shape 14"/>
          <p:cNvSpPr/>
          <p:nvPr/>
        </p:nvSpPr>
        <p:spPr>
          <a:xfrm>
            <a:off x="8503920" y="2697480"/>
            <a:ext cx="548640" cy="548640"/>
          </a:xfrm>
          <a:prstGeom prst="ellipse">
            <a:avLst/>
          </a:prstGeom>
          <a:solidFill>
            <a:srgbClr val="F2A541"/>
          </a:solidFill>
          <a:ln/>
          <a:effectLst>
            <a:outerShdw sx="100000" sy="100000" kx="0" ky="0" algn="bl" rotWithShape="0" blurRad="76200" dist="25400" dir="5400000">
              <a:srgbClr val="0B1F3A">
                <a:alpha val="18000"/>
              </a:srgbClr>
            </a:outerShdw>
          </a:effectLst>
        </p:spPr>
      </p:sp>
      <p:sp>
        <p:nvSpPr>
          <p:cNvPr id="17" name="Text 15"/>
          <p:cNvSpPr/>
          <p:nvPr/>
        </p:nvSpPr>
        <p:spPr>
          <a:xfrm>
            <a:off x="8503920" y="269748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8" name="Text 16"/>
          <p:cNvSpPr/>
          <p:nvPr/>
        </p:nvSpPr>
        <p:spPr>
          <a:xfrm>
            <a:off x="8503920" y="3429000"/>
            <a:ext cx="2971800" cy="548640"/>
          </a:xfrm>
          <a:prstGeom prst="rect">
            <a:avLst/>
          </a:prstGeom>
          <a:noFill/>
          <a:ln/>
        </p:spPr>
        <p:txBody>
          <a:bodyPr wrap="square" lIns="0" tIns="0" rIns="0" bIns="0" rtlCol="0" anchor="ctr"/>
          <a:lstStyle/>
          <a:p>
            <a:pPr indent="0" marL="0">
              <a:buNone/>
            </a:pPr>
            <a:r>
              <a:rPr lang="en-US" sz="1650" b="1" dirty="0">
                <a:solidFill>
                  <a:srgbClr val="16233A"/>
                </a:solidFill>
                <a:latin typeface="Cambria" pitchFamily="34" charset="0"/>
                <a:ea typeface="Cambria" pitchFamily="34" charset="-122"/>
                <a:cs typeface="Cambria" pitchFamily="34" charset="-120"/>
              </a:rPr>
              <a:t>Model switching</a:t>
            </a:r>
            <a:endParaRPr lang="en-US" sz="1650" dirty="0"/>
          </a:p>
        </p:txBody>
      </p:sp>
      <p:sp>
        <p:nvSpPr>
          <p:cNvPr id="19" name="Text 17"/>
          <p:cNvSpPr/>
          <p:nvPr/>
        </p:nvSpPr>
        <p:spPr>
          <a:xfrm>
            <a:off x="8503920" y="3977640"/>
            <a:ext cx="2971800" cy="1645920"/>
          </a:xfrm>
          <a:prstGeom prst="rect">
            <a:avLst/>
          </a:prstGeom>
          <a:noFill/>
          <a:ln/>
        </p:spPr>
        <p:txBody>
          <a:bodyPr wrap="square" lIns="0" tIns="0" rIns="0" bIns="0" rtlCol="0" anchor="ctr"/>
          <a:lstStyle/>
          <a:p>
            <a:pPr indent="0" marL="0">
              <a:lnSpc>
                <a:spcPct val="125000"/>
              </a:lnSpc>
              <a:buNone/>
            </a:pPr>
            <a:r>
              <a:rPr lang="en-US" sz="1250" dirty="0">
                <a:solidFill>
                  <a:srgbClr val="5C6B7A"/>
                </a:solidFill>
                <a:latin typeface="Calibri" pitchFamily="34" charset="0"/>
                <a:ea typeface="Calibri" pitchFamily="34" charset="-122"/>
                <a:cs typeface="Calibri" pitchFamily="34" charset="-120"/>
              </a:rPr>
              <a:t>Pick the underlying model per task from a dropdown in the chat panel — a fast model for quick edits, a frontier model for hard refactors.</a:t>
            </a:r>
            <a:endParaRPr lang="en-US" sz="1250" dirty="0"/>
          </a:p>
        </p:txBody>
      </p:sp>
      <p:sp>
        <p:nvSpPr>
          <p:cNvPr id="20" name="Text 18"/>
          <p:cNvSpPr/>
          <p:nvPr/>
        </p:nvSpPr>
        <p:spPr>
          <a:xfrm>
            <a:off x="548640" y="6035040"/>
            <a:ext cx="11064240" cy="365760"/>
          </a:xfrm>
          <a:prstGeom prst="rect">
            <a:avLst/>
          </a:prstGeom>
          <a:noFill/>
          <a:ln/>
        </p:spPr>
        <p:txBody>
          <a:bodyPr wrap="square" lIns="0" tIns="0" rIns="0" bIns="0" rtlCol="0" anchor="ctr"/>
          <a:lstStyle/>
          <a:p>
            <a:pPr indent="0" marL="0">
              <a:buNone/>
            </a:pPr>
            <a:r>
              <a:rPr lang="en-US" sz="1250" i="1" dirty="0">
                <a:solidFill>
                  <a:srgbClr val="5C6B7A"/>
                </a:solidFill>
                <a:latin typeface="Calibri" pitchFamily="34" charset="0"/>
                <a:ea typeface="Calibri" pitchFamily="34" charset="-122"/>
                <a:cs typeface="Calibri" pitchFamily="34" charset="-120"/>
              </a:rPr>
              <a:t>Tip: default to a fast model for routine work, and switch up only when a task needs deeper reasoning.</a:t>
            </a:r>
            <a:endParaRPr lang="en-US" sz="1250" dirty="0"/>
          </a:p>
        </p:txBody>
      </p:sp>
      <p:sp>
        <p:nvSpPr>
          <p:cNvPr id="21" name="Text 19"/>
          <p:cNvSpPr/>
          <p:nvPr/>
        </p:nvSpPr>
        <p:spPr>
          <a:xfrm>
            <a:off x="548640" y="6537960"/>
            <a:ext cx="5486400" cy="274320"/>
          </a:xfrm>
          <a:prstGeom prst="rect">
            <a:avLst/>
          </a:prstGeom>
          <a:noFill/>
          <a:ln/>
        </p:spPr>
        <p:txBody>
          <a:bodyPr wrap="square" lIns="0" tIns="0" rIns="0" bIns="0" rtlCol="0" anchor="ctr"/>
          <a:lstStyle/>
          <a:p>
            <a:pPr indent="0" marL="0">
              <a:buNone/>
            </a:pPr>
            <a:r>
              <a:rPr lang="en-US" sz="900" dirty="0">
                <a:solidFill>
                  <a:srgbClr val="9AA7B5"/>
                </a:solidFill>
                <a:latin typeface="Calibri" pitchFamily="34" charset="0"/>
                <a:ea typeface="Calibri" pitchFamily="34" charset="-122"/>
                <a:cs typeface="Calibri" pitchFamily="34" charset="-120"/>
              </a:rPr>
              <a:t>Cursor for Engineers</a:t>
            </a:r>
            <a:endParaRPr lang="en-US" sz="900" dirty="0"/>
          </a:p>
        </p:txBody>
      </p:sp>
      <p:sp>
        <p:nvSpPr>
          <p:cNvPr id="22" name="Text 20"/>
          <p:cNvSpPr/>
          <p:nvPr/>
        </p:nvSpPr>
        <p:spPr>
          <a:xfrm>
            <a:off x="11338560" y="6537960"/>
            <a:ext cx="365760" cy="274320"/>
          </a:xfrm>
          <a:prstGeom prst="rect">
            <a:avLst/>
          </a:prstGeom>
          <a:noFill/>
          <a:ln/>
        </p:spPr>
        <p:txBody>
          <a:bodyPr wrap="square" lIns="0" tIns="0" rIns="0" bIns="0" rtlCol="0" anchor="ctr"/>
          <a:lstStyle/>
          <a:p>
            <a:pPr algn="r" indent="0" marL="0">
              <a:buNone/>
            </a:pPr>
            <a:r>
              <a:rPr lang="en-US" sz="900" dirty="0">
                <a:solidFill>
                  <a:srgbClr val="9AA7B5"/>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lIns="0" tIns="0" rIns="0" bIns="0" rtlCol="0" anchor="ctr"/>
          <a:lstStyle/>
          <a:p>
            <a:pPr indent="0" marL="0">
              <a:buNone/>
            </a:pPr>
            <a:r>
              <a:rPr lang="en-US" sz="1300" b="1" spc="200" kern="0" dirty="0">
                <a:solidFill>
                  <a:srgbClr val="3282B8"/>
                </a:solidFill>
                <a:latin typeface="Calibri" pitchFamily="34" charset="0"/>
                <a:ea typeface="Calibri" pitchFamily="34" charset="-122"/>
                <a:cs typeface="Calibri" pitchFamily="34" charset="-120"/>
              </a:rPr>
              <a:t>MODEL SWITCHING, IN PRACTICE</a:t>
            </a:r>
            <a:endParaRPr lang="en-US" sz="1300" dirty="0"/>
          </a:p>
        </p:txBody>
      </p:sp>
      <p:sp>
        <p:nvSpPr>
          <p:cNvPr id="3" name="Text 1"/>
          <p:cNvSpPr/>
          <p:nvPr/>
        </p:nvSpPr>
        <p:spPr>
          <a:xfrm>
            <a:off x="548640" y="731520"/>
            <a:ext cx="11064240" cy="822960"/>
          </a:xfrm>
          <a:prstGeom prst="rect">
            <a:avLst/>
          </a:prstGeom>
          <a:noFill/>
          <a:ln/>
        </p:spPr>
        <p:txBody>
          <a:bodyPr wrap="square" lIns="0" tIns="0" rIns="0" bIns="0" rtlCol="0" anchor="ctr"/>
          <a:lstStyle/>
          <a:p>
            <a:pPr indent="0" marL="0">
              <a:buNone/>
            </a:pPr>
            <a:r>
              <a:rPr lang="en-US" sz="3000" b="1" dirty="0">
                <a:solidFill>
                  <a:srgbClr val="16233A"/>
                </a:solidFill>
                <a:latin typeface="Cambria" pitchFamily="34" charset="0"/>
                <a:ea typeface="Cambria" pitchFamily="34" charset="-122"/>
                <a:cs typeface="Cambria" pitchFamily="34" charset="-120"/>
              </a:rPr>
              <a:t>Choosing a model: match the task to the engine</a:t>
            </a:r>
            <a:endParaRPr lang="en-US" sz="3000" dirty="0"/>
          </a:p>
        </p:txBody>
      </p:sp>
      <p:sp>
        <p:nvSpPr>
          <p:cNvPr id="4" name="Text 2"/>
          <p:cNvSpPr/>
          <p:nvPr/>
        </p:nvSpPr>
        <p:spPr>
          <a:xfrm>
            <a:off x="548640" y="1417320"/>
            <a:ext cx="11064240" cy="548640"/>
          </a:xfrm>
          <a:prstGeom prst="rect">
            <a:avLst/>
          </a:prstGeom>
          <a:noFill/>
          <a:ln/>
        </p:spPr>
        <p:txBody>
          <a:bodyPr wrap="square" lIns="0" tIns="0" rIns="0" bIns="0" rtlCol="0" anchor="ctr"/>
          <a:lstStyle/>
          <a:p>
            <a:pPr indent="0" marL="0">
              <a:buNone/>
            </a:pPr>
            <a:r>
              <a:rPr lang="en-US" sz="1400" dirty="0">
                <a:solidFill>
                  <a:srgbClr val="16233A"/>
                </a:solidFill>
                <a:latin typeface="Calibri" pitchFamily="34" charset="0"/>
                <a:ea typeface="Calibri" pitchFamily="34" charset="-122"/>
                <a:cs typeface="Calibri" pitchFamily="34" charset="-120"/>
              </a:rPr>
              <a:t>Cursor supports Claude, GPT, Gemini, Grok, and its own Composer models. You don't need to track every release — group them by job.</a:t>
            </a:r>
            <a:endParaRPr lang="en-US" sz="1400" dirty="0"/>
          </a:p>
        </p:txBody>
      </p:sp>
      <p:sp>
        <p:nvSpPr>
          <p:cNvPr id="5" name="Shape 3"/>
          <p:cNvSpPr/>
          <p:nvPr/>
        </p:nvSpPr>
        <p:spPr>
          <a:xfrm>
            <a:off x="548640" y="2240280"/>
            <a:ext cx="11064240" cy="914400"/>
          </a:xfrm>
          <a:prstGeom prst="roundRect">
            <a:avLst>
              <a:gd name="adj" fmla="val 10000"/>
            </a:avLst>
          </a:prstGeom>
          <a:solidFill>
            <a:srgbClr val="F0F4F8"/>
          </a:solidFill>
          <a:ln/>
          <a:effectLst>
            <a:outerShdw sx="100000" sy="100000" kx="0" ky="0" algn="bl" rotWithShape="0" blurRad="76200" dist="25400" dir="5400000">
              <a:srgbClr val="0B1F3A">
                <a:alpha val="18000"/>
              </a:srgbClr>
            </a:outerShdw>
          </a:effectLst>
        </p:spPr>
      </p:sp>
      <p:sp>
        <p:nvSpPr>
          <p:cNvPr id="6" name="Text 4"/>
          <p:cNvSpPr/>
          <p:nvPr/>
        </p:nvSpPr>
        <p:spPr>
          <a:xfrm>
            <a:off x="548640" y="2240280"/>
            <a:ext cx="2011680" cy="914400"/>
          </a:xfrm>
          <a:prstGeom prst="rect">
            <a:avLst/>
          </a:prstGeom>
          <a:noFill/>
          <a:ln/>
        </p:spPr>
        <p:txBody>
          <a:bodyPr wrap="square" lIns="0" tIns="0" rIns="0" bIns="0" rtlCol="0" anchor="ctr"/>
          <a:lstStyle/>
          <a:p>
            <a:pPr indent="0" marL="0">
              <a:buNone/>
            </a:pPr>
            <a:r>
              <a:rPr lang="en-US" sz="1500" b="1" dirty="0">
                <a:solidFill>
                  <a:srgbClr val="0F4C75"/>
                </a:solidFill>
                <a:latin typeface="Cambria" pitchFamily="34" charset="0"/>
                <a:ea typeface="Cambria" pitchFamily="34" charset="-122"/>
                <a:cs typeface="Cambria" pitchFamily="34" charset="-120"/>
              </a:rPr>
              <a:t>Routine work</a:t>
            </a:r>
            <a:endParaRPr lang="en-US" sz="1500" dirty="0"/>
          </a:p>
        </p:txBody>
      </p:sp>
      <p:sp>
        <p:nvSpPr>
          <p:cNvPr id="7" name="Text 5"/>
          <p:cNvSpPr/>
          <p:nvPr/>
        </p:nvSpPr>
        <p:spPr>
          <a:xfrm>
            <a:off x="2743200" y="2240280"/>
            <a:ext cx="3337560" cy="914400"/>
          </a:xfrm>
          <a:prstGeom prst="rect">
            <a:avLst/>
          </a:prstGeom>
          <a:noFill/>
          <a:ln/>
        </p:spPr>
        <p:txBody>
          <a:bodyPr wrap="square" lIns="0" tIns="0" rIns="0" bIns="0" rtlCol="0" anchor="ctr"/>
          <a:lstStyle/>
          <a:p>
            <a:pPr indent="0" marL="0">
              <a:lnSpc>
                <a:spcPct val="115000"/>
              </a:lnSpc>
              <a:buNone/>
            </a:pPr>
            <a:r>
              <a:rPr lang="en-US" sz="1150" dirty="0">
                <a:solidFill>
                  <a:srgbClr val="16233A"/>
                </a:solidFill>
                <a:latin typeface="Courier New" pitchFamily="34" charset="0"/>
                <a:ea typeface="Courier New" pitchFamily="34" charset="-122"/>
                <a:cs typeface="Courier New" pitchFamily="34" charset="-120"/>
              </a:rPr>
              <a:t>Composer · GPT-5 Mini · Claude Haiku</a:t>
            </a:r>
            <a:endParaRPr lang="en-US" sz="1150" dirty="0"/>
          </a:p>
        </p:txBody>
      </p:sp>
      <p:sp>
        <p:nvSpPr>
          <p:cNvPr id="8" name="Text 6"/>
          <p:cNvSpPr/>
          <p:nvPr/>
        </p:nvSpPr>
        <p:spPr>
          <a:xfrm>
            <a:off x="6263640" y="2240280"/>
            <a:ext cx="5120640" cy="914400"/>
          </a:xfrm>
          <a:prstGeom prst="rect">
            <a:avLst/>
          </a:prstGeom>
          <a:noFill/>
          <a:ln/>
        </p:spPr>
        <p:txBody>
          <a:bodyPr wrap="square" lIns="0" tIns="0" rIns="0" bIns="0" rtlCol="0" anchor="ctr"/>
          <a:lstStyle/>
          <a:p>
            <a:pPr indent="0" marL="0">
              <a:lnSpc>
                <a:spcPct val="120000"/>
              </a:lnSpc>
              <a:buNone/>
            </a:pPr>
            <a:r>
              <a:rPr lang="en-US" sz="1200" dirty="0">
                <a:solidFill>
                  <a:srgbClr val="5C6B7A"/>
                </a:solidFill>
                <a:latin typeface="Calibri" pitchFamily="34" charset="0"/>
                <a:ea typeface="Calibri" pitchFamily="34" charset="-122"/>
                <a:cs typeface="Calibri" pitchFamily="34" charset="-120"/>
              </a:rPr>
              <a:t>Tab completions, small fixes, high-volume work — fast and cheap</a:t>
            </a:r>
            <a:endParaRPr lang="en-US" sz="1200" dirty="0"/>
          </a:p>
        </p:txBody>
      </p:sp>
      <p:sp>
        <p:nvSpPr>
          <p:cNvPr id="9" name="Shape 7"/>
          <p:cNvSpPr/>
          <p:nvPr/>
        </p:nvSpPr>
        <p:spPr>
          <a:xfrm>
            <a:off x="548640" y="3291840"/>
            <a:ext cx="11064240" cy="914400"/>
          </a:xfrm>
          <a:prstGeom prst="roundRect">
            <a:avLst>
              <a:gd name="adj" fmla="val 10000"/>
            </a:avLst>
          </a:prstGeom>
          <a:solidFill>
            <a:srgbClr val="F0F4F8"/>
          </a:solidFill>
          <a:ln/>
          <a:effectLst>
            <a:outerShdw sx="100000" sy="100000" kx="0" ky="0" algn="bl" rotWithShape="0" blurRad="76200" dist="25400" dir="5400000">
              <a:srgbClr val="0B1F3A">
                <a:alpha val="18000"/>
              </a:srgbClr>
            </a:outerShdw>
          </a:effectLst>
        </p:spPr>
      </p:sp>
      <p:sp>
        <p:nvSpPr>
          <p:cNvPr id="10" name="Text 8"/>
          <p:cNvSpPr/>
          <p:nvPr/>
        </p:nvSpPr>
        <p:spPr>
          <a:xfrm>
            <a:off x="548640" y="3291840"/>
            <a:ext cx="2011680" cy="914400"/>
          </a:xfrm>
          <a:prstGeom prst="rect">
            <a:avLst/>
          </a:prstGeom>
          <a:noFill/>
          <a:ln/>
        </p:spPr>
        <p:txBody>
          <a:bodyPr wrap="square" lIns="0" tIns="0" rIns="0" bIns="0" rtlCol="0" anchor="ctr"/>
          <a:lstStyle/>
          <a:p>
            <a:pPr indent="0" marL="0">
              <a:buNone/>
            </a:pPr>
            <a:r>
              <a:rPr lang="en-US" sz="1500" b="1" dirty="0">
                <a:solidFill>
                  <a:srgbClr val="0F4C75"/>
                </a:solidFill>
                <a:latin typeface="Cambria" pitchFamily="34" charset="0"/>
                <a:ea typeface="Cambria" pitchFamily="34" charset="-122"/>
                <a:cs typeface="Cambria" pitchFamily="34" charset="-120"/>
              </a:rPr>
              <a:t>Everyday coding</a:t>
            </a:r>
            <a:endParaRPr lang="en-US" sz="1500" dirty="0"/>
          </a:p>
        </p:txBody>
      </p:sp>
      <p:sp>
        <p:nvSpPr>
          <p:cNvPr id="11" name="Text 9"/>
          <p:cNvSpPr/>
          <p:nvPr/>
        </p:nvSpPr>
        <p:spPr>
          <a:xfrm>
            <a:off x="2743200" y="3291840"/>
            <a:ext cx="3337560" cy="914400"/>
          </a:xfrm>
          <a:prstGeom prst="rect">
            <a:avLst/>
          </a:prstGeom>
          <a:noFill/>
          <a:ln/>
        </p:spPr>
        <p:txBody>
          <a:bodyPr wrap="square" lIns="0" tIns="0" rIns="0" bIns="0" rtlCol="0" anchor="ctr"/>
          <a:lstStyle/>
          <a:p>
            <a:pPr indent="0" marL="0">
              <a:lnSpc>
                <a:spcPct val="115000"/>
              </a:lnSpc>
              <a:buNone/>
            </a:pPr>
            <a:r>
              <a:rPr lang="en-US" sz="1150" dirty="0">
                <a:solidFill>
                  <a:srgbClr val="16233A"/>
                </a:solidFill>
                <a:latin typeface="Courier New" pitchFamily="34" charset="0"/>
                <a:ea typeface="Courier New" pitchFamily="34" charset="-122"/>
                <a:cs typeface="Courier New" pitchFamily="34" charset="-120"/>
              </a:rPr>
              <a:t>Claude Sonnet · GPT-5 / Codex</a:t>
            </a:r>
            <a:endParaRPr lang="en-US" sz="1150" dirty="0"/>
          </a:p>
        </p:txBody>
      </p:sp>
      <p:sp>
        <p:nvSpPr>
          <p:cNvPr id="12" name="Text 10"/>
          <p:cNvSpPr/>
          <p:nvPr/>
        </p:nvSpPr>
        <p:spPr>
          <a:xfrm>
            <a:off x="6263640" y="3291840"/>
            <a:ext cx="5120640" cy="914400"/>
          </a:xfrm>
          <a:prstGeom prst="rect">
            <a:avLst/>
          </a:prstGeom>
          <a:noFill/>
          <a:ln/>
        </p:spPr>
        <p:txBody>
          <a:bodyPr wrap="square" lIns="0" tIns="0" rIns="0" bIns="0" rtlCol="0" anchor="ctr"/>
          <a:lstStyle/>
          <a:p>
            <a:pPr indent="0" marL="0">
              <a:lnSpc>
                <a:spcPct val="120000"/>
              </a:lnSpc>
              <a:buNone/>
            </a:pPr>
            <a:r>
              <a:rPr lang="en-US" sz="1200" dirty="0">
                <a:solidFill>
                  <a:srgbClr val="5C6B7A"/>
                </a:solidFill>
                <a:latin typeface="Calibri" pitchFamily="34" charset="0"/>
                <a:ea typeface="Calibri" pitchFamily="34" charset="-122"/>
                <a:cs typeface="Calibri" pitchFamily="34" charset="-120"/>
              </a:rPr>
              <a:t>Most day-to-day feature work — strong tool use, solid reasoning, sensible cost</a:t>
            </a:r>
            <a:endParaRPr lang="en-US" sz="1200" dirty="0"/>
          </a:p>
        </p:txBody>
      </p:sp>
      <p:sp>
        <p:nvSpPr>
          <p:cNvPr id="13" name="Shape 11"/>
          <p:cNvSpPr/>
          <p:nvPr/>
        </p:nvSpPr>
        <p:spPr>
          <a:xfrm>
            <a:off x="548640" y="4343400"/>
            <a:ext cx="11064240" cy="914400"/>
          </a:xfrm>
          <a:prstGeom prst="roundRect">
            <a:avLst>
              <a:gd name="adj" fmla="val 10000"/>
            </a:avLst>
          </a:prstGeom>
          <a:solidFill>
            <a:srgbClr val="F0F4F8"/>
          </a:solidFill>
          <a:ln/>
          <a:effectLst>
            <a:outerShdw sx="100000" sy="100000" kx="0" ky="0" algn="bl" rotWithShape="0" blurRad="76200" dist="25400" dir="5400000">
              <a:srgbClr val="0B1F3A">
                <a:alpha val="18000"/>
              </a:srgbClr>
            </a:outerShdw>
          </a:effectLst>
        </p:spPr>
      </p:sp>
      <p:sp>
        <p:nvSpPr>
          <p:cNvPr id="14" name="Text 12"/>
          <p:cNvSpPr/>
          <p:nvPr/>
        </p:nvSpPr>
        <p:spPr>
          <a:xfrm>
            <a:off x="548640" y="4343400"/>
            <a:ext cx="2011680" cy="914400"/>
          </a:xfrm>
          <a:prstGeom prst="rect">
            <a:avLst/>
          </a:prstGeom>
          <a:noFill/>
          <a:ln/>
        </p:spPr>
        <p:txBody>
          <a:bodyPr wrap="square" lIns="0" tIns="0" rIns="0" bIns="0" rtlCol="0" anchor="ctr"/>
          <a:lstStyle/>
          <a:p>
            <a:pPr indent="0" marL="0">
              <a:buNone/>
            </a:pPr>
            <a:r>
              <a:rPr lang="en-US" sz="1500" b="1" dirty="0">
                <a:solidFill>
                  <a:srgbClr val="0F4C75"/>
                </a:solidFill>
                <a:latin typeface="Cambria" pitchFamily="34" charset="0"/>
                <a:ea typeface="Cambria" pitchFamily="34" charset="-122"/>
                <a:cs typeface="Cambria" pitchFamily="34" charset="-120"/>
              </a:rPr>
              <a:t>Deep reasoning</a:t>
            </a:r>
            <a:endParaRPr lang="en-US" sz="1500" dirty="0"/>
          </a:p>
        </p:txBody>
      </p:sp>
      <p:sp>
        <p:nvSpPr>
          <p:cNvPr id="15" name="Text 13"/>
          <p:cNvSpPr/>
          <p:nvPr/>
        </p:nvSpPr>
        <p:spPr>
          <a:xfrm>
            <a:off x="2743200" y="4343400"/>
            <a:ext cx="3337560" cy="914400"/>
          </a:xfrm>
          <a:prstGeom prst="rect">
            <a:avLst/>
          </a:prstGeom>
          <a:noFill/>
          <a:ln/>
        </p:spPr>
        <p:txBody>
          <a:bodyPr wrap="square" lIns="0" tIns="0" rIns="0" bIns="0" rtlCol="0" anchor="ctr"/>
          <a:lstStyle/>
          <a:p>
            <a:pPr indent="0" marL="0">
              <a:lnSpc>
                <a:spcPct val="115000"/>
              </a:lnSpc>
              <a:buNone/>
            </a:pPr>
            <a:r>
              <a:rPr lang="en-US" sz="1150" dirty="0">
                <a:solidFill>
                  <a:srgbClr val="16233A"/>
                </a:solidFill>
                <a:latin typeface="Courier New" pitchFamily="34" charset="0"/>
                <a:ea typeface="Courier New" pitchFamily="34" charset="-122"/>
                <a:cs typeface="Courier New" pitchFamily="34" charset="-120"/>
              </a:rPr>
              <a:t>Claude Opus · GPT-5 high-reasoning</a:t>
            </a:r>
            <a:endParaRPr lang="en-US" sz="1150" dirty="0"/>
          </a:p>
        </p:txBody>
      </p:sp>
      <p:sp>
        <p:nvSpPr>
          <p:cNvPr id="16" name="Text 14"/>
          <p:cNvSpPr/>
          <p:nvPr/>
        </p:nvSpPr>
        <p:spPr>
          <a:xfrm>
            <a:off x="6263640" y="4343400"/>
            <a:ext cx="5120640" cy="914400"/>
          </a:xfrm>
          <a:prstGeom prst="rect">
            <a:avLst/>
          </a:prstGeom>
          <a:noFill/>
          <a:ln/>
        </p:spPr>
        <p:txBody>
          <a:bodyPr wrap="square" lIns="0" tIns="0" rIns="0" bIns="0" rtlCol="0" anchor="ctr"/>
          <a:lstStyle/>
          <a:p>
            <a:pPr indent="0" marL="0">
              <a:lnSpc>
                <a:spcPct val="120000"/>
              </a:lnSpc>
              <a:buNone/>
            </a:pPr>
            <a:r>
              <a:rPr lang="en-US" sz="1200" dirty="0">
                <a:solidFill>
                  <a:srgbClr val="5C6B7A"/>
                </a:solidFill>
                <a:latin typeface="Calibri" pitchFamily="34" charset="0"/>
                <a:ea typeface="Calibri" pitchFamily="34" charset="-122"/>
                <a:cs typeface="Calibri" pitchFamily="34" charset="-120"/>
              </a:rPr>
              <a:t>Tricky bugs, architecture calls, complex refactors — often needs Max Mode</a:t>
            </a:r>
            <a:endParaRPr lang="en-US" sz="1200" dirty="0"/>
          </a:p>
        </p:txBody>
      </p:sp>
      <p:sp>
        <p:nvSpPr>
          <p:cNvPr id="17" name="Shape 15"/>
          <p:cNvSpPr/>
          <p:nvPr/>
        </p:nvSpPr>
        <p:spPr>
          <a:xfrm>
            <a:off x="548640" y="5394960"/>
            <a:ext cx="11064240" cy="914400"/>
          </a:xfrm>
          <a:prstGeom prst="roundRect">
            <a:avLst>
              <a:gd name="adj" fmla="val 10000"/>
            </a:avLst>
          </a:prstGeom>
          <a:solidFill>
            <a:srgbClr val="F0F4F8"/>
          </a:solidFill>
          <a:ln/>
          <a:effectLst>
            <a:outerShdw sx="100000" sy="100000" kx="0" ky="0" algn="bl" rotWithShape="0" blurRad="76200" dist="25400" dir="5400000">
              <a:srgbClr val="0B1F3A">
                <a:alpha val="18000"/>
              </a:srgbClr>
            </a:outerShdw>
          </a:effectLst>
        </p:spPr>
      </p:sp>
      <p:sp>
        <p:nvSpPr>
          <p:cNvPr id="18" name="Text 16"/>
          <p:cNvSpPr/>
          <p:nvPr/>
        </p:nvSpPr>
        <p:spPr>
          <a:xfrm>
            <a:off x="548640" y="5394960"/>
            <a:ext cx="2011680" cy="914400"/>
          </a:xfrm>
          <a:prstGeom prst="rect">
            <a:avLst/>
          </a:prstGeom>
          <a:noFill/>
          <a:ln/>
        </p:spPr>
        <p:txBody>
          <a:bodyPr wrap="square" lIns="0" tIns="0" rIns="0" bIns="0" rtlCol="0" anchor="ctr"/>
          <a:lstStyle/>
          <a:p>
            <a:pPr indent="0" marL="0">
              <a:buNone/>
            </a:pPr>
            <a:r>
              <a:rPr lang="en-US" sz="1500" b="1" dirty="0">
                <a:solidFill>
                  <a:srgbClr val="0F4C75"/>
                </a:solidFill>
                <a:latin typeface="Cambria" pitchFamily="34" charset="0"/>
                <a:ea typeface="Cambria" pitchFamily="34" charset="-122"/>
                <a:cs typeface="Cambria" pitchFamily="34" charset="-120"/>
              </a:rPr>
              <a:t>Huge context</a:t>
            </a:r>
            <a:endParaRPr lang="en-US" sz="1500" dirty="0"/>
          </a:p>
        </p:txBody>
      </p:sp>
      <p:sp>
        <p:nvSpPr>
          <p:cNvPr id="19" name="Text 17"/>
          <p:cNvSpPr/>
          <p:nvPr/>
        </p:nvSpPr>
        <p:spPr>
          <a:xfrm>
            <a:off x="2743200" y="5394960"/>
            <a:ext cx="3337560" cy="914400"/>
          </a:xfrm>
          <a:prstGeom prst="rect">
            <a:avLst/>
          </a:prstGeom>
          <a:noFill/>
          <a:ln/>
        </p:spPr>
        <p:txBody>
          <a:bodyPr wrap="square" lIns="0" tIns="0" rIns="0" bIns="0" rtlCol="0" anchor="ctr"/>
          <a:lstStyle/>
          <a:p>
            <a:pPr indent="0" marL="0">
              <a:lnSpc>
                <a:spcPct val="115000"/>
              </a:lnSpc>
              <a:buNone/>
            </a:pPr>
            <a:r>
              <a:rPr lang="en-US" sz="1150" dirty="0">
                <a:solidFill>
                  <a:srgbClr val="16233A"/>
                </a:solidFill>
                <a:latin typeface="Courier New" pitchFamily="34" charset="0"/>
                <a:ea typeface="Courier New" pitchFamily="34" charset="-122"/>
                <a:cs typeface="Courier New" pitchFamily="34" charset="-120"/>
              </a:rPr>
              <a:t>Gemini 3 Pro · Sonnet 1M (Max Mode)</a:t>
            </a:r>
            <a:endParaRPr lang="en-US" sz="1150" dirty="0"/>
          </a:p>
        </p:txBody>
      </p:sp>
      <p:sp>
        <p:nvSpPr>
          <p:cNvPr id="20" name="Text 18"/>
          <p:cNvSpPr/>
          <p:nvPr/>
        </p:nvSpPr>
        <p:spPr>
          <a:xfrm>
            <a:off x="6263640" y="5394960"/>
            <a:ext cx="5120640" cy="914400"/>
          </a:xfrm>
          <a:prstGeom prst="rect">
            <a:avLst/>
          </a:prstGeom>
          <a:noFill/>
          <a:ln/>
        </p:spPr>
        <p:txBody>
          <a:bodyPr wrap="square" lIns="0" tIns="0" rIns="0" bIns="0" rtlCol="0" anchor="ctr"/>
          <a:lstStyle/>
          <a:p>
            <a:pPr indent="0" marL="0">
              <a:lnSpc>
                <a:spcPct val="120000"/>
              </a:lnSpc>
              <a:buNone/>
            </a:pPr>
            <a:r>
              <a:rPr lang="en-US" sz="1200" dirty="0">
                <a:solidFill>
                  <a:srgbClr val="5C6B7A"/>
                </a:solidFill>
                <a:latin typeface="Calibri" pitchFamily="34" charset="0"/>
                <a:ea typeface="Calibri" pitchFamily="34" charset="-122"/>
                <a:cs typeface="Calibri" pitchFamily="34" charset="-120"/>
              </a:rPr>
              <a:t>Codebases too big for default context, or grounding in long external docs</a:t>
            </a:r>
            <a:endParaRPr lang="en-US" sz="1200" dirty="0"/>
          </a:p>
        </p:txBody>
      </p:sp>
      <p:sp>
        <p:nvSpPr>
          <p:cNvPr id="21" name="Text 19"/>
          <p:cNvSpPr/>
          <p:nvPr/>
        </p:nvSpPr>
        <p:spPr>
          <a:xfrm>
            <a:off x="548640" y="6263640"/>
            <a:ext cx="11064240" cy="365760"/>
          </a:xfrm>
          <a:prstGeom prst="rect">
            <a:avLst/>
          </a:prstGeom>
          <a:noFill/>
          <a:ln/>
        </p:spPr>
        <p:txBody>
          <a:bodyPr wrap="square" lIns="0" tIns="0" rIns="0" bIns="0" rtlCol="0" anchor="ctr"/>
          <a:lstStyle/>
          <a:p>
            <a:pPr indent="0" marL="0">
              <a:buNone/>
            </a:pPr>
            <a:r>
              <a:rPr lang="en-US" sz="1200" i="1" dirty="0">
                <a:solidFill>
                  <a:srgbClr val="5C6B7A"/>
                </a:solidFill>
                <a:latin typeface="Calibri" pitchFamily="34" charset="0"/>
                <a:ea typeface="Calibri" pitchFamily="34" charset="-122"/>
                <a:cs typeface="Calibri" pitchFamily="34" charset="-120"/>
              </a:rPr>
              <a:t>Switch mid-task from the model dropdown — but switching resets the prompt cache and can lose nuance on a long thread, so pick deliberately rather than bouncing around.</a:t>
            </a:r>
            <a:endParaRPr lang="en-US" sz="1200" dirty="0"/>
          </a:p>
        </p:txBody>
      </p:sp>
      <p:sp>
        <p:nvSpPr>
          <p:cNvPr id="22" name="Text 20"/>
          <p:cNvSpPr/>
          <p:nvPr/>
        </p:nvSpPr>
        <p:spPr>
          <a:xfrm>
            <a:off x="548640" y="6537960"/>
            <a:ext cx="5486400" cy="274320"/>
          </a:xfrm>
          <a:prstGeom prst="rect">
            <a:avLst/>
          </a:prstGeom>
          <a:noFill/>
          <a:ln/>
        </p:spPr>
        <p:txBody>
          <a:bodyPr wrap="square" lIns="0" tIns="0" rIns="0" bIns="0" rtlCol="0" anchor="ctr"/>
          <a:lstStyle/>
          <a:p>
            <a:pPr indent="0" marL="0">
              <a:buNone/>
            </a:pPr>
            <a:r>
              <a:rPr lang="en-US" sz="900" dirty="0">
                <a:solidFill>
                  <a:srgbClr val="9AA7B5"/>
                </a:solidFill>
                <a:latin typeface="Calibri" pitchFamily="34" charset="0"/>
                <a:ea typeface="Calibri" pitchFamily="34" charset="-122"/>
                <a:cs typeface="Calibri" pitchFamily="34" charset="-120"/>
              </a:rPr>
              <a:t>Cursor for Engineers</a:t>
            </a:r>
            <a:endParaRPr lang="en-US" sz="900" dirty="0"/>
          </a:p>
        </p:txBody>
      </p:sp>
      <p:sp>
        <p:nvSpPr>
          <p:cNvPr id="23" name="Text 21"/>
          <p:cNvSpPr/>
          <p:nvPr/>
        </p:nvSpPr>
        <p:spPr>
          <a:xfrm>
            <a:off x="11338560" y="6537960"/>
            <a:ext cx="365760" cy="274320"/>
          </a:xfrm>
          <a:prstGeom prst="rect">
            <a:avLst/>
          </a:prstGeom>
          <a:noFill/>
          <a:ln/>
        </p:spPr>
        <p:txBody>
          <a:bodyPr wrap="square" lIns="0" tIns="0" rIns="0" bIns="0" rtlCol="0" anchor="ctr"/>
          <a:lstStyle/>
          <a:p>
            <a:pPr algn="r" indent="0" marL="0">
              <a:buNone/>
            </a:pPr>
            <a:r>
              <a:rPr lang="en-US" sz="900" dirty="0">
                <a:solidFill>
                  <a:srgbClr val="9AA7B5"/>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lIns="0" tIns="0" rIns="0" bIns="0" rtlCol="0" anchor="ctr"/>
          <a:lstStyle/>
          <a:p>
            <a:pPr indent="0" marL="0">
              <a:buNone/>
            </a:pPr>
            <a:r>
              <a:rPr lang="en-US" sz="1300" b="1" spc="200" kern="0" dirty="0">
                <a:solidFill>
                  <a:srgbClr val="3282B8"/>
                </a:solidFill>
                <a:latin typeface="Calibri" pitchFamily="34" charset="0"/>
                <a:ea typeface="Calibri" pitchFamily="34" charset="-122"/>
                <a:cs typeface="Calibri" pitchFamily="34" charset="-120"/>
              </a:rPr>
              <a:t>SPEED VS. SCOPE</a:t>
            </a:r>
            <a:endParaRPr lang="en-US" sz="1300" dirty="0"/>
          </a:p>
        </p:txBody>
      </p:sp>
      <p:sp>
        <p:nvSpPr>
          <p:cNvPr id="3" name="Text 1"/>
          <p:cNvSpPr/>
          <p:nvPr/>
        </p:nvSpPr>
        <p:spPr>
          <a:xfrm>
            <a:off x="548640" y="731520"/>
            <a:ext cx="11064240" cy="822960"/>
          </a:xfrm>
          <a:prstGeom prst="rect">
            <a:avLst/>
          </a:prstGeom>
          <a:noFill/>
          <a:ln/>
        </p:spPr>
        <p:txBody>
          <a:bodyPr wrap="square" lIns="0" tIns="0" rIns="0" bIns="0" rtlCol="0" anchor="ctr"/>
          <a:lstStyle/>
          <a:p>
            <a:pPr indent="0" marL="0">
              <a:buNone/>
            </a:pPr>
            <a:r>
              <a:rPr lang="en-US" sz="3000" b="1" dirty="0">
                <a:solidFill>
                  <a:srgbClr val="16233A"/>
                </a:solidFill>
                <a:latin typeface="Cambria" pitchFamily="34" charset="0"/>
                <a:ea typeface="Cambria" pitchFamily="34" charset="-122"/>
                <a:cs typeface="Cambria" pitchFamily="34" charset="-120"/>
              </a:rPr>
              <a:t>Tab, Inline Edit, and Agent Chat — pick by scope</a:t>
            </a:r>
            <a:endParaRPr lang="en-US" sz="3000" dirty="0"/>
          </a:p>
        </p:txBody>
      </p:sp>
      <p:sp>
        <p:nvSpPr>
          <p:cNvPr id="4" name="Shape 2"/>
          <p:cNvSpPr/>
          <p:nvPr/>
        </p:nvSpPr>
        <p:spPr>
          <a:xfrm>
            <a:off x="548640" y="1737360"/>
            <a:ext cx="3520440" cy="4206240"/>
          </a:xfrm>
          <a:prstGeom prst="roundRect">
            <a:avLst>
              <a:gd name="adj" fmla="val 2597"/>
            </a:avLst>
          </a:prstGeom>
          <a:solidFill>
            <a:srgbClr val="F0F4F8"/>
          </a:solidFill>
          <a:ln/>
          <a:effectLst>
            <a:outerShdw sx="100000" sy="100000" kx="0" ky="0" algn="bl" rotWithShape="0" blurRad="76200" dist="25400" dir="5400000">
              <a:srgbClr val="0B1F3A">
                <a:alpha val="18000"/>
              </a:srgbClr>
            </a:outerShdw>
          </a:effectLst>
        </p:spPr>
      </p:sp>
      <p:sp>
        <p:nvSpPr>
          <p:cNvPr id="5" name="Text 3"/>
          <p:cNvSpPr/>
          <p:nvPr/>
        </p:nvSpPr>
        <p:spPr>
          <a:xfrm>
            <a:off x="822960" y="2011680"/>
            <a:ext cx="2971800" cy="548640"/>
          </a:xfrm>
          <a:prstGeom prst="rect">
            <a:avLst/>
          </a:prstGeom>
          <a:noFill/>
          <a:ln/>
        </p:spPr>
        <p:txBody>
          <a:bodyPr wrap="square" lIns="0" tIns="0" rIns="0" bIns="0" rtlCol="0" anchor="ctr"/>
          <a:lstStyle/>
          <a:p>
            <a:pPr indent="0" marL="0">
              <a:buNone/>
            </a:pPr>
            <a:r>
              <a:rPr lang="en-US" sz="1700" b="1" dirty="0">
                <a:solidFill>
                  <a:srgbClr val="16233A"/>
                </a:solidFill>
                <a:latin typeface="Cambria" pitchFamily="34" charset="0"/>
                <a:ea typeface="Cambria" pitchFamily="34" charset="-122"/>
                <a:cs typeface="Cambria" pitchFamily="34" charset="-120"/>
              </a:rPr>
              <a:t>Tab</a:t>
            </a:r>
            <a:endParaRPr lang="en-US" sz="1700" dirty="0"/>
          </a:p>
        </p:txBody>
      </p:sp>
      <p:sp>
        <p:nvSpPr>
          <p:cNvPr id="6" name="Text 4"/>
          <p:cNvSpPr/>
          <p:nvPr/>
        </p:nvSpPr>
        <p:spPr>
          <a:xfrm>
            <a:off x="822960" y="2743200"/>
            <a:ext cx="2971800" cy="274320"/>
          </a:xfrm>
          <a:prstGeom prst="rect">
            <a:avLst/>
          </a:prstGeom>
          <a:noFill/>
          <a:ln/>
        </p:spPr>
        <p:txBody>
          <a:bodyPr wrap="square" lIns="0" tIns="0" rIns="0" bIns="0" rtlCol="0" anchor="ctr"/>
          <a:lstStyle/>
          <a:p>
            <a:pPr indent="0" marL="0">
              <a:buNone/>
            </a:pPr>
            <a:r>
              <a:rPr lang="en-US" sz="1100" b="1" spc="150" kern="0" dirty="0">
                <a:solidFill>
                  <a:srgbClr val="3282B8"/>
                </a:solidFill>
                <a:latin typeface="Calibri" pitchFamily="34" charset="0"/>
                <a:ea typeface="Calibri" pitchFamily="34" charset="-122"/>
                <a:cs typeface="Calibri" pitchFamily="34" charset="-120"/>
              </a:rPr>
              <a:t>SCOPE</a:t>
            </a:r>
            <a:endParaRPr lang="en-US" sz="1100" dirty="0"/>
          </a:p>
        </p:txBody>
      </p:sp>
      <p:sp>
        <p:nvSpPr>
          <p:cNvPr id="7" name="Text 5"/>
          <p:cNvSpPr/>
          <p:nvPr/>
        </p:nvSpPr>
        <p:spPr>
          <a:xfrm>
            <a:off x="822960" y="3017520"/>
            <a:ext cx="2971800" cy="640080"/>
          </a:xfrm>
          <a:prstGeom prst="rect">
            <a:avLst/>
          </a:prstGeom>
          <a:noFill/>
          <a:ln/>
        </p:spPr>
        <p:txBody>
          <a:bodyPr wrap="square" lIns="0" tIns="0" rIns="0" bIns="0" rtlCol="0" anchor="ctr"/>
          <a:lstStyle/>
          <a:p>
            <a:pPr indent="0" marL="0">
              <a:lnSpc>
                <a:spcPct val="120000"/>
              </a:lnSpc>
              <a:buNone/>
            </a:pPr>
            <a:r>
              <a:rPr lang="en-US" sz="1300" dirty="0">
                <a:solidFill>
                  <a:srgbClr val="16233A"/>
                </a:solidFill>
                <a:latin typeface="Calibri" pitchFamily="34" charset="0"/>
                <a:ea typeface="Calibri" pitchFamily="34" charset="-122"/>
                <a:cs typeface="Calibri" pitchFamily="34" charset="-120"/>
              </a:rPr>
              <a:t>Next token → next block</a:t>
            </a:r>
            <a:endParaRPr lang="en-US" sz="1300" dirty="0"/>
          </a:p>
        </p:txBody>
      </p:sp>
      <p:sp>
        <p:nvSpPr>
          <p:cNvPr id="8" name="Text 6"/>
          <p:cNvSpPr/>
          <p:nvPr/>
        </p:nvSpPr>
        <p:spPr>
          <a:xfrm>
            <a:off x="822960" y="3794760"/>
            <a:ext cx="2971800" cy="274320"/>
          </a:xfrm>
          <a:prstGeom prst="rect">
            <a:avLst/>
          </a:prstGeom>
          <a:noFill/>
          <a:ln/>
        </p:spPr>
        <p:txBody>
          <a:bodyPr wrap="square" lIns="0" tIns="0" rIns="0" bIns="0" rtlCol="0" anchor="ctr"/>
          <a:lstStyle/>
          <a:p>
            <a:pPr indent="0" marL="0">
              <a:buNone/>
            </a:pPr>
            <a:r>
              <a:rPr lang="en-US" sz="1100" b="1" spc="150" kern="0" dirty="0">
                <a:solidFill>
                  <a:srgbClr val="3282B8"/>
                </a:solidFill>
                <a:latin typeface="Calibri" pitchFamily="34" charset="0"/>
                <a:ea typeface="Calibri" pitchFamily="34" charset="-122"/>
                <a:cs typeface="Calibri" pitchFamily="34" charset="-120"/>
              </a:rPr>
              <a:t>BEST FOR</a:t>
            </a:r>
            <a:endParaRPr lang="en-US" sz="1100" dirty="0"/>
          </a:p>
        </p:txBody>
      </p:sp>
      <p:sp>
        <p:nvSpPr>
          <p:cNvPr id="9" name="Text 7"/>
          <p:cNvSpPr/>
          <p:nvPr/>
        </p:nvSpPr>
        <p:spPr>
          <a:xfrm>
            <a:off x="822960" y="4069080"/>
            <a:ext cx="2971800" cy="1645920"/>
          </a:xfrm>
          <a:prstGeom prst="rect">
            <a:avLst/>
          </a:prstGeom>
          <a:noFill/>
          <a:ln/>
        </p:spPr>
        <p:txBody>
          <a:bodyPr wrap="square" lIns="0" tIns="0" rIns="0" bIns="0" rtlCol="0" anchor="ctr"/>
          <a:lstStyle/>
          <a:p>
            <a:pPr indent="0" marL="0">
              <a:lnSpc>
                <a:spcPct val="125000"/>
              </a:lnSpc>
              <a:buNone/>
            </a:pPr>
            <a:r>
              <a:rPr lang="en-US" sz="1300" dirty="0">
                <a:solidFill>
                  <a:srgbClr val="5C6B7A"/>
                </a:solidFill>
                <a:latin typeface="Calibri" pitchFamily="34" charset="0"/>
                <a:ea typeface="Calibri" pitchFamily="34" charset="-122"/>
                <a:cs typeface="Calibri" pitchFamily="34" charset="-120"/>
              </a:rPr>
              <a:t>Writing new code, line by line or a predictable block at a time</a:t>
            </a:r>
            <a:endParaRPr lang="en-US" sz="1300" dirty="0"/>
          </a:p>
        </p:txBody>
      </p:sp>
      <p:sp>
        <p:nvSpPr>
          <p:cNvPr id="10" name="Shape 8"/>
          <p:cNvSpPr/>
          <p:nvPr/>
        </p:nvSpPr>
        <p:spPr>
          <a:xfrm>
            <a:off x="4389120" y="1737360"/>
            <a:ext cx="3520440" cy="4206240"/>
          </a:xfrm>
          <a:prstGeom prst="roundRect">
            <a:avLst>
              <a:gd name="adj" fmla="val 2597"/>
            </a:avLst>
          </a:prstGeom>
          <a:solidFill>
            <a:srgbClr val="F0F4F8"/>
          </a:solidFill>
          <a:ln/>
          <a:effectLst>
            <a:outerShdw sx="100000" sy="100000" kx="0" ky="0" algn="bl" rotWithShape="0" blurRad="76200" dist="25400" dir="5400000">
              <a:srgbClr val="0B1F3A">
                <a:alpha val="18000"/>
              </a:srgbClr>
            </a:outerShdw>
          </a:effectLst>
        </p:spPr>
      </p:sp>
      <p:sp>
        <p:nvSpPr>
          <p:cNvPr id="11" name="Text 9"/>
          <p:cNvSpPr/>
          <p:nvPr/>
        </p:nvSpPr>
        <p:spPr>
          <a:xfrm>
            <a:off x="4663440" y="2011680"/>
            <a:ext cx="2971800" cy="548640"/>
          </a:xfrm>
          <a:prstGeom prst="rect">
            <a:avLst/>
          </a:prstGeom>
          <a:noFill/>
          <a:ln/>
        </p:spPr>
        <p:txBody>
          <a:bodyPr wrap="square" lIns="0" tIns="0" rIns="0" bIns="0" rtlCol="0" anchor="ctr"/>
          <a:lstStyle/>
          <a:p>
            <a:pPr indent="0" marL="0">
              <a:buNone/>
            </a:pPr>
            <a:r>
              <a:rPr lang="en-US" sz="1700" b="1" dirty="0">
                <a:solidFill>
                  <a:srgbClr val="16233A"/>
                </a:solidFill>
                <a:latin typeface="Cambria" pitchFamily="34" charset="0"/>
                <a:ea typeface="Cambria" pitchFamily="34" charset="-122"/>
                <a:cs typeface="Cambria" pitchFamily="34" charset="-120"/>
              </a:rPr>
              <a:t>Inline Edit (Cmd+K)</a:t>
            </a:r>
            <a:endParaRPr lang="en-US" sz="1700" dirty="0"/>
          </a:p>
        </p:txBody>
      </p:sp>
      <p:sp>
        <p:nvSpPr>
          <p:cNvPr id="12" name="Text 10"/>
          <p:cNvSpPr/>
          <p:nvPr/>
        </p:nvSpPr>
        <p:spPr>
          <a:xfrm>
            <a:off x="4663440" y="2743200"/>
            <a:ext cx="2971800" cy="274320"/>
          </a:xfrm>
          <a:prstGeom prst="rect">
            <a:avLst/>
          </a:prstGeom>
          <a:noFill/>
          <a:ln/>
        </p:spPr>
        <p:txBody>
          <a:bodyPr wrap="square" lIns="0" tIns="0" rIns="0" bIns="0" rtlCol="0" anchor="ctr"/>
          <a:lstStyle/>
          <a:p>
            <a:pPr indent="0" marL="0">
              <a:buNone/>
            </a:pPr>
            <a:r>
              <a:rPr lang="en-US" sz="1100" b="1" spc="150" kern="0" dirty="0">
                <a:solidFill>
                  <a:srgbClr val="3282B8"/>
                </a:solidFill>
                <a:latin typeface="Calibri" pitchFamily="34" charset="0"/>
                <a:ea typeface="Calibri" pitchFamily="34" charset="-122"/>
                <a:cs typeface="Calibri" pitchFamily="34" charset="-120"/>
              </a:rPr>
              <a:t>SCOPE</a:t>
            </a:r>
            <a:endParaRPr lang="en-US" sz="1100" dirty="0"/>
          </a:p>
        </p:txBody>
      </p:sp>
      <p:sp>
        <p:nvSpPr>
          <p:cNvPr id="13" name="Text 11"/>
          <p:cNvSpPr/>
          <p:nvPr/>
        </p:nvSpPr>
        <p:spPr>
          <a:xfrm>
            <a:off x="4663440" y="3017520"/>
            <a:ext cx="2971800" cy="640080"/>
          </a:xfrm>
          <a:prstGeom prst="rect">
            <a:avLst/>
          </a:prstGeom>
          <a:noFill/>
          <a:ln/>
        </p:spPr>
        <p:txBody>
          <a:bodyPr wrap="square" lIns="0" tIns="0" rIns="0" bIns="0" rtlCol="0" anchor="ctr"/>
          <a:lstStyle/>
          <a:p>
            <a:pPr indent="0" marL="0">
              <a:lnSpc>
                <a:spcPct val="120000"/>
              </a:lnSpc>
              <a:buNone/>
            </a:pPr>
            <a:r>
              <a:rPr lang="en-US" sz="1300" dirty="0">
                <a:solidFill>
                  <a:srgbClr val="16233A"/>
                </a:solidFill>
                <a:latin typeface="Calibri" pitchFamily="34" charset="0"/>
                <a:ea typeface="Calibri" pitchFamily="34" charset="-122"/>
                <a:cs typeface="Calibri" pitchFamily="34" charset="-120"/>
              </a:rPr>
              <a:t>One selection, one file</a:t>
            </a:r>
            <a:endParaRPr lang="en-US" sz="1300" dirty="0"/>
          </a:p>
        </p:txBody>
      </p:sp>
      <p:sp>
        <p:nvSpPr>
          <p:cNvPr id="14" name="Text 12"/>
          <p:cNvSpPr/>
          <p:nvPr/>
        </p:nvSpPr>
        <p:spPr>
          <a:xfrm>
            <a:off x="4663440" y="3794760"/>
            <a:ext cx="2971800" cy="274320"/>
          </a:xfrm>
          <a:prstGeom prst="rect">
            <a:avLst/>
          </a:prstGeom>
          <a:noFill/>
          <a:ln/>
        </p:spPr>
        <p:txBody>
          <a:bodyPr wrap="square" lIns="0" tIns="0" rIns="0" bIns="0" rtlCol="0" anchor="ctr"/>
          <a:lstStyle/>
          <a:p>
            <a:pPr indent="0" marL="0">
              <a:buNone/>
            </a:pPr>
            <a:r>
              <a:rPr lang="en-US" sz="1100" b="1" spc="150" kern="0" dirty="0">
                <a:solidFill>
                  <a:srgbClr val="3282B8"/>
                </a:solidFill>
                <a:latin typeface="Calibri" pitchFamily="34" charset="0"/>
                <a:ea typeface="Calibri" pitchFamily="34" charset="-122"/>
                <a:cs typeface="Calibri" pitchFamily="34" charset="-120"/>
              </a:rPr>
              <a:t>BEST FOR</a:t>
            </a:r>
            <a:endParaRPr lang="en-US" sz="1100" dirty="0"/>
          </a:p>
        </p:txBody>
      </p:sp>
      <p:sp>
        <p:nvSpPr>
          <p:cNvPr id="15" name="Text 13"/>
          <p:cNvSpPr/>
          <p:nvPr/>
        </p:nvSpPr>
        <p:spPr>
          <a:xfrm>
            <a:off x="4663440" y="4069080"/>
            <a:ext cx="2971800" cy="1645920"/>
          </a:xfrm>
          <a:prstGeom prst="rect">
            <a:avLst/>
          </a:prstGeom>
          <a:noFill/>
          <a:ln/>
        </p:spPr>
        <p:txBody>
          <a:bodyPr wrap="square" lIns="0" tIns="0" rIns="0" bIns="0" rtlCol="0" anchor="ctr"/>
          <a:lstStyle/>
          <a:p>
            <a:pPr indent="0" marL="0">
              <a:lnSpc>
                <a:spcPct val="125000"/>
              </a:lnSpc>
              <a:buNone/>
            </a:pPr>
            <a:r>
              <a:rPr lang="en-US" sz="1300" dirty="0">
                <a:solidFill>
                  <a:srgbClr val="5C6B7A"/>
                </a:solidFill>
                <a:latin typeface="Calibri" pitchFamily="34" charset="0"/>
                <a:ea typeface="Calibri" pitchFamily="34" charset="-122"/>
                <a:cs typeface="Calibri" pitchFamily="34" charset="-120"/>
              </a:rPr>
              <a:t>A precise, local change — rename, fix a type, tighten a query</a:t>
            </a:r>
            <a:endParaRPr lang="en-US" sz="1300" dirty="0"/>
          </a:p>
        </p:txBody>
      </p:sp>
      <p:sp>
        <p:nvSpPr>
          <p:cNvPr id="16" name="Shape 14"/>
          <p:cNvSpPr/>
          <p:nvPr/>
        </p:nvSpPr>
        <p:spPr>
          <a:xfrm>
            <a:off x="8229600" y="1737360"/>
            <a:ext cx="3520440" cy="4206240"/>
          </a:xfrm>
          <a:prstGeom prst="roundRect">
            <a:avLst>
              <a:gd name="adj" fmla="val 2597"/>
            </a:avLst>
          </a:prstGeom>
          <a:solidFill>
            <a:srgbClr val="0B1F3A"/>
          </a:solidFill>
          <a:ln/>
          <a:effectLst>
            <a:outerShdw sx="100000" sy="100000" kx="0" ky="0" algn="bl" rotWithShape="0" blurRad="76200" dist="25400" dir="5400000">
              <a:srgbClr val="0B1F3A">
                <a:alpha val="18000"/>
              </a:srgbClr>
            </a:outerShdw>
          </a:effectLst>
        </p:spPr>
      </p:sp>
      <p:sp>
        <p:nvSpPr>
          <p:cNvPr id="17" name="Text 15"/>
          <p:cNvSpPr/>
          <p:nvPr/>
        </p:nvSpPr>
        <p:spPr>
          <a:xfrm>
            <a:off x="8503920" y="2011680"/>
            <a:ext cx="2971800" cy="54864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Agent Chat</a:t>
            </a:r>
            <a:endParaRPr lang="en-US" sz="1700" dirty="0"/>
          </a:p>
        </p:txBody>
      </p:sp>
      <p:sp>
        <p:nvSpPr>
          <p:cNvPr id="18" name="Text 16"/>
          <p:cNvSpPr/>
          <p:nvPr/>
        </p:nvSpPr>
        <p:spPr>
          <a:xfrm>
            <a:off x="8503920" y="2743200"/>
            <a:ext cx="2971800" cy="274320"/>
          </a:xfrm>
          <a:prstGeom prst="rect">
            <a:avLst/>
          </a:prstGeom>
          <a:noFill/>
          <a:ln/>
        </p:spPr>
        <p:txBody>
          <a:bodyPr wrap="square" lIns="0" tIns="0" rIns="0" bIns="0" rtlCol="0" anchor="ctr"/>
          <a:lstStyle/>
          <a:p>
            <a:pPr indent="0" marL="0">
              <a:buNone/>
            </a:pPr>
            <a:r>
              <a:rPr lang="en-US" sz="1100" b="1" spc="150" kern="0" dirty="0">
                <a:solidFill>
                  <a:srgbClr val="F2A541"/>
                </a:solidFill>
                <a:latin typeface="Calibri" pitchFamily="34" charset="0"/>
                <a:ea typeface="Calibri" pitchFamily="34" charset="-122"/>
                <a:cs typeface="Calibri" pitchFamily="34" charset="-120"/>
              </a:rPr>
              <a:t>SCOPE</a:t>
            </a:r>
            <a:endParaRPr lang="en-US" sz="1100" dirty="0"/>
          </a:p>
        </p:txBody>
      </p:sp>
      <p:sp>
        <p:nvSpPr>
          <p:cNvPr id="19" name="Text 17"/>
          <p:cNvSpPr/>
          <p:nvPr/>
        </p:nvSpPr>
        <p:spPr>
          <a:xfrm>
            <a:off x="8503920" y="3017520"/>
            <a:ext cx="2971800" cy="640080"/>
          </a:xfrm>
          <a:prstGeom prst="rect">
            <a:avLst/>
          </a:prstGeom>
          <a:noFill/>
          <a:ln/>
        </p:spPr>
        <p:txBody>
          <a:bodyPr wrap="square" lIns="0" tIns="0" rIns="0" bIns="0" rtlCol="0" anchor="ctr"/>
          <a:lstStyle/>
          <a:p>
            <a:pPr indent="0" marL="0">
              <a:lnSpc>
                <a:spcPct val="120000"/>
              </a:lnSpc>
              <a:buNone/>
            </a:pPr>
            <a:r>
              <a:rPr lang="en-US" sz="1300" dirty="0">
                <a:solidFill>
                  <a:srgbClr val="DCE6F0"/>
                </a:solidFill>
                <a:latin typeface="Calibri" pitchFamily="34" charset="0"/>
                <a:ea typeface="Calibri" pitchFamily="34" charset="-122"/>
                <a:cs typeface="Calibri" pitchFamily="34" charset="-120"/>
              </a:rPr>
              <a:t>Whole task, any # of files</a:t>
            </a:r>
            <a:endParaRPr lang="en-US" sz="1300" dirty="0"/>
          </a:p>
        </p:txBody>
      </p:sp>
      <p:sp>
        <p:nvSpPr>
          <p:cNvPr id="20" name="Text 18"/>
          <p:cNvSpPr/>
          <p:nvPr/>
        </p:nvSpPr>
        <p:spPr>
          <a:xfrm>
            <a:off x="8503920" y="3794760"/>
            <a:ext cx="2971800" cy="274320"/>
          </a:xfrm>
          <a:prstGeom prst="rect">
            <a:avLst/>
          </a:prstGeom>
          <a:noFill/>
          <a:ln/>
        </p:spPr>
        <p:txBody>
          <a:bodyPr wrap="square" lIns="0" tIns="0" rIns="0" bIns="0" rtlCol="0" anchor="ctr"/>
          <a:lstStyle/>
          <a:p>
            <a:pPr indent="0" marL="0">
              <a:buNone/>
            </a:pPr>
            <a:r>
              <a:rPr lang="en-US" sz="1100" b="1" spc="150" kern="0" dirty="0">
                <a:solidFill>
                  <a:srgbClr val="F2A541"/>
                </a:solidFill>
                <a:latin typeface="Calibri" pitchFamily="34" charset="0"/>
                <a:ea typeface="Calibri" pitchFamily="34" charset="-122"/>
                <a:cs typeface="Calibri" pitchFamily="34" charset="-120"/>
              </a:rPr>
              <a:t>BEST FOR</a:t>
            </a:r>
            <a:endParaRPr lang="en-US" sz="1100" dirty="0"/>
          </a:p>
        </p:txBody>
      </p:sp>
      <p:sp>
        <p:nvSpPr>
          <p:cNvPr id="21" name="Text 19"/>
          <p:cNvSpPr/>
          <p:nvPr/>
        </p:nvSpPr>
        <p:spPr>
          <a:xfrm>
            <a:off x="8503920" y="4069080"/>
            <a:ext cx="2971800" cy="1645920"/>
          </a:xfrm>
          <a:prstGeom prst="rect">
            <a:avLst/>
          </a:prstGeom>
          <a:noFill/>
          <a:ln/>
        </p:spPr>
        <p:txBody>
          <a:bodyPr wrap="square" lIns="0" tIns="0" rIns="0" bIns="0" rtlCol="0" anchor="ctr"/>
          <a:lstStyle/>
          <a:p>
            <a:pPr indent="0" marL="0">
              <a:lnSpc>
                <a:spcPct val="125000"/>
              </a:lnSpc>
              <a:buNone/>
            </a:pPr>
            <a:r>
              <a:rPr lang="en-US" sz="1300" dirty="0">
                <a:solidFill>
                  <a:srgbClr val="C7D9EA"/>
                </a:solidFill>
                <a:latin typeface="Calibri" pitchFamily="34" charset="0"/>
                <a:ea typeface="Calibri" pitchFamily="34" charset="-122"/>
                <a:cs typeface="Calibri" pitchFamily="34" charset="-120"/>
              </a:rPr>
              <a:t>Anything that needs a plan, multiple files, or a terminal run</a:t>
            </a:r>
            <a:endParaRPr lang="en-US" sz="1300" dirty="0"/>
          </a:p>
        </p:txBody>
      </p:sp>
      <p:sp>
        <p:nvSpPr>
          <p:cNvPr id="22" name="Text 20"/>
          <p:cNvSpPr/>
          <p:nvPr/>
        </p:nvSpPr>
        <p:spPr>
          <a:xfrm>
            <a:off x="548640" y="6537960"/>
            <a:ext cx="5486400" cy="274320"/>
          </a:xfrm>
          <a:prstGeom prst="rect">
            <a:avLst/>
          </a:prstGeom>
          <a:noFill/>
          <a:ln/>
        </p:spPr>
        <p:txBody>
          <a:bodyPr wrap="square" lIns="0" tIns="0" rIns="0" bIns="0" rtlCol="0" anchor="ctr"/>
          <a:lstStyle/>
          <a:p>
            <a:pPr indent="0" marL="0">
              <a:buNone/>
            </a:pPr>
            <a:r>
              <a:rPr lang="en-US" sz="900" dirty="0">
                <a:solidFill>
                  <a:srgbClr val="9AA7B5"/>
                </a:solidFill>
                <a:latin typeface="Calibri" pitchFamily="34" charset="0"/>
                <a:ea typeface="Calibri" pitchFamily="34" charset="-122"/>
                <a:cs typeface="Calibri" pitchFamily="34" charset="-120"/>
              </a:rPr>
              <a:t>Cursor for Engineers</a:t>
            </a:r>
            <a:endParaRPr lang="en-US" sz="900" dirty="0"/>
          </a:p>
        </p:txBody>
      </p:sp>
      <p:sp>
        <p:nvSpPr>
          <p:cNvPr id="23" name="Text 21"/>
          <p:cNvSpPr/>
          <p:nvPr/>
        </p:nvSpPr>
        <p:spPr>
          <a:xfrm>
            <a:off x="11338560" y="6537960"/>
            <a:ext cx="365760" cy="274320"/>
          </a:xfrm>
          <a:prstGeom prst="rect">
            <a:avLst/>
          </a:prstGeom>
          <a:noFill/>
          <a:ln/>
        </p:spPr>
        <p:txBody>
          <a:bodyPr wrap="square" lIns="0" tIns="0" rIns="0" bIns="0" rtlCol="0" anchor="ctr"/>
          <a:lstStyle/>
          <a:p>
            <a:pPr algn="r" indent="0" marL="0">
              <a:buNone/>
            </a:pPr>
            <a:r>
              <a:rPr lang="en-US" sz="900" dirty="0">
                <a:solidFill>
                  <a:srgbClr val="9AA7B5"/>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lIns="0" tIns="0" rIns="0" bIns="0" rtlCol="0" anchor="ctr"/>
          <a:lstStyle/>
          <a:p>
            <a:pPr indent="0" marL="0">
              <a:buNone/>
            </a:pPr>
            <a:r>
              <a:rPr lang="en-US" sz="1300" b="1" spc="200" kern="0" dirty="0">
                <a:solidFill>
                  <a:srgbClr val="3282B8"/>
                </a:solidFill>
                <a:latin typeface="Calibri" pitchFamily="34" charset="0"/>
                <a:ea typeface="Calibri" pitchFamily="34" charset="-122"/>
                <a:cs typeface="Calibri" pitchFamily="34" charset="-120"/>
              </a:rPr>
              <a:t>FEATURE DEEP DIVE</a:t>
            </a:r>
            <a:endParaRPr lang="en-US" sz="1300" dirty="0"/>
          </a:p>
        </p:txBody>
      </p:sp>
      <p:sp>
        <p:nvSpPr>
          <p:cNvPr id="3" name="Text 1"/>
          <p:cNvSpPr/>
          <p:nvPr/>
        </p:nvSpPr>
        <p:spPr>
          <a:xfrm>
            <a:off x="548640" y="731520"/>
            <a:ext cx="11064240" cy="822960"/>
          </a:xfrm>
          <a:prstGeom prst="rect">
            <a:avLst/>
          </a:prstGeom>
          <a:noFill/>
          <a:ln/>
        </p:spPr>
        <p:txBody>
          <a:bodyPr wrap="square" lIns="0" tIns="0" rIns="0" bIns="0" rtlCol="0" anchor="ctr"/>
          <a:lstStyle/>
          <a:p>
            <a:pPr indent="0" marL="0">
              <a:buNone/>
            </a:pPr>
            <a:r>
              <a:rPr lang="en-US" sz="3000" b="1" dirty="0">
                <a:solidFill>
                  <a:srgbClr val="16233A"/>
                </a:solidFill>
                <a:latin typeface="Cambria" pitchFamily="34" charset="0"/>
                <a:ea typeface="Cambria" pitchFamily="34" charset="-122"/>
                <a:cs typeface="Cambria" pitchFamily="34" charset="-120"/>
              </a:rPr>
              <a:t>Tab: predicts your next edit, not your next word</a:t>
            </a:r>
            <a:endParaRPr lang="en-US" sz="3000" dirty="0"/>
          </a:p>
        </p:txBody>
      </p:sp>
      <p:sp>
        <p:nvSpPr>
          <p:cNvPr id="4" name="Text 2"/>
          <p:cNvSpPr/>
          <p:nvPr/>
        </p:nvSpPr>
        <p:spPr>
          <a:xfrm>
            <a:off x="548640" y="1463040"/>
            <a:ext cx="5120640" cy="1554480"/>
          </a:xfrm>
          <a:prstGeom prst="rect">
            <a:avLst/>
          </a:prstGeom>
          <a:noFill/>
          <a:ln/>
        </p:spPr>
        <p:txBody>
          <a:bodyPr wrap="square" lIns="0" tIns="0" rIns="0" bIns="0" rtlCol="0" anchor="ctr"/>
          <a:lstStyle/>
          <a:p>
            <a:pPr indent="0" marL="0">
              <a:lnSpc>
                <a:spcPct val="130000"/>
              </a:lnSpc>
              <a:buNone/>
            </a:pPr>
            <a:r>
              <a:rPr lang="en-US" sz="1450" dirty="0">
                <a:solidFill>
                  <a:srgbClr val="16233A"/>
                </a:solidFill>
                <a:latin typeface="Calibri" pitchFamily="34" charset="0"/>
                <a:ea typeface="Calibri" pitchFamily="34" charset="-122"/>
                <a:cs typeface="Calibri" pitchFamily="34" charset="-120"/>
              </a:rPr>
              <a:t>Tab suggests whole multi-line blocks from a 100K-token context window, then jumps to the next logical edit location so you can chain a sequence of related changes with the keyboard alone.</a:t>
            </a:r>
            <a:endParaRPr lang="en-US" sz="1450" dirty="0"/>
          </a:p>
        </p:txBody>
      </p:sp>
      <p:sp>
        <p:nvSpPr>
          <p:cNvPr id="5" name="Text 3"/>
          <p:cNvSpPr/>
          <p:nvPr/>
        </p:nvSpPr>
        <p:spPr>
          <a:xfrm>
            <a:off x="548640" y="3200400"/>
            <a:ext cx="5120640" cy="2377440"/>
          </a:xfrm>
          <a:prstGeom prst="rect">
            <a:avLst/>
          </a:prstGeom>
          <a:noFill/>
          <a:ln/>
        </p:spPr>
        <p:txBody>
          <a:bodyPr wrap="square" lIns="0" tIns="0" rIns="0" bIns="0" rtlCol="0" anchor="ctr"/>
          <a:lstStyle/>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Rename a column upstream → Tab proposes the same rename downstream</a:t>
            </a:r>
            <a:endParaRPr lang="en-US" sz="1350" dirty="0"/>
          </a:p>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Add a type hint to one function → Tab offers it across the file</a:t>
            </a:r>
            <a:endParaRPr lang="en-US" sz="1350" dirty="0"/>
          </a:p>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Great for repetitive edits across a codebase-wide cleanup</a:t>
            </a:r>
            <a:endParaRPr lang="en-US" sz="1350" dirty="0"/>
          </a:p>
        </p:txBody>
      </p:sp>
      <p:sp>
        <p:nvSpPr>
          <p:cNvPr id="6" name="Shape 4"/>
          <p:cNvSpPr/>
          <p:nvPr/>
        </p:nvSpPr>
        <p:spPr>
          <a:xfrm>
            <a:off x="5989320" y="1463040"/>
            <a:ext cx="5623560" cy="4480560"/>
          </a:xfrm>
          <a:prstGeom prst="roundRect">
            <a:avLst>
              <a:gd name="adj" fmla="val 1633"/>
            </a:avLst>
          </a:prstGeom>
          <a:solidFill>
            <a:srgbClr val="0B1F3A"/>
          </a:solidFill>
          <a:ln/>
          <a:effectLst>
            <a:outerShdw sx="100000" sy="100000" kx="0" ky="0" algn="bl" rotWithShape="0" blurRad="76200" dist="25400" dir="5400000">
              <a:srgbClr val="0B1F3A">
                <a:alpha val="18000"/>
              </a:srgbClr>
            </a:outerShdw>
          </a:effectLst>
        </p:spPr>
      </p:sp>
      <p:sp>
        <p:nvSpPr>
          <p:cNvPr id="7" name="Text 5"/>
          <p:cNvSpPr/>
          <p:nvPr/>
        </p:nvSpPr>
        <p:spPr>
          <a:xfrm>
            <a:off x="6245352" y="1645920"/>
            <a:ext cx="5111496" cy="4114800"/>
          </a:xfrm>
          <a:prstGeom prst="rect">
            <a:avLst/>
          </a:prstGeom>
          <a:noFill/>
          <a:ln/>
        </p:spPr>
        <p:txBody>
          <a:bodyPr wrap="square" lIns="0" tIns="0" rIns="0" bIns="0" rtlCol="0" anchor="t"/>
          <a:lstStyle/>
          <a:p>
            <a:pPr indent="0" marL="0">
              <a:lnSpc>
                <a:spcPct val="125000"/>
              </a:lnSpc>
              <a:buNone/>
            </a:pPr>
            <a:r>
              <a:rPr lang="en-US" sz="1400" dirty="0">
                <a:solidFill>
                  <a:srgbClr val="D7E6F5"/>
                </a:solidFill>
                <a:latin typeface="Courier New" pitchFamily="34" charset="0"/>
                <a:ea typeface="Courier New" pitchFamily="34" charset="-122"/>
                <a:cs typeface="Courier New" pitchFamily="34" charset="-120"/>
              </a:rPr>
              <a:t># before — cursor here, press Tab</a:t>
            </a:r>
            <a:endParaRPr lang="en-US" sz="1400" dirty="0"/>
          </a:p>
          <a:p>
            <a:pPr indent="0" marL="0">
              <a:lnSpc>
                <a:spcPct val="125000"/>
              </a:lnSpc>
              <a:buNone/>
            </a:pPr>
            <a:r>
              <a:rPr lang="en-US" sz="1400" dirty="0">
                <a:solidFill>
                  <a:srgbClr val="6FCF97"/>
                </a:solidFill>
                <a:latin typeface="Courier New" pitchFamily="34" charset="0"/>
                <a:ea typeface="Courier New" pitchFamily="34" charset="-122"/>
                <a:cs typeface="Courier New" pitchFamily="34" charset="-120"/>
              </a:rPr>
              <a:t>def load_transactions(path):</a:t>
            </a:r>
            <a:endParaRPr lang="en-US" sz="1400" dirty="0"/>
          </a:p>
          <a:p>
            <a:pPr indent="0" marL="0">
              <a:lnSpc>
                <a:spcPct val="125000"/>
              </a:lnSpc>
              <a:buNone/>
            </a:pPr>
            <a:r>
              <a:rPr lang="en-US" sz="1400" dirty="0">
                <a:solidFill>
                  <a:srgbClr val="D7E6F5"/>
                </a:solidFill>
                <a:latin typeface="Courier New" pitchFamily="34" charset="0"/>
                <a:ea typeface="Courier New" pitchFamily="34" charset="-122"/>
                <a:cs typeface="Courier New" pitchFamily="34" charset="-120"/>
              </a:rPr>
              <a:t>    df = pd.read_csv(path, low_memory=False)</a:t>
            </a:r>
            <a:endParaRPr lang="en-US" sz="1400" dirty="0"/>
          </a:p>
          <a:p>
            <a:pPr indent="0" marL="0">
              <a:lnSpc>
                <a:spcPct val="125000"/>
              </a:lnSpc>
              <a:buNone/>
            </a:pPr>
            <a:r>
              <a:rPr lang="en-US" sz="1400" dirty="0">
                <a:solidFill>
                  <a:srgbClr val="D7E6F5"/>
                </a:solidFill>
                <a:latin typeface="Courier New" pitchFamily="34" charset="0"/>
                <a:ea typeface="Courier New" pitchFamily="34" charset="-122"/>
                <a:cs typeface="Courier New" pitchFamily="34" charset="-120"/>
              </a:rPr>
              <a:t>    return df.dropna(how="all")</a:t>
            </a:r>
            <a:endParaRPr lang="en-US" sz="1400" dirty="0"/>
          </a:p>
          <a:p>
            <a:pPr indent="0" marL="0">
              <a:lnSpc>
                <a:spcPct val="125000"/>
              </a:lnSpc>
              <a:buNone/>
            </a:pPr>
            <a:endParaRPr lang="en-US" sz="1400" dirty="0"/>
          </a:p>
          <a:p>
            <a:pPr indent="0" marL="0">
              <a:lnSpc>
                <a:spcPct val="125000"/>
              </a:lnSpc>
              <a:buNone/>
            </a:pPr>
            <a:r>
              <a:rPr lang="en-US" sz="1400" dirty="0">
                <a:solidFill>
                  <a:srgbClr val="6FCF97"/>
                </a:solidFill>
                <a:latin typeface="Courier New" pitchFamily="34" charset="0"/>
                <a:ea typeface="Courier New" pitchFamily="34" charset="-122"/>
                <a:cs typeface="Courier New" pitchFamily="34" charset="-120"/>
              </a:rPr>
              <a:t>def load_labels(path):</a:t>
            </a:r>
            <a:endParaRPr lang="en-US" sz="1400" dirty="0"/>
          </a:p>
          <a:p>
            <a:pPr indent="0" marL="0">
              <a:lnSpc>
                <a:spcPct val="125000"/>
              </a:lnSpc>
              <a:buNone/>
            </a:pPr>
            <a:r>
              <a:rPr lang="en-US" sz="1400" b="1" dirty="0">
                <a:solidFill>
                  <a:srgbClr val="F2A541"/>
                </a:solidFill>
                <a:latin typeface="Courier New" pitchFamily="34" charset="0"/>
                <a:ea typeface="Courier New" pitchFamily="34" charset="-122"/>
                <a:cs typeface="Courier New" pitchFamily="34" charset="-120"/>
              </a:rPr>
              <a:t>    # Tab predicts this whole block →</a:t>
            </a:r>
            <a:endParaRPr lang="en-US" sz="1400" dirty="0"/>
          </a:p>
          <a:p>
            <a:pPr indent="0" marL="0">
              <a:lnSpc>
                <a:spcPct val="125000"/>
              </a:lnSpc>
              <a:buNone/>
            </a:pPr>
            <a:r>
              <a:rPr lang="en-US" sz="1400" dirty="0">
                <a:solidFill>
                  <a:srgbClr val="D7E6F5"/>
                </a:solidFill>
                <a:latin typeface="Courier New" pitchFamily="34" charset="0"/>
                <a:ea typeface="Courier New" pitchFamily="34" charset="-122"/>
                <a:cs typeface="Courier New" pitchFamily="34" charset="-120"/>
              </a:rPr>
              <a:t>    df = pd.read_csv(path, low_memory=False)</a:t>
            </a:r>
            <a:endParaRPr lang="en-US" sz="1400" dirty="0"/>
          </a:p>
          <a:p>
            <a:pPr indent="0" marL="0">
              <a:lnSpc>
                <a:spcPct val="125000"/>
              </a:lnSpc>
              <a:buNone/>
            </a:pPr>
            <a:r>
              <a:rPr lang="en-US" sz="1400" dirty="0">
                <a:solidFill>
                  <a:srgbClr val="D7E6F5"/>
                </a:solidFill>
                <a:latin typeface="Courier New" pitchFamily="34" charset="0"/>
                <a:ea typeface="Courier New" pitchFamily="34" charset="-122"/>
                <a:cs typeface="Courier New" pitchFamily="34" charset="-120"/>
              </a:rPr>
              <a:t>    return df.dropna(how="all")</a:t>
            </a:r>
            <a:endParaRPr lang="en-US" sz="1400" dirty="0"/>
          </a:p>
          <a:p>
            <a:pPr indent="0" marL="0">
              <a:lnSpc>
                <a:spcPct val="125000"/>
              </a:lnSpc>
              <a:buNone/>
            </a:pPr>
            <a:endParaRPr lang="en-US" sz="1400" dirty="0"/>
          </a:p>
          <a:p>
            <a:pPr indent="0" marL="0">
              <a:lnSpc>
                <a:spcPct val="125000"/>
              </a:lnSpc>
              <a:buNone/>
            </a:pPr>
            <a:r>
              <a:rPr lang="en-US" sz="1400" dirty="0">
                <a:solidFill>
                  <a:srgbClr val="8FA6BE"/>
                </a:solidFill>
                <a:latin typeface="Courier New" pitchFamily="34" charset="0"/>
                <a:ea typeface="Courier New" pitchFamily="34" charset="-122"/>
                <a:cs typeface="Courier New" pitchFamily="34" charset="-120"/>
              </a:rPr>
              <a:t># Tab then jumps you to the next</a:t>
            </a:r>
            <a:endParaRPr lang="en-US" sz="1400" dirty="0"/>
          </a:p>
          <a:p>
            <a:pPr indent="0" marL="0">
              <a:lnSpc>
                <a:spcPct val="125000"/>
              </a:lnSpc>
              <a:buNone/>
            </a:pPr>
            <a:r>
              <a:rPr lang="en-US" sz="1400" dirty="0">
                <a:solidFill>
                  <a:srgbClr val="8FA6BE"/>
                </a:solidFill>
                <a:latin typeface="Courier New" pitchFamily="34" charset="0"/>
                <a:ea typeface="Courier New" pitchFamily="34" charset="-122"/>
                <a:cs typeface="Courier New" pitchFamily="34" charset="-120"/>
              </a:rPr>
              <a:t># call site that needs the same fix</a:t>
            </a:r>
            <a:endParaRPr lang="en-US" sz="1400" dirty="0"/>
          </a:p>
        </p:txBody>
      </p:sp>
      <p:sp>
        <p:nvSpPr>
          <p:cNvPr id="8" name="Text 6"/>
          <p:cNvSpPr/>
          <p:nvPr/>
        </p:nvSpPr>
        <p:spPr>
          <a:xfrm>
            <a:off x="548640" y="6537960"/>
            <a:ext cx="5486400" cy="274320"/>
          </a:xfrm>
          <a:prstGeom prst="rect">
            <a:avLst/>
          </a:prstGeom>
          <a:noFill/>
          <a:ln/>
        </p:spPr>
        <p:txBody>
          <a:bodyPr wrap="square" lIns="0" tIns="0" rIns="0" bIns="0" rtlCol="0" anchor="ctr"/>
          <a:lstStyle/>
          <a:p>
            <a:pPr indent="0" marL="0">
              <a:buNone/>
            </a:pPr>
            <a:r>
              <a:rPr lang="en-US" sz="900" dirty="0">
                <a:solidFill>
                  <a:srgbClr val="9AA7B5"/>
                </a:solidFill>
                <a:latin typeface="Calibri" pitchFamily="34" charset="0"/>
                <a:ea typeface="Calibri" pitchFamily="34" charset="-122"/>
                <a:cs typeface="Calibri" pitchFamily="34" charset="-120"/>
              </a:rPr>
              <a:t>Cursor for Engineers</a:t>
            </a:r>
            <a:endParaRPr lang="en-US" sz="900" dirty="0"/>
          </a:p>
        </p:txBody>
      </p:sp>
      <p:sp>
        <p:nvSpPr>
          <p:cNvPr id="9" name="Text 7"/>
          <p:cNvSpPr/>
          <p:nvPr/>
        </p:nvSpPr>
        <p:spPr>
          <a:xfrm>
            <a:off x="11338560" y="6537960"/>
            <a:ext cx="365760" cy="274320"/>
          </a:xfrm>
          <a:prstGeom prst="rect">
            <a:avLst/>
          </a:prstGeom>
          <a:noFill/>
          <a:ln/>
        </p:spPr>
        <p:txBody>
          <a:bodyPr wrap="square" lIns="0" tIns="0" rIns="0" bIns="0" rtlCol="0" anchor="ctr"/>
          <a:lstStyle/>
          <a:p>
            <a:pPr algn="r" indent="0" marL="0">
              <a:buNone/>
            </a:pPr>
            <a:r>
              <a:rPr lang="en-US" sz="900" dirty="0">
                <a:solidFill>
                  <a:srgbClr val="9AA7B5"/>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lIns="0" tIns="0" rIns="0" bIns="0" rtlCol="0" anchor="ctr"/>
          <a:lstStyle/>
          <a:p>
            <a:pPr indent="0" marL="0">
              <a:buNone/>
            </a:pPr>
            <a:r>
              <a:rPr lang="en-US" sz="1300" b="1" spc="200" kern="0" dirty="0">
                <a:solidFill>
                  <a:srgbClr val="3282B8"/>
                </a:solidFill>
                <a:latin typeface="Calibri" pitchFamily="34" charset="0"/>
                <a:ea typeface="Calibri" pitchFamily="34" charset="-122"/>
                <a:cs typeface="Calibri" pitchFamily="34" charset="-120"/>
              </a:rPr>
              <a:t>FEATURE DEEP DIVE</a:t>
            </a:r>
            <a:endParaRPr lang="en-US" sz="1300" dirty="0"/>
          </a:p>
        </p:txBody>
      </p:sp>
      <p:sp>
        <p:nvSpPr>
          <p:cNvPr id="3" name="Text 1"/>
          <p:cNvSpPr/>
          <p:nvPr/>
        </p:nvSpPr>
        <p:spPr>
          <a:xfrm>
            <a:off x="548640" y="731520"/>
            <a:ext cx="11064240" cy="822960"/>
          </a:xfrm>
          <a:prstGeom prst="rect">
            <a:avLst/>
          </a:prstGeom>
          <a:noFill/>
          <a:ln/>
        </p:spPr>
        <p:txBody>
          <a:bodyPr wrap="square" lIns="0" tIns="0" rIns="0" bIns="0" rtlCol="0" anchor="ctr"/>
          <a:lstStyle/>
          <a:p>
            <a:pPr indent="0" marL="0">
              <a:buNone/>
            </a:pPr>
            <a:r>
              <a:rPr lang="en-US" sz="3000" b="1" dirty="0">
                <a:solidFill>
                  <a:srgbClr val="16233A"/>
                </a:solidFill>
                <a:latin typeface="Cambria" pitchFamily="34" charset="0"/>
                <a:ea typeface="Cambria" pitchFamily="34" charset="-122"/>
                <a:cs typeface="Cambria" pitchFamily="34" charset="-120"/>
              </a:rPr>
              <a:t>Agent mode: reads, edits, runs, and iterates</a:t>
            </a:r>
            <a:endParaRPr lang="en-US" sz="3000" dirty="0"/>
          </a:p>
        </p:txBody>
      </p:sp>
      <p:sp>
        <p:nvSpPr>
          <p:cNvPr id="4" name="Text 2"/>
          <p:cNvSpPr/>
          <p:nvPr/>
        </p:nvSpPr>
        <p:spPr>
          <a:xfrm>
            <a:off x="548640" y="1417320"/>
            <a:ext cx="11064240" cy="640080"/>
          </a:xfrm>
          <a:prstGeom prst="rect">
            <a:avLst/>
          </a:prstGeom>
          <a:noFill/>
          <a:ln/>
        </p:spPr>
        <p:txBody>
          <a:bodyPr wrap="square" lIns="0" tIns="0" rIns="0" bIns="0" rtlCol="0" anchor="ctr"/>
          <a:lstStyle/>
          <a:p>
            <a:pPr indent="0" marL="0">
              <a:buNone/>
            </a:pPr>
            <a:r>
              <a:rPr lang="en-US" sz="1500" i="1" dirty="0">
                <a:solidFill>
                  <a:srgbClr val="16233A"/>
                </a:solidFill>
                <a:latin typeface="Calibri" pitchFamily="34" charset="0"/>
                <a:ea typeface="Calibri" pitchFamily="34" charset="-122"/>
                <a:cs typeface="Calibri" pitchFamily="34" charset="-120"/>
              </a:rPr>
              <a:t>“Turn afd_profile.py into a CLI: add argparse for --input/--label/--output, no notebook cells required.”</a:t>
            </a:r>
            <a:endParaRPr lang="en-US" sz="1500" dirty="0"/>
          </a:p>
        </p:txBody>
      </p:sp>
      <p:sp>
        <p:nvSpPr>
          <p:cNvPr id="5" name="Shape 3"/>
          <p:cNvSpPr/>
          <p:nvPr/>
        </p:nvSpPr>
        <p:spPr>
          <a:xfrm>
            <a:off x="548640" y="2468880"/>
            <a:ext cx="1737360" cy="914400"/>
          </a:xfrm>
          <a:prstGeom prst="roundRect">
            <a:avLst>
              <a:gd name="adj" fmla="val 10000"/>
            </a:avLst>
          </a:prstGeom>
          <a:solidFill>
            <a:srgbClr val="0F4C75"/>
          </a:solidFill>
          <a:ln/>
          <a:effectLst>
            <a:outerShdw sx="100000" sy="100000" kx="0" ky="0" algn="bl" rotWithShape="0" blurRad="76200" dist="25400" dir="5400000">
              <a:srgbClr val="0B1F3A">
                <a:alpha val="18000"/>
              </a:srgbClr>
            </a:outerShdw>
          </a:effectLst>
        </p:spPr>
      </p:sp>
      <p:sp>
        <p:nvSpPr>
          <p:cNvPr id="6" name="Text 4"/>
          <p:cNvSpPr/>
          <p:nvPr/>
        </p:nvSpPr>
        <p:spPr>
          <a:xfrm>
            <a:off x="640080" y="2523744"/>
            <a:ext cx="548640" cy="365760"/>
          </a:xfrm>
          <a:prstGeom prst="rect">
            <a:avLst/>
          </a:prstGeom>
          <a:noFill/>
          <a:ln/>
        </p:spPr>
        <p:txBody>
          <a:bodyPr wrap="square" lIns="0" tIns="0" rIns="0" bIns="0" rtlCol="0" anchor="ctr"/>
          <a:lstStyle/>
          <a:p>
            <a:pPr indent="0" marL="0">
              <a:buNone/>
            </a:pPr>
            <a:r>
              <a:rPr lang="en-US" sz="1400" b="1" dirty="0">
                <a:solidFill>
                  <a:srgbClr val="CFE1F0"/>
                </a:solidFill>
                <a:latin typeface="Cambria" pitchFamily="34" charset="0"/>
                <a:ea typeface="Cambria" pitchFamily="34" charset="-122"/>
                <a:cs typeface="Cambria" pitchFamily="34" charset="-120"/>
              </a:rPr>
              <a:t>1</a:t>
            </a:r>
            <a:endParaRPr lang="en-US" sz="1400" dirty="0"/>
          </a:p>
        </p:txBody>
      </p:sp>
      <p:sp>
        <p:nvSpPr>
          <p:cNvPr id="7" name="Text 5"/>
          <p:cNvSpPr/>
          <p:nvPr/>
        </p:nvSpPr>
        <p:spPr>
          <a:xfrm>
            <a:off x="640080" y="2852928"/>
            <a:ext cx="1554480" cy="45720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Reads</a:t>
            </a:r>
            <a:endParaRPr lang="en-US" sz="1250" dirty="0"/>
          </a:p>
        </p:txBody>
      </p:sp>
      <p:sp>
        <p:nvSpPr>
          <p:cNvPr id="8" name="Text 6"/>
          <p:cNvSpPr/>
          <p:nvPr/>
        </p:nvSpPr>
        <p:spPr>
          <a:xfrm>
            <a:off x="2286000" y="2651760"/>
            <a:ext cx="182880" cy="548640"/>
          </a:xfrm>
          <a:prstGeom prst="rect">
            <a:avLst/>
          </a:prstGeom>
          <a:noFill/>
          <a:ln/>
        </p:spPr>
        <p:txBody>
          <a:bodyPr wrap="square" lIns="0" tIns="0" rIns="0" bIns="0" rtlCol="0" anchor="ctr"/>
          <a:lstStyle/>
          <a:p>
            <a:pPr algn="ctr" indent="0" marL="0">
              <a:buNone/>
            </a:pPr>
            <a:r>
              <a:rPr lang="en-US" sz="1600" dirty="0">
                <a:solidFill>
                  <a:srgbClr val="5C6B7A"/>
                </a:solidFill>
              </a:rPr>
              <a:t>→</a:t>
            </a:r>
            <a:endParaRPr lang="en-US" sz="1600" dirty="0"/>
          </a:p>
        </p:txBody>
      </p:sp>
      <p:sp>
        <p:nvSpPr>
          <p:cNvPr id="9" name="Shape 7"/>
          <p:cNvSpPr/>
          <p:nvPr/>
        </p:nvSpPr>
        <p:spPr>
          <a:xfrm>
            <a:off x="2423160" y="2468880"/>
            <a:ext cx="1737360" cy="914400"/>
          </a:xfrm>
          <a:prstGeom prst="roundRect">
            <a:avLst>
              <a:gd name="adj" fmla="val 10000"/>
            </a:avLst>
          </a:prstGeom>
          <a:solidFill>
            <a:srgbClr val="3282B8"/>
          </a:solidFill>
          <a:ln/>
          <a:effectLst>
            <a:outerShdw sx="100000" sy="100000" kx="0" ky="0" algn="bl" rotWithShape="0" blurRad="76200" dist="25400" dir="5400000">
              <a:srgbClr val="0B1F3A">
                <a:alpha val="18000"/>
              </a:srgbClr>
            </a:outerShdw>
          </a:effectLst>
        </p:spPr>
      </p:sp>
      <p:sp>
        <p:nvSpPr>
          <p:cNvPr id="10" name="Text 8"/>
          <p:cNvSpPr/>
          <p:nvPr/>
        </p:nvSpPr>
        <p:spPr>
          <a:xfrm>
            <a:off x="2514600" y="2523744"/>
            <a:ext cx="548640" cy="365760"/>
          </a:xfrm>
          <a:prstGeom prst="rect">
            <a:avLst/>
          </a:prstGeom>
          <a:noFill/>
          <a:ln/>
        </p:spPr>
        <p:txBody>
          <a:bodyPr wrap="square" lIns="0" tIns="0" rIns="0" bIns="0" rtlCol="0" anchor="ctr"/>
          <a:lstStyle/>
          <a:p>
            <a:pPr indent="0" marL="0">
              <a:buNone/>
            </a:pPr>
            <a:r>
              <a:rPr lang="en-US" sz="1400" b="1" dirty="0">
                <a:solidFill>
                  <a:srgbClr val="CFE1F0"/>
                </a:solidFill>
                <a:latin typeface="Cambria" pitchFamily="34" charset="0"/>
                <a:ea typeface="Cambria" pitchFamily="34" charset="-122"/>
                <a:cs typeface="Cambria" pitchFamily="34" charset="-120"/>
              </a:rPr>
              <a:t>2</a:t>
            </a:r>
            <a:endParaRPr lang="en-US" sz="1400" dirty="0"/>
          </a:p>
        </p:txBody>
      </p:sp>
      <p:sp>
        <p:nvSpPr>
          <p:cNvPr id="11" name="Text 9"/>
          <p:cNvSpPr/>
          <p:nvPr/>
        </p:nvSpPr>
        <p:spPr>
          <a:xfrm>
            <a:off x="2514600" y="2852928"/>
            <a:ext cx="1554480" cy="45720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Plans</a:t>
            </a:r>
            <a:endParaRPr lang="en-US" sz="1250" dirty="0"/>
          </a:p>
        </p:txBody>
      </p:sp>
      <p:sp>
        <p:nvSpPr>
          <p:cNvPr id="12" name="Text 10"/>
          <p:cNvSpPr/>
          <p:nvPr/>
        </p:nvSpPr>
        <p:spPr>
          <a:xfrm>
            <a:off x="4160520" y="2651760"/>
            <a:ext cx="182880" cy="548640"/>
          </a:xfrm>
          <a:prstGeom prst="rect">
            <a:avLst/>
          </a:prstGeom>
          <a:noFill/>
          <a:ln/>
        </p:spPr>
        <p:txBody>
          <a:bodyPr wrap="square" lIns="0" tIns="0" rIns="0" bIns="0" rtlCol="0" anchor="ctr"/>
          <a:lstStyle/>
          <a:p>
            <a:pPr algn="ctr" indent="0" marL="0">
              <a:buNone/>
            </a:pPr>
            <a:r>
              <a:rPr lang="en-US" sz="1600" dirty="0">
                <a:solidFill>
                  <a:srgbClr val="5C6B7A"/>
                </a:solidFill>
              </a:rPr>
              <a:t>→</a:t>
            </a:r>
            <a:endParaRPr lang="en-US" sz="1600" dirty="0"/>
          </a:p>
        </p:txBody>
      </p:sp>
      <p:sp>
        <p:nvSpPr>
          <p:cNvPr id="13" name="Shape 11"/>
          <p:cNvSpPr/>
          <p:nvPr/>
        </p:nvSpPr>
        <p:spPr>
          <a:xfrm>
            <a:off x="4297680" y="2468880"/>
            <a:ext cx="1737360" cy="914400"/>
          </a:xfrm>
          <a:prstGeom prst="roundRect">
            <a:avLst>
              <a:gd name="adj" fmla="val 10000"/>
            </a:avLst>
          </a:prstGeom>
          <a:solidFill>
            <a:srgbClr val="0F4C75"/>
          </a:solidFill>
          <a:ln/>
          <a:effectLst>
            <a:outerShdw sx="100000" sy="100000" kx="0" ky="0" algn="bl" rotWithShape="0" blurRad="76200" dist="25400" dir="5400000">
              <a:srgbClr val="0B1F3A">
                <a:alpha val="18000"/>
              </a:srgbClr>
            </a:outerShdw>
          </a:effectLst>
        </p:spPr>
      </p:sp>
      <p:sp>
        <p:nvSpPr>
          <p:cNvPr id="14" name="Text 12"/>
          <p:cNvSpPr/>
          <p:nvPr/>
        </p:nvSpPr>
        <p:spPr>
          <a:xfrm>
            <a:off x="4389120" y="2523744"/>
            <a:ext cx="548640" cy="365760"/>
          </a:xfrm>
          <a:prstGeom prst="rect">
            <a:avLst/>
          </a:prstGeom>
          <a:noFill/>
          <a:ln/>
        </p:spPr>
        <p:txBody>
          <a:bodyPr wrap="square" lIns="0" tIns="0" rIns="0" bIns="0" rtlCol="0" anchor="ctr"/>
          <a:lstStyle/>
          <a:p>
            <a:pPr indent="0" marL="0">
              <a:buNone/>
            </a:pPr>
            <a:r>
              <a:rPr lang="en-US" sz="1400" b="1" dirty="0">
                <a:solidFill>
                  <a:srgbClr val="CFE1F0"/>
                </a:solidFill>
                <a:latin typeface="Cambria" pitchFamily="34" charset="0"/>
                <a:ea typeface="Cambria" pitchFamily="34" charset="-122"/>
                <a:cs typeface="Cambria" pitchFamily="34" charset="-120"/>
              </a:rPr>
              <a:t>3</a:t>
            </a:r>
            <a:endParaRPr lang="en-US" sz="1400" dirty="0"/>
          </a:p>
        </p:txBody>
      </p:sp>
      <p:sp>
        <p:nvSpPr>
          <p:cNvPr id="15" name="Text 13"/>
          <p:cNvSpPr/>
          <p:nvPr/>
        </p:nvSpPr>
        <p:spPr>
          <a:xfrm>
            <a:off x="4389120" y="2852928"/>
            <a:ext cx="1554480" cy="45720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Edits files</a:t>
            </a:r>
            <a:endParaRPr lang="en-US" sz="1250" dirty="0"/>
          </a:p>
        </p:txBody>
      </p:sp>
      <p:sp>
        <p:nvSpPr>
          <p:cNvPr id="16" name="Text 14"/>
          <p:cNvSpPr/>
          <p:nvPr/>
        </p:nvSpPr>
        <p:spPr>
          <a:xfrm>
            <a:off x="6035040" y="2651760"/>
            <a:ext cx="182880" cy="548640"/>
          </a:xfrm>
          <a:prstGeom prst="rect">
            <a:avLst/>
          </a:prstGeom>
          <a:noFill/>
          <a:ln/>
        </p:spPr>
        <p:txBody>
          <a:bodyPr wrap="square" lIns="0" tIns="0" rIns="0" bIns="0" rtlCol="0" anchor="ctr"/>
          <a:lstStyle/>
          <a:p>
            <a:pPr algn="ctr" indent="0" marL="0">
              <a:buNone/>
            </a:pPr>
            <a:r>
              <a:rPr lang="en-US" sz="1600" dirty="0">
                <a:solidFill>
                  <a:srgbClr val="5C6B7A"/>
                </a:solidFill>
              </a:rPr>
              <a:t>→</a:t>
            </a:r>
            <a:endParaRPr lang="en-US" sz="1600" dirty="0"/>
          </a:p>
        </p:txBody>
      </p:sp>
      <p:sp>
        <p:nvSpPr>
          <p:cNvPr id="17" name="Shape 15"/>
          <p:cNvSpPr/>
          <p:nvPr/>
        </p:nvSpPr>
        <p:spPr>
          <a:xfrm>
            <a:off x="6172200" y="2468880"/>
            <a:ext cx="1737360" cy="914400"/>
          </a:xfrm>
          <a:prstGeom prst="roundRect">
            <a:avLst>
              <a:gd name="adj" fmla="val 10000"/>
            </a:avLst>
          </a:prstGeom>
          <a:solidFill>
            <a:srgbClr val="3282B8"/>
          </a:solidFill>
          <a:ln/>
          <a:effectLst>
            <a:outerShdw sx="100000" sy="100000" kx="0" ky="0" algn="bl" rotWithShape="0" blurRad="76200" dist="25400" dir="5400000">
              <a:srgbClr val="0B1F3A">
                <a:alpha val="18000"/>
              </a:srgbClr>
            </a:outerShdw>
          </a:effectLst>
        </p:spPr>
      </p:sp>
      <p:sp>
        <p:nvSpPr>
          <p:cNvPr id="18" name="Text 16"/>
          <p:cNvSpPr/>
          <p:nvPr/>
        </p:nvSpPr>
        <p:spPr>
          <a:xfrm>
            <a:off x="6263640" y="2523744"/>
            <a:ext cx="548640" cy="365760"/>
          </a:xfrm>
          <a:prstGeom prst="rect">
            <a:avLst/>
          </a:prstGeom>
          <a:noFill/>
          <a:ln/>
        </p:spPr>
        <p:txBody>
          <a:bodyPr wrap="square" lIns="0" tIns="0" rIns="0" bIns="0" rtlCol="0" anchor="ctr"/>
          <a:lstStyle/>
          <a:p>
            <a:pPr indent="0" marL="0">
              <a:buNone/>
            </a:pPr>
            <a:r>
              <a:rPr lang="en-US" sz="1400" b="1" dirty="0">
                <a:solidFill>
                  <a:srgbClr val="CFE1F0"/>
                </a:solidFill>
                <a:latin typeface="Cambria" pitchFamily="34" charset="0"/>
                <a:ea typeface="Cambria" pitchFamily="34" charset="-122"/>
                <a:cs typeface="Cambria" pitchFamily="34" charset="-120"/>
              </a:rPr>
              <a:t>4</a:t>
            </a:r>
            <a:endParaRPr lang="en-US" sz="1400" dirty="0"/>
          </a:p>
        </p:txBody>
      </p:sp>
      <p:sp>
        <p:nvSpPr>
          <p:cNvPr id="19" name="Text 17"/>
          <p:cNvSpPr/>
          <p:nvPr/>
        </p:nvSpPr>
        <p:spPr>
          <a:xfrm>
            <a:off x="6263640" y="2852928"/>
            <a:ext cx="1554480" cy="45720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Runs terminal</a:t>
            </a:r>
            <a:endParaRPr lang="en-US" sz="1250" dirty="0"/>
          </a:p>
        </p:txBody>
      </p:sp>
      <p:sp>
        <p:nvSpPr>
          <p:cNvPr id="20" name="Text 18"/>
          <p:cNvSpPr/>
          <p:nvPr/>
        </p:nvSpPr>
        <p:spPr>
          <a:xfrm>
            <a:off x="7909560" y="2651760"/>
            <a:ext cx="182880" cy="548640"/>
          </a:xfrm>
          <a:prstGeom prst="rect">
            <a:avLst/>
          </a:prstGeom>
          <a:noFill/>
          <a:ln/>
        </p:spPr>
        <p:txBody>
          <a:bodyPr wrap="square" lIns="0" tIns="0" rIns="0" bIns="0" rtlCol="0" anchor="ctr"/>
          <a:lstStyle/>
          <a:p>
            <a:pPr algn="ctr" indent="0" marL="0">
              <a:buNone/>
            </a:pPr>
            <a:r>
              <a:rPr lang="en-US" sz="1600" dirty="0">
                <a:solidFill>
                  <a:srgbClr val="5C6B7A"/>
                </a:solidFill>
              </a:rPr>
              <a:t>→</a:t>
            </a:r>
            <a:endParaRPr lang="en-US" sz="1600" dirty="0"/>
          </a:p>
        </p:txBody>
      </p:sp>
      <p:sp>
        <p:nvSpPr>
          <p:cNvPr id="21" name="Shape 19"/>
          <p:cNvSpPr/>
          <p:nvPr/>
        </p:nvSpPr>
        <p:spPr>
          <a:xfrm>
            <a:off x="8046720" y="2468880"/>
            <a:ext cx="1737360" cy="914400"/>
          </a:xfrm>
          <a:prstGeom prst="roundRect">
            <a:avLst>
              <a:gd name="adj" fmla="val 10000"/>
            </a:avLst>
          </a:prstGeom>
          <a:solidFill>
            <a:srgbClr val="0F4C75"/>
          </a:solidFill>
          <a:ln/>
          <a:effectLst>
            <a:outerShdw sx="100000" sy="100000" kx="0" ky="0" algn="bl" rotWithShape="0" blurRad="76200" dist="25400" dir="5400000">
              <a:srgbClr val="0B1F3A">
                <a:alpha val="18000"/>
              </a:srgbClr>
            </a:outerShdw>
          </a:effectLst>
        </p:spPr>
      </p:sp>
      <p:sp>
        <p:nvSpPr>
          <p:cNvPr id="22" name="Text 20"/>
          <p:cNvSpPr/>
          <p:nvPr/>
        </p:nvSpPr>
        <p:spPr>
          <a:xfrm>
            <a:off x="8138160" y="2523744"/>
            <a:ext cx="548640" cy="365760"/>
          </a:xfrm>
          <a:prstGeom prst="rect">
            <a:avLst/>
          </a:prstGeom>
          <a:noFill/>
          <a:ln/>
        </p:spPr>
        <p:txBody>
          <a:bodyPr wrap="square" lIns="0" tIns="0" rIns="0" bIns="0" rtlCol="0" anchor="ctr"/>
          <a:lstStyle/>
          <a:p>
            <a:pPr indent="0" marL="0">
              <a:buNone/>
            </a:pPr>
            <a:r>
              <a:rPr lang="en-US" sz="1400" b="1" dirty="0">
                <a:solidFill>
                  <a:srgbClr val="CFE1F0"/>
                </a:solidFill>
                <a:latin typeface="Cambria" pitchFamily="34" charset="0"/>
                <a:ea typeface="Cambria" pitchFamily="34" charset="-122"/>
                <a:cs typeface="Cambria" pitchFamily="34" charset="-120"/>
              </a:rPr>
              <a:t>5</a:t>
            </a:r>
            <a:endParaRPr lang="en-US" sz="1400" dirty="0"/>
          </a:p>
        </p:txBody>
      </p:sp>
      <p:sp>
        <p:nvSpPr>
          <p:cNvPr id="23" name="Text 21"/>
          <p:cNvSpPr/>
          <p:nvPr/>
        </p:nvSpPr>
        <p:spPr>
          <a:xfrm>
            <a:off x="8138160" y="2852928"/>
            <a:ext cx="1554480" cy="45720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Observes output</a:t>
            </a:r>
            <a:endParaRPr lang="en-US" sz="1250" dirty="0"/>
          </a:p>
        </p:txBody>
      </p:sp>
      <p:sp>
        <p:nvSpPr>
          <p:cNvPr id="24" name="Text 22"/>
          <p:cNvSpPr/>
          <p:nvPr/>
        </p:nvSpPr>
        <p:spPr>
          <a:xfrm>
            <a:off x="9784080" y="2651760"/>
            <a:ext cx="182880" cy="548640"/>
          </a:xfrm>
          <a:prstGeom prst="rect">
            <a:avLst/>
          </a:prstGeom>
          <a:noFill/>
          <a:ln/>
        </p:spPr>
        <p:txBody>
          <a:bodyPr wrap="square" lIns="0" tIns="0" rIns="0" bIns="0" rtlCol="0" anchor="ctr"/>
          <a:lstStyle/>
          <a:p>
            <a:pPr algn="ctr" indent="0" marL="0">
              <a:buNone/>
            </a:pPr>
            <a:r>
              <a:rPr lang="en-US" sz="1600" dirty="0">
                <a:solidFill>
                  <a:srgbClr val="5C6B7A"/>
                </a:solidFill>
              </a:rPr>
              <a:t>→</a:t>
            </a:r>
            <a:endParaRPr lang="en-US" sz="1600" dirty="0"/>
          </a:p>
        </p:txBody>
      </p:sp>
      <p:sp>
        <p:nvSpPr>
          <p:cNvPr id="25" name="Shape 23"/>
          <p:cNvSpPr/>
          <p:nvPr/>
        </p:nvSpPr>
        <p:spPr>
          <a:xfrm>
            <a:off x="9921240" y="2468880"/>
            <a:ext cx="1737360" cy="914400"/>
          </a:xfrm>
          <a:prstGeom prst="roundRect">
            <a:avLst>
              <a:gd name="adj" fmla="val 10000"/>
            </a:avLst>
          </a:prstGeom>
          <a:solidFill>
            <a:srgbClr val="3282B8"/>
          </a:solidFill>
          <a:ln/>
          <a:effectLst>
            <a:outerShdw sx="100000" sy="100000" kx="0" ky="0" algn="bl" rotWithShape="0" blurRad="76200" dist="25400" dir="5400000">
              <a:srgbClr val="0B1F3A">
                <a:alpha val="18000"/>
              </a:srgbClr>
            </a:outerShdw>
          </a:effectLst>
        </p:spPr>
      </p:sp>
      <p:sp>
        <p:nvSpPr>
          <p:cNvPr id="26" name="Text 24"/>
          <p:cNvSpPr/>
          <p:nvPr/>
        </p:nvSpPr>
        <p:spPr>
          <a:xfrm>
            <a:off x="10012680" y="2523744"/>
            <a:ext cx="548640" cy="365760"/>
          </a:xfrm>
          <a:prstGeom prst="rect">
            <a:avLst/>
          </a:prstGeom>
          <a:noFill/>
          <a:ln/>
        </p:spPr>
        <p:txBody>
          <a:bodyPr wrap="square" lIns="0" tIns="0" rIns="0" bIns="0" rtlCol="0" anchor="ctr"/>
          <a:lstStyle/>
          <a:p>
            <a:pPr indent="0" marL="0">
              <a:buNone/>
            </a:pPr>
            <a:r>
              <a:rPr lang="en-US" sz="1400" b="1" dirty="0">
                <a:solidFill>
                  <a:srgbClr val="CFE1F0"/>
                </a:solidFill>
                <a:latin typeface="Cambria" pitchFamily="34" charset="0"/>
                <a:ea typeface="Cambria" pitchFamily="34" charset="-122"/>
                <a:cs typeface="Cambria" pitchFamily="34" charset="-120"/>
              </a:rPr>
              <a:t>6</a:t>
            </a:r>
            <a:endParaRPr lang="en-US" sz="1400" dirty="0"/>
          </a:p>
        </p:txBody>
      </p:sp>
      <p:sp>
        <p:nvSpPr>
          <p:cNvPr id="27" name="Text 25"/>
          <p:cNvSpPr/>
          <p:nvPr/>
        </p:nvSpPr>
        <p:spPr>
          <a:xfrm>
            <a:off x="10012680" y="2852928"/>
            <a:ext cx="1554480" cy="45720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Iterates</a:t>
            </a:r>
            <a:endParaRPr lang="en-US" sz="1250" dirty="0"/>
          </a:p>
        </p:txBody>
      </p:sp>
      <p:sp>
        <p:nvSpPr>
          <p:cNvPr id="28" name="Text 26"/>
          <p:cNvSpPr/>
          <p:nvPr/>
        </p:nvSpPr>
        <p:spPr>
          <a:xfrm>
            <a:off x="548640" y="3703320"/>
            <a:ext cx="5486400" cy="1005840"/>
          </a:xfrm>
          <a:prstGeom prst="rect">
            <a:avLst/>
          </a:prstGeom>
          <a:noFill/>
          <a:ln/>
        </p:spPr>
        <p:txBody>
          <a:bodyPr wrap="square" lIns="0" tIns="0" rIns="0" bIns="0" rtlCol="0" anchor="ctr"/>
          <a:lstStyle/>
          <a:p>
            <a:pPr indent="0" marL="0">
              <a:lnSpc>
                <a:spcPct val="130000"/>
              </a:lnSpc>
              <a:buNone/>
            </a:pPr>
            <a:r>
              <a:rPr lang="en-US" sz="1350" dirty="0">
                <a:solidFill>
                  <a:srgbClr val="5C6B7A"/>
                </a:solidFill>
                <a:latin typeface="Calibri" pitchFamily="34" charset="0"/>
                <a:ea typeface="Calibri" pitchFamily="34" charset="-122"/>
                <a:cs typeface="Calibri" pitchFamily="34" charset="-120"/>
              </a:rPr>
              <a:t>It hits a guardrail (a failing test, a destructive command) and stops for your review — the loop is yours to steer.</a:t>
            </a:r>
            <a:endParaRPr lang="en-US" sz="1350" dirty="0"/>
          </a:p>
        </p:txBody>
      </p:sp>
      <p:sp>
        <p:nvSpPr>
          <p:cNvPr id="29" name="Shape 27"/>
          <p:cNvSpPr/>
          <p:nvPr/>
        </p:nvSpPr>
        <p:spPr>
          <a:xfrm>
            <a:off x="6309360" y="3703320"/>
            <a:ext cx="5303520" cy="2514600"/>
          </a:xfrm>
          <a:prstGeom prst="roundRect">
            <a:avLst>
              <a:gd name="adj" fmla="val 2909"/>
            </a:avLst>
          </a:prstGeom>
          <a:solidFill>
            <a:srgbClr val="0B1F3A"/>
          </a:solidFill>
          <a:ln/>
          <a:effectLst>
            <a:outerShdw sx="100000" sy="100000" kx="0" ky="0" algn="bl" rotWithShape="0" blurRad="76200" dist="25400" dir="5400000">
              <a:srgbClr val="0B1F3A">
                <a:alpha val="18000"/>
              </a:srgbClr>
            </a:outerShdw>
          </a:effectLst>
        </p:spPr>
      </p:sp>
      <p:sp>
        <p:nvSpPr>
          <p:cNvPr id="30" name="Text 28"/>
          <p:cNvSpPr/>
          <p:nvPr/>
        </p:nvSpPr>
        <p:spPr>
          <a:xfrm>
            <a:off x="6565392" y="3886200"/>
            <a:ext cx="4791456" cy="2148840"/>
          </a:xfrm>
          <a:prstGeom prst="rect">
            <a:avLst/>
          </a:prstGeom>
          <a:noFill/>
          <a:ln/>
        </p:spPr>
        <p:txBody>
          <a:bodyPr wrap="square" lIns="0" tIns="0" rIns="0" bIns="0" rtlCol="0" anchor="t"/>
          <a:lstStyle/>
          <a:p>
            <a:pPr indent="0" marL="0">
              <a:lnSpc>
                <a:spcPct val="125000"/>
              </a:lnSpc>
              <a:buNone/>
            </a:pPr>
            <a:r>
              <a:rPr lang="en-US" sz="1250" dirty="0">
                <a:solidFill>
                  <a:srgbClr val="8FA6BE"/>
                </a:solidFill>
                <a:latin typeface="Courier New" pitchFamily="34" charset="0"/>
                <a:ea typeface="Courier New" pitchFamily="34" charset="-122"/>
                <a:cs typeface="Courier New" pitchFamily="34" charset="-120"/>
              </a:rPr>
              <a:t>$ agent running afd_profile.py --help</a:t>
            </a:r>
            <a:endParaRPr lang="en-US" sz="1250" dirty="0"/>
          </a:p>
          <a:p>
            <a:pPr indent="0" marL="0">
              <a:lnSpc>
                <a:spcPct val="125000"/>
              </a:lnSpc>
              <a:buNone/>
            </a:pPr>
            <a:r>
              <a:rPr lang="en-US" sz="1250" dirty="0">
                <a:solidFill>
                  <a:srgbClr val="D7E6F5"/>
                </a:solidFill>
                <a:latin typeface="Courier New" pitchFamily="34" charset="0"/>
                <a:ea typeface="Courier New" pitchFamily="34" charset="-122"/>
                <a:cs typeface="Courier New" pitchFamily="34" charset="-120"/>
              </a:rPr>
              <a:t>&gt; python afd_profile.py --help</a:t>
            </a:r>
            <a:endParaRPr lang="en-US" sz="1250" dirty="0"/>
          </a:p>
          <a:p>
            <a:pPr indent="0" marL="0">
              <a:lnSpc>
                <a:spcPct val="125000"/>
              </a:lnSpc>
              <a:buNone/>
            </a:pPr>
            <a:r>
              <a:rPr lang="en-US" sz="1250" dirty="0">
                <a:solidFill>
                  <a:srgbClr val="FF8A80"/>
                </a:solidFill>
                <a:latin typeface="Courier New" pitchFamily="34" charset="0"/>
                <a:ea typeface="Courier New" pitchFamily="34" charset="-122"/>
                <a:cs typeface="Courier New" pitchFamily="34" charset="-120"/>
              </a:rPr>
              <a:t>error: unrecognized — no CLI entrypoint</a:t>
            </a:r>
            <a:endParaRPr lang="en-US" sz="1250" dirty="0"/>
          </a:p>
          <a:p>
            <a:pPr indent="0" marL="0">
              <a:lnSpc>
                <a:spcPct val="125000"/>
              </a:lnSpc>
              <a:buNone/>
            </a:pPr>
            <a:r>
              <a:rPr lang="en-US" sz="1250" dirty="0">
                <a:solidFill>
                  <a:srgbClr val="8FA6BE"/>
                </a:solidFill>
                <a:latin typeface="Courier New" pitchFamily="34" charset="0"/>
                <a:ea typeface="Courier New" pitchFamily="34" charset="-122"/>
                <a:cs typeface="Courier New" pitchFamily="34" charset="-120"/>
              </a:rPr>
              <a:t>… agent adds argparse, fixes df.append()</a:t>
            </a:r>
            <a:endParaRPr lang="en-US" sz="1250" dirty="0"/>
          </a:p>
          <a:p>
            <a:pPr indent="0" marL="0">
              <a:lnSpc>
                <a:spcPct val="125000"/>
              </a:lnSpc>
              <a:buNone/>
            </a:pPr>
            <a:r>
              <a:rPr lang="en-US" sz="1250" dirty="0">
                <a:solidFill>
                  <a:srgbClr val="D7E6F5"/>
                </a:solidFill>
                <a:latin typeface="Courier New" pitchFamily="34" charset="0"/>
                <a:ea typeface="Courier New" pitchFamily="34" charset="-122"/>
                <a:cs typeface="Courier New" pitchFamily="34" charset="-120"/>
              </a:rPr>
              <a:t>&gt; python afd_profile.py --input tx.csv \</a:t>
            </a:r>
            <a:endParaRPr lang="en-US" sz="1250" dirty="0"/>
          </a:p>
          <a:p>
            <a:pPr indent="0" marL="0">
              <a:lnSpc>
                <a:spcPct val="125000"/>
              </a:lnSpc>
              <a:buNone/>
            </a:pPr>
            <a:r>
              <a:rPr lang="en-US" sz="1250" dirty="0">
                <a:solidFill>
                  <a:srgbClr val="D7E6F5"/>
                </a:solidFill>
                <a:latin typeface="Courier New" pitchFamily="34" charset="0"/>
                <a:ea typeface="Courier New" pitchFamily="34" charset="-122"/>
                <a:cs typeface="Courier New" pitchFamily="34" charset="-120"/>
              </a:rPr>
              <a:t>    --label is_fraud --output report.html</a:t>
            </a:r>
            <a:endParaRPr lang="en-US" sz="1250" dirty="0"/>
          </a:p>
          <a:p>
            <a:pPr indent="0" marL="0">
              <a:lnSpc>
                <a:spcPct val="125000"/>
              </a:lnSpc>
              <a:buNone/>
            </a:pPr>
            <a:r>
              <a:rPr lang="en-US" sz="1250" b="1" dirty="0">
                <a:solidFill>
                  <a:srgbClr val="6FCF97"/>
                </a:solidFill>
                <a:latin typeface="Courier New" pitchFamily="34" charset="0"/>
                <a:ea typeface="Courier New" pitchFamily="34" charset="-122"/>
                <a:cs typeface="Courier New" pitchFamily="34" charset="-120"/>
              </a:rPr>
              <a:t>Report written to report.html  ✓</a:t>
            </a:r>
            <a:endParaRPr lang="en-US" sz="1250" dirty="0"/>
          </a:p>
        </p:txBody>
      </p:sp>
      <p:sp>
        <p:nvSpPr>
          <p:cNvPr id="31" name="Text 29"/>
          <p:cNvSpPr/>
          <p:nvPr/>
        </p:nvSpPr>
        <p:spPr>
          <a:xfrm>
            <a:off x="548640" y="6537960"/>
            <a:ext cx="5486400" cy="274320"/>
          </a:xfrm>
          <a:prstGeom prst="rect">
            <a:avLst/>
          </a:prstGeom>
          <a:noFill/>
          <a:ln/>
        </p:spPr>
        <p:txBody>
          <a:bodyPr wrap="square" lIns="0" tIns="0" rIns="0" bIns="0" rtlCol="0" anchor="ctr"/>
          <a:lstStyle/>
          <a:p>
            <a:pPr indent="0" marL="0">
              <a:buNone/>
            </a:pPr>
            <a:r>
              <a:rPr lang="en-US" sz="900" dirty="0">
                <a:solidFill>
                  <a:srgbClr val="9AA7B5"/>
                </a:solidFill>
                <a:latin typeface="Calibri" pitchFamily="34" charset="0"/>
                <a:ea typeface="Calibri" pitchFamily="34" charset="-122"/>
                <a:cs typeface="Calibri" pitchFamily="34" charset="-120"/>
              </a:rPr>
              <a:t>Cursor for Engineers</a:t>
            </a:r>
            <a:endParaRPr lang="en-US" sz="900" dirty="0"/>
          </a:p>
        </p:txBody>
      </p:sp>
      <p:sp>
        <p:nvSpPr>
          <p:cNvPr id="32" name="Text 30"/>
          <p:cNvSpPr/>
          <p:nvPr/>
        </p:nvSpPr>
        <p:spPr>
          <a:xfrm>
            <a:off x="11338560" y="6537960"/>
            <a:ext cx="365760" cy="274320"/>
          </a:xfrm>
          <a:prstGeom prst="rect">
            <a:avLst/>
          </a:prstGeom>
          <a:noFill/>
          <a:ln/>
        </p:spPr>
        <p:txBody>
          <a:bodyPr wrap="square" lIns="0" tIns="0" rIns="0" bIns="0" rtlCol="0" anchor="ctr"/>
          <a:lstStyle/>
          <a:p>
            <a:pPr algn="r" indent="0" marL="0">
              <a:buNone/>
            </a:pPr>
            <a:r>
              <a:rPr lang="en-US" sz="900" dirty="0">
                <a:solidFill>
                  <a:srgbClr val="9AA7B5"/>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lIns="0" tIns="0" rIns="0" bIns="0" rtlCol="0" anchor="ctr"/>
          <a:lstStyle/>
          <a:p>
            <a:pPr indent="0" marL="0">
              <a:buNone/>
            </a:pPr>
            <a:r>
              <a:rPr lang="en-US" sz="1300" b="1" spc="200" kern="0" dirty="0">
                <a:solidFill>
                  <a:srgbClr val="3282B8"/>
                </a:solidFill>
                <a:latin typeface="Calibri" pitchFamily="34" charset="0"/>
                <a:ea typeface="Calibri" pitchFamily="34" charset="-122"/>
                <a:cs typeface="Calibri" pitchFamily="34" charset="-120"/>
              </a:rPr>
              <a:t>PICK THE RIGHT TOOL</a:t>
            </a:r>
            <a:endParaRPr lang="en-US" sz="1300" dirty="0"/>
          </a:p>
        </p:txBody>
      </p:sp>
      <p:sp>
        <p:nvSpPr>
          <p:cNvPr id="3" name="Text 1"/>
          <p:cNvSpPr/>
          <p:nvPr/>
        </p:nvSpPr>
        <p:spPr>
          <a:xfrm>
            <a:off x="548640" y="731520"/>
            <a:ext cx="11064240" cy="822960"/>
          </a:xfrm>
          <a:prstGeom prst="rect">
            <a:avLst/>
          </a:prstGeom>
          <a:noFill/>
          <a:ln/>
        </p:spPr>
        <p:txBody>
          <a:bodyPr wrap="square" lIns="0" tIns="0" rIns="0" bIns="0" rtlCol="0" anchor="ctr"/>
          <a:lstStyle/>
          <a:p>
            <a:pPr indent="0" marL="0">
              <a:buNone/>
            </a:pPr>
            <a:r>
              <a:rPr lang="en-US" sz="3000" b="1" dirty="0">
                <a:solidFill>
                  <a:srgbClr val="16233A"/>
                </a:solidFill>
                <a:latin typeface="Cambria" pitchFamily="34" charset="0"/>
                <a:ea typeface="Cambria" pitchFamily="34" charset="-122"/>
                <a:cs typeface="Cambria" pitchFamily="34" charset="-120"/>
              </a:rPr>
              <a:t>Inside Agent Chat: three modes, three kinds of trust</a:t>
            </a:r>
            <a:endParaRPr lang="en-US" sz="3000" dirty="0"/>
          </a:p>
        </p:txBody>
      </p:sp>
      <p:sp>
        <p:nvSpPr>
          <p:cNvPr id="4" name="Shape 2"/>
          <p:cNvSpPr/>
          <p:nvPr/>
        </p:nvSpPr>
        <p:spPr>
          <a:xfrm>
            <a:off x="548640" y="1691640"/>
            <a:ext cx="11064240" cy="1234440"/>
          </a:xfrm>
          <a:prstGeom prst="roundRect">
            <a:avLst>
              <a:gd name="adj" fmla="val 7407"/>
            </a:avLst>
          </a:prstGeom>
          <a:solidFill>
            <a:srgbClr val="F0F4F8"/>
          </a:solidFill>
          <a:ln/>
          <a:effectLst>
            <a:outerShdw sx="100000" sy="100000" kx="0" ky="0" algn="bl" rotWithShape="0" blurRad="76200" dist="25400" dir="5400000">
              <a:srgbClr val="0B1F3A">
                <a:alpha val="18000"/>
              </a:srgbClr>
            </a:outerShdw>
          </a:effectLst>
        </p:spPr>
      </p:sp>
      <p:sp>
        <p:nvSpPr>
          <p:cNvPr id="5" name="Shape 3"/>
          <p:cNvSpPr/>
          <p:nvPr/>
        </p:nvSpPr>
        <p:spPr>
          <a:xfrm>
            <a:off x="914400" y="2011680"/>
            <a:ext cx="594360" cy="594360"/>
          </a:xfrm>
          <a:prstGeom prst="ellipse">
            <a:avLst/>
          </a:prstGeom>
          <a:solidFill>
            <a:srgbClr val="3282B8"/>
          </a:solidFill>
          <a:ln/>
          <a:effectLst>
            <a:outerShdw sx="100000" sy="100000" kx="0" ky="0" algn="bl" rotWithShape="0" blurRad="76200" dist="25400" dir="5400000">
              <a:srgbClr val="0B1F3A">
                <a:alpha val="18000"/>
              </a:srgbClr>
            </a:outerShdw>
          </a:effectLst>
        </p:spPr>
      </p:sp>
      <p:sp>
        <p:nvSpPr>
          <p:cNvPr id="6" name="Text 4"/>
          <p:cNvSpPr/>
          <p:nvPr/>
        </p:nvSpPr>
        <p:spPr>
          <a:xfrm>
            <a:off x="914400" y="2011680"/>
            <a:ext cx="594360" cy="5943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7" name="Text 5"/>
          <p:cNvSpPr/>
          <p:nvPr/>
        </p:nvSpPr>
        <p:spPr>
          <a:xfrm>
            <a:off x="1783080" y="1856232"/>
            <a:ext cx="2377440" cy="457200"/>
          </a:xfrm>
          <a:prstGeom prst="rect">
            <a:avLst/>
          </a:prstGeom>
          <a:noFill/>
          <a:ln/>
        </p:spPr>
        <p:txBody>
          <a:bodyPr wrap="square" lIns="0" tIns="0" rIns="0" bIns="0" rtlCol="0" anchor="ctr"/>
          <a:lstStyle/>
          <a:p>
            <a:pPr indent="0" marL="0">
              <a:buNone/>
            </a:pPr>
            <a:r>
              <a:rPr lang="en-US" sz="1800" b="1" dirty="0">
                <a:solidFill>
                  <a:srgbClr val="16233A"/>
                </a:solidFill>
                <a:latin typeface="Cambria" pitchFamily="34" charset="0"/>
                <a:ea typeface="Cambria" pitchFamily="34" charset="-122"/>
                <a:cs typeface="Cambria" pitchFamily="34" charset="-120"/>
              </a:rPr>
              <a:t>Ask</a:t>
            </a:r>
            <a:endParaRPr lang="en-US" sz="1800" dirty="0"/>
          </a:p>
        </p:txBody>
      </p:sp>
      <p:sp>
        <p:nvSpPr>
          <p:cNvPr id="8" name="Text 6"/>
          <p:cNvSpPr/>
          <p:nvPr/>
        </p:nvSpPr>
        <p:spPr>
          <a:xfrm>
            <a:off x="4206240" y="1856232"/>
            <a:ext cx="7132320" cy="914400"/>
          </a:xfrm>
          <a:prstGeom prst="rect">
            <a:avLst/>
          </a:prstGeom>
          <a:noFill/>
          <a:ln/>
        </p:spPr>
        <p:txBody>
          <a:bodyPr wrap="square" lIns="0" tIns="0" rIns="0" bIns="0" rtlCol="0" anchor="ctr"/>
          <a:lstStyle/>
          <a:p>
            <a:pPr indent="0" marL="0">
              <a:lnSpc>
                <a:spcPct val="125000"/>
              </a:lnSpc>
              <a:buNone/>
            </a:pPr>
            <a:r>
              <a:rPr lang="en-US" sz="1400" dirty="0">
                <a:solidFill>
                  <a:srgbClr val="5C6B7A"/>
                </a:solidFill>
                <a:latin typeface="Calibri" pitchFamily="34" charset="0"/>
                <a:ea typeface="Calibri" pitchFamily="34" charset="-122"/>
                <a:cs typeface="Calibri" pitchFamily="34" charset="-120"/>
              </a:rPr>
              <a:t>Read-only Q&amp;A over your codebase — “why does this join return duplicates?” No edits made.</a:t>
            </a:r>
            <a:endParaRPr lang="en-US" sz="1400" dirty="0"/>
          </a:p>
        </p:txBody>
      </p:sp>
      <p:sp>
        <p:nvSpPr>
          <p:cNvPr id="9" name="Shape 7"/>
          <p:cNvSpPr/>
          <p:nvPr/>
        </p:nvSpPr>
        <p:spPr>
          <a:xfrm>
            <a:off x="548640" y="3154680"/>
            <a:ext cx="11064240" cy="1234440"/>
          </a:xfrm>
          <a:prstGeom prst="roundRect">
            <a:avLst>
              <a:gd name="adj" fmla="val 7407"/>
            </a:avLst>
          </a:prstGeom>
          <a:solidFill>
            <a:srgbClr val="F0F4F8"/>
          </a:solidFill>
          <a:ln/>
          <a:effectLst>
            <a:outerShdw sx="100000" sy="100000" kx="0" ky="0" algn="bl" rotWithShape="0" blurRad="76200" dist="25400" dir="5400000">
              <a:srgbClr val="0B1F3A">
                <a:alpha val="18000"/>
              </a:srgbClr>
            </a:outerShdw>
          </a:effectLst>
        </p:spPr>
      </p:sp>
      <p:sp>
        <p:nvSpPr>
          <p:cNvPr id="10" name="Shape 8"/>
          <p:cNvSpPr/>
          <p:nvPr/>
        </p:nvSpPr>
        <p:spPr>
          <a:xfrm>
            <a:off x="914400" y="3474720"/>
            <a:ext cx="594360" cy="594360"/>
          </a:xfrm>
          <a:prstGeom prst="ellipse">
            <a:avLst/>
          </a:prstGeom>
          <a:solidFill>
            <a:srgbClr val="0F4C75"/>
          </a:solidFill>
          <a:ln/>
          <a:effectLst>
            <a:outerShdw sx="100000" sy="100000" kx="0" ky="0" algn="bl" rotWithShape="0" blurRad="76200" dist="25400" dir="5400000">
              <a:srgbClr val="0B1F3A">
                <a:alpha val="18000"/>
              </a:srgbClr>
            </a:outerShdw>
          </a:effectLst>
        </p:spPr>
      </p:sp>
      <p:sp>
        <p:nvSpPr>
          <p:cNvPr id="11" name="Text 9"/>
          <p:cNvSpPr/>
          <p:nvPr/>
        </p:nvSpPr>
        <p:spPr>
          <a:xfrm>
            <a:off x="914400" y="3474720"/>
            <a:ext cx="594360" cy="5943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2" name="Text 10"/>
          <p:cNvSpPr/>
          <p:nvPr/>
        </p:nvSpPr>
        <p:spPr>
          <a:xfrm>
            <a:off x="1783080" y="3319272"/>
            <a:ext cx="2377440" cy="457200"/>
          </a:xfrm>
          <a:prstGeom prst="rect">
            <a:avLst/>
          </a:prstGeom>
          <a:noFill/>
          <a:ln/>
        </p:spPr>
        <p:txBody>
          <a:bodyPr wrap="square" lIns="0" tIns="0" rIns="0" bIns="0" rtlCol="0" anchor="ctr"/>
          <a:lstStyle/>
          <a:p>
            <a:pPr indent="0" marL="0">
              <a:buNone/>
            </a:pPr>
            <a:r>
              <a:rPr lang="en-US" sz="1800" b="1" dirty="0">
                <a:solidFill>
                  <a:srgbClr val="16233A"/>
                </a:solidFill>
                <a:latin typeface="Cambria" pitchFamily="34" charset="0"/>
                <a:ea typeface="Cambria" pitchFamily="34" charset="-122"/>
                <a:cs typeface="Cambria" pitchFamily="34" charset="-120"/>
              </a:rPr>
              <a:t>Plan</a:t>
            </a:r>
            <a:endParaRPr lang="en-US" sz="1800" dirty="0"/>
          </a:p>
        </p:txBody>
      </p:sp>
      <p:sp>
        <p:nvSpPr>
          <p:cNvPr id="13" name="Text 11"/>
          <p:cNvSpPr/>
          <p:nvPr/>
        </p:nvSpPr>
        <p:spPr>
          <a:xfrm>
            <a:off x="4206240" y="3319272"/>
            <a:ext cx="7132320" cy="914400"/>
          </a:xfrm>
          <a:prstGeom prst="rect">
            <a:avLst/>
          </a:prstGeom>
          <a:noFill/>
          <a:ln/>
        </p:spPr>
        <p:txBody>
          <a:bodyPr wrap="square" lIns="0" tIns="0" rIns="0" bIns="0" rtlCol="0" anchor="ctr"/>
          <a:lstStyle/>
          <a:p>
            <a:pPr indent="0" marL="0">
              <a:lnSpc>
                <a:spcPct val="125000"/>
              </a:lnSpc>
              <a:buNone/>
            </a:pPr>
            <a:r>
              <a:rPr lang="en-US" sz="1400" dirty="0">
                <a:solidFill>
                  <a:srgbClr val="5C6B7A"/>
                </a:solidFill>
                <a:latin typeface="Calibri" pitchFamily="34" charset="0"/>
                <a:ea typeface="Calibri" pitchFamily="34" charset="-122"/>
                <a:cs typeface="Calibri" pitchFamily="34" charset="-120"/>
              </a:rPr>
              <a:t>Cursor researches your codebase and drafts a step-by-step implementation plan you can edit before any code is written.</a:t>
            </a:r>
            <a:endParaRPr lang="en-US" sz="1400" dirty="0"/>
          </a:p>
        </p:txBody>
      </p:sp>
      <p:sp>
        <p:nvSpPr>
          <p:cNvPr id="14" name="Shape 12"/>
          <p:cNvSpPr/>
          <p:nvPr/>
        </p:nvSpPr>
        <p:spPr>
          <a:xfrm>
            <a:off x="548640" y="4617720"/>
            <a:ext cx="11064240" cy="1234440"/>
          </a:xfrm>
          <a:prstGeom prst="roundRect">
            <a:avLst>
              <a:gd name="adj" fmla="val 7407"/>
            </a:avLst>
          </a:prstGeom>
          <a:solidFill>
            <a:srgbClr val="F0F4F8"/>
          </a:solidFill>
          <a:ln/>
          <a:effectLst>
            <a:outerShdw sx="100000" sy="100000" kx="0" ky="0" algn="bl" rotWithShape="0" blurRad="76200" dist="25400" dir="5400000">
              <a:srgbClr val="0B1F3A">
                <a:alpha val="18000"/>
              </a:srgbClr>
            </a:outerShdw>
          </a:effectLst>
        </p:spPr>
      </p:sp>
      <p:sp>
        <p:nvSpPr>
          <p:cNvPr id="15" name="Shape 13"/>
          <p:cNvSpPr/>
          <p:nvPr/>
        </p:nvSpPr>
        <p:spPr>
          <a:xfrm>
            <a:off x="914400" y="4937760"/>
            <a:ext cx="594360" cy="594360"/>
          </a:xfrm>
          <a:prstGeom prst="ellipse">
            <a:avLst/>
          </a:prstGeom>
          <a:solidFill>
            <a:srgbClr val="F2A541"/>
          </a:solidFill>
          <a:ln/>
          <a:effectLst>
            <a:outerShdw sx="100000" sy="100000" kx="0" ky="0" algn="bl" rotWithShape="0" blurRad="76200" dist="25400" dir="5400000">
              <a:srgbClr val="0B1F3A">
                <a:alpha val="18000"/>
              </a:srgbClr>
            </a:outerShdw>
          </a:effectLst>
        </p:spPr>
      </p:sp>
      <p:sp>
        <p:nvSpPr>
          <p:cNvPr id="16" name="Text 14"/>
          <p:cNvSpPr/>
          <p:nvPr/>
        </p:nvSpPr>
        <p:spPr>
          <a:xfrm>
            <a:off x="914400" y="4937760"/>
            <a:ext cx="594360" cy="5943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7" name="Text 15"/>
          <p:cNvSpPr/>
          <p:nvPr/>
        </p:nvSpPr>
        <p:spPr>
          <a:xfrm>
            <a:off x="1783080" y="4782312"/>
            <a:ext cx="2377440" cy="457200"/>
          </a:xfrm>
          <a:prstGeom prst="rect">
            <a:avLst/>
          </a:prstGeom>
          <a:noFill/>
          <a:ln/>
        </p:spPr>
        <p:txBody>
          <a:bodyPr wrap="square" lIns="0" tIns="0" rIns="0" bIns="0" rtlCol="0" anchor="ctr"/>
          <a:lstStyle/>
          <a:p>
            <a:pPr indent="0" marL="0">
              <a:buNone/>
            </a:pPr>
            <a:r>
              <a:rPr lang="en-US" sz="1800" b="1" dirty="0">
                <a:solidFill>
                  <a:srgbClr val="16233A"/>
                </a:solidFill>
                <a:latin typeface="Cambria" pitchFamily="34" charset="0"/>
                <a:ea typeface="Cambria" pitchFamily="34" charset="-122"/>
                <a:cs typeface="Cambria" pitchFamily="34" charset="-120"/>
              </a:rPr>
              <a:t>Agent</a:t>
            </a:r>
            <a:endParaRPr lang="en-US" sz="1800" dirty="0"/>
          </a:p>
        </p:txBody>
      </p:sp>
      <p:sp>
        <p:nvSpPr>
          <p:cNvPr id="18" name="Text 16"/>
          <p:cNvSpPr/>
          <p:nvPr/>
        </p:nvSpPr>
        <p:spPr>
          <a:xfrm>
            <a:off x="4206240" y="4782312"/>
            <a:ext cx="7132320" cy="914400"/>
          </a:xfrm>
          <a:prstGeom prst="rect">
            <a:avLst/>
          </a:prstGeom>
          <a:noFill/>
          <a:ln/>
        </p:spPr>
        <p:txBody>
          <a:bodyPr wrap="square" lIns="0" tIns="0" rIns="0" bIns="0" rtlCol="0" anchor="ctr"/>
          <a:lstStyle/>
          <a:p>
            <a:pPr indent="0" marL="0">
              <a:lnSpc>
                <a:spcPct val="125000"/>
              </a:lnSpc>
              <a:buNone/>
            </a:pPr>
            <a:r>
              <a:rPr lang="en-US" sz="1400" dirty="0">
                <a:solidFill>
                  <a:srgbClr val="5C6B7A"/>
                </a:solidFill>
                <a:latin typeface="Calibri" pitchFamily="34" charset="0"/>
                <a:ea typeface="Calibri" pitchFamily="34" charset="-122"/>
                <a:cs typeface="Calibri" pitchFamily="34" charset="-120"/>
              </a:rPr>
              <a:t>Multi-step, multi-file work: plans, edits, runs your terminal, reads the output, and iterates until done.</a:t>
            </a:r>
            <a:endParaRPr lang="en-US" sz="1400" dirty="0"/>
          </a:p>
        </p:txBody>
      </p:sp>
      <p:sp>
        <p:nvSpPr>
          <p:cNvPr id="19" name="Text 17"/>
          <p:cNvSpPr/>
          <p:nvPr/>
        </p:nvSpPr>
        <p:spPr>
          <a:xfrm>
            <a:off x="548640" y="6263640"/>
            <a:ext cx="10972800" cy="365760"/>
          </a:xfrm>
          <a:prstGeom prst="rect">
            <a:avLst/>
          </a:prstGeom>
          <a:noFill/>
          <a:ln/>
        </p:spPr>
        <p:txBody>
          <a:bodyPr wrap="square" lIns="0" tIns="0" rIns="0" bIns="0" rtlCol="0" anchor="ctr"/>
          <a:lstStyle/>
          <a:p>
            <a:pPr indent="0" marL="0">
              <a:buNone/>
            </a:pPr>
            <a:r>
              <a:rPr lang="en-US" sz="1250" i="1" dirty="0">
                <a:solidFill>
                  <a:srgbClr val="5C6B7A"/>
                </a:solidFill>
                <a:latin typeface="Calibri" pitchFamily="34" charset="0"/>
                <a:ea typeface="Calibri" pitchFamily="34" charset="-122"/>
                <a:cs typeface="Calibri" pitchFamily="34" charset="-120"/>
              </a:rPr>
              <a:t>Rule of thumb: Ask to understand, Plan for anything multi-step or complex, Agent once you're ready to execute. Deep dives on each next.</a:t>
            </a:r>
            <a:endParaRPr lang="en-US" sz="1250" dirty="0"/>
          </a:p>
        </p:txBody>
      </p:sp>
      <p:sp>
        <p:nvSpPr>
          <p:cNvPr id="20" name="Text 18"/>
          <p:cNvSpPr/>
          <p:nvPr/>
        </p:nvSpPr>
        <p:spPr>
          <a:xfrm>
            <a:off x="548640" y="6537960"/>
            <a:ext cx="5486400" cy="274320"/>
          </a:xfrm>
          <a:prstGeom prst="rect">
            <a:avLst/>
          </a:prstGeom>
          <a:noFill/>
          <a:ln/>
        </p:spPr>
        <p:txBody>
          <a:bodyPr wrap="square" lIns="0" tIns="0" rIns="0" bIns="0" rtlCol="0" anchor="ctr"/>
          <a:lstStyle/>
          <a:p>
            <a:pPr indent="0" marL="0">
              <a:buNone/>
            </a:pPr>
            <a:r>
              <a:rPr lang="en-US" sz="900" dirty="0">
                <a:solidFill>
                  <a:srgbClr val="9AA7B5"/>
                </a:solidFill>
                <a:latin typeface="Calibri" pitchFamily="34" charset="0"/>
                <a:ea typeface="Calibri" pitchFamily="34" charset="-122"/>
                <a:cs typeface="Calibri" pitchFamily="34" charset="-120"/>
              </a:rPr>
              <a:t>Cursor for Engineers</a:t>
            </a:r>
            <a:endParaRPr lang="en-US" sz="900" dirty="0"/>
          </a:p>
        </p:txBody>
      </p:sp>
      <p:sp>
        <p:nvSpPr>
          <p:cNvPr id="21" name="Text 19"/>
          <p:cNvSpPr/>
          <p:nvPr/>
        </p:nvSpPr>
        <p:spPr>
          <a:xfrm>
            <a:off x="11338560" y="6537960"/>
            <a:ext cx="365760" cy="274320"/>
          </a:xfrm>
          <a:prstGeom prst="rect">
            <a:avLst/>
          </a:prstGeom>
          <a:noFill/>
          <a:ln/>
        </p:spPr>
        <p:txBody>
          <a:bodyPr wrap="square" lIns="0" tIns="0" rIns="0" bIns="0" rtlCol="0" anchor="ctr"/>
          <a:lstStyle/>
          <a:p>
            <a:pPr algn="r" indent="0" marL="0">
              <a:buNone/>
            </a:pPr>
            <a:r>
              <a:rPr lang="en-US" sz="900" dirty="0">
                <a:solidFill>
                  <a:srgbClr val="9AA7B5"/>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lIns="0" tIns="0" rIns="0" bIns="0" rtlCol="0" anchor="ctr"/>
          <a:lstStyle/>
          <a:p>
            <a:pPr indent="0" marL="0">
              <a:buNone/>
            </a:pPr>
            <a:r>
              <a:rPr lang="en-US" sz="1300" b="1" spc="200" kern="0" dirty="0">
                <a:solidFill>
                  <a:srgbClr val="3282B8"/>
                </a:solidFill>
                <a:latin typeface="Calibri" pitchFamily="34" charset="0"/>
                <a:ea typeface="Calibri" pitchFamily="34" charset="-122"/>
                <a:cs typeface="Calibri" pitchFamily="34" charset="-120"/>
              </a:rPr>
              <a:t>FEATURE DEEP DIVE</a:t>
            </a:r>
            <a:endParaRPr lang="en-US" sz="1300" dirty="0"/>
          </a:p>
        </p:txBody>
      </p:sp>
      <p:sp>
        <p:nvSpPr>
          <p:cNvPr id="3" name="Text 1"/>
          <p:cNvSpPr/>
          <p:nvPr/>
        </p:nvSpPr>
        <p:spPr>
          <a:xfrm>
            <a:off x="548640" y="731520"/>
            <a:ext cx="11064240" cy="822960"/>
          </a:xfrm>
          <a:prstGeom prst="rect">
            <a:avLst/>
          </a:prstGeom>
          <a:noFill/>
          <a:ln/>
        </p:spPr>
        <p:txBody>
          <a:bodyPr wrap="square" lIns="0" tIns="0" rIns="0" bIns="0" rtlCol="0" anchor="ctr"/>
          <a:lstStyle/>
          <a:p>
            <a:pPr indent="0" marL="0">
              <a:buNone/>
            </a:pPr>
            <a:r>
              <a:rPr lang="en-US" sz="3000" b="1" dirty="0">
                <a:solidFill>
                  <a:srgbClr val="16233A"/>
                </a:solidFill>
                <a:latin typeface="Cambria" pitchFamily="34" charset="0"/>
                <a:ea typeface="Cambria" pitchFamily="34" charset="-122"/>
                <a:cs typeface="Cambria" pitchFamily="34" charset="-120"/>
              </a:rPr>
              <a:t>Ask mode: understand before you touch anything</a:t>
            </a:r>
            <a:endParaRPr lang="en-US" sz="3000" dirty="0"/>
          </a:p>
        </p:txBody>
      </p:sp>
      <p:sp>
        <p:nvSpPr>
          <p:cNvPr id="4" name="Text 2"/>
          <p:cNvSpPr/>
          <p:nvPr/>
        </p:nvSpPr>
        <p:spPr>
          <a:xfrm>
            <a:off x="548640" y="1463040"/>
            <a:ext cx="5120640" cy="1463040"/>
          </a:xfrm>
          <a:prstGeom prst="rect">
            <a:avLst/>
          </a:prstGeom>
          <a:noFill/>
          <a:ln/>
        </p:spPr>
        <p:txBody>
          <a:bodyPr wrap="square" lIns="0" tIns="0" rIns="0" bIns="0" rtlCol="0" anchor="ctr"/>
          <a:lstStyle/>
          <a:p>
            <a:pPr indent="0" marL="0">
              <a:lnSpc>
                <a:spcPct val="130000"/>
              </a:lnSpc>
              <a:buNone/>
            </a:pPr>
            <a:r>
              <a:rPr lang="en-US" sz="1450" dirty="0">
                <a:solidFill>
                  <a:srgbClr val="16233A"/>
                </a:solidFill>
                <a:latin typeface="Calibri" pitchFamily="34" charset="0"/>
                <a:ea typeface="Calibri" pitchFamily="34" charset="-122"/>
                <a:cs typeface="Calibri" pitchFamily="34" charset="-120"/>
              </a:rPr>
              <a:t>Ask is read-only — no diffs, no file writes. It searches and reads your codebase to answer a question, which makes it the safest way to explore code you don't own yet.</a:t>
            </a:r>
            <a:endParaRPr lang="en-US" sz="1450" dirty="0"/>
          </a:p>
        </p:txBody>
      </p:sp>
      <p:sp>
        <p:nvSpPr>
          <p:cNvPr id="5" name="Text 3"/>
          <p:cNvSpPr/>
          <p:nvPr/>
        </p:nvSpPr>
        <p:spPr>
          <a:xfrm>
            <a:off x="548640" y="3200400"/>
            <a:ext cx="5120640" cy="2377440"/>
          </a:xfrm>
          <a:prstGeom prst="rect">
            <a:avLst/>
          </a:prstGeom>
          <a:noFill/>
          <a:ln/>
        </p:spPr>
        <p:txBody>
          <a:bodyPr wrap="square" lIns="0" tIns="0" rIns="0" bIns="0" rtlCol="0" anchor="ctr"/>
          <a:lstStyle/>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Use it before Plan or Agent — understanding first prevents the agent from guessing at conventions</a:t>
            </a:r>
            <a:endParaRPr lang="en-US" sz="1350" dirty="0"/>
          </a:p>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Safe to point at a repo you're new to, or production code, with zero edit risk</a:t>
            </a:r>
            <a:endParaRPr lang="en-US" sz="1350" dirty="0"/>
          </a:p>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Great for “why” questions a teammate would otherwise have to answer</a:t>
            </a:r>
            <a:endParaRPr lang="en-US" sz="1350" dirty="0"/>
          </a:p>
        </p:txBody>
      </p:sp>
      <p:sp>
        <p:nvSpPr>
          <p:cNvPr id="6" name="Shape 4"/>
          <p:cNvSpPr/>
          <p:nvPr/>
        </p:nvSpPr>
        <p:spPr>
          <a:xfrm>
            <a:off x="5989320" y="1463040"/>
            <a:ext cx="5623560" cy="4480560"/>
          </a:xfrm>
          <a:prstGeom prst="roundRect">
            <a:avLst>
              <a:gd name="adj" fmla="val 1633"/>
            </a:avLst>
          </a:prstGeom>
          <a:solidFill>
            <a:srgbClr val="0B1F3A"/>
          </a:solidFill>
          <a:ln/>
          <a:effectLst>
            <a:outerShdw sx="100000" sy="100000" kx="0" ky="0" algn="bl" rotWithShape="0" blurRad="76200" dist="25400" dir="5400000">
              <a:srgbClr val="0B1F3A">
                <a:alpha val="18000"/>
              </a:srgbClr>
            </a:outerShdw>
          </a:effectLst>
        </p:spPr>
      </p:sp>
      <p:sp>
        <p:nvSpPr>
          <p:cNvPr id="7" name="Text 5"/>
          <p:cNvSpPr/>
          <p:nvPr/>
        </p:nvSpPr>
        <p:spPr>
          <a:xfrm>
            <a:off x="6245352" y="1645920"/>
            <a:ext cx="5111496" cy="4114800"/>
          </a:xfrm>
          <a:prstGeom prst="rect">
            <a:avLst/>
          </a:prstGeom>
          <a:noFill/>
          <a:ln/>
        </p:spPr>
        <p:txBody>
          <a:bodyPr wrap="square" lIns="0" tIns="0" rIns="0" bIns="0" rtlCol="0" anchor="t"/>
          <a:lstStyle/>
          <a:p>
            <a:pPr indent="0" marL="0">
              <a:lnSpc>
                <a:spcPct val="125000"/>
              </a:lnSpc>
              <a:buNone/>
            </a:pPr>
            <a:r>
              <a:rPr lang="en-US" sz="1250" b="1" dirty="0">
                <a:solidFill>
                  <a:srgbClr val="FFFFFF"/>
                </a:solidFill>
                <a:latin typeface="Courier New" pitchFamily="34" charset="0"/>
                <a:ea typeface="Courier New" pitchFamily="34" charset="-122"/>
                <a:cs typeface="Courier New" pitchFamily="34" charset="-120"/>
              </a:rPr>
              <a:t>Ask: @afd_profile.py how does this</a:t>
            </a:r>
            <a:endParaRPr lang="en-US" sz="1250" dirty="0"/>
          </a:p>
          <a:p>
            <a:pPr indent="0" marL="0">
              <a:lnSpc>
                <a:spcPct val="125000"/>
              </a:lnSpc>
              <a:buNone/>
            </a:pPr>
            <a:r>
              <a:rPr lang="en-US" sz="1250" b="1" dirty="0">
                <a:solidFill>
                  <a:srgbClr val="FFFFFF"/>
                </a:solidFill>
                <a:latin typeface="Courier New" pitchFamily="34" charset="0"/>
                <a:ea typeface="Courier New" pitchFamily="34" charset="-122"/>
                <a:cs typeface="Courier New" pitchFamily="34" charset="-120"/>
              </a:rPr>
              <a:t>decide if a column is a date stored</a:t>
            </a:r>
            <a:endParaRPr lang="en-US" sz="1250" dirty="0"/>
          </a:p>
          <a:p>
            <a:pPr indent="0" marL="0">
              <a:lnSpc>
                <a:spcPct val="125000"/>
              </a:lnSpc>
              <a:buNone/>
            </a:pPr>
            <a:r>
              <a:rPr lang="en-US" sz="1250" b="1" dirty="0">
                <a:solidFill>
                  <a:srgbClr val="FFFFFF"/>
                </a:solidFill>
                <a:latin typeface="Courier New" pitchFamily="34" charset="0"/>
                <a:ea typeface="Courier New" pitchFamily="34" charset="-122"/>
                <a:cs typeface="Courier New" pitchFamily="34" charset="-120"/>
              </a:rPr>
              <a:t>as text?</a:t>
            </a:r>
            <a:endParaRPr lang="en-US" sz="1250" dirty="0"/>
          </a:p>
          <a:p>
            <a:pPr indent="0" marL="0">
              <a:lnSpc>
                <a:spcPct val="125000"/>
              </a:lnSpc>
              <a:buNone/>
            </a:pPr>
            <a:endParaRPr lang="en-US" sz="1250" dirty="0"/>
          </a:p>
          <a:p>
            <a:pPr indent="0" marL="0">
              <a:lnSpc>
                <a:spcPct val="125000"/>
              </a:lnSpc>
              <a:buNone/>
            </a:pPr>
            <a:r>
              <a:rPr lang="en-US" sz="1250" b="1" dirty="0">
                <a:solidFill>
                  <a:srgbClr val="F2A541"/>
                </a:solidFill>
                <a:latin typeface="Courier New" pitchFamily="34" charset="0"/>
                <a:ea typeface="Courier New" pitchFamily="34" charset="-122"/>
                <a:cs typeface="Courier New" pitchFamily="34" charset="-120"/>
              </a:rPr>
              <a:t>Cursor:</a:t>
            </a:r>
            <a:endParaRPr lang="en-US" sz="1250" dirty="0"/>
          </a:p>
          <a:p>
            <a:pPr indent="0" marL="0">
              <a:lnSpc>
                <a:spcPct val="125000"/>
              </a:lnSpc>
              <a:buNone/>
            </a:pPr>
            <a:r>
              <a:rPr lang="en-US" sz="1250" dirty="0">
                <a:solidFill>
                  <a:srgbClr val="6FCF97"/>
                </a:solidFill>
                <a:latin typeface="Courier New" pitchFamily="34" charset="0"/>
                <a:ea typeface="Courier New" pitchFamily="34" charset="-122"/>
                <a:cs typeface="Courier New" pitchFamily="34" charset="-120"/>
              </a:rPr>
              <a:t>check_if_datetime_as_object_feature()</a:t>
            </a:r>
            <a:endParaRPr lang="en-US" sz="1250" dirty="0"/>
          </a:p>
          <a:p>
            <a:pPr indent="0" marL="0">
              <a:lnSpc>
                <a:spcPct val="125000"/>
              </a:lnSpc>
              <a:buNone/>
            </a:pPr>
            <a:r>
              <a:rPr lang="en-US" sz="1250" dirty="0">
                <a:solidFill>
                  <a:srgbClr val="D7E6F5"/>
                </a:solidFill>
                <a:latin typeface="Courier New" pitchFamily="34" charset="0"/>
                <a:ea typeface="Courier New" pitchFamily="34" charset="-122"/>
                <a:cs typeface="Courier New" pitchFamily="34" charset="-120"/>
              </a:rPr>
              <a:t>samples up to 5,000 rows, tries every</a:t>
            </a:r>
            <a:endParaRPr lang="en-US" sz="1250" dirty="0"/>
          </a:p>
          <a:p>
            <a:pPr indent="0" marL="0">
              <a:lnSpc>
                <a:spcPct val="125000"/>
              </a:lnSpc>
              <a:buNone/>
            </a:pPr>
            <a:r>
              <a:rPr lang="en-US" sz="1250" dirty="0">
                <a:solidFill>
                  <a:srgbClr val="D7E6F5"/>
                </a:solidFill>
                <a:latin typeface="Courier New" pitchFamily="34" charset="0"/>
                <a:ea typeface="Courier New" pitchFamily="34" charset="-122"/>
                <a:cs typeface="Courier New" pitchFamily="34" charset="-120"/>
              </a:rPr>
              <a:t>format in SUPPORTED_FORMATS, and</a:t>
            </a:r>
            <a:endParaRPr lang="en-US" sz="1250" dirty="0"/>
          </a:p>
          <a:p>
            <a:pPr indent="0" marL="0">
              <a:lnSpc>
                <a:spcPct val="125000"/>
              </a:lnSpc>
              <a:buNone/>
            </a:pPr>
            <a:r>
              <a:rPr lang="en-US" sz="1250" dirty="0">
                <a:solidFill>
                  <a:srgbClr val="D7E6F5"/>
                </a:solidFill>
                <a:latin typeface="Courier New" pitchFamily="34" charset="0"/>
                <a:ea typeface="Courier New" pitchFamily="34" charset="-122"/>
                <a:cs typeface="Courier New" pitchFamily="34" charset="-120"/>
              </a:rPr>
              <a:t>returns True if the mismatch rate is</a:t>
            </a:r>
            <a:endParaRPr lang="en-US" sz="1250" dirty="0"/>
          </a:p>
          <a:p>
            <a:pPr indent="0" marL="0">
              <a:lnSpc>
                <a:spcPct val="125000"/>
              </a:lnSpc>
              <a:buNone/>
            </a:pPr>
            <a:r>
              <a:rPr lang="en-US" sz="1250" dirty="0">
                <a:solidFill>
                  <a:srgbClr val="D7E6F5"/>
                </a:solidFill>
                <a:latin typeface="Courier New" pitchFamily="34" charset="0"/>
                <a:ea typeface="Courier New" pitchFamily="34" charset="-122"/>
                <a:cs typeface="Courier New" pitchFamily="34" charset="-120"/>
              </a:rPr>
              <a:t>under 80%. Columns that parse cleanly</a:t>
            </a:r>
            <a:endParaRPr lang="en-US" sz="1250" dirty="0"/>
          </a:p>
          <a:p>
            <a:pPr indent="0" marL="0">
              <a:lnSpc>
                <a:spcPct val="125000"/>
              </a:lnSpc>
              <a:buNone/>
            </a:pPr>
            <a:r>
              <a:rPr lang="en-US" sz="1250" dirty="0">
                <a:solidFill>
                  <a:srgbClr val="D7E6F5"/>
                </a:solidFill>
                <a:latin typeface="Courier New" pitchFamily="34" charset="0"/>
                <a:ea typeface="Courier New" pitchFamily="34" charset="-122"/>
                <a:cs typeface="Courier New" pitchFamily="34" charset="-120"/>
              </a:rPr>
              <a:t>as numeric are skipped first.</a:t>
            </a:r>
            <a:endParaRPr lang="en-US" sz="1250" dirty="0"/>
          </a:p>
          <a:p>
            <a:pPr indent="0" marL="0">
              <a:lnSpc>
                <a:spcPct val="125000"/>
              </a:lnSpc>
              <a:buNone/>
            </a:pPr>
            <a:endParaRPr lang="en-US" sz="1250" dirty="0"/>
          </a:p>
          <a:p>
            <a:pPr indent="0" marL="0">
              <a:lnSpc>
                <a:spcPct val="125000"/>
              </a:lnSpc>
              <a:buNone/>
            </a:pPr>
            <a:r>
              <a:rPr lang="en-US" sz="1250" dirty="0">
                <a:solidFill>
                  <a:srgbClr val="8FA6BE"/>
                </a:solidFill>
                <a:latin typeface="Courier New" pitchFamily="34" charset="0"/>
                <a:ea typeface="Courier New" pitchFamily="34" charset="-122"/>
                <a:cs typeface="Courier New" pitchFamily="34" charset="-120"/>
              </a:rPr>
              <a:t>— No files changed. Ask only reads.</a:t>
            </a:r>
            <a:endParaRPr lang="en-US" sz="1250" dirty="0"/>
          </a:p>
        </p:txBody>
      </p:sp>
      <p:sp>
        <p:nvSpPr>
          <p:cNvPr id="8" name="Text 6"/>
          <p:cNvSpPr/>
          <p:nvPr/>
        </p:nvSpPr>
        <p:spPr>
          <a:xfrm>
            <a:off x="548640" y="6537960"/>
            <a:ext cx="5486400" cy="274320"/>
          </a:xfrm>
          <a:prstGeom prst="rect">
            <a:avLst/>
          </a:prstGeom>
          <a:noFill/>
          <a:ln/>
        </p:spPr>
        <p:txBody>
          <a:bodyPr wrap="square" lIns="0" tIns="0" rIns="0" bIns="0" rtlCol="0" anchor="ctr"/>
          <a:lstStyle/>
          <a:p>
            <a:pPr indent="0" marL="0">
              <a:buNone/>
            </a:pPr>
            <a:r>
              <a:rPr lang="en-US" sz="900" dirty="0">
                <a:solidFill>
                  <a:srgbClr val="9AA7B5"/>
                </a:solidFill>
                <a:latin typeface="Calibri" pitchFamily="34" charset="0"/>
                <a:ea typeface="Calibri" pitchFamily="34" charset="-122"/>
                <a:cs typeface="Calibri" pitchFamily="34" charset="-120"/>
              </a:rPr>
              <a:t>Cursor for Engineers</a:t>
            </a:r>
            <a:endParaRPr lang="en-US" sz="900" dirty="0"/>
          </a:p>
        </p:txBody>
      </p:sp>
      <p:sp>
        <p:nvSpPr>
          <p:cNvPr id="9" name="Text 7"/>
          <p:cNvSpPr/>
          <p:nvPr/>
        </p:nvSpPr>
        <p:spPr>
          <a:xfrm>
            <a:off x="11338560" y="6537960"/>
            <a:ext cx="365760" cy="274320"/>
          </a:xfrm>
          <a:prstGeom prst="rect">
            <a:avLst/>
          </a:prstGeom>
          <a:noFill/>
          <a:ln/>
        </p:spPr>
        <p:txBody>
          <a:bodyPr wrap="square" lIns="0" tIns="0" rIns="0" bIns="0" rtlCol="0" anchor="ctr"/>
          <a:lstStyle/>
          <a:p>
            <a:pPr algn="r" indent="0" marL="0">
              <a:buNone/>
            </a:pPr>
            <a:r>
              <a:rPr lang="en-US" sz="900" dirty="0">
                <a:solidFill>
                  <a:srgbClr val="9AA7B5"/>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lIns="0" tIns="0" rIns="0" bIns="0" rtlCol="0" anchor="ctr"/>
          <a:lstStyle/>
          <a:p>
            <a:pPr indent="0" marL="0">
              <a:buNone/>
            </a:pPr>
            <a:r>
              <a:rPr lang="en-US" sz="1300" b="1" spc="200" kern="0" dirty="0">
                <a:solidFill>
                  <a:srgbClr val="3282B8"/>
                </a:solidFill>
                <a:latin typeface="Calibri" pitchFamily="34" charset="0"/>
                <a:ea typeface="Calibri" pitchFamily="34" charset="-122"/>
                <a:cs typeface="Calibri" pitchFamily="34" charset="-120"/>
              </a:rPr>
              <a:t>FEATURE DEEP DIVE</a:t>
            </a:r>
            <a:endParaRPr lang="en-US" sz="1300" dirty="0"/>
          </a:p>
        </p:txBody>
      </p:sp>
      <p:sp>
        <p:nvSpPr>
          <p:cNvPr id="3" name="Text 1"/>
          <p:cNvSpPr/>
          <p:nvPr/>
        </p:nvSpPr>
        <p:spPr>
          <a:xfrm>
            <a:off x="548640" y="731520"/>
            <a:ext cx="11064240" cy="822960"/>
          </a:xfrm>
          <a:prstGeom prst="rect">
            <a:avLst/>
          </a:prstGeom>
          <a:noFill/>
          <a:ln/>
        </p:spPr>
        <p:txBody>
          <a:bodyPr wrap="square" lIns="0" tIns="0" rIns="0" bIns="0" rtlCol="0" anchor="ctr"/>
          <a:lstStyle/>
          <a:p>
            <a:pPr indent="0" marL="0">
              <a:buNone/>
            </a:pPr>
            <a:r>
              <a:rPr lang="en-US" sz="3000" b="1" dirty="0">
                <a:solidFill>
                  <a:srgbClr val="16233A"/>
                </a:solidFill>
                <a:latin typeface="Cambria" pitchFamily="34" charset="0"/>
                <a:ea typeface="Cambria" pitchFamily="34" charset="-122"/>
                <a:cs typeface="Cambria" pitchFamily="34" charset="-120"/>
              </a:rPr>
              <a:t>Plan mode: a reviewable plan before any code changes</a:t>
            </a:r>
            <a:endParaRPr lang="en-US" sz="3000" dirty="0"/>
          </a:p>
        </p:txBody>
      </p:sp>
      <p:sp>
        <p:nvSpPr>
          <p:cNvPr id="4" name="Text 2"/>
          <p:cNvSpPr/>
          <p:nvPr/>
        </p:nvSpPr>
        <p:spPr>
          <a:xfrm>
            <a:off x="548640" y="1463040"/>
            <a:ext cx="5120640" cy="1554480"/>
          </a:xfrm>
          <a:prstGeom prst="rect">
            <a:avLst/>
          </a:prstGeom>
          <a:noFill/>
          <a:ln/>
        </p:spPr>
        <p:txBody>
          <a:bodyPr wrap="square" lIns="0" tIns="0" rIns="0" bIns="0" rtlCol="0" anchor="ctr"/>
          <a:lstStyle/>
          <a:p>
            <a:pPr indent="0" marL="0">
              <a:lnSpc>
                <a:spcPct val="130000"/>
              </a:lnSpc>
              <a:buNone/>
            </a:pPr>
            <a:r>
              <a:rPr lang="en-US" sz="1450" dirty="0">
                <a:solidFill>
                  <a:srgbClr val="16233A"/>
                </a:solidFill>
                <a:latin typeface="Calibri" pitchFamily="34" charset="0"/>
                <a:ea typeface="Calibri" pitchFamily="34" charset="-122"/>
                <a:cs typeface="Calibri" pitchFamily="34" charset="-120"/>
              </a:rPr>
              <a:t>Plan researches the codebase, asks clarifying questions, then drafts a step-by-step plan as an editable document — you approve or edit it before Agent executes a single line.</a:t>
            </a:r>
            <a:endParaRPr lang="en-US" sz="1450" dirty="0"/>
          </a:p>
        </p:txBody>
      </p:sp>
      <p:sp>
        <p:nvSpPr>
          <p:cNvPr id="5" name="Text 3"/>
          <p:cNvSpPr/>
          <p:nvPr/>
        </p:nvSpPr>
        <p:spPr>
          <a:xfrm>
            <a:off x="548640" y="3246120"/>
            <a:ext cx="5120640" cy="2377440"/>
          </a:xfrm>
          <a:prstGeom prst="rect">
            <a:avLst/>
          </a:prstGeom>
          <a:noFill/>
          <a:ln/>
        </p:spPr>
        <p:txBody>
          <a:bodyPr wrap="square" lIns="0" tIns="0" rIns="0" bIns="0" rtlCol="0" anchor="ctr"/>
          <a:lstStyle/>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Best for anything cross-file or ambiguous — like turning a notebook script into a CLI</a:t>
            </a:r>
            <a:endParaRPr lang="en-US" sz="1350" dirty="0"/>
          </a:p>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Edit the plan directly — reorder, cut a step, add an acceptance check</a:t>
            </a:r>
            <a:endParaRPr lang="en-US" sz="1350" dirty="0"/>
          </a:p>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Once approved, Agent works through it step by step and can verify each milestone</a:t>
            </a:r>
            <a:endParaRPr lang="en-US" sz="1350" dirty="0"/>
          </a:p>
        </p:txBody>
      </p:sp>
      <p:sp>
        <p:nvSpPr>
          <p:cNvPr id="6" name="Shape 4"/>
          <p:cNvSpPr/>
          <p:nvPr/>
        </p:nvSpPr>
        <p:spPr>
          <a:xfrm>
            <a:off x="5989320" y="1463040"/>
            <a:ext cx="5623560" cy="4480560"/>
          </a:xfrm>
          <a:prstGeom prst="roundRect">
            <a:avLst>
              <a:gd name="adj" fmla="val 1633"/>
            </a:avLst>
          </a:prstGeom>
          <a:solidFill>
            <a:srgbClr val="0B1F3A"/>
          </a:solidFill>
          <a:ln/>
          <a:effectLst>
            <a:outerShdw sx="100000" sy="100000" kx="0" ky="0" algn="bl" rotWithShape="0" blurRad="76200" dist="25400" dir="5400000">
              <a:srgbClr val="0B1F3A">
                <a:alpha val="18000"/>
              </a:srgbClr>
            </a:outerShdw>
          </a:effectLst>
        </p:spPr>
      </p:sp>
      <p:sp>
        <p:nvSpPr>
          <p:cNvPr id="7" name="Text 5"/>
          <p:cNvSpPr/>
          <p:nvPr/>
        </p:nvSpPr>
        <p:spPr>
          <a:xfrm>
            <a:off x="6245352" y="1645920"/>
            <a:ext cx="5111496" cy="4114800"/>
          </a:xfrm>
          <a:prstGeom prst="rect">
            <a:avLst/>
          </a:prstGeom>
          <a:noFill/>
          <a:ln/>
        </p:spPr>
        <p:txBody>
          <a:bodyPr wrap="square" lIns="0" tIns="0" rIns="0" bIns="0" rtlCol="0" anchor="t"/>
          <a:lstStyle/>
          <a:p>
            <a:pPr indent="0" marL="0">
              <a:lnSpc>
                <a:spcPct val="125000"/>
              </a:lnSpc>
              <a:buNone/>
            </a:pPr>
            <a:r>
              <a:rPr lang="en-US" sz="1200" b="1" dirty="0">
                <a:solidFill>
                  <a:srgbClr val="F2A541"/>
                </a:solidFill>
                <a:latin typeface="Courier New" pitchFamily="34" charset="0"/>
                <a:ea typeface="Courier New" pitchFamily="34" charset="-122"/>
                <a:cs typeface="Courier New" pitchFamily="34" charset="-120"/>
              </a:rPr>
              <a:t>Plan: Convert afd_profile.py to a CLI</a:t>
            </a:r>
            <a:endParaRPr lang="en-US" sz="1200" dirty="0"/>
          </a:p>
          <a:p>
            <a:pPr indent="0" marL="0">
              <a:lnSpc>
                <a:spcPct val="125000"/>
              </a:lnSpc>
              <a:buNone/>
            </a:pPr>
            <a:endParaRPr lang="en-US" sz="1200" dirty="0"/>
          </a:p>
          <a:p>
            <a:pPr indent="0" marL="0">
              <a:lnSpc>
                <a:spcPct val="125000"/>
              </a:lnSpc>
              <a:buNone/>
            </a:pPr>
            <a:r>
              <a:rPr lang="en-US" sz="1200" dirty="0">
                <a:solidFill>
                  <a:srgbClr val="8FA6BE"/>
                </a:solidFill>
                <a:latin typeface="Courier New" pitchFamily="34" charset="0"/>
                <a:ea typeface="Courier New" pitchFamily="34" charset="-122"/>
                <a:cs typeface="Courier New" pitchFamily="34" charset="-120"/>
              </a:rPr>
              <a:t>## Clarifying questions</a:t>
            </a:r>
            <a:endParaRPr lang="en-US" sz="1200" dirty="0"/>
          </a:p>
          <a:p>
            <a:pPr indent="0" marL="0">
              <a:lnSpc>
                <a:spcPct val="125000"/>
              </a:lnSpc>
              <a:buNone/>
            </a:pPr>
            <a:r>
              <a:rPr lang="en-US" sz="1200" dirty="0">
                <a:solidFill>
                  <a:srgbClr val="D7E6F5"/>
                </a:solidFill>
                <a:latin typeface="Courier New" pitchFamily="34" charset="0"/>
                <a:ea typeface="Courier New" pitchFamily="34" charset="-122"/>
                <a:cs typeface="Courier New" pitchFamily="34" charset="-120"/>
              </a:rPr>
              <a:t>- Support S3 input too? → No, local</a:t>
            </a:r>
            <a:endParaRPr lang="en-US" sz="1200" dirty="0"/>
          </a:p>
          <a:p>
            <a:pPr indent="0" marL="0">
              <a:lnSpc>
                <a:spcPct val="125000"/>
              </a:lnSpc>
              <a:buNone/>
            </a:pPr>
            <a:r>
              <a:rPr lang="en-US" sz="1200" dirty="0">
                <a:solidFill>
                  <a:srgbClr val="D7E6F5"/>
                </a:solidFill>
                <a:latin typeface="Courier New" pitchFamily="34" charset="0"/>
                <a:ea typeface="Courier New" pitchFamily="34" charset="-122"/>
                <a:cs typeface="Courier New" pitchFamily="34" charset="-120"/>
              </a:rPr>
              <a:t>  CSV only for v1.</a:t>
            </a:r>
            <a:endParaRPr lang="en-US" sz="1200" dirty="0"/>
          </a:p>
          <a:p>
            <a:pPr indent="0" marL="0">
              <a:lnSpc>
                <a:spcPct val="125000"/>
              </a:lnSpc>
              <a:buNone/>
            </a:pPr>
            <a:r>
              <a:rPr lang="en-US" sz="1200" dirty="0">
                <a:solidFill>
                  <a:srgbClr val="D7E6F5"/>
                </a:solidFill>
                <a:latin typeface="Courier New" pitchFamily="34" charset="0"/>
                <a:ea typeface="Courier New" pitchFamily="34" charset="-122"/>
                <a:cs typeface="Courier New" pitchFamily="34" charset="-120"/>
              </a:rPr>
              <a:t>- Keep the Glue job entrypoint? → No.</a:t>
            </a:r>
            <a:endParaRPr lang="en-US" sz="1200" dirty="0"/>
          </a:p>
          <a:p>
            <a:pPr indent="0" marL="0">
              <a:lnSpc>
                <a:spcPct val="125000"/>
              </a:lnSpc>
              <a:buNone/>
            </a:pPr>
            <a:endParaRPr lang="en-US" sz="1200" dirty="0"/>
          </a:p>
          <a:p>
            <a:pPr indent="0" marL="0">
              <a:lnSpc>
                <a:spcPct val="125000"/>
              </a:lnSpc>
              <a:buNone/>
            </a:pPr>
            <a:r>
              <a:rPr lang="en-US" sz="1200" dirty="0">
                <a:solidFill>
                  <a:srgbClr val="8FA6BE"/>
                </a:solidFill>
                <a:latin typeface="Courier New" pitchFamily="34" charset="0"/>
                <a:ea typeface="Courier New" pitchFamily="34" charset="-122"/>
                <a:cs typeface="Courier New" pitchFamily="34" charset="-120"/>
              </a:rPr>
              <a:t>## Steps</a:t>
            </a:r>
            <a:endParaRPr lang="en-US" sz="1200" dirty="0"/>
          </a:p>
          <a:p>
            <a:pPr indent="0" marL="0">
              <a:lnSpc>
                <a:spcPct val="125000"/>
              </a:lnSpc>
              <a:buNone/>
            </a:pPr>
            <a:r>
              <a:rPr lang="en-US" sz="1200" dirty="0">
                <a:solidFill>
                  <a:srgbClr val="6FCF97"/>
                </a:solidFill>
                <a:latin typeface="Courier New" pitchFamily="34" charset="0"/>
                <a:ea typeface="Courier New" pitchFamily="34" charset="-122"/>
                <a:cs typeface="Courier New" pitchFamily="34" charset="-120"/>
              </a:rPr>
              <a:t>- [ ] Add cli.py (argparse: --input,</a:t>
            </a:r>
            <a:endParaRPr lang="en-US" sz="1200" dirty="0"/>
          </a:p>
          <a:p>
            <a:pPr indent="0" marL="0">
              <a:lnSpc>
                <a:spcPct val="125000"/>
              </a:lnSpc>
              <a:buNone/>
            </a:pPr>
            <a:r>
              <a:rPr lang="en-US" sz="1200" dirty="0">
                <a:solidFill>
                  <a:srgbClr val="6FCF97"/>
                </a:solidFill>
                <a:latin typeface="Courier New" pitchFamily="34" charset="0"/>
                <a:ea typeface="Courier New" pitchFamily="34" charset="-122"/>
                <a:cs typeface="Courier New" pitchFamily="34" charset="-120"/>
              </a:rPr>
              <a:t>      --label, --timestamp, --output)</a:t>
            </a:r>
            <a:endParaRPr lang="en-US" sz="1200" dirty="0"/>
          </a:p>
          <a:p>
            <a:pPr indent="0" marL="0">
              <a:lnSpc>
                <a:spcPct val="125000"/>
              </a:lnSpc>
              <a:buNone/>
            </a:pPr>
            <a:r>
              <a:rPr lang="en-US" sz="1200" dirty="0">
                <a:solidFill>
                  <a:srgbClr val="6FCF97"/>
                </a:solidFill>
                <a:latin typeface="Courier New" pitchFamily="34" charset="0"/>
                <a:ea typeface="Courier New" pitchFamily="34" charset="-122"/>
                <a:cs typeface="Courier New" pitchFamily="34" charset="-120"/>
              </a:rPr>
              <a:t>- [ ] Move Jinja2 templates into the</a:t>
            </a:r>
            <a:endParaRPr lang="en-US" sz="1200" dirty="0"/>
          </a:p>
          <a:p>
            <a:pPr indent="0" marL="0">
              <a:lnSpc>
                <a:spcPct val="125000"/>
              </a:lnSpc>
              <a:buNone/>
            </a:pPr>
            <a:r>
              <a:rPr lang="en-US" sz="1200" dirty="0">
                <a:solidFill>
                  <a:srgbClr val="6FCF97"/>
                </a:solidFill>
                <a:latin typeface="Courier New" pitchFamily="34" charset="0"/>
                <a:ea typeface="Courier New" pitchFamily="34" charset="-122"/>
                <a:cs typeface="Courier New" pitchFamily="34" charset="-120"/>
              </a:rPr>
              <a:t>      package, drop the URL fetch</a:t>
            </a:r>
            <a:endParaRPr lang="en-US" sz="1200" dirty="0"/>
          </a:p>
          <a:p>
            <a:pPr indent="0" marL="0">
              <a:lnSpc>
                <a:spcPct val="125000"/>
              </a:lnSpc>
              <a:buNone/>
            </a:pPr>
            <a:r>
              <a:rPr lang="en-US" sz="1200" dirty="0">
                <a:solidFill>
                  <a:srgbClr val="6FCF97"/>
                </a:solidFill>
                <a:latin typeface="Courier New" pitchFamily="34" charset="0"/>
                <a:ea typeface="Courier New" pitchFamily="34" charset="-122"/>
                <a:cs typeface="Courier New" pitchFamily="34" charset="-120"/>
              </a:rPr>
              <a:t>- [ ] Replace DataFrame.append() with</a:t>
            </a:r>
            <a:endParaRPr lang="en-US" sz="1200" dirty="0"/>
          </a:p>
          <a:p>
            <a:pPr indent="0" marL="0">
              <a:lnSpc>
                <a:spcPct val="125000"/>
              </a:lnSpc>
              <a:buNone/>
            </a:pPr>
            <a:r>
              <a:rPr lang="en-US" sz="1200" dirty="0">
                <a:solidFill>
                  <a:srgbClr val="6FCF97"/>
                </a:solidFill>
                <a:latin typeface="Courier New" pitchFamily="34" charset="0"/>
                <a:ea typeface="Courier New" pitchFamily="34" charset="-122"/>
                <a:cs typeface="Courier New" pitchFamily="34" charset="-120"/>
              </a:rPr>
              <a:t>      pd.concat() (pandas 2.0 compat)</a:t>
            </a:r>
            <a:endParaRPr lang="en-US" sz="1200" dirty="0"/>
          </a:p>
          <a:p>
            <a:pPr indent="0" marL="0">
              <a:lnSpc>
                <a:spcPct val="125000"/>
              </a:lnSpc>
              <a:buNone/>
            </a:pPr>
            <a:r>
              <a:rPr lang="en-US" sz="1200" dirty="0">
                <a:solidFill>
                  <a:srgbClr val="6FCF97"/>
                </a:solidFill>
                <a:latin typeface="Courier New" pitchFamily="34" charset="0"/>
                <a:ea typeface="Courier New" pitchFamily="34" charset="-122"/>
                <a:cs typeface="Courier New" pitchFamily="34" charset="-120"/>
              </a:rPr>
              <a:t>- [ ] Add tests for get_overview()</a:t>
            </a:r>
            <a:endParaRPr lang="en-US" sz="1200" dirty="0"/>
          </a:p>
        </p:txBody>
      </p:sp>
      <p:sp>
        <p:nvSpPr>
          <p:cNvPr id="8" name="Text 6"/>
          <p:cNvSpPr/>
          <p:nvPr/>
        </p:nvSpPr>
        <p:spPr>
          <a:xfrm>
            <a:off x="548640" y="6537960"/>
            <a:ext cx="5486400" cy="274320"/>
          </a:xfrm>
          <a:prstGeom prst="rect">
            <a:avLst/>
          </a:prstGeom>
          <a:noFill/>
          <a:ln/>
        </p:spPr>
        <p:txBody>
          <a:bodyPr wrap="square" lIns="0" tIns="0" rIns="0" bIns="0" rtlCol="0" anchor="ctr"/>
          <a:lstStyle/>
          <a:p>
            <a:pPr indent="0" marL="0">
              <a:buNone/>
            </a:pPr>
            <a:r>
              <a:rPr lang="en-US" sz="900" dirty="0">
                <a:solidFill>
                  <a:srgbClr val="9AA7B5"/>
                </a:solidFill>
                <a:latin typeface="Calibri" pitchFamily="34" charset="0"/>
                <a:ea typeface="Calibri" pitchFamily="34" charset="-122"/>
                <a:cs typeface="Calibri" pitchFamily="34" charset="-120"/>
              </a:rPr>
              <a:t>Cursor for Engineers</a:t>
            </a:r>
            <a:endParaRPr lang="en-US" sz="900" dirty="0"/>
          </a:p>
        </p:txBody>
      </p:sp>
      <p:sp>
        <p:nvSpPr>
          <p:cNvPr id="9" name="Text 7"/>
          <p:cNvSpPr/>
          <p:nvPr/>
        </p:nvSpPr>
        <p:spPr>
          <a:xfrm>
            <a:off x="11338560" y="6537960"/>
            <a:ext cx="365760" cy="274320"/>
          </a:xfrm>
          <a:prstGeom prst="rect">
            <a:avLst/>
          </a:prstGeom>
          <a:noFill/>
          <a:ln/>
        </p:spPr>
        <p:txBody>
          <a:bodyPr wrap="square" lIns="0" tIns="0" rIns="0" bIns="0" rtlCol="0" anchor="ctr"/>
          <a:lstStyle/>
          <a:p>
            <a:pPr algn="r" indent="0" marL="0">
              <a:buNone/>
            </a:pPr>
            <a:r>
              <a:rPr lang="en-US" sz="900" dirty="0">
                <a:solidFill>
                  <a:srgbClr val="9AA7B5"/>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lIns="0" tIns="0" rIns="0" bIns="0" rtlCol="0" anchor="ctr"/>
          <a:lstStyle/>
          <a:p>
            <a:pPr indent="0" marL="0">
              <a:buNone/>
            </a:pPr>
            <a:r>
              <a:rPr lang="en-US" sz="1300" b="1" spc="200" kern="0" dirty="0">
                <a:solidFill>
                  <a:srgbClr val="3282B8"/>
                </a:solidFill>
                <a:latin typeface="Calibri" pitchFamily="34" charset="0"/>
                <a:ea typeface="Calibri" pitchFamily="34" charset="-122"/>
                <a:cs typeface="Calibri" pitchFamily="34" charset="-120"/>
              </a:rPr>
              <a:t>BEFORE YOU BUILD</a:t>
            </a:r>
            <a:endParaRPr lang="en-US" sz="1300" dirty="0"/>
          </a:p>
        </p:txBody>
      </p:sp>
      <p:sp>
        <p:nvSpPr>
          <p:cNvPr id="3" name="Text 1"/>
          <p:cNvSpPr/>
          <p:nvPr/>
        </p:nvSpPr>
        <p:spPr>
          <a:xfrm>
            <a:off x="548640" y="731520"/>
            <a:ext cx="11064240" cy="822960"/>
          </a:xfrm>
          <a:prstGeom prst="rect">
            <a:avLst/>
          </a:prstGeom>
          <a:noFill/>
          <a:ln/>
        </p:spPr>
        <p:txBody>
          <a:bodyPr wrap="square" lIns="0" tIns="0" rIns="0" bIns="0" rtlCol="0" anchor="ctr"/>
          <a:lstStyle/>
          <a:p>
            <a:pPr indent="0" marL="0">
              <a:buNone/>
            </a:pPr>
            <a:r>
              <a:rPr lang="en-US" sz="3000" b="1" dirty="0">
                <a:solidFill>
                  <a:srgbClr val="16233A"/>
                </a:solidFill>
                <a:latin typeface="Cambria" pitchFamily="34" charset="0"/>
                <a:ea typeface="Cambria" pitchFamily="34" charset="-122"/>
                <a:cs typeface="Cambria" pitchFamily="34" charset="-120"/>
              </a:rPr>
              <a:t>Writing a spec: ground the Agent before it writes code</a:t>
            </a:r>
            <a:endParaRPr lang="en-US" sz="3000" dirty="0"/>
          </a:p>
        </p:txBody>
      </p:sp>
      <p:sp>
        <p:nvSpPr>
          <p:cNvPr id="4" name="Text 2"/>
          <p:cNvSpPr/>
          <p:nvPr/>
        </p:nvSpPr>
        <p:spPr>
          <a:xfrm>
            <a:off x="548640" y="1417320"/>
            <a:ext cx="5120640" cy="1463040"/>
          </a:xfrm>
          <a:prstGeom prst="rect">
            <a:avLst/>
          </a:prstGeom>
          <a:noFill/>
          <a:ln/>
        </p:spPr>
        <p:txBody>
          <a:bodyPr wrap="square" lIns="0" tIns="0" rIns="0" bIns="0" rtlCol="0" anchor="ctr"/>
          <a:lstStyle/>
          <a:p>
            <a:pPr indent="0" marL="0">
              <a:lnSpc>
                <a:spcPct val="130000"/>
              </a:lnSpc>
              <a:buNone/>
            </a:pPr>
            <a:r>
              <a:rPr lang="en-US" sz="1450" dirty="0">
                <a:solidFill>
                  <a:srgbClr val="16233A"/>
                </a:solidFill>
                <a:latin typeface="Calibri" pitchFamily="34" charset="0"/>
                <a:ea typeface="Calibri" pitchFamily="34" charset="-122"/>
                <a:cs typeface="Calibri" pitchFamily="34" charset="-120"/>
              </a:rPr>
              <a:t>For anything nontrivial, write a short spec first — problem, goals, non-goals, acceptance criteria. Plan mode can draft one for you, or you hand it to the Agent as grounding.</a:t>
            </a:r>
            <a:endParaRPr lang="en-US" sz="1450" dirty="0"/>
          </a:p>
        </p:txBody>
      </p:sp>
      <p:sp>
        <p:nvSpPr>
          <p:cNvPr id="5" name="Text 3"/>
          <p:cNvSpPr/>
          <p:nvPr/>
        </p:nvSpPr>
        <p:spPr>
          <a:xfrm>
            <a:off x="548640" y="3108960"/>
            <a:ext cx="5120640" cy="2377440"/>
          </a:xfrm>
          <a:prstGeom prst="rect">
            <a:avLst/>
          </a:prstGeom>
          <a:noFill/>
          <a:ln/>
        </p:spPr>
        <p:txBody>
          <a:bodyPr wrap="square" lIns="0" tIns="0" rIns="0" bIns="0" rtlCol="0" anchor="ctr"/>
          <a:lstStyle/>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Keep it short — a few sentences per section, not a full PRD</a:t>
            </a:r>
            <a:endParaRPr lang="en-US" sz="1350" dirty="0"/>
          </a:p>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Save it in /specs and @ reference it when you prompt the Agent</a:t>
            </a:r>
            <a:endParaRPr lang="en-US" sz="1350" dirty="0"/>
          </a:p>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It doubles as documentation for whoever reviews the PR</a:t>
            </a:r>
            <a:endParaRPr lang="en-US" sz="1350" dirty="0"/>
          </a:p>
        </p:txBody>
      </p:sp>
      <p:sp>
        <p:nvSpPr>
          <p:cNvPr id="6" name="Shape 4"/>
          <p:cNvSpPr/>
          <p:nvPr/>
        </p:nvSpPr>
        <p:spPr>
          <a:xfrm>
            <a:off x="5989320" y="1417320"/>
            <a:ext cx="5623560" cy="4572000"/>
          </a:xfrm>
          <a:prstGeom prst="roundRect">
            <a:avLst>
              <a:gd name="adj" fmla="val 1600"/>
            </a:avLst>
          </a:prstGeom>
          <a:solidFill>
            <a:srgbClr val="0B1F3A"/>
          </a:solidFill>
          <a:ln/>
          <a:effectLst>
            <a:outerShdw sx="100000" sy="100000" kx="0" ky="0" algn="bl" rotWithShape="0" blurRad="76200" dist="25400" dir="5400000">
              <a:srgbClr val="0B1F3A">
                <a:alpha val="18000"/>
              </a:srgbClr>
            </a:outerShdw>
          </a:effectLst>
        </p:spPr>
      </p:sp>
      <p:sp>
        <p:nvSpPr>
          <p:cNvPr id="7" name="Text 5"/>
          <p:cNvSpPr/>
          <p:nvPr/>
        </p:nvSpPr>
        <p:spPr>
          <a:xfrm>
            <a:off x="6245352" y="1600200"/>
            <a:ext cx="5111496" cy="4206240"/>
          </a:xfrm>
          <a:prstGeom prst="rect">
            <a:avLst/>
          </a:prstGeom>
          <a:noFill/>
          <a:ln/>
        </p:spPr>
        <p:txBody>
          <a:bodyPr wrap="square" lIns="0" tIns="0" rIns="0" bIns="0" rtlCol="0" anchor="t"/>
          <a:lstStyle/>
          <a:p>
            <a:pPr indent="0" marL="0">
              <a:lnSpc>
                <a:spcPct val="125000"/>
              </a:lnSpc>
              <a:buNone/>
            </a:pPr>
            <a:r>
              <a:rPr lang="en-US" sz="1200" b="1" dirty="0">
                <a:solidFill>
                  <a:srgbClr val="F2A541"/>
                </a:solidFill>
                <a:latin typeface="Courier New" pitchFamily="34" charset="0"/>
                <a:ea typeface="Courier New" pitchFamily="34" charset="-122"/>
                <a:cs typeface="Courier New" pitchFamily="34" charset="-120"/>
              </a:rPr>
              <a:t>specs/json_output_mode.md</a:t>
            </a:r>
            <a:endParaRPr lang="en-US" sz="1200" dirty="0"/>
          </a:p>
          <a:p>
            <a:pPr indent="0" marL="0">
              <a:lnSpc>
                <a:spcPct val="125000"/>
              </a:lnSpc>
              <a:buNone/>
            </a:pPr>
            <a:endParaRPr lang="en-US" sz="1200" dirty="0"/>
          </a:p>
          <a:p>
            <a:pPr indent="0" marL="0">
              <a:lnSpc>
                <a:spcPct val="125000"/>
              </a:lnSpc>
              <a:buNone/>
            </a:pPr>
            <a:r>
              <a:rPr lang="en-US" sz="1200" dirty="0">
                <a:solidFill>
                  <a:srgbClr val="8FA6BE"/>
                </a:solidFill>
                <a:latin typeface="Courier New" pitchFamily="34" charset="0"/>
                <a:ea typeface="Courier New" pitchFamily="34" charset="-122"/>
                <a:cs typeface="Courier New" pitchFamily="34" charset="-120"/>
              </a:rPr>
              <a:t>## Problem</a:t>
            </a:r>
            <a:endParaRPr lang="en-US" sz="1200" dirty="0"/>
          </a:p>
          <a:p>
            <a:pPr indent="0" marL="0">
              <a:lnSpc>
                <a:spcPct val="125000"/>
              </a:lnSpc>
              <a:buNone/>
            </a:pPr>
            <a:r>
              <a:rPr lang="en-US" sz="1200" dirty="0">
                <a:solidFill>
                  <a:srgbClr val="D7E6F5"/>
                </a:solidFill>
                <a:latin typeface="Courier New" pitchFamily="34" charset="0"/>
                <a:ea typeface="Courier New" pitchFamily="34" charset="-122"/>
                <a:cs typeface="Courier New" pitchFamily="34" charset="-120"/>
              </a:rPr>
              <a:t>Report only renders as HTML; teams</a:t>
            </a:r>
            <a:endParaRPr lang="en-US" sz="1200" dirty="0"/>
          </a:p>
          <a:p>
            <a:pPr indent="0" marL="0">
              <a:lnSpc>
                <a:spcPct val="125000"/>
              </a:lnSpc>
              <a:buNone/>
            </a:pPr>
            <a:r>
              <a:rPr lang="en-US" sz="1200" dirty="0">
                <a:solidFill>
                  <a:srgbClr val="D7E6F5"/>
                </a:solidFill>
                <a:latin typeface="Courier New" pitchFamily="34" charset="0"/>
                <a:ea typeface="Courier New" pitchFamily="34" charset="-122"/>
                <a:cs typeface="Courier New" pitchFamily="34" charset="-120"/>
              </a:rPr>
              <a:t>that want to gate CI on data-quality</a:t>
            </a:r>
            <a:endParaRPr lang="en-US" sz="1200" dirty="0"/>
          </a:p>
          <a:p>
            <a:pPr indent="0" marL="0">
              <a:lnSpc>
                <a:spcPct val="125000"/>
              </a:lnSpc>
              <a:buNone/>
            </a:pPr>
            <a:r>
              <a:rPr lang="en-US" sz="1200" dirty="0">
                <a:solidFill>
                  <a:srgbClr val="D7E6F5"/>
                </a:solidFill>
                <a:latin typeface="Courier New" pitchFamily="34" charset="0"/>
                <a:ea typeface="Courier New" pitchFamily="34" charset="-122"/>
                <a:cs typeface="Courier New" pitchFamily="34" charset="-120"/>
              </a:rPr>
              <a:t>thresholds have to scrape it.</a:t>
            </a:r>
            <a:endParaRPr lang="en-US" sz="1200" dirty="0"/>
          </a:p>
          <a:p>
            <a:pPr indent="0" marL="0">
              <a:lnSpc>
                <a:spcPct val="125000"/>
              </a:lnSpc>
              <a:buNone/>
            </a:pPr>
            <a:endParaRPr lang="en-US" sz="1200" dirty="0"/>
          </a:p>
          <a:p>
            <a:pPr indent="0" marL="0">
              <a:lnSpc>
                <a:spcPct val="125000"/>
              </a:lnSpc>
              <a:buNone/>
            </a:pPr>
            <a:r>
              <a:rPr lang="en-US" sz="1200" dirty="0">
                <a:solidFill>
                  <a:srgbClr val="8FA6BE"/>
                </a:solidFill>
                <a:latin typeface="Courier New" pitchFamily="34" charset="0"/>
                <a:ea typeface="Courier New" pitchFamily="34" charset="-122"/>
                <a:cs typeface="Courier New" pitchFamily="34" charset="-120"/>
              </a:rPr>
              <a:t>## Goals</a:t>
            </a:r>
            <a:endParaRPr lang="en-US" sz="1200" dirty="0"/>
          </a:p>
          <a:p>
            <a:pPr indent="0" marL="0">
              <a:lnSpc>
                <a:spcPct val="125000"/>
              </a:lnSpc>
              <a:buNone/>
            </a:pPr>
            <a:r>
              <a:rPr lang="en-US" sz="1200" dirty="0">
                <a:solidFill>
                  <a:srgbClr val="D7E6F5"/>
                </a:solidFill>
                <a:latin typeface="Courier New" pitchFamily="34" charset="0"/>
                <a:ea typeface="Courier New" pitchFamily="34" charset="-122"/>
                <a:cs typeface="Courier New" pitchFamily="34" charset="-120"/>
              </a:rPr>
              <a:t>- Add a --format json flag</a:t>
            </a:r>
            <a:endParaRPr lang="en-US" sz="1200" dirty="0"/>
          </a:p>
          <a:p>
            <a:pPr indent="0" marL="0">
              <a:lnSpc>
                <a:spcPct val="125000"/>
              </a:lnSpc>
              <a:buNone/>
            </a:pPr>
            <a:r>
              <a:rPr lang="en-US" sz="1200" dirty="0">
                <a:solidFill>
                  <a:srgbClr val="D7E6F5"/>
                </a:solidFill>
                <a:latin typeface="Courier New" pitchFamily="34" charset="0"/>
                <a:ea typeface="Courier New" pitchFamily="34" charset="-122"/>
                <a:cs typeface="Courier New" pitchFamily="34" charset="-120"/>
              </a:rPr>
              <a:t>- Same stats as the HTML report,</a:t>
            </a:r>
            <a:endParaRPr lang="en-US" sz="1200" dirty="0"/>
          </a:p>
          <a:p>
            <a:pPr indent="0" marL="0">
              <a:lnSpc>
                <a:spcPct val="125000"/>
              </a:lnSpc>
              <a:buNone/>
            </a:pPr>
            <a:r>
              <a:rPr lang="en-US" sz="1200" dirty="0">
                <a:solidFill>
                  <a:srgbClr val="D7E6F5"/>
                </a:solidFill>
                <a:latin typeface="Courier New" pitchFamily="34" charset="0"/>
                <a:ea typeface="Courier New" pitchFamily="34" charset="-122"/>
                <a:cs typeface="Courier New" pitchFamily="34" charset="-120"/>
              </a:rPr>
              <a:t>  machine-readable</a:t>
            </a:r>
            <a:endParaRPr lang="en-US" sz="1200" dirty="0"/>
          </a:p>
          <a:p>
            <a:pPr indent="0" marL="0">
              <a:lnSpc>
                <a:spcPct val="125000"/>
              </a:lnSpc>
              <a:buNone/>
            </a:pPr>
            <a:endParaRPr lang="en-US" sz="1200" dirty="0"/>
          </a:p>
          <a:p>
            <a:pPr indent="0" marL="0">
              <a:lnSpc>
                <a:spcPct val="125000"/>
              </a:lnSpc>
              <a:buNone/>
            </a:pPr>
            <a:r>
              <a:rPr lang="en-US" sz="1200" dirty="0">
                <a:solidFill>
                  <a:srgbClr val="8FA6BE"/>
                </a:solidFill>
                <a:latin typeface="Courier New" pitchFamily="34" charset="0"/>
                <a:ea typeface="Courier New" pitchFamily="34" charset="-122"/>
                <a:cs typeface="Courier New" pitchFamily="34" charset="-120"/>
              </a:rPr>
              <a:t>## Non-goals</a:t>
            </a:r>
            <a:endParaRPr lang="en-US" sz="1200" dirty="0"/>
          </a:p>
          <a:p>
            <a:pPr indent="0" marL="0">
              <a:lnSpc>
                <a:spcPct val="125000"/>
              </a:lnSpc>
              <a:buNone/>
            </a:pPr>
            <a:r>
              <a:rPr lang="en-US" sz="1200" dirty="0">
                <a:solidFill>
                  <a:srgbClr val="D7E6F5"/>
                </a:solidFill>
                <a:latin typeface="Courier New" pitchFamily="34" charset="0"/>
                <a:ea typeface="Courier New" pitchFamily="34" charset="-122"/>
                <a:cs typeface="Courier New" pitchFamily="34" charset="-120"/>
              </a:rPr>
              <a:t>- Not deprecating the HTML report</a:t>
            </a:r>
            <a:endParaRPr lang="en-US" sz="1200" dirty="0"/>
          </a:p>
          <a:p>
            <a:pPr indent="0" marL="0">
              <a:lnSpc>
                <a:spcPct val="125000"/>
              </a:lnSpc>
              <a:buNone/>
            </a:pPr>
            <a:endParaRPr lang="en-US" sz="1200" dirty="0"/>
          </a:p>
          <a:p>
            <a:pPr indent="0" marL="0">
              <a:lnSpc>
                <a:spcPct val="125000"/>
              </a:lnSpc>
              <a:buNone/>
            </a:pPr>
            <a:r>
              <a:rPr lang="en-US" sz="1200" dirty="0">
                <a:solidFill>
                  <a:srgbClr val="8FA6BE"/>
                </a:solidFill>
                <a:latin typeface="Courier New" pitchFamily="34" charset="0"/>
                <a:ea typeface="Courier New" pitchFamily="34" charset="-122"/>
                <a:cs typeface="Courier New" pitchFamily="34" charset="-120"/>
              </a:rPr>
              <a:t>## Acceptance criteria</a:t>
            </a:r>
            <a:endParaRPr lang="en-US" sz="1200" dirty="0"/>
          </a:p>
          <a:p>
            <a:pPr indent="0" marL="0">
              <a:lnSpc>
                <a:spcPct val="125000"/>
              </a:lnSpc>
              <a:buNone/>
            </a:pPr>
            <a:r>
              <a:rPr lang="en-US" sz="1200" dirty="0">
                <a:solidFill>
                  <a:srgbClr val="D7E6F5"/>
                </a:solidFill>
                <a:latin typeface="Courier New" pitchFamily="34" charset="0"/>
                <a:ea typeface="Courier New" pitchFamily="34" charset="-122"/>
                <a:cs typeface="Courier New" pitchFamily="34" charset="-120"/>
              </a:rPr>
              <a:t>- pytest passes on test_json_output.py</a:t>
            </a:r>
            <a:endParaRPr lang="en-US" sz="1200" dirty="0"/>
          </a:p>
        </p:txBody>
      </p:sp>
      <p:sp>
        <p:nvSpPr>
          <p:cNvPr id="8" name="Text 6"/>
          <p:cNvSpPr/>
          <p:nvPr/>
        </p:nvSpPr>
        <p:spPr>
          <a:xfrm>
            <a:off x="548640" y="6537960"/>
            <a:ext cx="5486400" cy="274320"/>
          </a:xfrm>
          <a:prstGeom prst="rect">
            <a:avLst/>
          </a:prstGeom>
          <a:noFill/>
          <a:ln/>
        </p:spPr>
        <p:txBody>
          <a:bodyPr wrap="square" lIns="0" tIns="0" rIns="0" bIns="0" rtlCol="0" anchor="ctr"/>
          <a:lstStyle/>
          <a:p>
            <a:pPr indent="0" marL="0">
              <a:buNone/>
            </a:pPr>
            <a:r>
              <a:rPr lang="en-US" sz="900" dirty="0">
                <a:solidFill>
                  <a:srgbClr val="9AA7B5"/>
                </a:solidFill>
                <a:latin typeface="Calibri" pitchFamily="34" charset="0"/>
                <a:ea typeface="Calibri" pitchFamily="34" charset="-122"/>
                <a:cs typeface="Calibri" pitchFamily="34" charset="-120"/>
              </a:rPr>
              <a:t>Cursor for Engineers</a:t>
            </a:r>
            <a:endParaRPr lang="en-US" sz="900" dirty="0"/>
          </a:p>
        </p:txBody>
      </p:sp>
      <p:sp>
        <p:nvSpPr>
          <p:cNvPr id="9" name="Text 7"/>
          <p:cNvSpPr/>
          <p:nvPr/>
        </p:nvSpPr>
        <p:spPr>
          <a:xfrm>
            <a:off x="11338560" y="6537960"/>
            <a:ext cx="365760" cy="274320"/>
          </a:xfrm>
          <a:prstGeom prst="rect">
            <a:avLst/>
          </a:prstGeom>
          <a:noFill/>
          <a:ln/>
        </p:spPr>
        <p:txBody>
          <a:bodyPr wrap="square" lIns="0" tIns="0" rIns="0" bIns="0" rtlCol="0" anchor="ctr"/>
          <a:lstStyle/>
          <a:p>
            <a:pPr algn="r" indent="0" marL="0">
              <a:buNone/>
            </a:pPr>
            <a:r>
              <a:rPr lang="en-US" sz="900" dirty="0">
                <a:solidFill>
                  <a:srgbClr val="9AA7B5"/>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lIns="0" tIns="0" rIns="0" bIns="0" rtlCol="0" anchor="ctr"/>
          <a:lstStyle/>
          <a:p>
            <a:pPr indent="0" marL="0">
              <a:buNone/>
            </a:pPr>
            <a:r>
              <a:rPr lang="en-US" sz="1300" b="1" spc="200" kern="0" dirty="0">
                <a:solidFill>
                  <a:srgbClr val="3282B8"/>
                </a:solidFill>
                <a:latin typeface="Calibri" pitchFamily="34" charset="0"/>
                <a:ea typeface="Calibri" pitchFamily="34" charset="-122"/>
                <a:cs typeface="Calibri" pitchFamily="34" charset="-120"/>
              </a:rPr>
              <a:t>SET THE STANDARD ONCE</a:t>
            </a:r>
            <a:endParaRPr lang="en-US" sz="1300" dirty="0"/>
          </a:p>
        </p:txBody>
      </p:sp>
      <p:sp>
        <p:nvSpPr>
          <p:cNvPr id="3" name="Text 1"/>
          <p:cNvSpPr/>
          <p:nvPr/>
        </p:nvSpPr>
        <p:spPr>
          <a:xfrm>
            <a:off x="548640" y="731520"/>
            <a:ext cx="11064240" cy="822960"/>
          </a:xfrm>
          <a:prstGeom prst="rect">
            <a:avLst/>
          </a:prstGeom>
          <a:noFill/>
          <a:ln/>
        </p:spPr>
        <p:txBody>
          <a:bodyPr wrap="square" lIns="0" tIns="0" rIns="0" bIns="0" rtlCol="0" anchor="ctr"/>
          <a:lstStyle/>
          <a:p>
            <a:pPr indent="0" marL="0">
              <a:buNone/>
            </a:pPr>
            <a:r>
              <a:rPr lang="en-US" sz="3000" b="1" dirty="0">
                <a:solidFill>
                  <a:srgbClr val="16233A"/>
                </a:solidFill>
                <a:latin typeface="Cambria" pitchFamily="34" charset="0"/>
                <a:ea typeface="Cambria" pitchFamily="34" charset="-122"/>
                <a:cs typeface="Cambria" pitchFamily="34" charset="-120"/>
              </a:rPr>
              <a:t>Three ways to shape how Cursor writes code</a:t>
            </a:r>
            <a:endParaRPr lang="en-US" sz="3000" dirty="0"/>
          </a:p>
        </p:txBody>
      </p:sp>
      <p:sp>
        <p:nvSpPr>
          <p:cNvPr id="4" name="Text 2"/>
          <p:cNvSpPr/>
          <p:nvPr/>
        </p:nvSpPr>
        <p:spPr>
          <a:xfrm>
            <a:off x="548640" y="1417320"/>
            <a:ext cx="11064240" cy="548640"/>
          </a:xfrm>
          <a:prstGeom prst="rect">
            <a:avLst/>
          </a:prstGeom>
          <a:noFill/>
          <a:ln/>
        </p:spPr>
        <p:txBody>
          <a:bodyPr wrap="square" lIns="0" tIns="0" rIns="0" bIns="0" rtlCol="0" anchor="ctr"/>
          <a:lstStyle/>
          <a:p>
            <a:pPr indent="0" marL="0">
              <a:buNone/>
            </a:pPr>
            <a:r>
              <a:rPr lang="en-US" sz="1450" dirty="0">
                <a:solidFill>
                  <a:srgbClr val="16233A"/>
                </a:solidFill>
                <a:latin typeface="Calibri" pitchFamily="34" charset="0"/>
                <a:ea typeface="Calibri" pitchFamily="34" charset="-122"/>
                <a:cs typeface="Calibri" pitchFamily="34" charset="-120"/>
              </a:rPr>
              <a:t>Rules, AGENTS.md, and Memory all steer behavior — the difference is who owns them, where they live, and how durable they are.</a:t>
            </a:r>
            <a:endParaRPr lang="en-US" sz="1450" dirty="0"/>
          </a:p>
        </p:txBody>
      </p:sp>
      <p:sp>
        <p:nvSpPr>
          <p:cNvPr id="5" name="Text 3"/>
          <p:cNvSpPr/>
          <p:nvPr/>
        </p:nvSpPr>
        <p:spPr>
          <a:xfrm>
            <a:off x="2286000" y="1856232"/>
            <a:ext cx="2651760" cy="320040"/>
          </a:xfrm>
          <a:prstGeom prst="rect">
            <a:avLst/>
          </a:prstGeom>
          <a:noFill/>
          <a:ln/>
        </p:spPr>
        <p:txBody>
          <a:bodyPr wrap="square" lIns="0" tIns="0" rIns="0" bIns="0" rtlCol="0" anchor="ctr"/>
          <a:lstStyle/>
          <a:p>
            <a:pPr indent="0" marL="0">
              <a:buNone/>
            </a:pPr>
            <a:r>
              <a:rPr lang="en-US" sz="1100" b="1" spc="100" kern="0" dirty="0">
                <a:solidFill>
                  <a:srgbClr val="3282B8"/>
                </a:solidFill>
                <a:latin typeface="Calibri" pitchFamily="34" charset="0"/>
                <a:ea typeface="Calibri" pitchFamily="34" charset="-122"/>
                <a:cs typeface="Calibri" pitchFamily="34" charset="-120"/>
              </a:rPr>
              <a:t>LIVES IN</a:t>
            </a:r>
            <a:endParaRPr lang="en-US" sz="1100" dirty="0"/>
          </a:p>
        </p:txBody>
      </p:sp>
      <p:sp>
        <p:nvSpPr>
          <p:cNvPr id="6" name="Text 4"/>
          <p:cNvSpPr/>
          <p:nvPr/>
        </p:nvSpPr>
        <p:spPr>
          <a:xfrm>
            <a:off x="5120640" y="1856232"/>
            <a:ext cx="2194560" cy="320040"/>
          </a:xfrm>
          <a:prstGeom prst="rect">
            <a:avLst/>
          </a:prstGeom>
          <a:noFill/>
          <a:ln/>
        </p:spPr>
        <p:txBody>
          <a:bodyPr wrap="square" lIns="0" tIns="0" rIns="0" bIns="0" rtlCol="0" anchor="ctr"/>
          <a:lstStyle/>
          <a:p>
            <a:pPr indent="0" marL="0">
              <a:buNone/>
            </a:pPr>
            <a:r>
              <a:rPr lang="en-US" sz="1100" b="1" spc="100" kern="0" dirty="0">
                <a:solidFill>
                  <a:srgbClr val="3282B8"/>
                </a:solidFill>
                <a:latin typeface="Calibri" pitchFamily="34" charset="0"/>
                <a:ea typeface="Calibri" pitchFamily="34" charset="-122"/>
                <a:cs typeface="Calibri" pitchFamily="34" charset="-120"/>
              </a:rPr>
              <a:t>SCOPE</a:t>
            </a:r>
            <a:endParaRPr lang="en-US" sz="1100" dirty="0"/>
          </a:p>
        </p:txBody>
      </p:sp>
      <p:sp>
        <p:nvSpPr>
          <p:cNvPr id="7" name="Text 5"/>
          <p:cNvSpPr/>
          <p:nvPr/>
        </p:nvSpPr>
        <p:spPr>
          <a:xfrm>
            <a:off x="7498080" y="1856232"/>
            <a:ext cx="4114800" cy="320040"/>
          </a:xfrm>
          <a:prstGeom prst="rect">
            <a:avLst/>
          </a:prstGeom>
          <a:noFill/>
          <a:ln/>
        </p:spPr>
        <p:txBody>
          <a:bodyPr wrap="square" lIns="0" tIns="0" rIns="0" bIns="0" rtlCol="0" anchor="ctr"/>
          <a:lstStyle/>
          <a:p>
            <a:pPr indent="0" marL="0">
              <a:buNone/>
            </a:pPr>
            <a:r>
              <a:rPr lang="en-US" sz="1100" b="1" spc="100" kern="0" dirty="0">
                <a:solidFill>
                  <a:srgbClr val="3282B8"/>
                </a:solidFill>
                <a:latin typeface="Calibri" pitchFamily="34" charset="0"/>
                <a:ea typeface="Calibri" pitchFamily="34" charset="-122"/>
                <a:cs typeface="Calibri" pitchFamily="34" charset="-120"/>
              </a:rPr>
              <a:t>BEST FOR</a:t>
            </a:r>
            <a:endParaRPr lang="en-US" sz="1100" dirty="0"/>
          </a:p>
        </p:txBody>
      </p:sp>
      <p:sp>
        <p:nvSpPr>
          <p:cNvPr id="8" name="Shape 6"/>
          <p:cNvSpPr/>
          <p:nvPr/>
        </p:nvSpPr>
        <p:spPr>
          <a:xfrm>
            <a:off x="548640" y="2240280"/>
            <a:ext cx="11064240" cy="1143000"/>
          </a:xfrm>
          <a:prstGeom prst="roundRect">
            <a:avLst>
              <a:gd name="adj" fmla="val 8000"/>
            </a:avLst>
          </a:prstGeom>
          <a:solidFill>
            <a:srgbClr val="F0F4F8"/>
          </a:solidFill>
          <a:ln/>
          <a:effectLst>
            <a:outerShdw sx="100000" sy="100000" kx="0" ky="0" algn="bl" rotWithShape="0" blurRad="76200" dist="25400" dir="5400000">
              <a:srgbClr val="0B1F3A">
                <a:alpha val="18000"/>
              </a:srgbClr>
            </a:outerShdw>
          </a:effectLst>
        </p:spPr>
      </p:sp>
      <p:sp>
        <p:nvSpPr>
          <p:cNvPr id="9" name="Text 7"/>
          <p:cNvSpPr/>
          <p:nvPr/>
        </p:nvSpPr>
        <p:spPr>
          <a:xfrm>
            <a:off x="548640" y="2240280"/>
            <a:ext cx="1554480" cy="1143000"/>
          </a:xfrm>
          <a:prstGeom prst="rect">
            <a:avLst/>
          </a:prstGeom>
          <a:noFill/>
          <a:ln/>
        </p:spPr>
        <p:txBody>
          <a:bodyPr wrap="square" lIns="0" tIns="0" rIns="0" bIns="0" rtlCol="0" anchor="ctr"/>
          <a:lstStyle/>
          <a:p>
            <a:pPr indent="0" marL="0">
              <a:buNone/>
            </a:pPr>
            <a:r>
              <a:rPr lang="en-US" sz="1600" b="1" dirty="0">
                <a:solidFill>
                  <a:srgbClr val="0F4C75"/>
                </a:solidFill>
                <a:latin typeface="Cambria" pitchFamily="34" charset="0"/>
                <a:ea typeface="Cambria" pitchFamily="34" charset="-122"/>
                <a:cs typeface="Cambria" pitchFamily="34" charset="-120"/>
              </a:rPr>
              <a:t>Rules</a:t>
            </a:r>
            <a:endParaRPr lang="en-US" sz="1600" dirty="0"/>
          </a:p>
        </p:txBody>
      </p:sp>
      <p:sp>
        <p:nvSpPr>
          <p:cNvPr id="10" name="Text 8"/>
          <p:cNvSpPr/>
          <p:nvPr/>
        </p:nvSpPr>
        <p:spPr>
          <a:xfrm>
            <a:off x="2286000" y="2240280"/>
            <a:ext cx="2651760" cy="1143000"/>
          </a:xfrm>
          <a:prstGeom prst="rect">
            <a:avLst/>
          </a:prstGeom>
          <a:noFill/>
          <a:ln/>
        </p:spPr>
        <p:txBody>
          <a:bodyPr wrap="square" lIns="0" tIns="0" rIns="0" bIns="0" rtlCol="0" anchor="ctr"/>
          <a:lstStyle/>
          <a:p>
            <a:pPr indent="0" marL="0">
              <a:buNone/>
            </a:pPr>
            <a:r>
              <a:rPr lang="en-US" sz="1200" dirty="0">
                <a:solidFill>
                  <a:srgbClr val="16233A"/>
                </a:solidFill>
                <a:latin typeface="Courier New" pitchFamily="34" charset="0"/>
                <a:ea typeface="Courier New" pitchFamily="34" charset="-122"/>
                <a:cs typeface="Courier New" pitchFamily="34" charset="-120"/>
              </a:rPr>
              <a:t>.cursor/rules/*.mdc</a:t>
            </a:r>
            <a:endParaRPr lang="en-US" sz="1200" dirty="0"/>
          </a:p>
        </p:txBody>
      </p:sp>
      <p:sp>
        <p:nvSpPr>
          <p:cNvPr id="11" name="Text 9"/>
          <p:cNvSpPr/>
          <p:nvPr/>
        </p:nvSpPr>
        <p:spPr>
          <a:xfrm>
            <a:off x="5120640" y="2240280"/>
            <a:ext cx="2194560" cy="1143000"/>
          </a:xfrm>
          <a:prstGeom prst="rect">
            <a:avLst/>
          </a:prstGeom>
          <a:noFill/>
          <a:ln/>
        </p:spPr>
        <p:txBody>
          <a:bodyPr wrap="square" lIns="0" tIns="0" rIns="0" bIns="0" rtlCol="0" anchor="ctr"/>
          <a:lstStyle/>
          <a:p>
            <a:pPr indent="0" marL="0">
              <a:lnSpc>
                <a:spcPct val="115000"/>
              </a:lnSpc>
              <a:buNone/>
            </a:pPr>
            <a:r>
              <a:rPr lang="en-US" sz="1250" dirty="0">
                <a:solidFill>
                  <a:srgbClr val="16233A"/>
                </a:solidFill>
                <a:latin typeface="Calibri" pitchFamily="34" charset="0"/>
                <a:ea typeface="Calibri" pitchFamily="34" charset="-122"/>
                <a:cs typeface="Calibri" pitchFamily="34" charset="-120"/>
              </a:rPr>
              <a:t>Team, scoped to paths</a:t>
            </a:r>
            <a:endParaRPr lang="en-US" sz="1250" dirty="0"/>
          </a:p>
        </p:txBody>
      </p:sp>
      <p:sp>
        <p:nvSpPr>
          <p:cNvPr id="12" name="Text 10"/>
          <p:cNvSpPr/>
          <p:nvPr/>
        </p:nvSpPr>
        <p:spPr>
          <a:xfrm>
            <a:off x="7498080" y="2240280"/>
            <a:ext cx="4114800" cy="1143000"/>
          </a:xfrm>
          <a:prstGeom prst="rect">
            <a:avLst/>
          </a:prstGeom>
          <a:noFill/>
          <a:ln/>
        </p:spPr>
        <p:txBody>
          <a:bodyPr wrap="square" lIns="0" tIns="0" rIns="0" bIns="0" rtlCol="0" anchor="ctr"/>
          <a:lstStyle/>
          <a:p>
            <a:pPr indent="0" marL="0">
              <a:lnSpc>
                <a:spcPct val="115000"/>
              </a:lnSpc>
              <a:buNone/>
            </a:pPr>
            <a:r>
              <a:rPr lang="en-US" sz="1250" dirty="0">
                <a:solidFill>
                  <a:srgbClr val="5C6B7A"/>
                </a:solidFill>
                <a:latin typeface="Calibri" pitchFamily="34" charset="0"/>
                <a:ea typeface="Calibri" pitchFamily="34" charset="-122"/>
                <a:cs typeface="Calibri" pitchFamily="34" charset="-120"/>
              </a:rPr>
              <a:t>Explicit conventions the whole team must follow</a:t>
            </a:r>
            <a:endParaRPr lang="en-US" sz="1250" dirty="0"/>
          </a:p>
        </p:txBody>
      </p:sp>
      <p:sp>
        <p:nvSpPr>
          <p:cNvPr id="13" name="Shape 11"/>
          <p:cNvSpPr/>
          <p:nvPr/>
        </p:nvSpPr>
        <p:spPr>
          <a:xfrm>
            <a:off x="548640" y="3538728"/>
            <a:ext cx="11064240" cy="1143000"/>
          </a:xfrm>
          <a:prstGeom prst="roundRect">
            <a:avLst>
              <a:gd name="adj" fmla="val 8000"/>
            </a:avLst>
          </a:prstGeom>
          <a:solidFill>
            <a:srgbClr val="F0F4F8"/>
          </a:solidFill>
          <a:ln/>
          <a:effectLst>
            <a:outerShdw sx="100000" sy="100000" kx="0" ky="0" algn="bl" rotWithShape="0" blurRad="76200" dist="25400" dir="5400000">
              <a:srgbClr val="0B1F3A">
                <a:alpha val="18000"/>
              </a:srgbClr>
            </a:outerShdw>
          </a:effectLst>
        </p:spPr>
      </p:sp>
      <p:sp>
        <p:nvSpPr>
          <p:cNvPr id="14" name="Text 12"/>
          <p:cNvSpPr/>
          <p:nvPr/>
        </p:nvSpPr>
        <p:spPr>
          <a:xfrm>
            <a:off x="548640" y="3538728"/>
            <a:ext cx="1554480" cy="1143000"/>
          </a:xfrm>
          <a:prstGeom prst="rect">
            <a:avLst/>
          </a:prstGeom>
          <a:noFill/>
          <a:ln/>
        </p:spPr>
        <p:txBody>
          <a:bodyPr wrap="square" lIns="0" tIns="0" rIns="0" bIns="0" rtlCol="0" anchor="ctr"/>
          <a:lstStyle/>
          <a:p>
            <a:pPr indent="0" marL="0">
              <a:buNone/>
            </a:pPr>
            <a:r>
              <a:rPr lang="en-US" sz="1600" b="1" dirty="0">
                <a:solidFill>
                  <a:srgbClr val="0F4C75"/>
                </a:solidFill>
                <a:latin typeface="Cambria" pitchFamily="34" charset="0"/>
                <a:ea typeface="Cambria" pitchFamily="34" charset="-122"/>
                <a:cs typeface="Cambria" pitchFamily="34" charset="-120"/>
              </a:rPr>
              <a:t>AGENTS.md</a:t>
            </a:r>
            <a:endParaRPr lang="en-US" sz="1600" dirty="0"/>
          </a:p>
        </p:txBody>
      </p:sp>
      <p:sp>
        <p:nvSpPr>
          <p:cNvPr id="15" name="Text 13"/>
          <p:cNvSpPr/>
          <p:nvPr/>
        </p:nvSpPr>
        <p:spPr>
          <a:xfrm>
            <a:off x="2286000" y="3538728"/>
            <a:ext cx="2651760" cy="1143000"/>
          </a:xfrm>
          <a:prstGeom prst="rect">
            <a:avLst/>
          </a:prstGeom>
          <a:noFill/>
          <a:ln/>
        </p:spPr>
        <p:txBody>
          <a:bodyPr wrap="square" lIns="0" tIns="0" rIns="0" bIns="0" rtlCol="0" anchor="ctr"/>
          <a:lstStyle/>
          <a:p>
            <a:pPr indent="0" marL="0">
              <a:buNone/>
            </a:pPr>
            <a:r>
              <a:rPr lang="en-US" sz="1200" dirty="0">
                <a:solidFill>
                  <a:srgbClr val="16233A"/>
                </a:solidFill>
                <a:latin typeface="Courier New" pitchFamily="34" charset="0"/>
                <a:ea typeface="Courier New" pitchFamily="34" charset="-122"/>
                <a:cs typeface="Courier New" pitchFamily="34" charset="-120"/>
              </a:rPr>
              <a:t>AGENTS.md at repo root</a:t>
            </a:r>
            <a:endParaRPr lang="en-US" sz="1200" dirty="0"/>
          </a:p>
        </p:txBody>
      </p:sp>
      <p:sp>
        <p:nvSpPr>
          <p:cNvPr id="16" name="Text 14"/>
          <p:cNvSpPr/>
          <p:nvPr/>
        </p:nvSpPr>
        <p:spPr>
          <a:xfrm>
            <a:off x="5120640" y="3538728"/>
            <a:ext cx="2194560" cy="1143000"/>
          </a:xfrm>
          <a:prstGeom prst="rect">
            <a:avLst/>
          </a:prstGeom>
          <a:noFill/>
          <a:ln/>
        </p:spPr>
        <p:txBody>
          <a:bodyPr wrap="square" lIns="0" tIns="0" rIns="0" bIns="0" rtlCol="0" anchor="ctr"/>
          <a:lstStyle/>
          <a:p>
            <a:pPr indent="0" marL="0">
              <a:lnSpc>
                <a:spcPct val="115000"/>
              </a:lnSpc>
              <a:buNone/>
            </a:pPr>
            <a:r>
              <a:rPr lang="en-US" sz="1250" dirty="0">
                <a:solidFill>
                  <a:srgbClr val="16233A"/>
                </a:solidFill>
                <a:latin typeface="Calibri" pitchFamily="34" charset="0"/>
                <a:ea typeface="Calibri" pitchFamily="34" charset="-122"/>
                <a:cs typeface="Calibri" pitchFamily="34" charset="-120"/>
              </a:rPr>
              <a:t>Team, whole repo</a:t>
            </a:r>
            <a:endParaRPr lang="en-US" sz="1250" dirty="0"/>
          </a:p>
        </p:txBody>
      </p:sp>
      <p:sp>
        <p:nvSpPr>
          <p:cNvPr id="17" name="Text 15"/>
          <p:cNvSpPr/>
          <p:nvPr/>
        </p:nvSpPr>
        <p:spPr>
          <a:xfrm>
            <a:off x="7498080" y="3538728"/>
            <a:ext cx="4114800" cy="1143000"/>
          </a:xfrm>
          <a:prstGeom prst="rect">
            <a:avLst/>
          </a:prstGeom>
          <a:noFill/>
          <a:ln/>
        </p:spPr>
        <p:txBody>
          <a:bodyPr wrap="square" lIns="0" tIns="0" rIns="0" bIns="0" rtlCol="0" anchor="ctr"/>
          <a:lstStyle/>
          <a:p>
            <a:pPr indent="0" marL="0">
              <a:lnSpc>
                <a:spcPct val="115000"/>
              </a:lnSpc>
              <a:buNone/>
            </a:pPr>
            <a:r>
              <a:rPr lang="en-US" sz="1250" dirty="0">
                <a:solidFill>
                  <a:srgbClr val="5C6B7A"/>
                </a:solidFill>
                <a:latin typeface="Calibri" pitchFamily="34" charset="0"/>
                <a:ea typeface="Calibri" pitchFamily="34" charset="-122"/>
                <a:cs typeface="Calibri" pitchFamily="34" charset="-120"/>
              </a:rPr>
              <a:t>Onboarding doc: build/test commands, structure, conventions</a:t>
            </a:r>
            <a:endParaRPr lang="en-US" sz="1250" dirty="0"/>
          </a:p>
        </p:txBody>
      </p:sp>
      <p:sp>
        <p:nvSpPr>
          <p:cNvPr id="18" name="Shape 16"/>
          <p:cNvSpPr/>
          <p:nvPr/>
        </p:nvSpPr>
        <p:spPr>
          <a:xfrm>
            <a:off x="548640" y="4837176"/>
            <a:ext cx="11064240" cy="1143000"/>
          </a:xfrm>
          <a:prstGeom prst="roundRect">
            <a:avLst>
              <a:gd name="adj" fmla="val 8000"/>
            </a:avLst>
          </a:prstGeom>
          <a:solidFill>
            <a:srgbClr val="F0F4F8"/>
          </a:solidFill>
          <a:ln/>
          <a:effectLst>
            <a:outerShdw sx="100000" sy="100000" kx="0" ky="0" algn="bl" rotWithShape="0" blurRad="76200" dist="25400" dir="5400000">
              <a:srgbClr val="0B1F3A">
                <a:alpha val="18000"/>
              </a:srgbClr>
            </a:outerShdw>
          </a:effectLst>
        </p:spPr>
      </p:sp>
      <p:sp>
        <p:nvSpPr>
          <p:cNvPr id="19" name="Text 17"/>
          <p:cNvSpPr/>
          <p:nvPr/>
        </p:nvSpPr>
        <p:spPr>
          <a:xfrm>
            <a:off x="548640" y="4837176"/>
            <a:ext cx="1554480" cy="1143000"/>
          </a:xfrm>
          <a:prstGeom prst="rect">
            <a:avLst/>
          </a:prstGeom>
          <a:noFill/>
          <a:ln/>
        </p:spPr>
        <p:txBody>
          <a:bodyPr wrap="square" lIns="0" tIns="0" rIns="0" bIns="0" rtlCol="0" anchor="ctr"/>
          <a:lstStyle/>
          <a:p>
            <a:pPr indent="0" marL="0">
              <a:buNone/>
            </a:pPr>
            <a:r>
              <a:rPr lang="en-US" sz="1600" b="1" dirty="0">
                <a:solidFill>
                  <a:srgbClr val="0F4C75"/>
                </a:solidFill>
                <a:latin typeface="Cambria" pitchFamily="34" charset="0"/>
                <a:ea typeface="Cambria" pitchFamily="34" charset="-122"/>
                <a:cs typeface="Cambria" pitchFamily="34" charset="-120"/>
              </a:rPr>
              <a:t>Memory</a:t>
            </a:r>
            <a:endParaRPr lang="en-US" sz="1600" dirty="0"/>
          </a:p>
        </p:txBody>
      </p:sp>
      <p:sp>
        <p:nvSpPr>
          <p:cNvPr id="20" name="Text 18"/>
          <p:cNvSpPr/>
          <p:nvPr/>
        </p:nvSpPr>
        <p:spPr>
          <a:xfrm>
            <a:off x="2286000" y="4837176"/>
            <a:ext cx="2651760" cy="1143000"/>
          </a:xfrm>
          <a:prstGeom prst="rect">
            <a:avLst/>
          </a:prstGeom>
          <a:noFill/>
          <a:ln/>
        </p:spPr>
        <p:txBody>
          <a:bodyPr wrap="square" lIns="0" tIns="0" rIns="0" bIns="0" rtlCol="0" anchor="ctr"/>
          <a:lstStyle/>
          <a:p>
            <a:pPr indent="0" marL="0">
              <a:buNone/>
            </a:pPr>
            <a:r>
              <a:rPr lang="en-US" sz="1200" dirty="0">
                <a:solidFill>
                  <a:srgbClr val="16233A"/>
                </a:solidFill>
                <a:latin typeface="Courier New" pitchFamily="34" charset="0"/>
                <a:ea typeface="Courier New" pitchFamily="34" charset="-122"/>
                <a:cs typeface="Courier New" pitchFamily="34" charset="-120"/>
              </a:rPr>
              <a:t>No file — built in</a:t>
            </a:r>
            <a:endParaRPr lang="en-US" sz="1200" dirty="0"/>
          </a:p>
        </p:txBody>
      </p:sp>
      <p:sp>
        <p:nvSpPr>
          <p:cNvPr id="21" name="Text 19"/>
          <p:cNvSpPr/>
          <p:nvPr/>
        </p:nvSpPr>
        <p:spPr>
          <a:xfrm>
            <a:off x="5120640" y="4837176"/>
            <a:ext cx="2194560" cy="1143000"/>
          </a:xfrm>
          <a:prstGeom prst="rect">
            <a:avLst/>
          </a:prstGeom>
          <a:noFill/>
          <a:ln/>
        </p:spPr>
        <p:txBody>
          <a:bodyPr wrap="square" lIns="0" tIns="0" rIns="0" bIns="0" rtlCol="0" anchor="ctr"/>
          <a:lstStyle/>
          <a:p>
            <a:pPr indent="0" marL="0">
              <a:lnSpc>
                <a:spcPct val="115000"/>
              </a:lnSpc>
              <a:buNone/>
            </a:pPr>
            <a:r>
              <a:rPr lang="en-US" sz="1250" dirty="0">
                <a:solidFill>
                  <a:srgbClr val="16233A"/>
                </a:solidFill>
                <a:latin typeface="Calibri" pitchFamily="34" charset="0"/>
                <a:ea typeface="Calibri" pitchFamily="34" charset="-122"/>
                <a:cs typeface="Calibri" pitchFamily="34" charset="-120"/>
              </a:rPr>
              <a:t>You, this workspace</a:t>
            </a:r>
            <a:endParaRPr lang="en-US" sz="1250" dirty="0"/>
          </a:p>
        </p:txBody>
      </p:sp>
      <p:sp>
        <p:nvSpPr>
          <p:cNvPr id="22" name="Text 20"/>
          <p:cNvSpPr/>
          <p:nvPr/>
        </p:nvSpPr>
        <p:spPr>
          <a:xfrm>
            <a:off x="7498080" y="4837176"/>
            <a:ext cx="4114800" cy="1143000"/>
          </a:xfrm>
          <a:prstGeom prst="rect">
            <a:avLst/>
          </a:prstGeom>
          <a:noFill/>
          <a:ln/>
        </p:spPr>
        <p:txBody>
          <a:bodyPr wrap="square" lIns="0" tIns="0" rIns="0" bIns="0" rtlCol="0" anchor="ctr"/>
          <a:lstStyle/>
          <a:p>
            <a:pPr indent="0" marL="0">
              <a:lnSpc>
                <a:spcPct val="115000"/>
              </a:lnSpc>
              <a:buNone/>
            </a:pPr>
            <a:r>
              <a:rPr lang="en-US" sz="1250" dirty="0">
                <a:solidFill>
                  <a:srgbClr val="5C6B7A"/>
                </a:solidFill>
                <a:latin typeface="Calibri" pitchFamily="34" charset="0"/>
                <a:ea typeface="Calibri" pitchFamily="34" charset="-122"/>
                <a:cs typeface="Calibri" pitchFamily="34" charset="-120"/>
              </a:rPr>
              <a:t>Corrections and preferences the agent accumulates over time</a:t>
            </a:r>
            <a:endParaRPr lang="en-US" sz="1250" dirty="0"/>
          </a:p>
        </p:txBody>
      </p:sp>
      <p:sp>
        <p:nvSpPr>
          <p:cNvPr id="23" name="Text 21"/>
          <p:cNvSpPr/>
          <p:nvPr/>
        </p:nvSpPr>
        <p:spPr>
          <a:xfrm>
            <a:off x="548640" y="6537960"/>
            <a:ext cx="5486400" cy="274320"/>
          </a:xfrm>
          <a:prstGeom prst="rect">
            <a:avLst/>
          </a:prstGeom>
          <a:noFill/>
          <a:ln/>
        </p:spPr>
        <p:txBody>
          <a:bodyPr wrap="square" lIns="0" tIns="0" rIns="0" bIns="0" rtlCol="0" anchor="ctr"/>
          <a:lstStyle/>
          <a:p>
            <a:pPr indent="0" marL="0">
              <a:buNone/>
            </a:pPr>
            <a:r>
              <a:rPr lang="en-US" sz="900" dirty="0">
                <a:solidFill>
                  <a:srgbClr val="9AA7B5"/>
                </a:solidFill>
                <a:latin typeface="Calibri" pitchFamily="34" charset="0"/>
                <a:ea typeface="Calibri" pitchFamily="34" charset="-122"/>
                <a:cs typeface="Calibri" pitchFamily="34" charset="-120"/>
              </a:rPr>
              <a:t>Cursor for Engineers</a:t>
            </a:r>
            <a:endParaRPr lang="en-US" sz="900" dirty="0"/>
          </a:p>
        </p:txBody>
      </p:sp>
      <p:sp>
        <p:nvSpPr>
          <p:cNvPr id="24" name="Text 22"/>
          <p:cNvSpPr/>
          <p:nvPr/>
        </p:nvSpPr>
        <p:spPr>
          <a:xfrm>
            <a:off x="11338560" y="6537960"/>
            <a:ext cx="365760" cy="274320"/>
          </a:xfrm>
          <a:prstGeom prst="rect">
            <a:avLst/>
          </a:prstGeom>
          <a:noFill/>
          <a:ln/>
        </p:spPr>
        <p:txBody>
          <a:bodyPr wrap="square" lIns="0" tIns="0" rIns="0" bIns="0" rtlCol="0" anchor="ctr"/>
          <a:lstStyle/>
          <a:p>
            <a:pPr algn="r" indent="0" marL="0">
              <a:buNone/>
            </a:pPr>
            <a:r>
              <a:rPr lang="en-US" sz="900" dirty="0">
                <a:solidFill>
                  <a:srgbClr val="9AA7B5"/>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lIns="0" tIns="0" rIns="0" bIns="0" rtlCol="0" anchor="ctr"/>
          <a:lstStyle/>
          <a:p>
            <a:pPr indent="0" marL="0">
              <a:buNone/>
            </a:pPr>
            <a:r>
              <a:rPr lang="en-US" sz="1300" b="1" spc="200" kern="0" dirty="0">
                <a:solidFill>
                  <a:srgbClr val="3282B8"/>
                </a:solidFill>
                <a:latin typeface="Calibri" pitchFamily="34" charset="0"/>
                <a:ea typeface="Calibri" pitchFamily="34" charset="-122"/>
                <a:cs typeface="Calibri" pitchFamily="34" charset="-120"/>
              </a:rPr>
              <a:t>RULES (.MDC)</a:t>
            </a:r>
            <a:endParaRPr lang="en-US" sz="1300" dirty="0"/>
          </a:p>
        </p:txBody>
      </p:sp>
      <p:sp>
        <p:nvSpPr>
          <p:cNvPr id="3" name="Text 1"/>
          <p:cNvSpPr/>
          <p:nvPr/>
        </p:nvSpPr>
        <p:spPr>
          <a:xfrm>
            <a:off x="548640" y="731520"/>
            <a:ext cx="11064240" cy="822960"/>
          </a:xfrm>
          <a:prstGeom prst="rect">
            <a:avLst/>
          </a:prstGeom>
          <a:noFill/>
          <a:ln/>
        </p:spPr>
        <p:txBody>
          <a:bodyPr wrap="square" lIns="0" tIns="0" rIns="0" bIns="0" rtlCol="0" anchor="ctr"/>
          <a:lstStyle/>
          <a:p>
            <a:pPr indent="0" marL="0">
              <a:buNone/>
            </a:pPr>
            <a:r>
              <a:rPr lang="en-US" sz="3000" b="1" dirty="0">
                <a:solidFill>
                  <a:srgbClr val="16233A"/>
                </a:solidFill>
                <a:latin typeface="Cambria" pitchFamily="34" charset="0"/>
                <a:ea typeface="Cambria" pitchFamily="34" charset="-122"/>
                <a:cs typeface="Cambria" pitchFamily="34" charset="-120"/>
              </a:rPr>
              <a:t>Cursor Rules: version-controlled team conventions</a:t>
            </a:r>
            <a:endParaRPr lang="en-US" sz="3000" dirty="0"/>
          </a:p>
        </p:txBody>
      </p:sp>
      <p:sp>
        <p:nvSpPr>
          <p:cNvPr id="4" name="Text 2"/>
          <p:cNvSpPr/>
          <p:nvPr/>
        </p:nvSpPr>
        <p:spPr>
          <a:xfrm>
            <a:off x="548640" y="1417320"/>
            <a:ext cx="5212080" cy="1280160"/>
          </a:xfrm>
          <a:prstGeom prst="rect">
            <a:avLst/>
          </a:prstGeom>
          <a:noFill/>
          <a:ln/>
        </p:spPr>
        <p:txBody>
          <a:bodyPr wrap="square" lIns="0" tIns="0" rIns="0" bIns="0" rtlCol="0" anchor="ctr"/>
          <a:lstStyle/>
          <a:p>
            <a:pPr indent="0" marL="0">
              <a:lnSpc>
                <a:spcPct val="130000"/>
              </a:lnSpc>
              <a:buNone/>
            </a:pPr>
            <a:r>
              <a:rPr lang="en-US" sz="1450" dirty="0">
                <a:solidFill>
                  <a:srgbClr val="16233A"/>
                </a:solidFill>
                <a:latin typeface="Calibri" pitchFamily="34" charset="0"/>
                <a:ea typeface="Calibri" pitchFamily="34" charset="-122"/>
                <a:cs typeface="Calibri" pitchFamily="34" charset="-120"/>
              </a:rPr>
              <a:t>.cursor/rules/ files are scoped, composable, and live in your repo like any other config — set a standard once instead of re-explaining it every prompt.</a:t>
            </a:r>
            <a:endParaRPr lang="en-US" sz="1450" dirty="0"/>
          </a:p>
        </p:txBody>
      </p:sp>
      <p:sp>
        <p:nvSpPr>
          <p:cNvPr id="5" name="Text 3"/>
          <p:cNvSpPr/>
          <p:nvPr/>
        </p:nvSpPr>
        <p:spPr>
          <a:xfrm>
            <a:off x="548640" y="2880360"/>
            <a:ext cx="5212080" cy="2194560"/>
          </a:xfrm>
          <a:prstGeom prst="rect">
            <a:avLst/>
          </a:prstGeom>
          <a:noFill/>
          <a:ln/>
        </p:spPr>
        <p:txBody>
          <a:bodyPr wrap="square" lIns="0" tIns="0" rIns="0" bIns="0" rtlCol="0" anchor="ctr"/>
          <a:lstStyle/>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Scope rules to a path — e.g. only apply to /profiler/**</a:t>
            </a:r>
            <a:endParaRPr lang="en-US" sz="1350" dirty="0"/>
          </a:p>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Check them into git so the whole team shares one standard</a:t>
            </a:r>
            <a:endParaRPr lang="en-US" sz="1350" dirty="0"/>
          </a:p>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The old root .cursorrules file still works, but .mdc is current</a:t>
            </a:r>
            <a:endParaRPr lang="en-US" sz="1350" dirty="0"/>
          </a:p>
        </p:txBody>
      </p:sp>
      <p:sp>
        <p:nvSpPr>
          <p:cNvPr id="6" name="Shape 4"/>
          <p:cNvSpPr/>
          <p:nvPr/>
        </p:nvSpPr>
        <p:spPr>
          <a:xfrm>
            <a:off x="5989320" y="1417320"/>
            <a:ext cx="5623560" cy="4572000"/>
          </a:xfrm>
          <a:prstGeom prst="roundRect">
            <a:avLst>
              <a:gd name="adj" fmla="val 1600"/>
            </a:avLst>
          </a:prstGeom>
          <a:solidFill>
            <a:srgbClr val="0B1F3A"/>
          </a:solidFill>
          <a:ln/>
          <a:effectLst>
            <a:outerShdw sx="100000" sy="100000" kx="0" ky="0" algn="bl" rotWithShape="0" blurRad="76200" dist="25400" dir="5400000">
              <a:srgbClr val="0B1F3A">
                <a:alpha val="18000"/>
              </a:srgbClr>
            </a:outerShdw>
          </a:effectLst>
        </p:spPr>
      </p:sp>
      <p:sp>
        <p:nvSpPr>
          <p:cNvPr id="7" name="Text 5"/>
          <p:cNvSpPr/>
          <p:nvPr/>
        </p:nvSpPr>
        <p:spPr>
          <a:xfrm>
            <a:off x="6245352" y="1600200"/>
            <a:ext cx="5111496" cy="4206240"/>
          </a:xfrm>
          <a:prstGeom prst="rect">
            <a:avLst/>
          </a:prstGeom>
          <a:noFill/>
          <a:ln/>
        </p:spPr>
        <p:txBody>
          <a:bodyPr wrap="square" lIns="0" tIns="0" rIns="0" bIns="0" rtlCol="0" anchor="t"/>
          <a:lstStyle/>
          <a:p>
            <a:pPr indent="0" marL="0">
              <a:lnSpc>
                <a:spcPct val="125000"/>
              </a:lnSpc>
              <a:buNone/>
            </a:pPr>
            <a:r>
              <a:rPr lang="en-US" sz="1300" b="1" dirty="0">
                <a:solidFill>
                  <a:srgbClr val="F2A541"/>
                </a:solidFill>
                <a:latin typeface="Courier New" pitchFamily="34" charset="0"/>
                <a:ea typeface="Courier New" pitchFamily="34" charset="-122"/>
                <a:cs typeface="Courier New" pitchFamily="34" charset="-120"/>
              </a:rPr>
              <a:t>.cursor/rules/profiler.mdc</a:t>
            </a:r>
            <a:endParaRPr lang="en-US" sz="1300" dirty="0"/>
          </a:p>
          <a:p>
            <a:pPr indent="0" marL="0">
              <a:lnSpc>
                <a:spcPct val="125000"/>
              </a:lnSpc>
              <a:buNone/>
            </a:pPr>
            <a:endParaRPr lang="en-US" sz="1300" dirty="0"/>
          </a:p>
          <a:p>
            <a:pPr indent="0" marL="0">
              <a:lnSpc>
                <a:spcPct val="125000"/>
              </a:lnSpc>
              <a:buNone/>
            </a:pPr>
            <a:r>
              <a:rPr lang="en-US" sz="1300" dirty="0">
                <a:solidFill>
                  <a:srgbClr val="D7E6F5"/>
                </a:solidFill>
                <a:latin typeface="Courier New" pitchFamily="34" charset="0"/>
                <a:ea typeface="Courier New" pitchFamily="34" charset="-122"/>
                <a:cs typeface="Courier New" pitchFamily="34" charset="-120"/>
              </a:rPr>
              <a:t>---</a:t>
            </a:r>
            <a:endParaRPr lang="en-US" sz="1300" dirty="0"/>
          </a:p>
          <a:p>
            <a:pPr indent="0" marL="0">
              <a:lnSpc>
                <a:spcPct val="125000"/>
              </a:lnSpc>
              <a:buNone/>
            </a:pPr>
            <a:r>
              <a:rPr lang="en-US" sz="1300" dirty="0">
                <a:solidFill>
                  <a:srgbClr val="8FA6BE"/>
                </a:solidFill>
                <a:latin typeface="Courier New" pitchFamily="34" charset="0"/>
                <a:ea typeface="Courier New" pitchFamily="34" charset="-122"/>
                <a:cs typeface="Courier New" pitchFamily="34" charset="-120"/>
              </a:rPr>
              <a:t>description: Data profiler CLI conventions</a:t>
            </a:r>
            <a:endParaRPr lang="en-US" sz="1300" dirty="0"/>
          </a:p>
          <a:p>
            <a:pPr indent="0" marL="0">
              <a:lnSpc>
                <a:spcPct val="125000"/>
              </a:lnSpc>
              <a:buNone/>
            </a:pPr>
            <a:r>
              <a:rPr lang="en-US" sz="1300" dirty="0">
                <a:solidFill>
                  <a:srgbClr val="8FA6BE"/>
                </a:solidFill>
                <a:latin typeface="Courier New" pitchFamily="34" charset="0"/>
                <a:ea typeface="Courier New" pitchFamily="34" charset="-122"/>
                <a:cs typeface="Courier New" pitchFamily="34" charset="-120"/>
              </a:rPr>
              <a:t>globs: ["profiler/**/*.py", "cli.py"]</a:t>
            </a:r>
            <a:endParaRPr lang="en-US" sz="1300" dirty="0"/>
          </a:p>
          <a:p>
            <a:pPr indent="0" marL="0">
              <a:lnSpc>
                <a:spcPct val="125000"/>
              </a:lnSpc>
              <a:buNone/>
            </a:pPr>
            <a:r>
              <a:rPr lang="en-US" sz="1300" dirty="0">
                <a:solidFill>
                  <a:srgbClr val="D7E6F5"/>
                </a:solidFill>
                <a:latin typeface="Courier New" pitchFamily="34" charset="0"/>
                <a:ea typeface="Courier New" pitchFamily="34" charset="-122"/>
                <a:cs typeface="Courier New" pitchFamily="34" charset="-120"/>
              </a:rPr>
              <a:t>---</a:t>
            </a:r>
            <a:endParaRPr lang="en-US" sz="1300" dirty="0"/>
          </a:p>
          <a:p>
            <a:pPr indent="0" marL="0">
              <a:lnSpc>
                <a:spcPct val="125000"/>
              </a:lnSpc>
              <a:buNone/>
            </a:pPr>
            <a:endParaRPr lang="en-US" sz="1300" dirty="0"/>
          </a:p>
          <a:p>
            <a:pPr indent="0" marL="0">
              <a:lnSpc>
                <a:spcPct val="125000"/>
              </a:lnSpc>
              <a:buNone/>
            </a:pPr>
            <a:r>
              <a:rPr lang="en-US" sz="1300" dirty="0">
                <a:solidFill>
                  <a:srgbClr val="6FCF97"/>
                </a:solidFill>
                <a:latin typeface="Courier New" pitchFamily="34" charset="0"/>
                <a:ea typeface="Courier New" pitchFamily="34" charset="-122"/>
                <a:cs typeface="Courier New" pitchFamily="34" charset="-120"/>
              </a:rPr>
              <a:t>- Use type hints on every function</a:t>
            </a:r>
            <a:endParaRPr lang="en-US" sz="1300" dirty="0"/>
          </a:p>
          <a:p>
            <a:pPr indent="0" marL="0">
              <a:lnSpc>
                <a:spcPct val="125000"/>
              </a:lnSpc>
              <a:buNone/>
            </a:pPr>
            <a:r>
              <a:rPr lang="en-US" sz="1300" dirty="0">
                <a:solidFill>
                  <a:srgbClr val="6FCF97"/>
                </a:solidFill>
                <a:latin typeface="Courier New" pitchFamily="34" charset="0"/>
                <a:ea typeface="Courier New" pitchFamily="34" charset="-122"/>
                <a:cs typeface="Courier New" pitchFamily="34" charset="-120"/>
              </a:rPr>
              <a:t>- Never use DataFrame.append() — it</a:t>
            </a:r>
            <a:endParaRPr lang="en-US" sz="1300" dirty="0"/>
          </a:p>
          <a:p>
            <a:pPr indent="0" marL="0">
              <a:lnSpc>
                <a:spcPct val="125000"/>
              </a:lnSpc>
              <a:buNone/>
            </a:pPr>
            <a:r>
              <a:rPr lang="en-US" sz="1300" dirty="0">
                <a:solidFill>
                  <a:srgbClr val="6FCF97"/>
                </a:solidFill>
                <a:latin typeface="Courier New" pitchFamily="34" charset="0"/>
                <a:ea typeface="Courier New" pitchFamily="34" charset="-122"/>
                <a:cs typeface="Courier New" pitchFamily="34" charset="-120"/>
              </a:rPr>
              <a:t>  was removed in pandas 2.0; use</a:t>
            </a:r>
            <a:endParaRPr lang="en-US" sz="1300" dirty="0"/>
          </a:p>
          <a:p>
            <a:pPr indent="0" marL="0">
              <a:lnSpc>
                <a:spcPct val="125000"/>
              </a:lnSpc>
              <a:buNone/>
            </a:pPr>
            <a:r>
              <a:rPr lang="en-US" sz="1300" dirty="0">
                <a:solidFill>
                  <a:srgbClr val="6FCF97"/>
                </a:solidFill>
                <a:latin typeface="Courier New" pitchFamily="34" charset="0"/>
                <a:ea typeface="Courier New" pitchFamily="34" charset="-122"/>
                <a:cs typeface="Courier New" pitchFamily="34" charset="-120"/>
              </a:rPr>
              <a:t>  pd.concat() instead</a:t>
            </a:r>
            <a:endParaRPr lang="en-US" sz="1300" dirty="0"/>
          </a:p>
          <a:p>
            <a:pPr indent="0" marL="0">
              <a:lnSpc>
                <a:spcPct val="125000"/>
              </a:lnSpc>
              <a:buNone/>
            </a:pPr>
            <a:r>
              <a:rPr lang="en-US" sz="1300" dirty="0">
                <a:solidFill>
                  <a:srgbClr val="6FCF97"/>
                </a:solidFill>
                <a:latin typeface="Courier New" pitchFamily="34" charset="0"/>
                <a:ea typeface="Courier New" pitchFamily="34" charset="-122"/>
                <a:cs typeface="Courier New" pitchFamily="34" charset="-120"/>
              </a:rPr>
              <a:t>- Ship Jinja2 templates in-repo —</a:t>
            </a:r>
            <a:endParaRPr lang="en-US" sz="1300" dirty="0"/>
          </a:p>
          <a:p>
            <a:pPr indent="0" marL="0">
              <a:lnSpc>
                <a:spcPct val="125000"/>
              </a:lnSpc>
              <a:buNone/>
            </a:pPr>
            <a:r>
              <a:rPr lang="en-US" sz="1300" dirty="0">
                <a:solidFill>
                  <a:srgbClr val="6FCF97"/>
                </a:solidFill>
                <a:latin typeface="Courier New" pitchFamily="34" charset="0"/>
                <a:ea typeface="Courier New" pitchFamily="34" charset="-122"/>
                <a:cs typeface="Courier New" pitchFamily="34" charset="-120"/>
              </a:rPr>
              <a:t>  never fetch them from a URL</a:t>
            </a:r>
            <a:endParaRPr lang="en-US" sz="1300" dirty="0"/>
          </a:p>
          <a:p>
            <a:pPr indent="0" marL="0">
              <a:lnSpc>
                <a:spcPct val="125000"/>
              </a:lnSpc>
              <a:buNone/>
            </a:pPr>
            <a:r>
              <a:rPr lang="en-US" sz="1300" dirty="0">
                <a:solidFill>
                  <a:srgbClr val="6FCF97"/>
                </a:solidFill>
                <a:latin typeface="Courier New" pitchFamily="34" charset="0"/>
                <a:ea typeface="Courier New" pitchFamily="34" charset="-122"/>
                <a:cs typeface="Courier New" pitchFamily="34" charset="-120"/>
              </a:rPr>
              <a:t>- CLI flags go through argparse, not</a:t>
            </a:r>
            <a:endParaRPr lang="en-US" sz="1300" dirty="0"/>
          </a:p>
          <a:p>
            <a:pPr indent="0" marL="0">
              <a:lnSpc>
                <a:spcPct val="125000"/>
              </a:lnSpc>
              <a:buNone/>
            </a:pPr>
            <a:r>
              <a:rPr lang="en-US" sz="1300" dirty="0">
                <a:solidFill>
                  <a:srgbClr val="6FCF97"/>
                </a:solidFill>
                <a:latin typeface="Courier New" pitchFamily="34" charset="0"/>
                <a:ea typeface="Courier New" pitchFamily="34" charset="-122"/>
                <a:cs typeface="Courier New" pitchFamily="34" charset="-120"/>
              </a:rPr>
              <a:t>  hardcoded config dicts</a:t>
            </a:r>
            <a:endParaRPr lang="en-US" sz="1300" dirty="0"/>
          </a:p>
        </p:txBody>
      </p:sp>
      <p:sp>
        <p:nvSpPr>
          <p:cNvPr id="8" name="Text 6"/>
          <p:cNvSpPr/>
          <p:nvPr/>
        </p:nvSpPr>
        <p:spPr>
          <a:xfrm>
            <a:off x="548640" y="6537960"/>
            <a:ext cx="5486400" cy="274320"/>
          </a:xfrm>
          <a:prstGeom prst="rect">
            <a:avLst/>
          </a:prstGeom>
          <a:noFill/>
          <a:ln/>
        </p:spPr>
        <p:txBody>
          <a:bodyPr wrap="square" lIns="0" tIns="0" rIns="0" bIns="0" rtlCol="0" anchor="ctr"/>
          <a:lstStyle/>
          <a:p>
            <a:pPr indent="0" marL="0">
              <a:buNone/>
            </a:pPr>
            <a:r>
              <a:rPr lang="en-US" sz="900" dirty="0">
                <a:solidFill>
                  <a:srgbClr val="9AA7B5"/>
                </a:solidFill>
                <a:latin typeface="Calibri" pitchFamily="34" charset="0"/>
                <a:ea typeface="Calibri" pitchFamily="34" charset="-122"/>
                <a:cs typeface="Calibri" pitchFamily="34" charset="-120"/>
              </a:rPr>
              <a:t>Cursor for Engineers</a:t>
            </a:r>
            <a:endParaRPr lang="en-US" sz="900" dirty="0"/>
          </a:p>
        </p:txBody>
      </p:sp>
      <p:sp>
        <p:nvSpPr>
          <p:cNvPr id="9" name="Text 7"/>
          <p:cNvSpPr/>
          <p:nvPr/>
        </p:nvSpPr>
        <p:spPr>
          <a:xfrm>
            <a:off x="11338560" y="6537960"/>
            <a:ext cx="365760" cy="274320"/>
          </a:xfrm>
          <a:prstGeom prst="rect">
            <a:avLst/>
          </a:prstGeom>
          <a:noFill/>
          <a:ln/>
        </p:spPr>
        <p:txBody>
          <a:bodyPr wrap="square" lIns="0" tIns="0" rIns="0" bIns="0" rtlCol="0" anchor="ctr"/>
          <a:lstStyle/>
          <a:p>
            <a:pPr algn="r" indent="0" marL="0">
              <a:buNone/>
            </a:pPr>
            <a:r>
              <a:rPr lang="en-US" sz="900" dirty="0">
                <a:solidFill>
                  <a:srgbClr val="9AA7B5"/>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lIns="0" tIns="0" rIns="0" bIns="0" rtlCol="0" anchor="ctr"/>
          <a:lstStyle/>
          <a:p>
            <a:pPr indent="0" marL="0">
              <a:buNone/>
            </a:pPr>
            <a:r>
              <a:rPr lang="en-US" sz="1300" b="1" spc="200" kern="0" dirty="0">
                <a:solidFill>
                  <a:srgbClr val="3282B8"/>
                </a:solidFill>
                <a:latin typeface="Calibri" pitchFamily="34" charset="0"/>
                <a:ea typeface="Calibri" pitchFamily="34" charset="-122"/>
                <a:cs typeface="Calibri" pitchFamily="34" charset="-120"/>
              </a:rPr>
              <a:t>AGENTS.MD</a:t>
            </a:r>
            <a:endParaRPr lang="en-US" sz="1300" dirty="0"/>
          </a:p>
        </p:txBody>
      </p:sp>
      <p:sp>
        <p:nvSpPr>
          <p:cNvPr id="3" name="Text 1"/>
          <p:cNvSpPr/>
          <p:nvPr/>
        </p:nvSpPr>
        <p:spPr>
          <a:xfrm>
            <a:off x="548640" y="731520"/>
            <a:ext cx="11064240" cy="822960"/>
          </a:xfrm>
          <a:prstGeom prst="rect">
            <a:avLst/>
          </a:prstGeom>
          <a:noFill/>
          <a:ln/>
        </p:spPr>
        <p:txBody>
          <a:bodyPr wrap="square" lIns="0" tIns="0" rIns="0" bIns="0" rtlCol="0" anchor="ctr"/>
          <a:lstStyle/>
          <a:p>
            <a:pPr indent="0" marL="0">
              <a:buNone/>
            </a:pPr>
            <a:r>
              <a:rPr lang="en-US" sz="3000" b="1" dirty="0">
                <a:solidFill>
                  <a:srgbClr val="16233A"/>
                </a:solidFill>
                <a:latin typeface="Cambria" pitchFamily="34" charset="0"/>
                <a:ea typeface="Cambria" pitchFamily="34" charset="-122"/>
                <a:cs typeface="Cambria" pitchFamily="34" charset="-120"/>
              </a:rPr>
              <a:t>AGENTS.md: the onboarding doc for your AI teammate</a:t>
            </a:r>
            <a:endParaRPr lang="en-US" sz="3000" dirty="0"/>
          </a:p>
        </p:txBody>
      </p:sp>
      <p:sp>
        <p:nvSpPr>
          <p:cNvPr id="4" name="Text 2"/>
          <p:cNvSpPr/>
          <p:nvPr/>
        </p:nvSpPr>
        <p:spPr>
          <a:xfrm>
            <a:off x="548640" y="1417320"/>
            <a:ext cx="5212080" cy="1600200"/>
          </a:xfrm>
          <a:prstGeom prst="rect">
            <a:avLst/>
          </a:prstGeom>
          <a:noFill/>
          <a:ln/>
        </p:spPr>
        <p:txBody>
          <a:bodyPr wrap="square" lIns="0" tIns="0" rIns="0" bIns="0" rtlCol="0" anchor="ctr"/>
          <a:lstStyle/>
          <a:p>
            <a:pPr indent="0" marL="0">
              <a:lnSpc>
                <a:spcPct val="130000"/>
              </a:lnSpc>
              <a:buNone/>
            </a:pPr>
            <a:r>
              <a:rPr lang="en-US" sz="1450" dirty="0">
                <a:solidFill>
                  <a:srgbClr val="16233A"/>
                </a:solidFill>
                <a:latin typeface="Calibri" pitchFamily="34" charset="0"/>
                <a:ea typeface="Calibri" pitchFamily="34" charset="-122"/>
                <a:cs typeface="Calibri" pitchFamily="34" charset="-120"/>
              </a:rPr>
              <a:t>A single markdown file at the repo root — the emerging cross-tool standard for how an agent should build, test, and navigate your project. Unlike Rules, it's one plain file any AI tool can read, not just Cursor.</a:t>
            </a:r>
            <a:endParaRPr lang="en-US" sz="1450" dirty="0"/>
          </a:p>
        </p:txBody>
      </p:sp>
      <p:sp>
        <p:nvSpPr>
          <p:cNvPr id="5" name="Text 3"/>
          <p:cNvSpPr/>
          <p:nvPr/>
        </p:nvSpPr>
        <p:spPr>
          <a:xfrm>
            <a:off x="548640" y="3200400"/>
            <a:ext cx="5212080" cy="2194560"/>
          </a:xfrm>
          <a:prstGeom prst="rect">
            <a:avLst/>
          </a:prstGeom>
          <a:noFill/>
          <a:ln/>
        </p:spPr>
        <p:txBody>
          <a:bodyPr wrap="square" lIns="0" tIns="0" rIns="0" bIns="0" rtlCol="0" anchor="ctr"/>
          <a:lstStyle/>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Put setup, build, and test commands where the agent will actually look</a:t>
            </a:r>
            <a:endParaRPr lang="en-US" sz="1350" dirty="0"/>
          </a:p>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Document repo structure and where key logic lives</a:t>
            </a:r>
            <a:endParaRPr lang="en-US" sz="1350" dirty="0"/>
          </a:p>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Works across tools — Cursor, other agents, and future teammates</a:t>
            </a:r>
            <a:endParaRPr lang="en-US" sz="1350" dirty="0"/>
          </a:p>
        </p:txBody>
      </p:sp>
      <p:sp>
        <p:nvSpPr>
          <p:cNvPr id="6" name="Shape 4"/>
          <p:cNvSpPr/>
          <p:nvPr/>
        </p:nvSpPr>
        <p:spPr>
          <a:xfrm>
            <a:off x="5989320" y="1417320"/>
            <a:ext cx="5623560" cy="4572000"/>
          </a:xfrm>
          <a:prstGeom prst="roundRect">
            <a:avLst>
              <a:gd name="adj" fmla="val 1600"/>
            </a:avLst>
          </a:prstGeom>
          <a:solidFill>
            <a:srgbClr val="0B1F3A"/>
          </a:solidFill>
          <a:ln/>
          <a:effectLst>
            <a:outerShdw sx="100000" sy="100000" kx="0" ky="0" algn="bl" rotWithShape="0" blurRad="76200" dist="25400" dir="5400000">
              <a:srgbClr val="0B1F3A">
                <a:alpha val="18000"/>
              </a:srgbClr>
            </a:outerShdw>
          </a:effectLst>
        </p:spPr>
      </p:sp>
      <p:sp>
        <p:nvSpPr>
          <p:cNvPr id="7" name="Text 5"/>
          <p:cNvSpPr/>
          <p:nvPr/>
        </p:nvSpPr>
        <p:spPr>
          <a:xfrm>
            <a:off x="6245352" y="1600200"/>
            <a:ext cx="5111496" cy="4206240"/>
          </a:xfrm>
          <a:prstGeom prst="rect">
            <a:avLst/>
          </a:prstGeom>
          <a:noFill/>
          <a:ln/>
        </p:spPr>
        <p:txBody>
          <a:bodyPr wrap="square" lIns="0" tIns="0" rIns="0" bIns="0" rtlCol="0" anchor="t"/>
          <a:lstStyle/>
          <a:p>
            <a:pPr indent="0" marL="0">
              <a:lnSpc>
                <a:spcPct val="125000"/>
              </a:lnSpc>
              <a:buNone/>
            </a:pPr>
            <a:r>
              <a:rPr lang="en-US" sz="1200" b="1" dirty="0">
                <a:solidFill>
                  <a:srgbClr val="F2A541"/>
                </a:solidFill>
                <a:latin typeface="Courier New" pitchFamily="34" charset="0"/>
                <a:ea typeface="Courier New" pitchFamily="34" charset="-122"/>
                <a:cs typeface="Courier New" pitchFamily="34" charset="-120"/>
              </a:rPr>
              <a:t>AGENTS.md</a:t>
            </a:r>
            <a:endParaRPr lang="en-US" sz="1200" dirty="0"/>
          </a:p>
          <a:p>
            <a:pPr indent="0" marL="0">
              <a:lnSpc>
                <a:spcPct val="125000"/>
              </a:lnSpc>
              <a:buNone/>
            </a:pPr>
            <a:endParaRPr lang="en-US" sz="1200" dirty="0"/>
          </a:p>
          <a:p>
            <a:pPr indent="0" marL="0">
              <a:lnSpc>
                <a:spcPct val="125000"/>
              </a:lnSpc>
              <a:buNone/>
            </a:pPr>
            <a:r>
              <a:rPr lang="en-US" sz="1200" dirty="0">
                <a:solidFill>
                  <a:srgbClr val="6FCF97"/>
                </a:solidFill>
                <a:latin typeface="Courier New" pitchFamily="34" charset="0"/>
                <a:ea typeface="Courier New" pitchFamily="34" charset="-122"/>
                <a:cs typeface="Courier New" pitchFamily="34" charset="-120"/>
              </a:rPr>
              <a:t># Data Profiler CLI</a:t>
            </a:r>
            <a:endParaRPr lang="en-US" sz="1200" dirty="0"/>
          </a:p>
          <a:p>
            <a:pPr indent="0" marL="0">
              <a:lnSpc>
                <a:spcPct val="125000"/>
              </a:lnSpc>
              <a:buNone/>
            </a:pPr>
            <a:endParaRPr lang="en-US" sz="1200" dirty="0"/>
          </a:p>
          <a:p>
            <a:pPr indent="0" marL="0">
              <a:lnSpc>
                <a:spcPct val="125000"/>
              </a:lnSpc>
              <a:buNone/>
            </a:pPr>
            <a:r>
              <a:rPr lang="en-US" sz="1200" dirty="0">
                <a:solidFill>
                  <a:srgbClr val="8FA6BE"/>
                </a:solidFill>
                <a:latin typeface="Courier New" pitchFamily="34" charset="0"/>
                <a:ea typeface="Courier New" pitchFamily="34" charset="-122"/>
                <a:cs typeface="Courier New" pitchFamily="34" charset="-120"/>
              </a:rPr>
              <a:t>## Setup</a:t>
            </a:r>
            <a:endParaRPr lang="en-US" sz="1200" dirty="0"/>
          </a:p>
          <a:p>
            <a:pPr indent="0" marL="0">
              <a:lnSpc>
                <a:spcPct val="125000"/>
              </a:lnSpc>
              <a:buNone/>
            </a:pPr>
            <a:r>
              <a:rPr lang="en-US" sz="1200" dirty="0">
                <a:solidFill>
                  <a:srgbClr val="D7E6F5"/>
                </a:solidFill>
                <a:latin typeface="Courier New" pitchFamily="34" charset="0"/>
                <a:ea typeface="Courier New" pitchFamily="34" charset="-122"/>
                <a:cs typeface="Courier New" pitchFamily="34" charset="-120"/>
              </a:rPr>
              <a:t>pip install -r requirements.txt</a:t>
            </a:r>
            <a:endParaRPr lang="en-US" sz="1200" dirty="0"/>
          </a:p>
          <a:p>
            <a:pPr indent="0" marL="0">
              <a:lnSpc>
                <a:spcPct val="125000"/>
              </a:lnSpc>
              <a:buNone/>
            </a:pPr>
            <a:endParaRPr lang="en-US" sz="1200" dirty="0"/>
          </a:p>
          <a:p>
            <a:pPr indent="0" marL="0">
              <a:lnSpc>
                <a:spcPct val="125000"/>
              </a:lnSpc>
              <a:buNone/>
            </a:pPr>
            <a:r>
              <a:rPr lang="en-US" sz="1200" dirty="0">
                <a:solidFill>
                  <a:srgbClr val="8FA6BE"/>
                </a:solidFill>
                <a:latin typeface="Courier New" pitchFamily="34" charset="0"/>
                <a:ea typeface="Courier New" pitchFamily="34" charset="-122"/>
                <a:cs typeface="Courier New" pitchFamily="34" charset="-120"/>
              </a:rPr>
              <a:t>## Test</a:t>
            </a:r>
            <a:endParaRPr lang="en-US" sz="1200" dirty="0"/>
          </a:p>
          <a:p>
            <a:pPr indent="0" marL="0">
              <a:lnSpc>
                <a:spcPct val="125000"/>
              </a:lnSpc>
              <a:buNone/>
            </a:pPr>
            <a:r>
              <a:rPr lang="en-US" sz="1200" dirty="0">
                <a:solidFill>
                  <a:srgbClr val="D7E6F5"/>
                </a:solidFill>
                <a:latin typeface="Courier New" pitchFamily="34" charset="0"/>
                <a:ea typeface="Courier New" pitchFamily="34" charset="-122"/>
                <a:cs typeface="Courier New" pitchFamily="34" charset="-120"/>
              </a:rPr>
              <a:t>pytest --cov=profiler</a:t>
            </a:r>
            <a:endParaRPr lang="en-US" sz="1200" dirty="0"/>
          </a:p>
          <a:p>
            <a:pPr indent="0" marL="0">
              <a:lnSpc>
                <a:spcPct val="125000"/>
              </a:lnSpc>
              <a:buNone/>
            </a:pPr>
            <a:endParaRPr lang="en-US" sz="1200" dirty="0"/>
          </a:p>
          <a:p>
            <a:pPr indent="0" marL="0">
              <a:lnSpc>
                <a:spcPct val="125000"/>
              </a:lnSpc>
              <a:buNone/>
            </a:pPr>
            <a:r>
              <a:rPr lang="en-US" sz="1200" dirty="0">
                <a:solidFill>
                  <a:srgbClr val="8FA6BE"/>
                </a:solidFill>
                <a:latin typeface="Courier New" pitchFamily="34" charset="0"/>
                <a:ea typeface="Courier New" pitchFamily="34" charset="-122"/>
                <a:cs typeface="Courier New" pitchFamily="34" charset="-120"/>
              </a:rPr>
              <a:t>## Run</a:t>
            </a:r>
            <a:endParaRPr lang="en-US" sz="1200" dirty="0"/>
          </a:p>
          <a:p>
            <a:pPr indent="0" marL="0">
              <a:lnSpc>
                <a:spcPct val="125000"/>
              </a:lnSpc>
              <a:buNone/>
            </a:pPr>
            <a:r>
              <a:rPr lang="en-US" sz="1200" dirty="0">
                <a:solidFill>
                  <a:srgbClr val="D7E6F5"/>
                </a:solidFill>
                <a:latin typeface="Courier New" pitchFamily="34" charset="0"/>
                <a:ea typeface="Courier New" pitchFamily="34" charset="-122"/>
                <a:cs typeface="Courier New" pitchFamily="34" charset="-120"/>
              </a:rPr>
              <a:t>python cli.py --input tx.csv \</a:t>
            </a:r>
            <a:endParaRPr lang="en-US" sz="1200" dirty="0"/>
          </a:p>
          <a:p>
            <a:pPr indent="0" marL="0">
              <a:lnSpc>
                <a:spcPct val="125000"/>
              </a:lnSpc>
              <a:buNone/>
            </a:pPr>
            <a:r>
              <a:rPr lang="en-US" sz="1200" dirty="0">
                <a:solidFill>
                  <a:srgbClr val="D7E6F5"/>
                </a:solidFill>
                <a:latin typeface="Courier New" pitchFamily="34" charset="0"/>
                <a:ea typeface="Courier New" pitchFamily="34" charset="-122"/>
                <a:cs typeface="Courier New" pitchFamily="34" charset="-120"/>
              </a:rPr>
              <a:t>  --label is_fraud</a:t>
            </a:r>
            <a:endParaRPr lang="en-US" sz="1200" dirty="0"/>
          </a:p>
          <a:p>
            <a:pPr indent="0" marL="0">
              <a:lnSpc>
                <a:spcPct val="125000"/>
              </a:lnSpc>
              <a:buNone/>
            </a:pPr>
            <a:endParaRPr lang="en-US" sz="1200" dirty="0"/>
          </a:p>
          <a:p>
            <a:pPr indent="0" marL="0">
              <a:lnSpc>
                <a:spcPct val="125000"/>
              </a:lnSpc>
              <a:buNone/>
            </a:pPr>
            <a:r>
              <a:rPr lang="en-US" sz="1200" dirty="0">
                <a:solidFill>
                  <a:srgbClr val="8FA6BE"/>
                </a:solidFill>
                <a:latin typeface="Courier New" pitchFamily="34" charset="0"/>
                <a:ea typeface="Courier New" pitchFamily="34" charset="-122"/>
                <a:cs typeface="Courier New" pitchFamily="34" charset="-120"/>
              </a:rPr>
              <a:t>## Structure</a:t>
            </a:r>
            <a:endParaRPr lang="en-US" sz="1200" dirty="0"/>
          </a:p>
          <a:p>
            <a:pPr indent="0" marL="0">
              <a:lnSpc>
                <a:spcPct val="125000"/>
              </a:lnSpc>
              <a:buNone/>
            </a:pPr>
            <a:r>
              <a:rPr lang="en-US" sz="1200" dirty="0">
                <a:solidFill>
                  <a:srgbClr val="D7E6F5"/>
                </a:solidFill>
                <a:latin typeface="Courier New" pitchFamily="34" charset="0"/>
                <a:ea typeface="Courier New" pitchFamily="34" charset="-122"/>
                <a:cs typeface="Courier New" pitchFamily="34" charset="-120"/>
              </a:rPr>
              <a:t>profiler/  → type inference, stats</a:t>
            </a:r>
            <a:endParaRPr lang="en-US" sz="1200" dirty="0"/>
          </a:p>
          <a:p>
            <a:pPr indent="0" marL="0">
              <a:lnSpc>
                <a:spcPct val="125000"/>
              </a:lnSpc>
              <a:buNone/>
            </a:pPr>
            <a:r>
              <a:rPr lang="en-US" sz="1200" dirty="0">
                <a:solidFill>
                  <a:srgbClr val="D7E6F5"/>
                </a:solidFill>
                <a:latin typeface="Courier New" pitchFamily="34" charset="0"/>
                <a:ea typeface="Courier New" pitchFamily="34" charset="-122"/>
                <a:cs typeface="Courier New" pitchFamily="34" charset="-120"/>
              </a:rPr>
              <a:t>templates/ → Jinja2 report templates</a:t>
            </a:r>
            <a:endParaRPr lang="en-US" sz="1200" dirty="0"/>
          </a:p>
          <a:p>
            <a:pPr indent="0" marL="0">
              <a:lnSpc>
                <a:spcPct val="125000"/>
              </a:lnSpc>
              <a:buNone/>
            </a:pPr>
            <a:r>
              <a:rPr lang="en-US" sz="1200" dirty="0">
                <a:solidFill>
                  <a:srgbClr val="D7E6F5"/>
                </a:solidFill>
                <a:latin typeface="Courier New" pitchFamily="34" charset="0"/>
                <a:ea typeface="Courier New" pitchFamily="34" charset="-122"/>
                <a:cs typeface="Courier New" pitchFamily="34" charset="-120"/>
              </a:rPr>
              <a:t>cli.py     → argparse entrypoint</a:t>
            </a:r>
            <a:endParaRPr lang="en-US" sz="1200" dirty="0"/>
          </a:p>
        </p:txBody>
      </p:sp>
      <p:sp>
        <p:nvSpPr>
          <p:cNvPr id="8" name="Text 6"/>
          <p:cNvSpPr/>
          <p:nvPr/>
        </p:nvSpPr>
        <p:spPr>
          <a:xfrm>
            <a:off x="548640" y="6537960"/>
            <a:ext cx="5486400" cy="274320"/>
          </a:xfrm>
          <a:prstGeom prst="rect">
            <a:avLst/>
          </a:prstGeom>
          <a:noFill/>
          <a:ln/>
        </p:spPr>
        <p:txBody>
          <a:bodyPr wrap="square" lIns="0" tIns="0" rIns="0" bIns="0" rtlCol="0" anchor="ctr"/>
          <a:lstStyle/>
          <a:p>
            <a:pPr indent="0" marL="0">
              <a:buNone/>
            </a:pPr>
            <a:r>
              <a:rPr lang="en-US" sz="900" dirty="0">
                <a:solidFill>
                  <a:srgbClr val="9AA7B5"/>
                </a:solidFill>
                <a:latin typeface="Calibri" pitchFamily="34" charset="0"/>
                <a:ea typeface="Calibri" pitchFamily="34" charset="-122"/>
                <a:cs typeface="Calibri" pitchFamily="34" charset="-120"/>
              </a:rPr>
              <a:t>Cursor for Engineers</a:t>
            </a:r>
            <a:endParaRPr lang="en-US" sz="900" dirty="0"/>
          </a:p>
        </p:txBody>
      </p:sp>
      <p:sp>
        <p:nvSpPr>
          <p:cNvPr id="9" name="Text 7"/>
          <p:cNvSpPr/>
          <p:nvPr/>
        </p:nvSpPr>
        <p:spPr>
          <a:xfrm>
            <a:off x="11338560" y="6537960"/>
            <a:ext cx="365760" cy="274320"/>
          </a:xfrm>
          <a:prstGeom prst="rect">
            <a:avLst/>
          </a:prstGeom>
          <a:noFill/>
          <a:ln/>
        </p:spPr>
        <p:txBody>
          <a:bodyPr wrap="square" lIns="0" tIns="0" rIns="0" bIns="0" rtlCol="0" anchor="ctr"/>
          <a:lstStyle/>
          <a:p>
            <a:pPr algn="r" indent="0" marL="0">
              <a:buNone/>
            </a:pPr>
            <a:r>
              <a:rPr lang="en-US" sz="900" dirty="0">
                <a:solidFill>
                  <a:srgbClr val="9AA7B5"/>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lIns="0" tIns="0" rIns="0" bIns="0" rtlCol="0" anchor="ctr"/>
          <a:lstStyle/>
          <a:p>
            <a:pPr indent="0" marL="0">
              <a:buNone/>
            </a:pPr>
            <a:r>
              <a:rPr lang="en-US" sz="1300" b="1" spc="200" kern="0" dirty="0">
                <a:solidFill>
                  <a:srgbClr val="3282B8"/>
                </a:solidFill>
                <a:latin typeface="Calibri" pitchFamily="34" charset="0"/>
                <a:ea typeface="Calibri" pitchFamily="34" charset="-122"/>
                <a:cs typeface="Calibri" pitchFamily="34" charset="-120"/>
              </a:rPr>
              <a:t>MEMORY</a:t>
            </a:r>
            <a:endParaRPr lang="en-US" sz="1300" dirty="0"/>
          </a:p>
        </p:txBody>
      </p:sp>
      <p:sp>
        <p:nvSpPr>
          <p:cNvPr id="3" name="Text 1"/>
          <p:cNvSpPr/>
          <p:nvPr/>
        </p:nvSpPr>
        <p:spPr>
          <a:xfrm>
            <a:off x="548640" y="731520"/>
            <a:ext cx="11064240" cy="822960"/>
          </a:xfrm>
          <a:prstGeom prst="rect">
            <a:avLst/>
          </a:prstGeom>
          <a:noFill/>
          <a:ln/>
        </p:spPr>
        <p:txBody>
          <a:bodyPr wrap="square" lIns="0" tIns="0" rIns="0" bIns="0" rtlCol="0" anchor="ctr"/>
          <a:lstStyle/>
          <a:p>
            <a:pPr indent="0" marL="0">
              <a:buNone/>
            </a:pPr>
            <a:r>
              <a:rPr lang="en-US" sz="3000" b="1" dirty="0">
                <a:solidFill>
                  <a:srgbClr val="16233A"/>
                </a:solidFill>
                <a:latin typeface="Cambria" pitchFamily="34" charset="0"/>
                <a:ea typeface="Cambria" pitchFamily="34" charset="-122"/>
                <a:cs typeface="Cambria" pitchFamily="34" charset="-120"/>
              </a:rPr>
              <a:t>Memory: the agent that remembers your corrections</a:t>
            </a:r>
            <a:endParaRPr lang="en-US" sz="3000" dirty="0"/>
          </a:p>
        </p:txBody>
      </p:sp>
      <p:sp>
        <p:nvSpPr>
          <p:cNvPr id="4" name="Text 2"/>
          <p:cNvSpPr/>
          <p:nvPr/>
        </p:nvSpPr>
        <p:spPr>
          <a:xfrm>
            <a:off x="548640" y="1417320"/>
            <a:ext cx="11064240" cy="777240"/>
          </a:xfrm>
          <a:prstGeom prst="rect">
            <a:avLst/>
          </a:prstGeom>
          <a:noFill/>
          <a:ln/>
        </p:spPr>
        <p:txBody>
          <a:bodyPr wrap="square" lIns="0" tIns="0" rIns="0" bIns="0" rtlCol="0" anchor="ctr"/>
          <a:lstStyle/>
          <a:p>
            <a:pPr indent="0" marL="0">
              <a:lnSpc>
                <a:spcPct val="130000"/>
              </a:lnSpc>
              <a:buNone/>
            </a:pPr>
            <a:r>
              <a:rPr lang="en-US" sz="1450" dirty="0">
                <a:solidFill>
                  <a:srgbClr val="16233A"/>
                </a:solidFill>
                <a:latin typeface="Calibri" pitchFamily="34" charset="0"/>
                <a:ea typeface="Calibri" pitchFamily="34" charset="-122"/>
                <a:cs typeface="Calibri" pitchFamily="34" charset="-120"/>
              </a:rPr>
              <a:t>Memory accumulates from your corrections across sessions, with no file to maintain — you fix something once and Cursor stops making that mistake in this workspace.</a:t>
            </a:r>
            <a:endParaRPr lang="en-US" sz="1450" dirty="0"/>
          </a:p>
        </p:txBody>
      </p:sp>
      <p:sp>
        <p:nvSpPr>
          <p:cNvPr id="5" name="Shape 3"/>
          <p:cNvSpPr/>
          <p:nvPr/>
        </p:nvSpPr>
        <p:spPr>
          <a:xfrm>
            <a:off x="548640" y="2377440"/>
            <a:ext cx="5257800" cy="3566160"/>
          </a:xfrm>
          <a:prstGeom prst="roundRect">
            <a:avLst>
              <a:gd name="adj" fmla="val 2564"/>
            </a:avLst>
          </a:prstGeom>
          <a:solidFill>
            <a:srgbClr val="F0F4F8"/>
          </a:solidFill>
          <a:ln/>
          <a:effectLst>
            <a:outerShdw sx="100000" sy="100000" kx="0" ky="0" algn="bl" rotWithShape="0" blurRad="76200" dist="25400" dir="5400000">
              <a:srgbClr val="0B1F3A">
                <a:alpha val="18000"/>
              </a:srgbClr>
            </a:outerShdw>
          </a:effectLst>
        </p:spPr>
      </p:sp>
      <p:sp>
        <p:nvSpPr>
          <p:cNvPr id="6" name="Shape 4"/>
          <p:cNvSpPr/>
          <p:nvPr/>
        </p:nvSpPr>
        <p:spPr>
          <a:xfrm>
            <a:off x="6172200" y="2377440"/>
            <a:ext cx="5257800" cy="3566160"/>
          </a:xfrm>
          <a:prstGeom prst="roundRect">
            <a:avLst>
              <a:gd name="adj" fmla="val 2564"/>
            </a:avLst>
          </a:prstGeom>
          <a:solidFill>
            <a:srgbClr val="F0F4F8"/>
          </a:solidFill>
          <a:ln/>
          <a:effectLst>
            <a:outerShdw sx="100000" sy="100000" kx="0" ky="0" algn="bl" rotWithShape="0" blurRad="76200" dist="25400" dir="5400000">
              <a:srgbClr val="0B1F3A">
                <a:alpha val="18000"/>
              </a:srgbClr>
            </a:outerShdw>
          </a:effectLst>
        </p:spPr>
      </p:sp>
      <p:sp>
        <p:nvSpPr>
          <p:cNvPr id="7" name="Text 5"/>
          <p:cNvSpPr/>
          <p:nvPr/>
        </p:nvSpPr>
        <p:spPr>
          <a:xfrm>
            <a:off x="822960" y="2651760"/>
            <a:ext cx="4709160" cy="457200"/>
          </a:xfrm>
          <a:prstGeom prst="rect">
            <a:avLst/>
          </a:prstGeom>
          <a:noFill/>
          <a:ln/>
        </p:spPr>
        <p:txBody>
          <a:bodyPr wrap="square" lIns="0" tIns="0" rIns="0" bIns="0" rtlCol="0" anchor="ctr"/>
          <a:lstStyle/>
          <a:p>
            <a:pPr indent="0" marL="0">
              <a:buNone/>
            </a:pPr>
            <a:r>
              <a:rPr lang="en-US" sz="1700" b="1" dirty="0">
                <a:solidFill>
                  <a:srgbClr val="0F4C75"/>
                </a:solidFill>
                <a:latin typeface="Cambria" pitchFamily="34" charset="0"/>
                <a:ea typeface="Cambria" pitchFamily="34" charset="-122"/>
                <a:cs typeface="Cambria" pitchFamily="34" charset="-120"/>
              </a:rPr>
              <a:t>Rules</a:t>
            </a:r>
            <a:endParaRPr lang="en-US" sz="1700" dirty="0"/>
          </a:p>
        </p:txBody>
      </p:sp>
      <p:sp>
        <p:nvSpPr>
          <p:cNvPr id="8" name="Text 6"/>
          <p:cNvSpPr/>
          <p:nvPr/>
        </p:nvSpPr>
        <p:spPr>
          <a:xfrm>
            <a:off x="822960" y="3200400"/>
            <a:ext cx="4709160" cy="1280160"/>
          </a:xfrm>
          <a:prstGeom prst="rect">
            <a:avLst/>
          </a:prstGeom>
          <a:noFill/>
          <a:ln/>
        </p:spPr>
        <p:txBody>
          <a:bodyPr wrap="square" lIns="0" tIns="0" rIns="0" bIns="0" rtlCol="0" anchor="ctr"/>
          <a:lstStyle/>
          <a:p>
            <a:pPr indent="0" marL="0">
              <a:lnSpc>
                <a:spcPct val="125000"/>
              </a:lnSpc>
              <a:buNone/>
            </a:pPr>
            <a:r>
              <a:rPr lang="en-US" sz="1300" dirty="0">
                <a:solidFill>
                  <a:srgbClr val="16233A"/>
                </a:solidFill>
                <a:latin typeface="Calibri" pitchFamily="34" charset="0"/>
                <a:ea typeface="Calibri" pitchFamily="34" charset="-122"/>
                <a:cs typeface="Calibri" pitchFamily="34" charset="-120"/>
              </a:rPr>
              <a:t>Explicit, written once, version-controlled, and shared instantly with the whole team the moment they're committed.</a:t>
            </a:r>
            <a:endParaRPr lang="en-US" sz="1300" dirty="0"/>
          </a:p>
        </p:txBody>
      </p:sp>
      <p:sp>
        <p:nvSpPr>
          <p:cNvPr id="9" name="Text 7"/>
          <p:cNvSpPr/>
          <p:nvPr/>
        </p:nvSpPr>
        <p:spPr>
          <a:xfrm>
            <a:off x="6446520" y="2651760"/>
            <a:ext cx="4709160" cy="457200"/>
          </a:xfrm>
          <a:prstGeom prst="rect">
            <a:avLst/>
          </a:prstGeom>
          <a:noFill/>
          <a:ln/>
        </p:spPr>
        <p:txBody>
          <a:bodyPr wrap="square" lIns="0" tIns="0" rIns="0" bIns="0" rtlCol="0" anchor="ctr"/>
          <a:lstStyle/>
          <a:p>
            <a:pPr indent="0" marL="0">
              <a:buNone/>
            </a:pPr>
            <a:r>
              <a:rPr lang="en-US" sz="1700" b="1" dirty="0">
                <a:solidFill>
                  <a:srgbClr val="0F4C75"/>
                </a:solidFill>
                <a:latin typeface="Cambria" pitchFamily="34" charset="0"/>
                <a:ea typeface="Cambria" pitchFamily="34" charset="-122"/>
                <a:cs typeface="Cambria" pitchFamily="34" charset="-120"/>
              </a:rPr>
              <a:t>Memory</a:t>
            </a:r>
            <a:endParaRPr lang="en-US" sz="1700" dirty="0"/>
          </a:p>
        </p:txBody>
      </p:sp>
      <p:sp>
        <p:nvSpPr>
          <p:cNvPr id="10" name="Text 8"/>
          <p:cNvSpPr/>
          <p:nvPr/>
        </p:nvSpPr>
        <p:spPr>
          <a:xfrm>
            <a:off x="6446520" y="3200400"/>
            <a:ext cx="4709160" cy="1280160"/>
          </a:xfrm>
          <a:prstGeom prst="rect">
            <a:avLst/>
          </a:prstGeom>
          <a:noFill/>
          <a:ln/>
        </p:spPr>
        <p:txBody>
          <a:bodyPr wrap="square" lIns="0" tIns="0" rIns="0" bIns="0" rtlCol="0" anchor="ctr"/>
          <a:lstStyle/>
          <a:p>
            <a:pPr indent="0" marL="0">
              <a:lnSpc>
                <a:spcPct val="125000"/>
              </a:lnSpc>
              <a:buNone/>
            </a:pPr>
            <a:r>
              <a:rPr lang="en-US" sz="1300" dirty="0">
                <a:solidFill>
                  <a:srgbClr val="16233A"/>
                </a:solidFill>
                <a:latin typeface="Calibri" pitchFamily="34" charset="0"/>
                <a:ea typeface="Calibri" pitchFamily="34" charset="-122"/>
                <a:cs typeface="Calibri" pitchFamily="34" charset="-120"/>
              </a:rPr>
              <a:t>Implicit, personal, and inferred from what you correct — great for fast iteration, but it lives with you, not the team.</a:t>
            </a:r>
            <a:endParaRPr lang="en-US" sz="1300" dirty="0"/>
          </a:p>
        </p:txBody>
      </p:sp>
      <p:sp>
        <p:nvSpPr>
          <p:cNvPr id="11" name="Text 9"/>
          <p:cNvSpPr/>
          <p:nvPr/>
        </p:nvSpPr>
        <p:spPr>
          <a:xfrm>
            <a:off x="822960" y="5120640"/>
            <a:ext cx="10332720" cy="731520"/>
          </a:xfrm>
          <a:prstGeom prst="rect">
            <a:avLst/>
          </a:prstGeom>
          <a:noFill/>
          <a:ln/>
        </p:spPr>
        <p:txBody>
          <a:bodyPr wrap="square" lIns="0" tIns="0" rIns="0" bIns="0" rtlCol="0" anchor="ctr"/>
          <a:lstStyle/>
          <a:p>
            <a:pPr indent="0" marL="0">
              <a:lnSpc>
                <a:spcPct val="125000"/>
              </a:lnSpc>
              <a:buNone/>
            </a:pPr>
            <a:r>
              <a:rPr lang="en-US" sz="1250" i="1" dirty="0">
                <a:solidFill>
                  <a:srgbClr val="5C6B7A"/>
                </a:solidFill>
                <a:latin typeface="Calibri" pitchFamily="34" charset="0"/>
                <a:ea typeface="Calibri" pitchFamily="34" charset="-122"/>
                <a:cs typeface="Calibri" pitchFamily="34" charset="-120"/>
              </a:rPr>
              <a:t>Best practice: once a memory proves durable and team-relevant, promote it into a Rule so everyone benefits, not just you.</a:t>
            </a:r>
            <a:endParaRPr lang="en-US" sz="1250" dirty="0"/>
          </a:p>
        </p:txBody>
      </p:sp>
      <p:sp>
        <p:nvSpPr>
          <p:cNvPr id="12" name="Text 10"/>
          <p:cNvSpPr/>
          <p:nvPr/>
        </p:nvSpPr>
        <p:spPr>
          <a:xfrm>
            <a:off x="548640" y="6537960"/>
            <a:ext cx="5486400" cy="274320"/>
          </a:xfrm>
          <a:prstGeom prst="rect">
            <a:avLst/>
          </a:prstGeom>
          <a:noFill/>
          <a:ln/>
        </p:spPr>
        <p:txBody>
          <a:bodyPr wrap="square" lIns="0" tIns="0" rIns="0" bIns="0" rtlCol="0" anchor="ctr"/>
          <a:lstStyle/>
          <a:p>
            <a:pPr indent="0" marL="0">
              <a:buNone/>
            </a:pPr>
            <a:r>
              <a:rPr lang="en-US" sz="900" dirty="0">
                <a:solidFill>
                  <a:srgbClr val="9AA7B5"/>
                </a:solidFill>
                <a:latin typeface="Calibri" pitchFamily="34" charset="0"/>
                <a:ea typeface="Calibri" pitchFamily="34" charset="-122"/>
                <a:cs typeface="Calibri" pitchFamily="34" charset="-120"/>
              </a:rPr>
              <a:t>Cursor for Engineers</a:t>
            </a:r>
            <a:endParaRPr lang="en-US" sz="900" dirty="0"/>
          </a:p>
        </p:txBody>
      </p:sp>
      <p:sp>
        <p:nvSpPr>
          <p:cNvPr id="13" name="Text 11"/>
          <p:cNvSpPr/>
          <p:nvPr/>
        </p:nvSpPr>
        <p:spPr>
          <a:xfrm>
            <a:off x="11338560" y="6537960"/>
            <a:ext cx="365760" cy="274320"/>
          </a:xfrm>
          <a:prstGeom prst="rect">
            <a:avLst/>
          </a:prstGeom>
          <a:noFill/>
          <a:ln/>
        </p:spPr>
        <p:txBody>
          <a:bodyPr wrap="square" lIns="0" tIns="0" rIns="0" bIns="0" rtlCol="0" anchor="ctr"/>
          <a:lstStyle/>
          <a:p>
            <a:pPr algn="r" indent="0" marL="0">
              <a:buNone/>
            </a:pPr>
            <a:r>
              <a:rPr lang="en-US" sz="900" dirty="0">
                <a:solidFill>
                  <a:srgbClr val="9AA7B5"/>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F3A"/>
          </a:solidFill>
          <a:ln/>
        </p:spPr>
      </p:sp>
      <p:sp>
        <p:nvSpPr>
          <p:cNvPr id="3" name="Text 1"/>
          <p:cNvSpPr/>
          <p:nvPr/>
        </p:nvSpPr>
        <p:spPr>
          <a:xfrm>
            <a:off x="9418320" y="4206240"/>
            <a:ext cx="2743200" cy="2011680"/>
          </a:xfrm>
          <a:prstGeom prst="rect">
            <a:avLst/>
          </a:prstGeom>
          <a:noFill/>
          <a:ln/>
        </p:spPr>
        <p:txBody>
          <a:bodyPr wrap="square" lIns="0" tIns="0" rIns="0" bIns="0" rtlCol="0" anchor="ctr"/>
          <a:lstStyle/>
          <a:p>
            <a:pPr indent="0" marL="0">
              <a:buNone/>
            </a:pPr>
            <a:r>
              <a:rPr lang="en-US" sz="14000" b="1" dirty="0">
                <a:solidFill>
                  <a:srgbClr val="132A4C"/>
                </a:solidFill>
                <a:latin typeface="Courier New" pitchFamily="34" charset="0"/>
                <a:ea typeface="Courier New" pitchFamily="34" charset="-122"/>
                <a:cs typeface="Courier New" pitchFamily="34" charset="-120"/>
              </a:rPr>
              <a:t>{ }</a:t>
            </a:r>
            <a:endParaRPr lang="en-US" sz="14000" dirty="0"/>
          </a:p>
        </p:txBody>
      </p:sp>
      <p:sp>
        <p:nvSpPr>
          <p:cNvPr id="4" name="Text 2"/>
          <p:cNvSpPr/>
          <p:nvPr/>
        </p:nvSpPr>
        <p:spPr>
          <a:xfrm>
            <a:off x="822960" y="2331720"/>
            <a:ext cx="5486400" cy="457200"/>
          </a:xfrm>
          <a:prstGeom prst="rect">
            <a:avLst/>
          </a:prstGeom>
          <a:noFill/>
          <a:ln/>
        </p:spPr>
        <p:txBody>
          <a:bodyPr wrap="square" lIns="0" tIns="0" rIns="0" bIns="0" rtlCol="0" anchor="ctr"/>
          <a:lstStyle/>
          <a:p>
            <a:pPr indent="0" marL="0">
              <a:buNone/>
            </a:pPr>
            <a:r>
              <a:rPr lang="en-US" sz="1500" b="1" spc="300" kern="0" dirty="0">
                <a:solidFill>
                  <a:srgbClr val="F2A541"/>
                </a:solidFill>
                <a:latin typeface="Calibri" pitchFamily="34" charset="0"/>
                <a:ea typeface="Calibri" pitchFamily="34" charset="-122"/>
                <a:cs typeface="Calibri" pitchFamily="34" charset="-120"/>
              </a:rPr>
              <a:t>CHAPTER 2</a:t>
            </a:r>
            <a:endParaRPr lang="en-US" sz="1500" dirty="0"/>
          </a:p>
        </p:txBody>
      </p:sp>
      <p:sp>
        <p:nvSpPr>
          <p:cNvPr id="5" name="Text 3"/>
          <p:cNvSpPr/>
          <p:nvPr/>
        </p:nvSpPr>
        <p:spPr>
          <a:xfrm>
            <a:off x="822960" y="2788920"/>
            <a:ext cx="9875520" cy="146304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AI-Assisted Workflows for Production Code</a:t>
            </a:r>
            <a:endParaRPr lang="en-US" sz="3800" dirty="0"/>
          </a:p>
        </p:txBody>
      </p:sp>
      <p:sp>
        <p:nvSpPr>
          <p:cNvPr id="6" name="Text 4"/>
          <p:cNvSpPr/>
          <p:nvPr/>
        </p:nvSpPr>
        <p:spPr>
          <a:xfrm>
            <a:off x="822960" y="4160520"/>
            <a:ext cx="9418320" cy="731520"/>
          </a:xfrm>
          <a:prstGeom prst="rect">
            <a:avLst/>
          </a:prstGeom>
          <a:noFill/>
          <a:ln/>
        </p:spPr>
        <p:txBody>
          <a:bodyPr wrap="square" lIns="0" tIns="0" rIns="0" bIns="0" rtlCol="0" anchor="ctr"/>
          <a:lstStyle/>
          <a:p>
            <a:pPr indent="0" marL="0">
              <a:buNone/>
            </a:pPr>
            <a:r>
              <a:rPr lang="en-US" sz="1600" dirty="0">
                <a:solidFill>
                  <a:srgbClr val="AFC6DE"/>
                </a:solidFill>
                <a:latin typeface="Calibri" pitchFamily="34" charset="0"/>
                <a:ea typeface="Calibri" pitchFamily="34" charset="-122"/>
                <a:cs typeface="Calibri" pitchFamily="34" charset="-120"/>
              </a:rPr>
              <a:t>Context, TDD, multi-file changes, and debugging</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lIns="0" tIns="0" rIns="0" bIns="0" rtlCol="0" anchor="ctr"/>
          <a:lstStyle/>
          <a:p>
            <a:pPr indent="0" marL="0">
              <a:buNone/>
            </a:pPr>
            <a:r>
              <a:rPr lang="en-US" sz="1300" b="1" spc="200" kern="0" dirty="0">
                <a:solidFill>
                  <a:srgbClr val="3282B8"/>
                </a:solidFill>
                <a:latin typeface="Calibri" pitchFamily="34" charset="0"/>
                <a:ea typeface="Calibri" pitchFamily="34" charset="-122"/>
                <a:cs typeface="Calibri" pitchFamily="34" charset="-120"/>
              </a:rPr>
              <a:t>CHAPTER 2</a:t>
            </a:r>
            <a:endParaRPr lang="en-US" sz="1300" dirty="0"/>
          </a:p>
        </p:txBody>
      </p:sp>
      <p:sp>
        <p:nvSpPr>
          <p:cNvPr id="3" name="Text 1"/>
          <p:cNvSpPr/>
          <p:nvPr/>
        </p:nvSpPr>
        <p:spPr>
          <a:xfrm>
            <a:off x="548640" y="731520"/>
            <a:ext cx="11064240" cy="822960"/>
          </a:xfrm>
          <a:prstGeom prst="rect">
            <a:avLst/>
          </a:prstGeom>
          <a:noFill/>
          <a:ln/>
        </p:spPr>
        <p:txBody>
          <a:bodyPr wrap="square" lIns="0" tIns="0" rIns="0" bIns="0" rtlCol="0" anchor="ctr"/>
          <a:lstStyle/>
          <a:p>
            <a:pPr indent="0" marL="0">
              <a:buNone/>
            </a:pPr>
            <a:r>
              <a:rPr lang="en-US" sz="3000" b="1" dirty="0">
                <a:solidFill>
                  <a:srgbClr val="16233A"/>
                </a:solidFill>
                <a:latin typeface="Cambria" pitchFamily="34" charset="0"/>
                <a:ea typeface="Cambria" pitchFamily="34" charset="-122"/>
                <a:cs typeface="Cambria" pitchFamily="34" charset="-120"/>
              </a:rPr>
              <a:t>Ground every prompt with @ references</a:t>
            </a:r>
            <a:endParaRPr lang="en-US" sz="3000" dirty="0"/>
          </a:p>
        </p:txBody>
      </p:sp>
      <p:sp>
        <p:nvSpPr>
          <p:cNvPr id="4" name="Text 2"/>
          <p:cNvSpPr/>
          <p:nvPr/>
        </p:nvSpPr>
        <p:spPr>
          <a:xfrm>
            <a:off x="548640" y="1417320"/>
            <a:ext cx="5212080" cy="1188720"/>
          </a:xfrm>
          <a:prstGeom prst="rect">
            <a:avLst/>
          </a:prstGeom>
          <a:noFill/>
          <a:ln/>
        </p:spPr>
        <p:txBody>
          <a:bodyPr wrap="square" lIns="0" tIns="0" rIns="0" bIns="0" rtlCol="0" anchor="ctr"/>
          <a:lstStyle/>
          <a:p>
            <a:pPr indent="0" marL="0">
              <a:lnSpc>
                <a:spcPct val="130000"/>
              </a:lnSpc>
              <a:buNone/>
            </a:pPr>
            <a:r>
              <a:rPr lang="en-US" sz="1450" dirty="0">
                <a:solidFill>
                  <a:srgbClr val="16233A"/>
                </a:solidFill>
                <a:latin typeface="Calibri" pitchFamily="34" charset="0"/>
                <a:ea typeface="Calibri" pitchFamily="34" charset="-122"/>
                <a:cs typeface="Calibri" pitchFamily="34" charset="-120"/>
              </a:rPr>
              <a:t>@ references pull exact files, folders, docs, or symbols into context — no more pasting code blocks. Precision in, precision out.</a:t>
            </a:r>
            <a:endParaRPr lang="en-US" sz="1450" dirty="0"/>
          </a:p>
        </p:txBody>
      </p:sp>
      <p:sp>
        <p:nvSpPr>
          <p:cNvPr id="5" name="Shape 3"/>
          <p:cNvSpPr/>
          <p:nvPr/>
        </p:nvSpPr>
        <p:spPr>
          <a:xfrm>
            <a:off x="548640" y="2788920"/>
            <a:ext cx="5212080" cy="749808"/>
          </a:xfrm>
          <a:prstGeom prst="roundRect">
            <a:avLst>
              <a:gd name="adj" fmla="val 9756"/>
            </a:avLst>
          </a:prstGeom>
          <a:solidFill>
            <a:srgbClr val="F0F4F8"/>
          </a:solidFill>
          <a:ln/>
        </p:spPr>
      </p:sp>
      <p:sp>
        <p:nvSpPr>
          <p:cNvPr id="6" name="Text 4"/>
          <p:cNvSpPr/>
          <p:nvPr/>
        </p:nvSpPr>
        <p:spPr>
          <a:xfrm>
            <a:off x="731520" y="2862072"/>
            <a:ext cx="2286000" cy="594360"/>
          </a:xfrm>
          <a:prstGeom prst="rect">
            <a:avLst/>
          </a:prstGeom>
          <a:noFill/>
          <a:ln/>
        </p:spPr>
        <p:txBody>
          <a:bodyPr wrap="square" lIns="0" tIns="0" rIns="0" bIns="0" rtlCol="0" anchor="ctr"/>
          <a:lstStyle/>
          <a:p>
            <a:pPr indent="0" marL="0">
              <a:buNone/>
            </a:pPr>
            <a:r>
              <a:rPr lang="en-US" sz="1300" b="1" dirty="0">
                <a:solidFill>
                  <a:srgbClr val="0F4C75"/>
                </a:solidFill>
                <a:latin typeface="Courier New" pitchFamily="34" charset="0"/>
                <a:ea typeface="Courier New" pitchFamily="34" charset="-122"/>
                <a:cs typeface="Courier New" pitchFamily="34" charset="-120"/>
              </a:rPr>
              <a:t>@afd_profile.py</a:t>
            </a:r>
            <a:endParaRPr lang="en-US" sz="1300" dirty="0"/>
          </a:p>
        </p:txBody>
      </p:sp>
      <p:sp>
        <p:nvSpPr>
          <p:cNvPr id="7" name="Text 5"/>
          <p:cNvSpPr/>
          <p:nvPr/>
        </p:nvSpPr>
        <p:spPr>
          <a:xfrm>
            <a:off x="3063240" y="2862072"/>
            <a:ext cx="2606040" cy="594360"/>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ground a change in the real type-inference logic</a:t>
            </a:r>
            <a:endParaRPr lang="en-US" sz="1200" dirty="0"/>
          </a:p>
        </p:txBody>
      </p:sp>
      <p:sp>
        <p:nvSpPr>
          <p:cNvPr id="8" name="Shape 6"/>
          <p:cNvSpPr/>
          <p:nvPr/>
        </p:nvSpPr>
        <p:spPr>
          <a:xfrm>
            <a:off x="548640" y="3685032"/>
            <a:ext cx="5212080" cy="749808"/>
          </a:xfrm>
          <a:prstGeom prst="roundRect">
            <a:avLst>
              <a:gd name="adj" fmla="val 9756"/>
            </a:avLst>
          </a:prstGeom>
          <a:solidFill>
            <a:srgbClr val="F0F4F8"/>
          </a:solidFill>
          <a:ln/>
        </p:spPr>
      </p:sp>
      <p:sp>
        <p:nvSpPr>
          <p:cNvPr id="9" name="Text 7"/>
          <p:cNvSpPr/>
          <p:nvPr/>
        </p:nvSpPr>
        <p:spPr>
          <a:xfrm>
            <a:off x="731520" y="3758184"/>
            <a:ext cx="2286000" cy="594360"/>
          </a:xfrm>
          <a:prstGeom prst="rect">
            <a:avLst/>
          </a:prstGeom>
          <a:noFill/>
          <a:ln/>
        </p:spPr>
        <p:txBody>
          <a:bodyPr wrap="square" lIns="0" tIns="0" rIns="0" bIns="0" rtlCol="0" anchor="ctr"/>
          <a:lstStyle/>
          <a:p>
            <a:pPr indent="0" marL="0">
              <a:buNone/>
            </a:pPr>
            <a:r>
              <a:rPr lang="en-US" sz="1300" b="1" dirty="0">
                <a:solidFill>
                  <a:srgbClr val="0F4C75"/>
                </a:solidFill>
                <a:latin typeface="Courier New" pitchFamily="34" charset="0"/>
                <a:ea typeface="Courier New" pitchFamily="34" charset="-122"/>
                <a:cs typeface="Courier New" pitchFamily="34" charset="-120"/>
              </a:rPr>
              <a:t>@cli.py</a:t>
            </a:r>
            <a:endParaRPr lang="en-US" sz="1300" dirty="0"/>
          </a:p>
        </p:txBody>
      </p:sp>
      <p:sp>
        <p:nvSpPr>
          <p:cNvPr id="10" name="Text 8"/>
          <p:cNvSpPr/>
          <p:nvPr/>
        </p:nvSpPr>
        <p:spPr>
          <a:xfrm>
            <a:off x="3063240" y="3758184"/>
            <a:ext cx="2606040" cy="594360"/>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reuse existing argument patterns, don't reinvent them</a:t>
            </a:r>
            <a:endParaRPr lang="en-US" sz="1200" dirty="0"/>
          </a:p>
        </p:txBody>
      </p:sp>
      <p:sp>
        <p:nvSpPr>
          <p:cNvPr id="11" name="Shape 9"/>
          <p:cNvSpPr/>
          <p:nvPr/>
        </p:nvSpPr>
        <p:spPr>
          <a:xfrm>
            <a:off x="548640" y="4581144"/>
            <a:ext cx="5212080" cy="749808"/>
          </a:xfrm>
          <a:prstGeom prst="roundRect">
            <a:avLst>
              <a:gd name="adj" fmla="val 9756"/>
            </a:avLst>
          </a:prstGeom>
          <a:solidFill>
            <a:srgbClr val="F0F4F8"/>
          </a:solidFill>
          <a:ln/>
        </p:spPr>
      </p:sp>
      <p:sp>
        <p:nvSpPr>
          <p:cNvPr id="12" name="Text 10"/>
          <p:cNvSpPr/>
          <p:nvPr/>
        </p:nvSpPr>
        <p:spPr>
          <a:xfrm>
            <a:off x="731520" y="4654296"/>
            <a:ext cx="2286000" cy="594360"/>
          </a:xfrm>
          <a:prstGeom prst="rect">
            <a:avLst/>
          </a:prstGeom>
          <a:noFill/>
          <a:ln/>
        </p:spPr>
        <p:txBody>
          <a:bodyPr wrap="square" lIns="0" tIns="0" rIns="0" bIns="0" rtlCol="0" anchor="ctr"/>
          <a:lstStyle/>
          <a:p>
            <a:pPr indent="0" marL="0">
              <a:buNone/>
            </a:pPr>
            <a:r>
              <a:rPr lang="en-US" sz="1300" b="1" dirty="0">
                <a:solidFill>
                  <a:srgbClr val="0F4C75"/>
                </a:solidFill>
                <a:latin typeface="Courier New" pitchFamily="34" charset="0"/>
                <a:ea typeface="Courier New" pitchFamily="34" charset="-122"/>
                <a:cs typeface="Courier New" pitchFamily="34" charset="-120"/>
              </a:rPr>
              <a:t>@README.md</a:t>
            </a:r>
            <a:endParaRPr lang="en-US" sz="1300" dirty="0"/>
          </a:p>
        </p:txBody>
      </p:sp>
      <p:sp>
        <p:nvSpPr>
          <p:cNvPr id="13" name="Text 11"/>
          <p:cNvSpPr/>
          <p:nvPr/>
        </p:nvSpPr>
        <p:spPr>
          <a:xfrm>
            <a:off x="3063240" y="4654296"/>
            <a:ext cx="2606040" cy="594360"/>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keep docs and code in sync automatically</a:t>
            </a:r>
            <a:endParaRPr lang="en-US" sz="1200" dirty="0"/>
          </a:p>
        </p:txBody>
      </p:sp>
      <p:sp>
        <p:nvSpPr>
          <p:cNvPr id="14" name="Shape 12"/>
          <p:cNvSpPr/>
          <p:nvPr/>
        </p:nvSpPr>
        <p:spPr>
          <a:xfrm>
            <a:off x="548640" y="5477256"/>
            <a:ext cx="5212080" cy="749808"/>
          </a:xfrm>
          <a:prstGeom prst="roundRect">
            <a:avLst>
              <a:gd name="adj" fmla="val 9756"/>
            </a:avLst>
          </a:prstGeom>
          <a:solidFill>
            <a:srgbClr val="F0F4F8"/>
          </a:solidFill>
          <a:ln/>
        </p:spPr>
      </p:sp>
      <p:sp>
        <p:nvSpPr>
          <p:cNvPr id="15" name="Text 13"/>
          <p:cNvSpPr/>
          <p:nvPr/>
        </p:nvSpPr>
        <p:spPr>
          <a:xfrm>
            <a:off x="731520" y="5550408"/>
            <a:ext cx="2286000" cy="594360"/>
          </a:xfrm>
          <a:prstGeom prst="rect">
            <a:avLst/>
          </a:prstGeom>
          <a:noFill/>
          <a:ln/>
        </p:spPr>
        <p:txBody>
          <a:bodyPr wrap="square" lIns="0" tIns="0" rIns="0" bIns="0" rtlCol="0" anchor="ctr"/>
          <a:lstStyle/>
          <a:p>
            <a:pPr indent="0" marL="0">
              <a:buNone/>
            </a:pPr>
            <a:r>
              <a:rPr lang="en-US" sz="1300" b="1" dirty="0">
                <a:solidFill>
                  <a:srgbClr val="0F4C75"/>
                </a:solidFill>
                <a:latin typeface="Courier New" pitchFamily="34" charset="0"/>
                <a:ea typeface="Courier New" pitchFamily="34" charset="-122"/>
                <a:cs typeface="Courier New" pitchFamily="34" charset="-120"/>
              </a:rPr>
              <a:t>@Git (diff)</a:t>
            </a:r>
            <a:endParaRPr lang="en-US" sz="1300" dirty="0"/>
          </a:p>
        </p:txBody>
      </p:sp>
      <p:sp>
        <p:nvSpPr>
          <p:cNvPr id="16" name="Text 14"/>
          <p:cNvSpPr/>
          <p:nvPr/>
        </p:nvSpPr>
        <p:spPr>
          <a:xfrm>
            <a:off x="3063240" y="5550408"/>
            <a:ext cx="2606040" cy="594360"/>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review only what changed, not the whole repo</a:t>
            </a:r>
            <a:endParaRPr lang="en-US" sz="1200" dirty="0"/>
          </a:p>
        </p:txBody>
      </p:sp>
      <p:sp>
        <p:nvSpPr>
          <p:cNvPr id="17" name="Shape 15"/>
          <p:cNvSpPr/>
          <p:nvPr/>
        </p:nvSpPr>
        <p:spPr>
          <a:xfrm>
            <a:off x="5989320" y="1417320"/>
            <a:ext cx="5623560" cy="4572000"/>
          </a:xfrm>
          <a:prstGeom prst="roundRect">
            <a:avLst>
              <a:gd name="adj" fmla="val 1600"/>
            </a:avLst>
          </a:prstGeom>
          <a:solidFill>
            <a:srgbClr val="0B1F3A"/>
          </a:solidFill>
          <a:ln/>
          <a:effectLst>
            <a:outerShdw sx="100000" sy="100000" kx="0" ky="0" algn="bl" rotWithShape="0" blurRad="76200" dist="25400" dir="5400000">
              <a:srgbClr val="0B1F3A">
                <a:alpha val="18000"/>
              </a:srgbClr>
            </a:outerShdw>
          </a:effectLst>
        </p:spPr>
      </p:sp>
      <p:sp>
        <p:nvSpPr>
          <p:cNvPr id="18" name="Text 16"/>
          <p:cNvSpPr/>
          <p:nvPr/>
        </p:nvSpPr>
        <p:spPr>
          <a:xfrm>
            <a:off x="6245352" y="1600200"/>
            <a:ext cx="5111496" cy="4206240"/>
          </a:xfrm>
          <a:prstGeom prst="rect">
            <a:avLst/>
          </a:prstGeom>
          <a:noFill/>
          <a:ln/>
        </p:spPr>
        <p:txBody>
          <a:bodyPr wrap="square" lIns="0" tIns="0" rIns="0" bIns="0" rtlCol="0" anchor="t"/>
          <a:lstStyle/>
          <a:p>
            <a:pPr indent="0" marL="0">
              <a:lnSpc>
                <a:spcPct val="125000"/>
              </a:lnSpc>
              <a:buNone/>
            </a:pPr>
            <a:r>
              <a:rPr lang="en-US" sz="1250" b="1" dirty="0">
                <a:solidFill>
                  <a:srgbClr val="FFFFFF"/>
                </a:solidFill>
                <a:latin typeface="Courier New" pitchFamily="34" charset="0"/>
                <a:ea typeface="Courier New" pitchFamily="34" charset="-122"/>
                <a:cs typeface="Courier New" pitchFamily="34" charset="-120"/>
              </a:rPr>
              <a:t>@afd_profile.py why does the type</a:t>
            </a:r>
            <a:endParaRPr lang="en-US" sz="1250" dirty="0"/>
          </a:p>
          <a:p>
            <a:pPr indent="0" marL="0">
              <a:lnSpc>
                <a:spcPct val="125000"/>
              </a:lnSpc>
              <a:buNone/>
            </a:pPr>
            <a:r>
              <a:rPr lang="en-US" sz="1250" b="1" dirty="0">
                <a:solidFill>
                  <a:srgbClr val="FFFFFF"/>
                </a:solidFill>
                <a:latin typeface="Courier New" pitchFamily="34" charset="0"/>
                <a:ea typeface="Courier New" pitchFamily="34" charset="-122"/>
                <a:cs typeface="Courier New" pitchFamily="34" charset="-120"/>
              </a:rPr>
              <a:t>inference treat a column with 500</a:t>
            </a:r>
            <a:endParaRPr lang="en-US" sz="1250" dirty="0"/>
          </a:p>
          <a:p>
            <a:pPr indent="0" marL="0">
              <a:lnSpc>
                <a:spcPct val="125000"/>
              </a:lnSpc>
              <a:buNone/>
            </a:pPr>
            <a:r>
              <a:rPr lang="en-US" sz="1250" b="1" dirty="0">
                <a:solidFill>
                  <a:srgbClr val="FFFFFF"/>
                </a:solidFill>
                <a:latin typeface="Courier New" pitchFamily="34" charset="0"/>
                <a:ea typeface="Courier New" pitchFamily="34" charset="-122"/>
                <a:cs typeface="Courier New" pitchFamily="34" charset="-120"/>
              </a:rPr>
              <a:t>distinct 2-word category labels as</a:t>
            </a:r>
            <a:endParaRPr lang="en-US" sz="1250" dirty="0"/>
          </a:p>
          <a:p>
            <a:pPr indent="0" marL="0">
              <a:lnSpc>
                <a:spcPct val="125000"/>
              </a:lnSpc>
              <a:buNone/>
            </a:pPr>
            <a:r>
              <a:rPr lang="en-US" sz="1250" b="1" dirty="0">
                <a:solidFill>
                  <a:srgbClr val="FFFFFF"/>
                </a:solidFill>
                <a:latin typeface="Courier New" pitchFamily="34" charset="0"/>
                <a:ea typeface="Courier New" pitchFamily="34" charset="-122"/>
                <a:cs typeface="Courier New" pitchFamily="34" charset="-120"/>
              </a:rPr>
              <a:t>TEXT instead of CATEGORY?</a:t>
            </a:r>
            <a:endParaRPr lang="en-US" sz="1250" dirty="0"/>
          </a:p>
          <a:p>
            <a:pPr indent="0" marL="0">
              <a:lnSpc>
                <a:spcPct val="125000"/>
              </a:lnSpc>
              <a:buNone/>
            </a:pPr>
            <a:endParaRPr lang="en-US" sz="1250" dirty="0"/>
          </a:p>
          <a:p>
            <a:pPr indent="0" marL="0">
              <a:lnSpc>
                <a:spcPct val="125000"/>
              </a:lnSpc>
              <a:buNone/>
            </a:pPr>
            <a:r>
              <a:rPr lang="en-US" sz="1250" dirty="0">
                <a:solidFill>
                  <a:srgbClr val="8FA6BE"/>
                </a:solidFill>
                <a:latin typeface="Courier New" pitchFamily="34" charset="0"/>
                <a:ea typeface="Courier New" pitchFamily="34" charset="-122"/>
                <a:cs typeface="Courier New" pitchFamily="34" charset="-120"/>
              </a:rPr>
              <a:t>— Cursor reads the file before</a:t>
            </a:r>
            <a:endParaRPr lang="en-US" sz="1250" dirty="0"/>
          </a:p>
          <a:p>
            <a:pPr indent="0" marL="0">
              <a:lnSpc>
                <a:spcPct val="125000"/>
              </a:lnSpc>
              <a:buNone/>
            </a:pPr>
            <a:r>
              <a:rPr lang="en-US" sz="1250" dirty="0">
                <a:solidFill>
                  <a:srgbClr val="8FA6BE"/>
                </a:solidFill>
                <a:latin typeface="Courier New" pitchFamily="34" charset="0"/>
                <a:ea typeface="Courier New" pitchFamily="34" charset="-122"/>
                <a:cs typeface="Courier New" pitchFamily="34" charset="-120"/>
              </a:rPr>
              <a:t>  answering.</a:t>
            </a:r>
            <a:endParaRPr lang="en-US" sz="1250" dirty="0"/>
          </a:p>
          <a:p>
            <a:pPr indent="0" marL="0">
              <a:lnSpc>
                <a:spcPct val="125000"/>
              </a:lnSpc>
              <a:buNone/>
            </a:pPr>
            <a:endParaRPr lang="en-US" sz="1250" dirty="0"/>
          </a:p>
          <a:p>
            <a:pPr indent="0" marL="0">
              <a:lnSpc>
                <a:spcPct val="125000"/>
              </a:lnSpc>
              <a:buNone/>
            </a:pPr>
            <a:r>
              <a:rPr lang="en-US" sz="1250" dirty="0">
                <a:solidFill>
                  <a:srgbClr val="6FCF97"/>
                </a:solidFill>
                <a:latin typeface="Courier New" pitchFamily="34" charset="0"/>
                <a:ea typeface="Courier New" pitchFamily="34" charset="-122"/>
                <a:cs typeface="Courier New" pitchFamily="34" charset="-120"/>
              </a:rPr>
              <a:t>check_if_nlp_feature() flags any</a:t>
            </a:r>
            <a:endParaRPr lang="en-US" sz="1250" dirty="0"/>
          </a:p>
          <a:p>
            <a:pPr indent="0" marL="0">
              <a:lnSpc>
                <a:spcPct val="125000"/>
              </a:lnSpc>
              <a:buNone/>
            </a:pPr>
            <a:r>
              <a:rPr lang="en-US" sz="1250" dirty="0">
                <a:solidFill>
                  <a:srgbClr val="6FCF97"/>
                </a:solidFill>
                <a:latin typeface="Courier New" pitchFamily="34" charset="0"/>
                <a:ea typeface="Courier New" pitchFamily="34" charset="-122"/>
                <a:cs typeface="Courier New" pitchFamily="34" charset="-120"/>
              </a:rPr>
              <a:t>object column with &gt;1% unique values</a:t>
            </a:r>
            <a:endParaRPr lang="en-US" sz="1250" dirty="0"/>
          </a:p>
          <a:p>
            <a:pPr indent="0" marL="0">
              <a:lnSpc>
                <a:spcPct val="125000"/>
              </a:lnSpc>
              <a:buNone/>
            </a:pPr>
            <a:r>
              <a:rPr lang="en-US" sz="1250" dirty="0">
                <a:solidFill>
                  <a:srgbClr val="6FCF97"/>
                </a:solidFill>
                <a:latin typeface="Courier New" pitchFamily="34" charset="0"/>
                <a:ea typeface="Courier New" pitchFamily="34" charset="-122"/>
                <a:cs typeface="Courier New" pitchFamily="34" charset="-120"/>
              </a:rPr>
              <a:t>and 3+ average words as NLP text —</a:t>
            </a:r>
            <a:endParaRPr lang="en-US" sz="1250" dirty="0"/>
          </a:p>
          <a:p>
            <a:pPr indent="0" marL="0">
              <a:lnSpc>
                <a:spcPct val="125000"/>
              </a:lnSpc>
              <a:buNone/>
            </a:pPr>
            <a:r>
              <a:rPr lang="en-US" sz="1250" dirty="0">
                <a:solidFill>
                  <a:srgbClr val="6FCF97"/>
                </a:solidFill>
                <a:latin typeface="Courier New" pitchFamily="34" charset="0"/>
                <a:ea typeface="Courier New" pitchFamily="34" charset="-122"/>
                <a:cs typeface="Courier New" pitchFamily="34" charset="-120"/>
              </a:rPr>
              <a:t>two-word category labels trip the</a:t>
            </a:r>
            <a:endParaRPr lang="en-US" sz="1250" dirty="0"/>
          </a:p>
          <a:p>
            <a:pPr indent="0" marL="0">
              <a:lnSpc>
                <a:spcPct val="125000"/>
              </a:lnSpc>
              <a:buNone/>
            </a:pPr>
            <a:r>
              <a:rPr lang="en-US" sz="1250" dirty="0">
                <a:solidFill>
                  <a:srgbClr val="6FCF97"/>
                </a:solidFill>
                <a:latin typeface="Courier New" pitchFamily="34" charset="0"/>
                <a:ea typeface="Courier New" pitchFamily="34" charset="-122"/>
                <a:cs typeface="Courier New" pitchFamily="34" charset="-120"/>
              </a:rPr>
              <a:t>word-count heuristic.</a:t>
            </a:r>
            <a:endParaRPr lang="en-US" sz="1250" dirty="0"/>
          </a:p>
        </p:txBody>
      </p:sp>
      <p:sp>
        <p:nvSpPr>
          <p:cNvPr id="19" name="Text 17"/>
          <p:cNvSpPr/>
          <p:nvPr/>
        </p:nvSpPr>
        <p:spPr>
          <a:xfrm>
            <a:off x="548640" y="6537960"/>
            <a:ext cx="5486400" cy="274320"/>
          </a:xfrm>
          <a:prstGeom prst="rect">
            <a:avLst/>
          </a:prstGeom>
          <a:noFill/>
          <a:ln/>
        </p:spPr>
        <p:txBody>
          <a:bodyPr wrap="square" lIns="0" tIns="0" rIns="0" bIns="0" rtlCol="0" anchor="ctr"/>
          <a:lstStyle/>
          <a:p>
            <a:pPr indent="0" marL="0">
              <a:buNone/>
            </a:pPr>
            <a:r>
              <a:rPr lang="en-US" sz="900" dirty="0">
                <a:solidFill>
                  <a:srgbClr val="9AA7B5"/>
                </a:solidFill>
                <a:latin typeface="Calibri" pitchFamily="34" charset="0"/>
                <a:ea typeface="Calibri" pitchFamily="34" charset="-122"/>
                <a:cs typeface="Calibri" pitchFamily="34" charset="-120"/>
              </a:rPr>
              <a:t>Cursor for Engineers</a:t>
            </a:r>
            <a:endParaRPr lang="en-US" sz="900" dirty="0"/>
          </a:p>
        </p:txBody>
      </p:sp>
      <p:sp>
        <p:nvSpPr>
          <p:cNvPr id="20" name="Text 18"/>
          <p:cNvSpPr/>
          <p:nvPr/>
        </p:nvSpPr>
        <p:spPr>
          <a:xfrm>
            <a:off x="11338560" y="6537960"/>
            <a:ext cx="365760" cy="274320"/>
          </a:xfrm>
          <a:prstGeom prst="rect">
            <a:avLst/>
          </a:prstGeom>
          <a:noFill/>
          <a:ln/>
        </p:spPr>
        <p:txBody>
          <a:bodyPr wrap="square" lIns="0" tIns="0" rIns="0" bIns="0" rtlCol="0" anchor="ctr"/>
          <a:lstStyle/>
          <a:p>
            <a:pPr algn="r" indent="0" marL="0">
              <a:buNone/>
            </a:pPr>
            <a:r>
              <a:rPr lang="en-US" sz="900" dirty="0">
                <a:solidFill>
                  <a:srgbClr val="9AA7B5"/>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lIns="0" tIns="0" rIns="0" bIns="0" rtlCol="0" anchor="ctr"/>
          <a:lstStyle/>
          <a:p>
            <a:pPr indent="0" marL="0">
              <a:buNone/>
            </a:pPr>
            <a:r>
              <a:rPr lang="en-US" sz="1300" b="1" spc="200" kern="0" dirty="0">
                <a:solidFill>
                  <a:srgbClr val="3282B8"/>
                </a:solidFill>
                <a:latin typeface="Calibri" pitchFamily="34" charset="0"/>
                <a:ea typeface="Calibri" pitchFamily="34" charset="-122"/>
                <a:cs typeface="Calibri" pitchFamily="34" charset="-120"/>
              </a:rPr>
              <a:t>SPEED UP THE ROUTINE</a:t>
            </a:r>
            <a:endParaRPr lang="en-US" sz="1300" dirty="0"/>
          </a:p>
        </p:txBody>
      </p:sp>
      <p:sp>
        <p:nvSpPr>
          <p:cNvPr id="3" name="Text 1"/>
          <p:cNvSpPr/>
          <p:nvPr/>
        </p:nvSpPr>
        <p:spPr>
          <a:xfrm>
            <a:off x="548640" y="731520"/>
            <a:ext cx="11064240" cy="822960"/>
          </a:xfrm>
          <a:prstGeom prst="rect">
            <a:avLst/>
          </a:prstGeom>
          <a:noFill/>
          <a:ln/>
        </p:spPr>
        <p:txBody>
          <a:bodyPr wrap="square" lIns="0" tIns="0" rIns="0" bIns="0" rtlCol="0" anchor="ctr"/>
          <a:lstStyle/>
          <a:p>
            <a:pPr indent="0" marL="0">
              <a:buNone/>
            </a:pPr>
            <a:r>
              <a:rPr lang="en-US" sz="3000" b="1" dirty="0">
                <a:solidFill>
                  <a:srgbClr val="16233A"/>
                </a:solidFill>
                <a:latin typeface="Cambria" pitchFamily="34" charset="0"/>
                <a:ea typeface="Cambria" pitchFamily="34" charset="-122"/>
                <a:cs typeface="Cambria" pitchFamily="34" charset="-120"/>
              </a:rPr>
              <a:t>Slash commands for the moves you repeat daily</a:t>
            </a:r>
            <a:endParaRPr lang="en-US" sz="3000" dirty="0"/>
          </a:p>
        </p:txBody>
      </p:sp>
      <p:sp>
        <p:nvSpPr>
          <p:cNvPr id="4" name="Shape 2"/>
          <p:cNvSpPr/>
          <p:nvPr/>
        </p:nvSpPr>
        <p:spPr>
          <a:xfrm>
            <a:off x="548640" y="1691640"/>
            <a:ext cx="5440680" cy="1325880"/>
          </a:xfrm>
          <a:prstGeom prst="roundRect">
            <a:avLst>
              <a:gd name="adj" fmla="val 6897"/>
            </a:avLst>
          </a:prstGeom>
          <a:solidFill>
            <a:srgbClr val="F0F4F8"/>
          </a:solidFill>
          <a:ln/>
          <a:effectLst>
            <a:outerShdw sx="100000" sy="100000" kx="0" ky="0" algn="bl" rotWithShape="0" blurRad="76200" dist="25400" dir="5400000">
              <a:srgbClr val="0B1F3A">
                <a:alpha val="18000"/>
              </a:srgbClr>
            </a:outerShdw>
          </a:effectLst>
        </p:spPr>
      </p:sp>
      <p:sp>
        <p:nvSpPr>
          <p:cNvPr id="5" name="Text 3"/>
          <p:cNvSpPr/>
          <p:nvPr/>
        </p:nvSpPr>
        <p:spPr>
          <a:xfrm>
            <a:off x="868680" y="1856232"/>
            <a:ext cx="4800600" cy="411480"/>
          </a:xfrm>
          <a:prstGeom prst="rect">
            <a:avLst/>
          </a:prstGeom>
          <a:noFill/>
          <a:ln/>
        </p:spPr>
        <p:txBody>
          <a:bodyPr wrap="square" lIns="0" tIns="0" rIns="0" bIns="0" rtlCol="0" anchor="ctr"/>
          <a:lstStyle/>
          <a:p>
            <a:pPr indent="0" marL="0">
              <a:buNone/>
            </a:pPr>
            <a:r>
              <a:rPr lang="en-US" sz="1600" b="1" dirty="0">
                <a:solidFill>
                  <a:srgbClr val="0F4C75"/>
                </a:solidFill>
                <a:latin typeface="Courier New" pitchFamily="34" charset="0"/>
                <a:ea typeface="Courier New" pitchFamily="34" charset="-122"/>
                <a:cs typeface="Courier New" pitchFamily="34" charset="-120"/>
              </a:rPr>
              <a:t>/Fix</a:t>
            </a:r>
            <a:endParaRPr lang="en-US" sz="1600" dirty="0"/>
          </a:p>
        </p:txBody>
      </p:sp>
      <p:sp>
        <p:nvSpPr>
          <p:cNvPr id="6" name="Text 4"/>
          <p:cNvSpPr/>
          <p:nvPr/>
        </p:nvSpPr>
        <p:spPr>
          <a:xfrm>
            <a:off x="868680" y="2286000"/>
            <a:ext cx="4800600" cy="658368"/>
          </a:xfrm>
          <a:prstGeom prst="rect">
            <a:avLst/>
          </a:prstGeom>
          <a:noFill/>
          <a:ln/>
        </p:spPr>
        <p:txBody>
          <a:bodyPr wrap="square" lIns="0" tIns="0" rIns="0" bIns="0" rtlCol="0" anchor="ctr"/>
          <a:lstStyle/>
          <a:p>
            <a:pPr indent="0" marL="0">
              <a:lnSpc>
                <a:spcPct val="120000"/>
              </a:lnSpc>
              <a:buNone/>
            </a:pPr>
            <a:r>
              <a:rPr lang="en-US" sz="1250" dirty="0">
                <a:solidFill>
                  <a:srgbClr val="5C6B7A"/>
                </a:solidFill>
                <a:latin typeface="Calibri" pitchFamily="34" charset="0"/>
                <a:ea typeface="Calibri" pitchFamily="34" charset="-122"/>
                <a:cs typeface="Calibri" pitchFamily="34" charset="-120"/>
              </a:rPr>
              <a:t>Diagnose and patch the highlighted error or failing test</a:t>
            </a:r>
            <a:endParaRPr lang="en-US" sz="1250" dirty="0"/>
          </a:p>
        </p:txBody>
      </p:sp>
      <p:sp>
        <p:nvSpPr>
          <p:cNvPr id="7" name="Shape 5"/>
          <p:cNvSpPr/>
          <p:nvPr/>
        </p:nvSpPr>
        <p:spPr>
          <a:xfrm>
            <a:off x="6355080" y="1691640"/>
            <a:ext cx="5440680" cy="1325880"/>
          </a:xfrm>
          <a:prstGeom prst="roundRect">
            <a:avLst>
              <a:gd name="adj" fmla="val 6897"/>
            </a:avLst>
          </a:prstGeom>
          <a:solidFill>
            <a:srgbClr val="F0F4F8"/>
          </a:solidFill>
          <a:ln/>
          <a:effectLst>
            <a:outerShdw sx="100000" sy="100000" kx="0" ky="0" algn="bl" rotWithShape="0" blurRad="76200" dist="25400" dir="5400000">
              <a:srgbClr val="0B1F3A">
                <a:alpha val="18000"/>
              </a:srgbClr>
            </a:outerShdw>
          </a:effectLst>
        </p:spPr>
      </p:sp>
      <p:sp>
        <p:nvSpPr>
          <p:cNvPr id="8" name="Text 6"/>
          <p:cNvSpPr/>
          <p:nvPr/>
        </p:nvSpPr>
        <p:spPr>
          <a:xfrm>
            <a:off x="6675120" y="1856232"/>
            <a:ext cx="4800600" cy="411480"/>
          </a:xfrm>
          <a:prstGeom prst="rect">
            <a:avLst/>
          </a:prstGeom>
          <a:noFill/>
          <a:ln/>
        </p:spPr>
        <p:txBody>
          <a:bodyPr wrap="square" lIns="0" tIns="0" rIns="0" bIns="0" rtlCol="0" anchor="ctr"/>
          <a:lstStyle/>
          <a:p>
            <a:pPr indent="0" marL="0">
              <a:buNone/>
            </a:pPr>
            <a:r>
              <a:rPr lang="en-US" sz="1600" b="1" dirty="0">
                <a:solidFill>
                  <a:srgbClr val="0F4C75"/>
                </a:solidFill>
                <a:latin typeface="Courier New" pitchFamily="34" charset="0"/>
                <a:ea typeface="Courier New" pitchFamily="34" charset="-122"/>
                <a:cs typeface="Courier New" pitchFamily="34" charset="-120"/>
              </a:rPr>
              <a:t>/Explain</a:t>
            </a:r>
            <a:endParaRPr lang="en-US" sz="1600" dirty="0"/>
          </a:p>
        </p:txBody>
      </p:sp>
      <p:sp>
        <p:nvSpPr>
          <p:cNvPr id="9" name="Text 7"/>
          <p:cNvSpPr/>
          <p:nvPr/>
        </p:nvSpPr>
        <p:spPr>
          <a:xfrm>
            <a:off x="6675120" y="2286000"/>
            <a:ext cx="4800600" cy="658368"/>
          </a:xfrm>
          <a:prstGeom prst="rect">
            <a:avLst/>
          </a:prstGeom>
          <a:noFill/>
          <a:ln/>
        </p:spPr>
        <p:txBody>
          <a:bodyPr wrap="square" lIns="0" tIns="0" rIns="0" bIns="0" rtlCol="0" anchor="ctr"/>
          <a:lstStyle/>
          <a:p>
            <a:pPr indent="0" marL="0">
              <a:lnSpc>
                <a:spcPct val="120000"/>
              </a:lnSpc>
              <a:buNone/>
            </a:pPr>
            <a:r>
              <a:rPr lang="en-US" sz="1250" dirty="0">
                <a:solidFill>
                  <a:srgbClr val="5C6B7A"/>
                </a:solidFill>
                <a:latin typeface="Calibri" pitchFamily="34" charset="0"/>
                <a:ea typeface="Calibri" pitchFamily="34" charset="-122"/>
                <a:cs typeface="Calibri" pitchFamily="34" charset="-120"/>
              </a:rPr>
              <a:t>Walk through what a function, query, or diff actually does</a:t>
            </a:r>
            <a:endParaRPr lang="en-US" sz="1250" dirty="0"/>
          </a:p>
        </p:txBody>
      </p:sp>
      <p:sp>
        <p:nvSpPr>
          <p:cNvPr id="10" name="Shape 8"/>
          <p:cNvSpPr/>
          <p:nvPr/>
        </p:nvSpPr>
        <p:spPr>
          <a:xfrm>
            <a:off x="548640" y="3154680"/>
            <a:ext cx="5440680" cy="1325880"/>
          </a:xfrm>
          <a:prstGeom prst="roundRect">
            <a:avLst>
              <a:gd name="adj" fmla="val 6897"/>
            </a:avLst>
          </a:prstGeom>
          <a:solidFill>
            <a:srgbClr val="F0F4F8"/>
          </a:solidFill>
          <a:ln/>
          <a:effectLst>
            <a:outerShdw sx="100000" sy="100000" kx="0" ky="0" algn="bl" rotWithShape="0" blurRad="76200" dist="25400" dir="5400000">
              <a:srgbClr val="0B1F3A">
                <a:alpha val="18000"/>
              </a:srgbClr>
            </a:outerShdw>
          </a:effectLst>
        </p:spPr>
      </p:sp>
      <p:sp>
        <p:nvSpPr>
          <p:cNvPr id="11" name="Text 9"/>
          <p:cNvSpPr/>
          <p:nvPr/>
        </p:nvSpPr>
        <p:spPr>
          <a:xfrm>
            <a:off x="868680" y="3319272"/>
            <a:ext cx="4800600" cy="411480"/>
          </a:xfrm>
          <a:prstGeom prst="rect">
            <a:avLst/>
          </a:prstGeom>
          <a:noFill/>
          <a:ln/>
        </p:spPr>
        <p:txBody>
          <a:bodyPr wrap="square" lIns="0" tIns="0" rIns="0" bIns="0" rtlCol="0" anchor="ctr"/>
          <a:lstStyle/>
          <a:p>
            <a:pPr indent="0" marL="0">
              <a:buNone/>
            </a:pPr>
            <a:r>
              <a:rPr lang="en-US" sz="1600" b="1" dirty="0">
                <a:solidFill>
                  <a:srgbClr val="0F4C75"/>
                </a:solidFill>
                <a:latin typeface="Courier New" pitchFamily="34" charset="0"/>
                <a:ea typeface="Courier New" pitchFamily="34" charset="-122"/>
                <a:cs typeface="Courier New" pitchFamily="34" charset="-120"/>
              </a:rPr>
              <a:t>/Generate Tests</a:t>
            </a:r>
            <a:endParaRPr lang="en-US" sz="1600" dirty="0"/>
          </a:p>
        </p:txBody>
      </p:sp>
      <p:sp>
        <p:nvSpPr>
          <p:cNvPr id="12" name="Text 10"/>
          <p:cNvSpPr/>
          <p:nvPr/>
        </p:nvSpPr>
        <p:spPr>
          <a:xfrm>
            <a:off x="868680" y="3749040"/>
            <a:ext cx="4800600" cy="658368"/>
          </a:xfrm>
          <a:prstGeom prst="rect">
            <a:avLst/>
          </a:prstGeom>
          <a:noFill/>
          <a:ln/>
        </p:spPr>
        <p:txBody>
          <a:bodyPr wrap="square" lIns="0" tIns="0" rIns="0" bIns="0" rtlCol="0" anchor="ctr"/>
          <a:lstStyle/>
          <a:p>
            <a:pPr indent="0" marL="0">
              <a:lnSpc>
                <a:spcPct val="120000"/>
              </a:lnSpc>
              <a:buNone/>
            </a:pPr>
            <a:r>
              <a:rPr lang="en-US" sz="1250" dirty="0">
                <a:solidFill>
                  <a:srgbClr val="5C6B7A"/>
                </a:solidFill>
                <a:latin typeface="Calibri" pitchFamily="34" charset="0"/>
                <a:ea typeface="Calibri" pitchFamily="34" charset="-122"/>
                <a:cs typeface="Calibri" pitchFamily="34" charset="-120"/>
              </a:rPr>
              <a:t>Draft pytest cases from a function's signature and docstring</a:t>
            </a:r>
            <a:endParaRPr lang="en-US" sz="1250" dirty="0"/>
          </a:p>
        </p:txBody>
      </p:sp>
      <p:sp>
        <p:nvSpPr>
          <p:cNvPr id="13" name="Shape 11"/>
          <p:cNvSpPr/>
          <p:nvPr/>
        </p:nvSpPr>
        <p:spPr>
          <a:xfrm>
            <a:off x="6355080" y="3154680"/>
            <a:ext cx="5440680" cy="1325880"/>
          </a:xfrm>
          <a:prstGeom prst="roundRect">
            <a:avLst>
              <a:gd name="adj" fmla="val 6897"/>
            </a:avLst>
          </a:prstGeom>
          <a:solidFill>
            <a:srgbClr val="F0F4F8"/>
          </a:solidFill>
          <a:ln/>
          <a:effectLst>
            <a:outerShdw sx="100000" sy="100000" kx="0" ky="0" algn="bl" rotWithShape="0" blurRad="76200" dist="25400" dir="5400000">
              <a:srgbClr val="0B1F3A">
                <a:alpha val="18000"/>
              </a:srgbClr>
            </a:outerShdw>
          </a:effectLst>
        </p:spPr>
      </p:sp>
      <p:sp>
        <p:nvSpPr>
          <p:cNvPr id="14" name="Text 12"/>
          <p:cNvSpPr/>
          <p:nvPr/>
        </p:nvSpPr>
        <p:spPr>
          <a:xfrm>
            <a:off x="6675120" y="3319272"/>
            <a:ext cx="4800600" cy="411480"/>
          </a:xfrm>
          <a:prstGeom prst="rect">
            <a:avLst/>
          </a:prstGeom>
          <a:noFill/>
          <a:ln/>
        </p:spPr>
        <p:txBody>
          <a:bodyPr wrap="square" lIns="0" tIns="0" rIns="0" bIns="0" rtlCol="0" anchor="ctr"/>
          <a:lstStyle/>
          <a:p>
            <a:pPr indent="0" marL="0">
              <a:buNone/>
            </a:pPr>
            <a:r>
              <a:rPr lang="en-US" sz="1600" b="1" dirty="0">
                <a:solidFill>
                  <a:srgbClr val="0F4C75"/>
                </a:solidFill>
                <a:latin typeface="Courier New" pitchFamily="34" charset="0"/>
                <a:ea typeface="Courier New" pitchFamily="34" charset="-122"/>
                <a:cs typeface="Courier New" pitchFamily="34" charset="-120"/>
              </a:rPr>
              <a:t>/Doc</a:t>
            </a:r>
            <a:endParaRPr lang="en-US" sz="1600" dirty="0"/>
          </a:p>
        </p:txBody>
      </p:sp>
      <p:sp>
        <p:nvSpPr>
          <p:cNvPr id="15" name="Text 13"/>
          <p:cNvSpPr/>
          <p:nvPr/>
        </p:nvSpPr>
        <p:spPr>
          <a:xfrm>
            <a:off x="6675120" y="3749040"/>
            <a:ext cx="4800600" cy="658368"/>
          </a:xfrm>
          <a:prstGeom prst="rect">
            <a:avLst/>
          </a:prstGeom>
          <a:noFill/>
          <a:ln/>
        </p:spPr>
        <p:txBody>
          <a:bodyPr wrap="square" lIns="0" tIns="0" rIns="0" bIns="0" rtlCol="0" anchor="ctr"/>
          <a:lstStyle/>
          <a:p>
            <a:pPr indent="0" marL="0">
              <a:lnSpc>
                <a:spcPct val="120000"/>
              </a:lnSpc>
              <a:buNone/>
            </a:pPr>
            <a:r>
              <a:rPr lang="en-US" sz="1250" dirty="0">
                <a:solidFill>
                  <a:srgbClr val="5C6B7A"/>
                </a:solidFill>
                <a:latin typeface="Calibri" pitchFamily="34" charset="0"/>
                <a:ea typeface="Calibri" pitchFamily="34" charset="-122"/>
                <a:cs typeface="Calibri" pitchFamily="34" charset="-120"/>
              </a:rPr>
              <a:t>Write or update a docstring, README section, or CLI help text</a:t>
            </a:r>
            <a:endParaRPr lang="en-US" sz="1250" dirty="0"/>
          </a:p>
        </p:txBody>
      </p:sp>
      <p:sp>
        <p:nvSpPr>
          <p:cNvPr id="16" name="Shape 14"/>
          <p:cNvSpPr/>
          <p:nvPr/>
        </p:nvSpPr>
        <p:spPr>
          <a:xfrm>
            <a:off x="548640" y="4617720"/>
            <a:ext cx="5440680" cy="1325880"/>
          </a:xfrm>
          <a:prstGeom prst="roundRect">
            <a:avLst>
              <a:gd name="adj" fmla="val 6897"/>
            </a:avLst>
          </a:prstGeom>
          <a:solidFill>
            <a:srgbClr val="F0F4F8"/>
          </a:solidFill>
          <a:ln/>
          <a:effectLst>
            <a:outerShdw sx="100000" sy="100000" kx="0" ky="0" algn="bl" rotWithShape="0" blurRad="76200" dist="25400" dir="5400000">
              <a:srgbClr val="0B1F3A">
                <a:alpha val="18000"/>
              </a:srgbClr>
            </a:outerShdw>
          </a:effectLst>
        </p:spPr>
      </p:sp>
      <p:sp>
        <p:nvSpPr>
          <p:cNvPr id="17" name="Text 15"/>
          <p:cNvSpPr/>
          <p:nvPr/>
        </p:nvSpPr>
        <p:spPr>
          <a:xfrm>
            <a:off x="868680" y="4782312"/>
            <a:ext cx="4800600" cy="411480"/>
          </a:xfrm>
          <a:prstGeom prst="rect">
            <a:avLst/>
          </a:prstGeom>
          <a:noFill/>
          <a:ln/>
        </p:spPr>
        <p:txBody>
          <a:bodyPr wrap="square" lIns="0" tIns="0" rIns="0" bIns="0" rtlCol="0" anchor="ctr"/>
          <a:lstStyle/>
          <a:p>
            <a:pPr indent="0" marL="0">
              <a:buNone/>
            </a:pPr>
            <a:r>
              <a:rPr lang="en-US" sz="1600" b="1" dirty="0">
                <a:solidFill>
                  <a:srgbClr val="0F4C75"/>
                </a:solidFill>
                <a:latin typeface="Courier New" pitchFamily="34" charset="0"/>
                <a:ea typeface="Courier New" pitchFamily="34" charset="-122"/>
                <a:cs typeface="Courier New" pitchFamily="34" charset="-120"/>
              </a:rPr>
              <a:t>/Refactor</a:t>
            </a:r>
            <a:endParaRPr lang="en-US" sz="1600" dirty="0"/>
          </a:p>
        </p:txBody>
      </p:sp>
      <p:sp>
        <p:nvSpPr>
          <p:cNvPr id="18" name="Text 16"/>
          <p:cNvSpPr/>
          <p:nvPr/>
        </p:nvSpPr>
        <p:spPr>
          <a:xfrm>
            <a:off x="868680" y="5212080"/>
            <a:ext cx="4800600" cy="658368"/>
          </a:xfrm>
          <a:prstGeom prst="rect">
            <a:avLst/>
          </a:prstGeom>
          <a:noFill/>
          <a:ln/>
        </p:spPr>
        <p:txBody>
          <a:bodyPr wrap="square" lIns="0" tIns="0" rIns="0" bIns="0" rtlCol="0" anchor="ctr"/>
          <a:lstStyle/>
          <a:p>
            <a:pPr indent="0" marL="0">
              <a:lnSpc>
                <a:spcPct val="120000"/>
              </a:lnSpc>
              <a:buNone/>
            </a:pPr>
            <a:r>
              <a:rPr lang="en-US" sz="1250" dirty="0">
                <a:solidFill>
                  <a:srgbClr val="5C6B7A"/>
                </a:solidFill>
                <a:latin typeface="Calibri" pitchFamily="34" charset="0"/>
                <a:ea typeface="Calibri" pitchFamily="34" charset="-122"/>
                <a:cs typeface="Calibri" pitchFamily="34" charset="-120"/>
              </a:rPr>
              <a:t>Restructure a selection without changing behavior</a:t>
            </a:r>
            <a:endParaRPr lang="en-US" sz="1250" dirty="0"/>
          </a:p>
        </p:txBody>
      </p:sp>
      <p:sp>
        <p:nvSpPr>
          <p:cNvPr id="19" name="Shape 17"/>
          <p:cNvSpPr/>
          <p:nvPr/>
        </p:nvSpPr>
        <p:spPr>
          <a:xfrm>
            <a:off x="6355080" y="4617720"/>
            <a:ext cx="5440680" cy="1325880"/>
          </a:xfrm>
          <a:prstGeom prst="roundRect">
            <a:avLst>
              <a:gd name="adj" fmla="val 6897"/>
            </a:avLst>
          </a:prstGeom>
          <a:solidFill>
            <a:srgbClr val="F0F4F8"/>
          </a:solidFill>
          <a:ln/>
          <a:effectLst>
            <a:outerShdw sx="100000" sy="100000" kx="0" ky="0" algn="bl" rotWithShape="0" blurRad="76200" dist="25400" dir="5400000">
              <a:srgbClr val="0B1F3A">
                <a:alpha val="18000"/>
              </a:srgbClr>
            </a:outerShdw>
          </a:effectLst>
        </p:spPr>
      </p:sp>
      <p:sp>
        <p:nvSpPr>
          <p:cNvPr id="20" name="Text 18"/>
          <p:cNvSpPr/>
          <p:nvPr/>
        </p:nvSpPr>
        <p:spPr>
          <a:xfrm>
            <a:off x="6675120" y="4782312"/>
            <a:ext cx="4800600" cy="411480"/>
          </a:xfrm>
          <a:prstGeom prst="rect">
            <a:avLst/>
          </a:prstGeom>
          <a:noFill/>
          <a:ln/>
        </p:spPr>
        <p:txBody>
          <a:bodyPr wrap="square" lIns="0" tIns="0" rIns="0" bIns="0" rtlCol="0" anchor="ctr"/>
          <a:lstStyle/>
          <a:p>
            <a:pPr indent="0" marL="0">
              <a:buNone/>
            </a:pPr>
            <a:r>
              <a:rPr lang="en-US" sz="1600" b="1" dirty="0">
                <a:solidFill>
                  <a:srgbClr val="0F4C75"/>
                </a:solidFill>
                <a:latin typeface="Courier New" pitchFamily="34" charset="0"/>
                <a:ea typeface="Courier New" pitchFamily="34" charset="-122"/>
                <a:cs typeface="Courier New" pitchFamily="34" charset="-120"/>
              </a:rPr>
              <a:t>/Review</a:t>
            </a:r>
            <a:endParaRPr lang="en-US" sz="1600" dirty="0"/>
          </a:p>
        </p:txBody>
      </p:sp>
      <p:sp>
        <p:nvSpPr>
          <p:cNvPr id="21" name="Text 19"/>
          <p:cNvSpPr/>
          <p:nvPr/>
        </p:nvSpPr>
        <p:spPr>
          <a:xfrm>
            <a:off x="6675120" y="5212080"/>
            <a:ext cx="4800600" cy="658368"/>
          </a:xfrm>
          <a:prstGeom prst="rect">
            <a:avLst/>
          </a:prstGeom>
          <a:noFill/>
          <a:ln/>
        </p:spPr>
        <p:txBody>
          <a:bodyPr wrap="square" lIns="0" tIns="0" rIns="0" bIns="0" rtlCol="0" anchor="ctr"/>
          <a:lstStyle/>
          <a:p>
            <a:pPr indent="0" marL="0">
              <a:lnSpc>
                <a:spcPct val="120000"/>
              </a:lnSpc>
              <a:buNone/>
            </a:pPr>
            <a:r>
              <a:rPr lang="en-US" sz="1250" dirty="0">
                <a:solidFill>
                  <a:srgbClr val="5C6B7A"/>
                </a:solidFill>
                <a:latin typeface="Calibri" pitchFamily="34" charset="0"/>
                <a:ea typeface="Calibri" pitchFamily="34" charset="-122"/>
                <a:cs typeface="Calibri" pitchFamily="34" charset="-120"/>
              </a:rPr>
              <a:t>Act as a second reviewer before you open the PR</a:t>
            </a:r>
            <a:endParaRPr lang="en-US" sz="1250" dirty="0"/>
          </a:p>
        </p:txBody>
      </p:sp>
      <p:sp>
        <p:nvSpPr>
          <p:cNvPr id="22" name="Text 20"/>
          <p:cNvSpPr/>
          <p:nvPr/>
        </p:nvSpPr>
        <p:spPr>
          <a:xfrm>
            <a:off x="548640" y="6537960"/>
            <a:ext cx="5486400" cy="274320"/>
          </a:xfrm>
          <a:prstGeom prst="rect">
            <a:avLst/>
          </a:prstGeom>
          <a:noFill/>
          <a:ln/>
        </p:spPr>
        <p:txBody>
          <a:bodyPr wrap="square" lIns="0" tIns="0" rIns="0" bIns="0" rtlCol="0" anchor="ctr"/>
          <a:lstStyle/>
          <a:p>
            <a:pPr indent="0" marL="0">
              <a:buNone/>
            </a:pPr>
            <a:r>
              <a:rPr lang="en-US" sz="900" dirty="0">
                <a:solidFill>
                  <a:srgbClr val="9AA7B5"/>
                </a:solidFill>
                <a:latin typeface="Calibri" pitchFamily="34" charset="0"/>
                <a:ea typeface="Calibri" pitchFamily="34" charset="-122"/>
                <a:cs typeface="Calibri" pitchFamily="34" charset="-120"/>
              </a:rPr>
              <a:t>Cursor for Engineers</a:t>
            </a:r>
            <a:endParaRPr lang="en-US" sz="900" dirty="0"/>
          </a:p>
        </p:txBody>
      </p:sp>
      <p:sp>
        <p:nvSpPr>
          <p:cNvPr id="23" name="Text 21"/>
          <p:cNvSpPr/>
          <p:nvPr/>
        </p:nvSpPr>
        <p:spPr>
          <a:xfrm>
            <a:off x="11338560" y="6537960"/>
            <a:ext cx="365760" cy="274320"/>
          </a:xfrm>
          <a:prstGeom prst="rect">
            <a:avLst/>
          </a:prstGeom>
          <a:noFill/>
          <a:ln/>
        </p:spPr>
        <p:txBody>
          <a:bodyPr wrap="square" lIns="0" tIns="0" rIns="0" bIns="0" rtlCol="0" anchor="ctr"/>
          <a:lstStyle/>
          <a:p>
            <a:pPr algn="r" indent="0" marL="0">
              <a:buNone/>
            </a:pPr>
            <a:r>
              <a:rPr lang="en-US" sz="900" dirty="0">
                <a:solidFill>
                  <a:srgbClr val="9AA7B5"/>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lIns="0" tIns="0" rIns="0" bIns="0" rtlCol="0" anchor="ctr"/>
          <a:lstStyle/>
          <a:p>
            <a:pPr indent="0" marL="0">
              <a:buNone/>
            </a:pPr>
            <a:r>
              <a:rPr lang="en-US" sz="1300" b="1" spc="200" kern="0" dirty="0">
                <a:solidFill>
                  <a:srgbClr val="3282B8"/>
                </a:solidFill>
                <a:latin typeface="Calibri" pitchFamily="34" charset="0"/>
                <a:ea typeface="Calibri" pitchFamily="34" charset="-122"/>
                <a:cs typeface="Calibri" pitchFamily="34" charset="-120"/>
              </a:rPr>
              <a:t>TEST-DRIVEN WITH THE AGENT</a:t>
            </a:r>
            <a:endParaRPr lang="en-US" sz="1300" dirty="0"/>
          </a:p>
        </p:txBody>
      </p:sp>
      <p:sp>
        <p:nvSpPr>
          <p:cNvPr id="3" name="Text 1"/>
          <p:cNvSpPr/>
          <p:nvPr/>
        </p:nvSpPr>
        <p:spPr>
          <a:xfrm>
            <a:off x="548640" y="731520"/>
            <a:ext cx="11064240" cy="822960"/>
          </a:xfrm>
          <a:prstGeom prst="rect">
            <a:avLst/>
          </a:prstGeom>
          <a:noFill/>
          <a:ln/>
        </p:spPr>
        <p:txBody>
          <a:bodyPr wrap="square" lIns="0" tIns="0" rIns="0" bIns="0" rtlCol="0" anchor="ctr"/>
          <a:lstStyle/>
          <a:p>
            <a:pPr indent="0" marL="0">
              <a:buNone/>
            </a:pPr>
            <a:r>
              <a:rPr lang="en-US" sz="3000" b="1" dirty="0">
                <a:solidFill>
                  <a:srgbClr val="16233A"/>
                </a:solidFill>
                <a:latin typeface="Cambria" pitchFamily="34" charset="0"/>
                <a:ea typeface="Cambria" pitchFamily="34" charset="-122"/>
                <a:cs typeface="Cambria" pitchFamily="34" charset="-120"/>
              </a:rPr>
              <a:t>Test it, then build it</a:t>
            </a:r>
            <a:endParaRPr lang="en-US" sz="3000" dirty="0"/>
          </a:p>
        </p:txBody>
      </p:sp>
      <p:sp>
        <p:nvSpPr>
          <p:cNvPr id="4" name="Text 2"/>
          <p:cNvSpPr/>
          <p:nvPr/>
        </p:nvSpPr>
        <p:spPr>
          <a:xfrm>
            <a:off x="548640" y="1417320"/>
            <a:ext cx="5120640" cy="1463040"/>
          </a:xfrm>
          <a:prstGeom prst="rect">
            <a:avLst/>
          </a:prstGeom>
          <a:noFill/>
          <a:ln/>
        </p:spPr>
        <p:txBody>
          <a:bodyPr wrap="square" lIns="0" tIns="0" rIns="0" bIns="0" rtlCol="0" anchor="ctr"/>
          <a:lstStyle/>
          <a:p>
            <a:pPr indent="0" marL="0">
              <a:lnSpc>
                <a:spcPct val="130000"/>
              </a:lnSpc>
              <a:buNone/>
            </a:pPr>
            <a:r>
              <a:rPr lang="en-US" sz="1450" dirty="0">
                <a:solidFill>
                  <a:srgbClr val="16233A"/>
                </a:solidFill>
                <a:latin typeface="Calibri" pitchFamily="34" charset="0"/>
                <a:ea typeface="Calibri" pitchFamily="34" charset="-122"/>
                <a:cs typeface="Calibri" pitchFamily="34" charset="-120"/>
              </a:rPr>
              <a:t>Ask the Agent to write the failing test first, confirm it captures the real requirement, then let it implement until the test passes — small, testable goals, one at a time.</a:t>
            </a:r>
            <a:endParaRPr lang="en-US" sz="1450" dirty="0"/>
          </a:p>
        </p:txBody>
      </p:sp>
      <p:sp>
        <p:nvSpPr>
          <p:cNvPr id="5" name="Shape 3"/>
          <p:cNvSpPr/>
          <p:nvPr/>
        </p:nvSpPr>
        <p:spPr>
          <a:xfrm>
            <a:off x="548640" y="3063240"/>
            <a:ext cx="5120640" cy="685800"/>
          </a:xfrm>
          <a:prstGeom prst="roundRect">
            <a:avLst>
              <a:gd name="adj" fmla="val 10667"/>
            </a:avLst>
          </a:prstGeom>
          <a:solidFill>
            <a:srgbClr val="F0F4F8"/>
          </a:solidFill>
          <a:ln/>
        </p:spPr>
      </p:sp>
      <p:sp>
        <p:nvSpPr>
          <p:cNvPr id="6" name="Text 4"/>
          <p:cNvSpPr/>
          <p:nvPr/>
        </p:nvSpPr>
        <p:spPr>
          <a:xfrm>
            <a:off x="777240" y="3063240"/>
            <a:ext cx="4663440" cy="685800"/>
          </a:xfrm>
          <a:prstGeom prst="rect">
            <a:avLst/>
          </a:prstGeom>
          <a:noFill/>
          <a:ln/>
        </p:spPr>
        <p:txBody>
          <a:bodyPr wrap="square" lIns="0" tIns="0" rIns="0" bIns="0" rtlCol="0" anchor="ctr"/>
          <a:lstStyle/>
          <a:p>
            <a:pPr indent="0" marL="0">
              <a:buNone/>
            </a:pPr>
            <a:r>
              <a:rPr lang="en-US" sz="1400" b="1" dirty="0">
                <a:solidFill>
                  <a:srgbClr val="16233A"/>
                </a:solidFill>
                <a:latin typeface="Calibri" pitchFamily="34" charset="0"/>
                <a:ea typeface="Calibri" pitchFamily="34" charset="-122"/>
                <a:cs typeface="Calibri" pitchFamily="34" charset="-120"/>
              </a:rPr>
              <a:t>1. Write test</a:t>
            </a:r>
            <a:endParaRPr lang="en-US" sz="1400" dirty="0"/>
          </a:p>
        </p:txBody>
      </p:sp>
      <p:sp>
        <p:nvSpPr>
          <p:cNvPr id="7" name="Shape 5"/>
          <p:cNvSpPr/>
          <p:nvPr/>
        </p:nvSpPr>
        <p:spPr>
          <a:xfrm>
            <a:off x="548640" y="3886200"/>
            <a:ext cx="5120640" cy="685800"/>
          </a:xfrm>
          <a:prstGeom prst="roundRect">
            <a:avLst>
              <a:gd name="adj" fmla="val 10667"/>
            </a:avLst>
          </a:prstGeom>
          <a:solidFill>
            <a:srgbClr val="F0F4F8"/>
          </a:solidFill>
          <a:ln/>
        </p:spPr>
      </p:sp>
      <p:sp>
        <p:nvSpPr>
          <p:cNvPr id="8" name="Text 6"/>
          <p:cNvSpPr/>
          <p:nvPr/>
        </p:nvSpPr>
        <p:spPr>
          <a:xfrm>
            <a:off x="777240" y="3886200"/>
            <a:ext cx="4663440" cy="685800"/>
          </a:xfrm>
          <a:prstGeom prst="rect">
            <a:avLst/>
          </a:prstGeom>
          <a:noFill/>
          <a:ln/>
        </p:spPr>
        <p:txBody>
          <a:bodyPr wrap="square" lIns="0" tIns="0" rIns="0" bIns="0" rtlCol="0" anchor="ctr"/>
          <a:lstStyle/>
          <a:p>
            <a:pPr indent="0" marL="0">
              <a:buNone/>
            </a:pPr>
            <a:r>
              <a:rPr lang="en-US" sz="1400" b="1" dirty="0">
                <a:solidFill>
                  <a:srgbClr val="16233A"/>
                </a:solidFill>
                <a:latin typeface="Calibri" pitchFamily="34" charset="0"/>
                <a:ea typeface="Calibri" pitchFamily="34" charset="-122"/>
                <a:cs typeface="Calibri" pitchFamily="34" charset="-120"/>
              </a:rPr>
              <a:t>2. Run → fails</a:t>
            </a:r>
            <a:endParaRPr lang="en-US" sz="1400" dirty="0"/>
          </a:p>
        </p:txBody>
      </p:sp>
      <p:sp>
        <p:nvSpPr>
          <p:cNvPr id="9" name="Shape 7"/>
          <p:cNvSpPr/>
          <p:nvPr/>
        </p:nvSpPr>
        <p:spPr>
          <a:xfrm>
            <a:off x="548640" y="4709160"/>
            <a:ext cx="5120640" cy="685800"/>
          </a:xfrm>
          <a:prstGeom prst="roundRect">
            <a:avLst>
              <a:gd name="adj" fmla="val 10667"/>
            </a:avLst>
          </a:prstGeom>
          <a:solidFill>
            <a:srgbClr val="F0F4F8"/>
          </a:solidFill>
          <a:ln/>
        </p:spPr>
      </p:sp>
      <p:sp>
        <p:nvSpPr>
          <p:cNvPr id="10" name="Text 8"/>
          <p:cNvSpPr/>
          <p:nvPr/>
        </p:nvSpPr>
        <p:spPr>
          <a:xfrm>
            <a:off x="777240" y="4709160"/>
            <a:ext cx="4663440" cy="685800"/>
          </a:xfrm>
          <a:prstGeom prst="rect">
            <a:avLst/>
          </a:prstGeom>
          <a:noFill/>
          <a:ln/>
        </p:spPr>
        <p:txBody>
          <a:bodyPr wrap="square" lIns="0" tIns="0" rIns="0" bIns="0" rtlCol="0" anchor="ctr"/>
          <a:lstStyle/>
          <a:p>
            <a:pPr indent="0" marL="0">
              <a:buNone/>
            </a:pPr>
            <a:r>
              <a:rPr lang="en-US" sz="1400" b="1" dirty="0">
                <a:solidFill>
                  <a:srgbClr val="16233A"/>
                </a:solidFill>
                <a:latin typeface="Calibri" pitchFamily="34" charset="0"/>
                <a:ea typeface="Calibri" pitchFamily="34" charset="-122"/>
                <a:cs typeface="Calibri" pitchFamily="34" charset="-120"/>
              </a:rPr>
              <a:t>3. Agent implements</a:t>
            </a:r>
            <a:endParaRPr lang="en-US" sz="1400" dirty="0"/>
          </a:p>
        </p:txBody>
      </p:sp>
      <p:sp>
        <p:nvSpPr>
          <p:cNvPr id="11" name="Shape 9"/>
          <p:cNvSpPr/>
          <p:nvPr/>
        </p:nvSpPr>
        <p:spPr>
          <a:xfrm>
            <a:off x="548640" y="5532120"/>
            <a:ext cx="5120640" cy="685800"/>
          </a:xfrm>
          <a:prstGeom prst="roundRect">
            <a:avLst>
              <a:gd name="adj" fmla="val 10667"/>
            </a:avLst>
          </a:prstGeom>
          <a:solidFill>
            <a:srgbClr val="F2A541"/>
          </a:solidFill>
          <a:ln/>
        </p:spPr>
      </p:sp>
      <p:sp>
        <p:nvSpPr>
          <p:cNvPr id="12" name="Text 10"/>
          <p:cNvSpPr/>
          <p:nvPr/>
        </p:nvSpPr>
        <p:spPr>
          <a:xfrm>
            <a:off x="777240" y="5532120"/>
            <a:ext cx="4663440" cy="68580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4. Run → passes</a:t>
            </a:r>
            <a:endParaRPr lang="en-US" sz="1400" dirty="0"/>
          </a:p>
        </p:txBody>
      </p:sp>
      <p:sp>
        <p:nvSpPr>
          <p:cNvPr id="13" name="Shape 11"/>
          <p:cNvSpPr/>
          <p:nvPr/>
        </p:nvSpPr>
        <p:spPr>
          <a:xfrm>
            <a:off x="5989320" y="1417320"/>
            <a:ext cx="5623560" cy="4572000"/>
          </a:xfrm>
          <a:prstGeom prst="roundRect">
            <a:avLst>
              <a:gd name="adj" fmla="val 1600"/>
            </a:avLst>
          </a:prstGeom>
          <a:solidFill>
            <a:srgbClr val="0B1F3A"/>
          </a:solidFill>
          <a:ln/>
          <a:effectLst>
            <a:outerShdw sx="100000" sy="100000" kx="0" ky="0" algn="bl" rotWithShape="0" blurRad="76200" dist="25400" dir="5400000">
              <a:srgbClr val="0B1F3A">
                <a:alpha val="18000"/>
              </a:srgbClr>
            </a:outerShdw>
          </a:effectLst>
        </p:spPr>
      </p:sp>
      <p:sp>
        <p:nvSpPr>
          <p:cNvPr id="14" name="Text 12"/>
          <p:cNvSpPr/>
          <p:nvPr/>
        </p:nvSpPr>
        <p:spPr>
          <a:xfrm>
            <a:off x="6245352" y="1600200"/>
            <a:ext cx="5111496" cy="4206240"/>
          </a:xfrm>
          <a:prstGeom prst="rect">
            <a:avLst/>
          </a:prstGeom>
          <a:noFill/>
          <a:ln/>
        </p:spPr>
        <p:txBody>
          <a:bodyPr wrap="square" lIns="0" tIns="0" rIns="0" bIns="0" rtlCol="0" anchor="t"/>
          <a:lstStyle/>
          <a:p>
            <a:pPr indent="0" marL="0">
              <a:lnSpc>
                <a:spcPct val="125000"/>
              </a:lnSpc>
              <a:buNone/>
            </a:pPr>
            <a:r>
              <a:rPr lang="en-US" sz="1250" dirty="0">
                <a:solidFill>
                  <a:srgbClr val="8FA6BE"/>
                </a:solidFill>
                <a:latin typeface="Courier New" pitchFamily="34" charset="0"/>
                <a:ea typeface="Courier New" pitchFamily="34" charset="-122"/>
                <a:cs typeface="Courier New" pitchFamily="34" charset="-120"/>
              </a:rPr>
              <a:t># test_get_overview.py</a:t>
            </a:r>
            <a:endParaRPr lang="en-US" sz="1250" dirty="0"/>
          </a:p>
          <a:p>
            <a:pPr indent="0" marL="0">
              <a:lnSpc>
                <a:spcPct val="125000"/>
              </a:lnSpc>
              <a:buNone/>
            </a:pPr>
            <a:r>
              <a:rPr lang="en-US" sz="1250" dirty="0">
                <a:solidFill>
                  <a:srgbClr val="6FCF97"/>
                </a:solidFill>
                <a:latin typeface="Courier New" pitchFamily="34" charset="0"/>
                <a:ea typeface="Courier New" pitchFamily="34" charset="-122"/>
                <a:cs typeface="Courier New" pitchFamily="34" charset="-120"/>
              </a:rPr>
              <a:t>def test_flags_small_dataset():</a:t>
            </a:r>
            <a:endParaRPr lang="en-US" sz="1250" dirty="0"/>
          </a:p>
          <a:p>
            <a:pPr indent="0" marL="0">
              <a:lnSpc>
                <a:spcPct val="125000"/>
              </a:lnSpc>
              <a:buNone/>
            </a:pPr>
            <a:r>
              <a:rPr lang="en-US" sz="1250" dirty="0">
                <a:solidFill>
                  <a:srgbClr val="D7E6F5"/>
                </a:solidFill>
                <a:latin typeface="Courier New" pitchFamily="34" charset="0"/>
                <a:ea typeface="Courier New" pitchFamily="34" charset="-122"/>
                <a:cs typeface="Courier New" pitchFamily="34" charset="-120"/>
              </a:rPr>
              <a:t>    df = sample_transactions(n=500)</a:t>
            </a:r>
            <a:endParaRPr lang="en-US" sz="1250" dirty="0"/>
          </a:p>
          <a:p>
            <a:pPr indent="0" marL="0">
              <a:lnSpc>
                <a:spcPct val="125000"/>
              </a:lnSpc>
              <a:buNone/>
            </a:pPr>
            <a:r>
              <a:rPr lang="en-US" sz="1250" dirty="0">
                <a:solidFill>
                  <a:srgbClr val="D7E6F5"/>
                </a:solidFill>
                <a:latin typeface="Courier New" pitchFamily="34" charset="0"/>
                <a:ea typeface="Courier New" pitchFamily="34" charset="-122"/>
                <a:cs typeface="Courier New" pitchFamily="34" charset="-120"/>
              </a:rPr>
              <a:t>    _, stats = get_overview(config, df)</a:t>
            </a:r>
            <a:endParaRPr lang="en-US" sz="1250" dirty="0"/>
          </a:p>
          <a:p>
            <a:pPr indent="0" marL="0">
              <a:lnSpc>
                <a:spcPct val="125000"/>
              </a:lnSpc>
              <a:buNone/>
            </a:pPr>
            <a:r>
              <a:rPr lang="en-US" sz="1250" dirty="0">
                <a:solidFill>
                  <a:srgbClr val="D7E6F5"/>
                </a:solidFill>
                <a:latin typeface="Courier New" pitchFamily="34" charset="0"/>
                <a:ea typeface="Courier New" pitchFamily="34" charset="-122"/>
                <a:cs typeface="Courier New" pitchFamily="34" charset="-120"/>
              </a:rPr>
              <a:t>    assert "Record count" in \</a:t>
            </a:r>
            <a:endParaRPr lang="en-US" sz="1250" dirty="0"/>
          </a:p>
          <a:p>
            <a:pPr indent="0" marL="0">
              <a:lnSpc>
                <a:spcPct val="125000"/>
              </a:lnSpc>
              <a:buNone/>
            </a:pPr>
            <a:r>
              <a:rPr lang="en-US" sz="1250" dirty="0">
                <a:solidFill>
                  <a:srgbClr val="D7E6F5"/>
                </a:solidFill>
                <a:latin typeface="Courier New" pitchFamily="34" charset="0"/>
                <a:ea typeface="Courier New" pitchFamily="34" charset="-122"/>
                <a:cs typeface="Courier New" pitchFamily="34" charset="-120"/>
              </a:rPr>
              <a:t>        stats["overview_msg"]</a:t>
            </a:r>
            <a:endParaRPr lang="en-US" sz="1250" dirty="0"/>
          </a:p>
          <a:p>
            <a:pPr indent="0" marL="0">
              <a:lnSpc>
                <a:spcPct val="125000"/>
              </a:lnSpc>
              <a:buNone/>
            </a:pPr>
            <a:endParaRPr lang="en-US" sz="1250" dirty="0"/>
          </a:p>
          <a:p>
            <a:pPr indent="0" marL="0">
              <a:lnSpc>
                <a:spcPct val="125000"/>
              </a:lnSpc>
              <a:buNone/>
            </a:pPr>
            <a:r>
              <a:rPr lang="en-US" sz="1250" dirty="0">
                <a:solidFill>
                  <a:srgbClr val="8FA6BE"/>
                </a:solidFill>
                <a:latin typeface="Courier New" pitchFamily="34" charset="0"/>
                <a:ea typeface="Courier New" pitchFamily="34" charset="-122"/>
                <a:cs typeface="Courier New" pitchFamily="34" charset="-120"/>
              </a:rPr>
              <a:t>$ pytest -k get_overview</a:t>
            </a:r>
            <a:endParaRPr lang="en-US" sz="1250" dirty="0"/>
          </a:p>
          <a:p>
            <a:pPr indent="0" marL="0">
              <a:lnSpc>
                <a:spcPct val="125000"/>
              </a:lnSpc>
              <a:buNone/>
            </a:pPr>
            <a:r>
              <a:rPr lang="en-US" sz="1250" dirty="0">
                <a:solidFill>
                  <a:srgbClr val="FF8A80"/>
                </a:solidFill>
                <a:latin typeface="Courier New" pitchFamily="34" charset="0"/>
                <a:ea typeface="Courier New" pitchFamily="34" charset="-122"/>
                <a:cs typeface="Courier New" pitchFamily="34" charset="-120"/>
              </a:rPr>
              <a:t>FAILED — not importable from cli</a:t>
            </a:r>
            <a:endParaRPr lang="en-US" sz="1250" dirty="0"/>
          </a:p>
          <a:p>
            <a:pPr indent="0" marL="0">
              <a:lnSpc>
                <a:spcPct val="125000"/>
              </a:lnSpc>
              <a:buNone/>
            </a:pPr>
            <a:r>
              <a:rPr lang="en-US" sz="1250" dirty="0">
                <a:solidFill>
                  <a:srgbClr val="8FA6BE"/>
                </a:solidFill>
                <a:latin typeface="Courier New" pitchFamily="34" charset="0"/>
                <a:ea typeface="Courier New" pitchFamily="34" charset="-122"/>
                <a:cs typeface="Courier New" pitchFamily="34" charset="-120"/>
              </a:rPr>
              <a:t>… agent adds package __init__ …</a:t>
            </a:r>
            <a:endParaRPr lang="en-US" sz="1250" dirty="0"/>
          </a:p>
          <a:p>
            <a:pPr indent="0" marL="0">
              <a:lnSpc>
                <a:spcPct val="125000"/>
              </a:lnSpc>
              <a:buNone/>
            </a:pPr>
            <a:r>
              <a:rPr lang="en-US" sz="1250" dirty="0">
                <a:solidFill>
                  <a:srgbClr val="8FA6BE"/>
                </a:solidFill>
                <a:latin typeface="Courier New" pitchFamily="34" charset="0"/>
                <a:ea typeface="Courier New" pitchFamily="34" charset="-122"/>
                <a:cs typeface="Courier New" pitchFamily="34" charset="-120"/>
              </a:rPr>
              <a:t>$ pytest -k get_overview</a:t>
            </a:r>
            <a:endParaRPr lang="en-US" sz="1250" dirty="0"/>
          </a:p>
          <a:p>
            <a:pPr indent="0" marL="0">
              <a:lnSpc>
                <a:spcPct val="125000"/>
              </a:lnSpc>
              <a:buNone/>
            </a:pPr>
            <a:r>
              <a:rPr lang="en-US" sz="1250" b="1" dirty="0">
                <a:solidFill>
                  <a:srgbClr val="6FCF97"/>
                </a:solidFill>
                <a:latin typeface="Courier New" pitchFamily="34" charset="0"/>
                <a:ea typeface="Courier New" pitchFamily="34" charset="-122"/>
                <a:cs typeface="Courier New" pitchFamily="34" charset="-120"/>
              </a:rPr>
              <a:t>1 passed in 0.31s  ✓</a:t>
            </a:r>
            <a:endParaRPr lang="en-US" sz="1250" dirty="0"/>
          </a:p>
        </p:txBody>
      </p:sp>
      <p:sp>
        <p:nvSpPr>
          <p:cNvPr id="15" name="Text 13"/>
          <p:cNvSpPr/>
          <p:nvPr/>
        </p:nvSpPr>
        <p:spPr>
          <a:xfrm>
            <a:off x="548640" y="6537960"/>
            <a:ext cx="5486400" cy="274320"/>
          </a:xfrm>
          <a:prstGeom prst="rect">
            <a:avLst/>
          </a:prstGeom>
          <a:noFill/>
          <a:ln/>
        </p:spPr>
        <p:txBody>
          <a:bodyPr wrap="square" lIns="0" tIns="0" rIns="0" bIns="0" rtlCol="0" anchor="ctr"/>
          <a:lstStyle/>
          <a:p>
            <a:pPr indent="0" marL="0">
              <a:buNone/>
            </a:pPr>
            <a:r>
              <a:rPr lang="en-US" sz="900" dirty="0">
                <a:solidFill>
                  <a:srgbClr val="9AA7B5"/>
                </a:solidFill>
                <a:latin typeface="Calibri" pitchFamily="34" charset="0"/>
                <a:ea typeface="Calibri" pitchFamily="34" charset="-122"/>
                <a:cs typeface="Calibri" pitchFamily="34" charset="-120"/>
              </a:rPr>
              <a:t>Cursor for Engineers</a:t>
            </a:r>
            <a:endParaRPr lang="en-US" sz="900" dirty="0"/>
          </a:p>
        </p:txBody>
      </p:sp>
      <p:sp>
        <p:nvSpPr>
          <p:cNvPr id="16" name="Text 14"/>
          <p:cNvSpPr/>
          <p:nvPr/>
        </p:nvSpPr>
        <p:spPr>
          <a:xfrm>
            <a:off x="11338560" y="6537960"/>
            <a:ext cx="365760" cy="274320"/>
          </a:xfrm>
          <a:prstGeom prst="rect">
            <a:avLst/>
          </a:prstGeom>
          <a:noFill/>
          <a:ln/>
        </p:spPr>
        <p:txBody>
          <a:bodyPr wrap="square" lIns="0" tIns="0" rIns="0" bIns="0" rtlCol="0" anchor="ctr"/>
          <a:lstStyle/>
          <a:p>
            <a:pPr algn="r" indent="0" marL="0">
              <a:buNone/>
            </a:pPr>
            <a:r>
              <a:rPr lang="en-US" sz="900" dirty="0">
                <a:solidFill>
                  <a:srgbClr val="9AA7B5"/>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lIns="0" tIns="0" rIns="0" bIns="0" rtlCol="0" anchor="ctr"/>
          <a:lstStyle/>
          <a:p>
            <a:pPr indent="0" marL="0">
              <a:buNone/>
            </a:pPr>
            <a:r>
              <a:rPr lang="en-US" sz="1300" b="1" spc="200" kern="0" dirty="0">
                <a:solidFill>
                  <a:srgbClr val="3282B8"/>
                </a:solidFill>
                <a:latin typeface="Calibri" pitchFamily="34" charset="0"/>
                <a:ea typeface="Calibri" pitchFamily="34" charset="-122"/>
                <a:cs typeface="Calibri" pitchFamily="34" charset="-120"/>
              </a:rPr>
              <a:t>ONE PROMPT, MANY FILES</a:t>
            </a:r>
            <a:endParaRPr lang="en-US" sz="1300" dirty="0"/>
          </a:p>
        </p:txBody>
      </p:sp>
      <p:sp>
        <p:nvSpPr>
          <p:cNvPr id="3" name="Text 1"/>
          <p:cNvSpPr/>
          <p:nvPr/>
        </p:nvSpPr>
        <p:spPr>
          <a:xfrm>
            <a:off x="548640" y="731520"/>
            <a:ext cx="11064240" cy="822960"/>
          </a:xfrm>
          <a:prstGeom prst="rect">
            <a:avLst/>
          </a:prstGeom>
          <a:noFill/>
          <a:ln/>
        </p:spPr>
        <p:txBody>
          <a:bodyPr wrap="square" lIns="0" tIns="0" rIns="0" bIns="0" rtlCol="0" anchor="ctr"/>
          <a:lstStyle/>
          <a:p>
            <a:pPr indent="0" marL="0">
              <a:buNone/>
            </a:pPr>
            <a:r>
              <a:rPr lang="en-US" sz="3000" b="1" dirty="0">
                <a:solidFill>
                  <a:srgbClr val="16233A"/>
                </a:solidFill>
                <a:latin typeface="Cambria" pitchFamily="34" charset="0"/>
                <a:ea typeface="Cambria" pitchFamily="34" charset="-122"/>
                <a:cs typeface="Cambria" pitchFamily="34" charset="-120"/>
              </a:rPr>
              <a:t>Multi-file changes: plan, edit, review as one diff</a:t>
            </a:r>
            <a:endParaRPr lang="en-US" sz="3000" dirty="0"/>
          </a:p>
        </p:txBody>
      </p:sp>
      <p:sp>
        <p:nvSpPr>
          <p:cNvPr id="4" name="Text 2"/>
          <p:cNvSpPr/>
          <p:nvPr/>
        </p:nvSpPr>
        <p:spPr>
          <a:xfrm>
            <a:off x="548640" y="1417320"/>
            <a:ext cx="11064240" cy="777240"/>
          </a:xfrm>
          <a:prstGeom prst="rect">
            <a:avLst/>
          </a:prstGeom>
          <a:noFill/>
          <a:ln/>
        </p:spPr>
        <p:txBody>
          <a:bodyPr wrap="square" lIns="0" tIns="0" rIns="0" bIns="0" rtlCol="0" anchor="ctr"/>
          <a:lstStyle/>
          <a:p>
            <a:pPr indent="0" marL="0">
              <a:lnSpc>
                <a:spcPct val="120000"/>
              </a:lnSpc>
              <a:buNone/>
            </a:pPr>
            <a:r>
              <a:rPr lang="en-US" sz="1350" i="1" dirty="0">
                <a:solidFill>
                  <a:srgbClr val="16233A"/>
                </a:solidFill>
                <a:latin typeface="Calibri" pitchFamily="34" charset="0"/>
                <a:ea typeface="Calibri" pitchFamily="34" charset="-122"/>
                <a:cs typeface="Calibri" pitchFamily="34" charset="-120"/>
              </a:rPr>
              <a:t>“Replace every DataFrame.append() call in the profiler with pd.concat() — append() was removed in pandas 2.0. Pin pandas&gt;=2.0 and add a regression test.”</a:t>
            </a:r>
            <a:endParaRPr lang="en-US" sz="1350" dirty="0"/>
          </a:p>
        </p:txBody>
      </p:sp>
      <p:sp>
        <p:nvSpPr>
          <p:cNvPr id="5" name="Shape 3"/>
          <p:cNvSpPr/>
          <p:nvPr/>
        </p:nvSpPr>
        <p:spPr>
          <a:xfrm>
            <a:off x="548640" y="2514600"/>
            <a:ext cx="5486400" cy="566928"/>
          </a:xfrm>
          <a:prstGeom prst="roundRect">
            <a:avLst>
              <a:gd name="adj" fmla="val 9677"/>
            </a:avLst>
          </a:prstGeom>
          <a:solidFill>
            <a:srgbClr val="F0F4F8"/>
          </a:solidFill>
          <a:ln/>
        </p:spPr>
      </p:sp>
      <p:sp>
        <p:nvSpPr>
          <p:cNvPr id="6" name="Text 4"/>
          <p:cNvSpPr/>
          <p:nvPr/>
        </p:nvSpPr>
        <p:spPr>
          <a:xfrm>
            <a:off x="685800" y="2514600"/>
            <a:ext cx="457200" cy="566928"/>
          </a:xfrm>
          <a:prstGeom prst="rect">
            <a:avLst/>
          </a:prstGeom>
          <a:noFill/>
          <a:ln/>
        </p:spPr>
        <p:txBody>
          <a:bodyPr wrap="square" lIns="0" tIns="0" rIns="0" bIns="0" rtlCol="0" anchor="ctr"/>
          <a:lstStyle/>
          <a:p>
            <a:pPr indent="0" marL="0">
              <a:buNone/>
            </a:pPr>
            <a:r>
              <a:rPr lang="en-US" sz="1400" b="1" dirty="0">
                <a:solidFill>
                  <a:srgbClr val="2E9E5B"/>
                </a:solidFill>
                <a:latin typeface="Calibri" pitchFamily="34" charset="0"/>
                <a:ea typeface="Calibri" pitchFamily="34" charset="-122"/>
                <a:cs typeface="Calibri" pitchFamily="34" charset="-120"/>
              </a:rPr>
              <a:t>✓</a:t>
            </a:r>
            <a:endParaRPr lang="en-US" sz="1400" dirty="0"/>
          </a:p>
        </p:txBody>
      </p:sp>
      <p:sp>
        <p:nvSpPr>
          <p:cNvPr id="7" name="Text 5"/>
          <p:cNvSpPr/>
          <p:nvPr/>
        </p:nvSpPr>
        <p:spPr>
          <a:xfrm>
            <a:off x="1188720" y="2514600"/>
            <a:ext cx="4663440" cy="566928"/>
          </a:xfrm>
          <a:prstGeom prst="rect">
            <a:avLst/>
          </a:prstGeom>
          <a:noFill/>
          <a:ln/>
        </p:spPr>
        <p:txBody>
          <a:bodyPr wrap="square" lIns="0" tIns="0" rIns="0" bIns="0" rtlCol="0" anchor="ctr"/>
          <a:lstStyle/>
          <a:p>
            <a:pPr indent="0" marL="0">
              <a:buNone/>
            </a:pPr>
            <a:r>
              <a:rPr lang="en-US" sz="1400" dirty="0">
                <a:solidFill>
                  <a:srgbClr val="16233A"/>
                </a:solidFill>
                <a:latin typeface="Courier New" pitchFamily="34" charset="0"/>
                <a:ea typeface="Courier New" pitchFamily="34" charset="-122"/>
                <a:cs typeface="Courier New" pitchFamily="34" charset="-120"/>
              </a:rPr>
              <a:t>afd_profile.py</a:t>
            </a:r>
            <a:endParaRPr lang="en-US" sz="1400" dirty="0"/>
          </a:p>
        </p:txBody>
      </p:sp>
      <p:sp>
        <p:nvSpPr>
          <p:cNvPr id="8" name="Shape 6"/>
          <p:cNvSpPr/>
          <p:nvPr/>
        </p:nvSpPr>
        <p:spPr>
          <a:xfrm>
            <a:off x="548640" y="3200400"/>
            <a:ext cx="5486400" cy="566928"/>
          </a:xfrm>
          <a:prstGeom prst="roundRect">
            <a:avLst>
              <a:gd name="adj" fmla="val 9677"/>
            </a:avLst>
          </a:prstGeom>
          <a:solidFill>
            <a:srgbClr val="F0F4F8"/>
          </a:solidFill>
          <a:ln/>
        </p:spPr>
      </p:sp>
      <p:sp>
        <p:nvSpPr>
          <p:cNvPr id="9" name="Text 7"/>
          <p:cNvSpPr/>
          <p:nvPr/>
        </p:nvSpPr>
        <p:spPr>
          <a:xfrm>
            <a:off x="685800" y="3200400"/>
            <a:ext cx="457200" cy="566928"/>
          </a:xfrm>
          <a:prstGeom prst="rect">
            <a:avLst/>
          </a:prstGeom>
          <a:noFill/>
          <a:ln/>
        </p:spPr>
        <p:txBody>
          <a:bodyPr wrap="square" lIns="0" tIns="0" rIns="0" bIns="0" rtlCol="0" anchor="ctr"/>
          <a:lstStyle/>
          <a:p>
            <a:pPr indent="0" marL="0">
              <a:buNone/>
            </a:pPr>
            <a:r>
              <a:rPr lang="en-US" sz="1400" b="1" dirty="0">
                <a:solidFill>
                  <a:srgbClr val="2E9E5B"/>
                </a:solidFill>
                <a:latin typeface="Calibri" pitchFamily="34" charset="0"/>
                <a:ea typeface="Calibri" pitchFamily="34" charset="-122"/>
                <a:cs typeface="Calibri" pitchFamily="34" charset="-120"/>
              </a:rPr>
              <a:t>✓</a:t>
            </a:r>
            <a:endParaRPr lang="en-US" sz="1400" dirty="0"/>
          </a:p>
        </p:txBody>
      </p:sp>
      <p:sp>
        <p:nvSpPr>
          <p:cNvPr id="10" name="Text 8"/>
          <p:cNvSpPr/>
          <p:nvPr/>
        </p:nvSpPr>
        <p:spPr>
          <a:xfrm>
            <a:off x="1188720" y="3200400"/>
            <a:ext cx="4663440" cy="566928"/>
          </a:xfrm>
          <a:prstGeom prst="rect">
            <a:avLst/>
          </a:prstGeom>
          <a:noFill/>
          <a:ln/>
        </p:spPr>
        <p:txBody>
          <a:bodyPr wrap="square" lIns="0" tIns="0" rIns="0" bIns="0" rtlCol="0" anchor="ctr"/>
          <a:lstStyle/>
          <a:p>
            <a:pPr indent="0" marL="0">
              <a:buNone/>
            </a:pPr>
            <a:r>
              <a:rPr lang="en-US" sz="1400" dirty="0">
                <a:solidFill>
                  <a:srgbClr val="16233A"/>
                </a:solidFill>
                <a:latin typeface="Courier New" pitchFamily="34" charset="0"/>
                <a:ea typeface="Courier New" pitchFamily="34" charset="-122"/>
                <a:cs typeface="Courier New" pitchFamily="34" charset="-120"/>
              </a:rPr>
              <a:t>requirements.txt</a:t>
            </a:r>
            <a:endParaRPr lang="en-US" sz="1400" dirty="0"/>
          </a:p>
        </p:txBody>
      </p:sp>
      <p:sp>
        <p:nvSpPr>
          <p:cNvPr id="11" name="Shape 9"/>
          <p:cNvSpPr/>
          <p:nvPr/>
        </p:nvSpPr>
        <p:spPr>
          <a:xfrm>
            <a:off x="548640" y="3886200"/>
            <a:ext cx="5486400" cy="566928"/>
          </a:xfrm>
          <a:prstGeom prst="roundRect">
            <a:avLst>
              <a:gd name="adj" fmla="val 9677"/>
            </a:avLst>
          </a:prstGeom>
          <a:solidFill>
            <a:srgbClr val="F0F4F8"/>
          </a:solidFill>
          <a:ln/>
        </p:spPr>
      </p:sp>
      <p:sp>
        <p:nvSpPr>
          <p:cNvPr id="12" name="Text 10"/>
          <p:cNvSpPr/>
          <p:nvPr/>
        </p:nvSpPr>
        <p:spPr>
          <a:xfrm>
            <a:off x="685800" y="3886200"/>
            <a:ext cx="457200" cy="566928"/>
          </a:xfrm>
          <a:prstGeom prst="rect">
            <a:avLst/>
          </a:prstGeom>
          <a:noFill/>
          <a:ln/>
        </p:spPr>
        <p:txBody>
          <a:bodyPr wrap="square" lIns="0" tIns="0" rIns="0" bIns="0" rtlCol="0" anchor="ctr"/>
          <a:lstStyle/>
          <a:p>
            <a:pPr indent="0" marL="0">
              <a:buNone/>
            </a:pPr>
            <a:r>
              <a:rPr lang="en-US" sz="1400" b="1" dirty="0">
                <a:solidFill>
                  <a:srgbClr val="2E9E5B"/>
                </a:solidFill>
                <a:latin typeface="Calibri" pitchFamily="34" charset="0"/>
                <a:ea typeface="Calibri" pitchFamily="34" charset="-122"/>
                <a:cs typeface="Calibri" pitchFamily="34" charset="-120"/>
              </a:rPr>
              <a:t>✓</a:t>
            </a:r>
            <a:endParaRPr lang="en-US" sz="1400" dirty="0"/>
          </a:p>
        </p:txBody>
      </p:sp>
      <p:sp>
        <p:nvSpPr>
          <p:cNvPr id="13" name="Text 11"/>
          <p:cNvSpPr/>
          <p:nvPr/>
        </p:nvSpPr>
        <p:spPr>
          <a:xfrm>
            <a:off x="1188720" y="3886200"/>
            <a:ext cx="4663440" cy="566928"/>
          </a:xfrm>
          <a:prstGeom prst="rect">
            <a:avLst/>
          </a:prstGeom>
          <a:noFill/>
          <a:ln/>
        </p:spPr>
        <p:txBody>
          <a:bodyPr wrap="square" lIns="0" tIns="0" rIns="0" bIns="0" rtlCol="0" anchor="ctr"/>
          <a:lstStyle/>
          <a:p>
            <a:pPr indent="0" marL="0">
              <a:buNone/>
            </a:pPr>
            <a:r>
              <a:rPr lang="en-US" sz="1400" dirty="0">
                <a:solidFill>
                  <a:srgbClr val="16233A"/>
                </a:solidFill>
                <a:latin typeface="Courier New" pitchFamily="34" charset="0"/>
                <a:ea typeface="Courier New" pitchFamily="34" charset="-122"/>
                <a:cs typeface="Courier New" pitchFamily="34" charset="-120"/>
              </a:rPr>
              <a:t>tests/test_profiler.py</a:t>
            </a:r>
            <a:endParaRPr lang="en-US" sz="1400" dirty="0"/>
          </a:p>
        </p:txBody>
      </p:sp>
      <p:sp>
        <p:nvSpPr>
          <p:cNvPr id="14" name="Text 12"/>
          <p:cNvSpPr/>
          <p:nvPr/>
        </p:nvSpPr>
        <p:spPr>
          <a:xfrm>
            <a:off x="548640" y="5852160"/>
            <a:ext cx="11064240" cy="685800"/>
          </a:xfrm>
          <a:prstGeom prst="rect">
            <a:avLst/>
          </a:prstGeom>
          <a:noFill/>
          <a:ln/>
        </p:spPr>
        <p:txBody>
          <a:bodyPr wrap="square" lIns="0" tIns="0" rIns="0" bIns="0" rtlCol="0" anchor="ctr"/>
          <a:lstStyle/>
          <a:p>
            <a:pPr indent="0" marL="0">
              <a:lnSpc>
                <a:spcPct val="125000"/>
              </a:lnSpc>
              <a:buNone/>
            </a:pPr>
            <a:r>
              <a:rPr lang="en-US" sz="1250" dirty="0">
                <a:solidFill>
                  <a:srgbClr val="5C6B7A"/>
                </a:solidFill>
                <a:latin typeface="Calibri" pitchFamily="34" charset="0"/>
                <a:ea typeface="Calibri" pitchFamily="34" charset="-122"/>
                <a:cs typeface="Calibri" pitchFamily="34" charset="-120"/>
              </a:rPr>
              <a:t>Steps: 1) Cursor plans every file that needs to change  2) proposes edits as one reviewable diff set  3) you approve, reject, or edit per-file before it commits. Your test suite from the last step is the safety net for the whole change.</a:t>
            </a:r>
            <a:endParaRPr lang="en-US" sz="1250" dirty="0"/>
          </a:p>
        </p:txBody>
      </p:sp>
      <p:sp>
        <p:nvSpPr>
          <p:cNvPr id="15" name="Shape 13"/>
          <p:cNvSpPr/>
          <p:nvPr/>
        </p:nvSpPr>
        <p:spPr>
          <a:xfrm>
            <a:off x="6355080" y="2514600"/>
            <a:ext cx="5257800" cy="3246120"/>
          </a:xfrm>
          <a:prstGeom prst="roundRect">
            <a:avLst>
              <a:gd name="adj" fmla="val 2254"/>
            </a:avLst>
          </a:prstGeom>
          <a:solidFill>
            <a:srgbClr val="0B1F3A"/>
          </a:solidFill>
          <a:ln/>
          <a:effectLst>
            <a:outerShdw sx="100000" sy="100000" kx="0" ky="0" algn="bl" rotWithShape="0" blurRad="76200" dist="25400" dir="5400000">
              <a:srgbClr val="0B1F3A">
                <a:alpha val="18000"/>
              </a:srgbClr>
            </a:outerShdw>
          </a:effectLst>
        </p:spPr>
      </p:sp>
      <p:sp>
        <p:nvSpPr>
          <p:cNvPr id="16" name="Text 14"/>
          <p:cNvSpPr/>
          <p:nvPr/>
        </p:nvSpPr>
        <p:spPr>
          <a:xfrm>
            <a:off x="6611112" y="2697480"/>
            <a:ext cx="4745736" cy="2880360"/>
          </a:xfrm>
          <a:prstGeom prst="rect">
            <a:avLst/>
          </a:prstGeom>
          <a:noFill/>
          <a:ln/>
        </p:spPr>
        <p:txBody>
          <a:bodyPr wrap="square" lIns="0" tIns="0" rIns="0" bIns="0" rtlCol="0" anchor="t"/>
          <a:lstStyle/>
          <a:p>
            <a:pPr indent="0" marL="0">
              <a:lnSpc>
                <a:spcPct val="125000"/>
              </a:lnSpc>
              <a:buNone/>
            </a:pPr>
            <a:r>
              <a:rPr lang="en-US" sz="1200" dirty="0">
                <a:solidFill>
                  <a:srgbClr val="8FA6BE"/>
                </a:solidFill>
                <a:latin typeface="Courier New" pitchFamily="34" charset="0"/>
                <a:ea typeface="Courier New" pitchFamily="34" charset="-122"/>
                <a:cs typeface="Courier New" pitchFamily="34" charset="-120"/>
              </a:rPr>
              <a:t>diff --git a/afd_profile.py</a:t>
            </a:r>
            <a:endParaRPr lang="en-US" sz="1200" dirty="0"/>
          </a:p>
          <a:p>
            <a:pPr indent="0" marL="0">
              <a:lnSpc>
                <a:spcPct val="125000"/>
              </a:lnSpc>
              <a:buNone/>
            </a:pPr>
            <a:r>
              <a:rPr lang="en-US" sz="1200" dirty="0">
                <a:solidFill>
                  <a:srgbClr val="FF8A80"/>
                </a:solidFill>
                <a:latin typeface="Courier New" pitchFamily="34" charset="0"/>
                <a:ea typeface="Courier New" pitchFamily="34" charset="-122"/>
                <a:cs typeface="Courier New" pitchFamily="34" charset="-120"/>
              </a:rPr>
              <a:t>- result = result.append({...},</a:t>
            </a:r>
            <a:endParaRPr lang="en-US" sz="1200" dirty="0"/>
          </a:p>
          <a:p>
            <a:pPr indent="0" marL="0">
              <a:lnSpc>
                <a:spcPct val="125000"/>
              </a:lnSpc>
              <a:buNone/>
            </a:pPr>
            <a:r>
              <a:rPr lang="en-US" sz="1200" dirty="0">
                <a:solidFill>
                  <a:srgbClr val="FF8A80"/>
                </a:solidFill>
                <a:latin typeface="Courier New" pitchFamily="34" charset="0"/>
                <a:ea typeface="Courier New" pitchFamily="34" charset="-122"/>
                <a:cs typeface="Courier New" pitchFamily="34" charset="-120"/>
              </a:rPr>
              <a:t>-     ignore_index=True)</a:t>
            </a:r>
            <a:endParaRPr lang="en-US" sz="1200" dirty="0"/>
          </a:p>
          <a:p>
            <a:pPr indent="0" marL="0">
              <a:lnSpc>
                <a:spcPct val="125000"/>
              </a:lnSpc>
              <a:buNone/>
            </a:pPr>
            <a:r>
              <a:rPr lang="en-US" sz="1200" dirty="0">
                <a:solidFill>
                  <a:srgbClr val="6FCF97"/>
                </a:solidFill>
                <a:latin typeface="Courier New" pitchFamily="34" charset="0"/>
                <a:ea typeface="Courier New" pitchFamily="34" charset="-122"/>
                <a:cs typeface="Courier New" pitchFamily="34" charset="-120"/>
              </a:rPr>
              <a:t>+ result = pd.concat([result,</a:t>
            </a:r>
            <a:endParaRPr lang="en-US" sz="1200" dirty="0"/>
          </a:p>
          <a:p>
            <a:pPr indent="0" marL="0">
              <a:lnSpc>
                <a:spcPct val="125000"/>
              </a:lnSpc>
              <a:buNone/>
            </a:pPr>
            <a:r>
              <a:rPr lang="en-US" sz="1200" dirty="0">
                <a:solidFill>
                  <a:srgbClr val="6FCF97"/>
                </a:solidFill>
                <a:latin typeface="Courier New" pitchFamily="34" charset="0"/>
                <a:ea typeface="Courier New" pitchFamily="34" charset="-122"/>
                <a:cs typeface="Courier New" pitchFamily="34" charset="-120"/>
              </a:rPr>
              <a:t>+     pd.DataFrame([{...}])],</a:t>
            </a:r>
            <a:endParaRPr lang="en-US" sz="1200" dirty="0"/>
          </a:p>
          <a:p>
            <a:pPr indent="0" marL="0">
              <a:lnSpc>
                <a:spcPct val="125000"/>
              </a:lnSpc>
              <a:buNone/>
            </a:pPr>
            <a:r>
              <a:rPr lang="en-US" sz="1200" dirty="0">
                <a:solidFill>
                  <a:srgbClr val="6FCF97"/>
                </a:solidFill>
                <a:latin typeface="Courier New" pitchFamily="34" charset="0"/>
                <a:ea typeface="Courier New" pitchFamily="34" charset="-122"/>
                <a:cs typeface="Courier New" pitchFamily="34" charset="-120"/>
              </a:rPr>
              <a:t>+     ignore_index=True)</a:t>
            </a:r>
            <a:endParaRPr lang="en-US" sz="1200" dirty="0"/>
          </a:p>
          <a:p>
            <a:pPr indent="0" marL="0">
              <a:lnSpc>
                <a:spcPct val="125000"/>
              </a:lnSpc>
              <a:buNone/>
            </a:pPr>
            <a:endParaRPr lang="en-US" sz="1200" dirty="0"/>
          </a:p>
          <a:p>
            <a:pPr indent="0" marL="0">
              <a:lnSpc>
                <a:spcPct val="125000"/>
              </a:lnSpc>
              <a:buNone/>
            </a:pPr>
            <a:r>
              <a:rPr lang="en-US" sz="1200" dirty="0">
                <a:solidFill>
                  <a:srgbClr val="8FA6BE"/>
                </a:solidFill>
                <a:latin typeface="Courier New" pitchFamily="34" charset="0"/>
                <a:ea typeface="Courier New" pitchFamily="34" charset="-122"/>
                <a:cs typeface="Courier New" pitchFamily="34" charset="-120"/>
              </a:rPr>
              <a:t>diff --git a/requirements.txt</a:t>
            </a:r>
            <a:endParaRPr lang="en-US" sz="1200" dirty="0"/>
          </a:p>
          <a:p>
            <a:pPr indent="0" marL="0">
              <a:lnSpc>
                <a:spcPct val="125000"/>
              </a:lnSpc>
              <a:buNone/>
            </a:pPr>
            <a:r>
              <a:rPr lang="en-US" sz="1200" dirty="0">
                <a:solidFill>
                  <a:srgbClr val="6FCF97"/>
                </a:solidFill>
                <a:latin typeface="Courier New" pitchFamily="34" charset="0"/>
                <a:ea typeface="Courier New" pitchFamily="34" charset="-122"/>
                <a:cs typeface="Courier New" pitchFamily="34" charset="-120"/>
              </a:rPr>
              <a:t>+ pandas&gt;=2.0</a:t>
            </a:r>
            <a:endParaRPr lang="en-US" sz="1200" dirty="0"/>
          </a:p>
          <a:p>
            <a:pPr indent="0" marL="0">
              <a:lnSpc>
                <a:spcPct val="125000"/>
              </a:lnSpc>
              <a:buNone/>
            </a:pPr>
            <a:endParaRPr lang="en-US" sz="1200" dirty="0"/>
          </a:p>
          <a:p>
            <a:pPr indent="0" marL="0">
              <a:lnSpc>
                <a:spcPct val="125000"/>
              </a:lnSpc>
              <a:buNone/>
            </a:pPr>
            <a:r>
              <a:rPr lang="en-US" sz="1200" b="1" dirty="0">
                <a:solidFill>
                  <a:srgbClr val="F2A541"/>
                </a:solidFill>
                <a:latin typeface="Courier New" pitchFamily="34" charset="0"/>
                <a:ea typeface="Courier New" pitchFamily="34" charset="-122"/>
                <a:cs typeface="Courier New" pitchFamily="34" charset="-120"/>
              </a:rPr>
              <a:t>3 files changed — review before apply</a:t>
            </a:r>
            <a:endParaRPr lang="en-US" sz="1200" dirty="0"/>
          </a:p>
        </p:txBody>
      </p:sp>
      <p:sp>
        <p:nvSpPr>
          <p:cNvPr id="17" name="Text 15"/>
          <p:cNvSpPr/>
          <p:nvPr/>
        </p:nvSpPr>
        <p:spPr>
          <a:xfrm>
            <a:off x="548640" y="6537960"/>
            <a:ext cx="5486400" cy="274320"/>
          </a:xfrm>
          <a:prstGeom prst="rect">
            <a:avLst/>
          </a:prstGeom>
          <a:noFill/>
          <a:ln/>
        </p:spPr>
        <p:txBody>
          <a:bodyPr wrap="square" lIns="0" tIns="0" rIns="0" bIns="0" rtlCol="0" anchor="ctr"/>
          <a:lstStyle/>
          <a:p>
            <a:pPr indent="0" marL="0">
              <a:buNone/>
            </a:pPr>
            <a:r>
              <a:rPr lang="en-US" sz="900" dirty="0">
                <a:solidFill>
                  <a:srgbClr val="9AA7B5"/>
                </a:solidFill>
                <a:latin typeface="Calibri" pitchFamily="34" charset="0"/>
                <a:ea typeface="Calibri" pitchFamily="34" charset="-122"/>
                <a:cs typeface="Calibri" pitchFamily="34" charset="-120"/>
              </a:rPr>
              <a:t>Cursor for Engineers</a:t>
            </a:r>
            <a:endParaRPr lang="en-US" sz="900" dirty="0"/>
          </a:p>
        </p:txBody>
      </p:sp>
      <p:sp>
        <p:nvSpPr>
          <p:cNvPr id="18" name="Text 16"/>
          <p:cNvSpPr/>
          <p:nvPr/>
        </p:nvSpPr>
        <p:spPr>
          <a:xfrm>
            <a:off x="11338560" y="6537960"/>
            <a:ext cx="365760" cy="274320"/>
          </a:xfrm>
          <a:prstGeom prst="rect">
            <a:avLst/>
          </a:prstGeom>
          <a:noFill/>
          <a:ln/>
        </p:spPr>
        <p:txBody>
          <a:bodyPr wrap="square" lIns="0" tIns="0" rIns="0" bIns="0" rtlCol="0" anchor="ctr"/>
          <a:lstStyle/>
          <a:p>
            <a:pPr algn="r" indent="0" marL="0">
              <a:buNone/>
            </a:pPr>
            <a:r>
              <a:rPr lang="en-US" sz="900" dirty="0">
                <a:solidFill>
                  <a:srgbClr val="9AA7B5"/>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lIns="0" tIns="0" rIns="0" bIns="0" rtlCol="0" anchor="ctr"/>
          <a:lstStyle/>
          <a:p>
            <a:pPr indent="0" marL="0">
              <a:buNone/>
            </a:pPr>
            <a:r>
              <a:rPr lang="en-US" sz="1300" b="1" spc="200" kern="0" dirty="0">
                <a:solidFill>
                  <a:srgbClr val="3282B8"/>
                </a:solidFill>
                <a:latin typeface="Calibri" pitchFamily="34" charset="0"/>
                <a:ea typeface="Calibri" pitchFamily="34" charset="-122"/>
                <a:cs typeface="Calibri" pitchFamily="34" charset="-120"/>
              </a:rPr>
              <a:t>WHEN SOMETHING BREAKS</a:t>
            </a:r>
            <a:endParaRPr lang="en-US" sz="1300" dirty="0"/>
          </a:p>
        </p:txBody>
      </p:sp>
      <p:sp>
        <p:nvSpPr>
          <p:cNvPr id="3" name="Text 1"/>
          <p:cNvSpPr/>
          <p:nvPr/>
        </p:nvSpPr>
        <p:spPr>
          <a:xfrm>
            <a:off x="548640" y="731520"/>
            <a:ext cx="11064240" cy="822960"/>
          </a:xfrm>
          <a:prstGeom prst="rect">
            <a:avLst/>
          </a:prstGeom>
          <a:noFill/>
          <a:ln/>
        </p:spPr>
        <p:txBody>
          <a:bodyPr wrap="square" lIns="0" tIns="0" rIns="0" bIns="0" rtlCol="0" anchor="ctr"/>
          <a:lstStyle/>
          <a:p>
            <a:pPr indent="0" marL="0">
              <a:buNone/>
            </a:pPr>
            <a:r>
              <a:rPr lang="en-US" sz="3000" b="1" dirty="0">
                <a:solidFill>
                  <a:srgbClr val="16233A"/>
                </a:solidFill>
                <a:latin typeface="Cambria" pitchFamily="34" charset="0"/>
                <a:ea typeface="Cambria" pitchFamily="34" charset="-122"/>
                <a:cs typeface="Cambria" pitchFamily="34" charset="-120"/>
              </a:rPr>
              <a:t>Debug with real signal: tracebacks, logs, and screenshots</a:t>
            </a:r>
            <a:endParaRPr lang="en-US" sz="3000" dirty="0"/>
          </a:p>
        </p:txBody>
      </p:sp>
      <p:sp>
        <p:nvSpPr>
          <p:cNvPr id="4" name="Text 2"/>
          <p:cNvSpPr/>
          <p:nvPr/>
        </p:nvSpPr>
        <p:spPr>
          <a:xfrm>
            <a:off x="548640" y="1417320"/>
            <a:ext cx="5120640" cy="1371600"/>
          </a:xfrm>
          <a:prstGeom prst="rect">
            <a:avLst/>
          </a:prstGeom>
          <a:noFill/>
          <a:ln/>
        </p:spPr>
        <p:txBody>
          <a:bodyPr wrap="square" lIns="0" tIns="0" rIns="0" bIns="0" rtlCol="0" anchor="ctr"/>
          <a:lstStyle/>
          <a:p>
            <a:pPr indent="0" marL="0">
              <a:lnSpc>
                <a:spcPct val="130000"/>
              </a:lnSpc>
              <a:buNone/>
            </a:pPr>
            <a:r>
              <a:rPr lang="en-US" sz="1450" dirty="0">
                <a:solidFill>
                  <a:srgbClr val="16233A"/>
                </a:solidFill>
                <a:latin typeface="Calibri" pitchFamily="34" charset="0"/>
                <a:ea typeface="Calibri" pitchFamily="34" charset="-122"/>
                <a:cs typeface="Calibri" pitchFamily="34" charset="-120"/>
              </a:rPr>
              <a:t>Paste the traceback, @ the relevant files, and let the Agent trace root cause. For UI or plot bugs, drop in a screenshot — visual debugging works the same loop.</a:t>
            </a:r>
            <a:endParaRPr lang="en-US" sz="1450" dirty="0"/>
          </a:p>
        </p:txBody>
      </p:sp>
      <p:sp>
        <p:nvSpPr>
          <p:cNvPr id="5" name="Text 3"/>
          <p:cNvSpPr/>
          <p:nvPr/>
        </p:nvSpPr>
        <p:spPr>
          <a:xfrm>
            <a:off x="548640" y="2880360"/>
            <a:ext cx="5120640" cy="2651760"/>
          </a:xfrm>
          <a:prstGeom prst="rect">
            <a:avLst/>
          </a:prstGeom>
          <a:noFill/>
          <a:ln/>
        </p:spPr>
        <p:txBody>
          <a:bodyPr wrap="square" lIns="0" tIns="0" rIns="0" bIns="0" rtlCol="0" anchor="ctr"/>
          <a:lstStyle/>
          <a:p>
            <a:pPr marL="342900" indent="-342900">
              <a:spcAft>
                <a:spcPts val="800"/>
              </a:spcAft>
              <a:buSzPct val="100000"/>
              <a:buChar char="•"/>
            </a:pPr>
            <a:r>
              <a:rPr lang="en-US" sz="1350" dirty="0">
                <a:solidFill>
                  <a:srgbClr val="16233A"/>
                </a:solidFill>
                <a:latin typeface="Calibri" pitchFamily="34" charset="0"/>
                <a:ea typeface="Calibri" pitchFamily="34" charset="-122"/>
                <a:cs typeface="Calibri" pitchFamily="34" charset="-120"/>
              </a:rPr>
              <a:t>Include the full stack trace, not just the last line</a:t>
            </a:r>
            <a:endParaRPr lang="en-US" sz="1350" dirty="0"/>
          </a:p>
          <a:p>
            <a:pPr marL="342900" indent="-342900">
              <a:spcAft>
                <a:spcPts val="800"/>
              </a:spcAft>
              <a:buSzPct val="100000"/>
              <a:buChar char="•"/>
            </a:pPr>
            <a:r>
              <a:rPr lang="en-US" sz="1350" dirty="0">
                <a:solidFill>
                  <a:srgbClr val="16233A"/>
                </a:solidFill>
                <a:latin typeface="Calibri" pitchFamily="34" charset="0"/>
                <a:ea typeface="Calibri" pitchFamily="34" charset="-122"/>
                <a:cs typeface="Calibri" pitchFamily="34" charset="-120"/>
              </a:rPr>
              <a:t>Pipe terminal output or logs straight into chat for context</a:t>
            </a:r>
            <a:endParaRPr lang="en-US" sz="1350" dirty="0"/>
          </a:p>
          <a:p>
            <a:pPr marL="342900" indent="-342900">
              <a:spcAft>
                <a:spcPts val="800"/>
              </a:spcAft>
              <a:buSzPct val="100000"/>
              <a:buChar char="•"/>
            </a:pPr>
            <a:r>
              <a:rPr lang="en-US" sz="1350" dirty="0">
                <a:solidFill>
                  <a:srgbClr val="16233A"/>
                </a:solidFill>
                <a:latin typeface="Calibri" pitchFamily="34" charset="0"/>
                <a:ea typeface="Calibri" pitchFamily="34" charset="-122"/>
                <a:cs typeface="Calibri" pitchFamily="34" charset="-120"/>
              </a:rPr>
              <a:t>Paste a screenshot of a broken report or chart — the Agent compares it to what's expected</a:t>
            </a:r>
            <a:endParaRPr lang="en-US" sz="1350" dirty="0"/>
          </a:p>
          <a:p>
            <a:pPr marL="342900" indent="-342900">
              <a:spcAft>
                <a:spcPts val="800"/>
              </a:spcAft>
              <a:buSzPct val="100000"/>
              <a:buChar char="•"/>
            </a:pPr>
            <a:r>
              <a:rPr lang="en-US" sz="1350" dirty="0">
                <a:solidFill>
                  <a:srgbClr val="16233A"/>
                </a:solidFill>
                <a:latin typeface="Calibri" pitchFamily="34" charset="0"/>
                <a:ea typeface="Calibri" pitchFamily="34" charset="-122"/>
                <a:cs typeface="Calibri" pitchFamily="34" charset="-120"/>
              </a:rPr>
              <a:t>Ask “why” before “fix it” to catch root cause, not a symptom patch</a:t>
            </a:r>
            <a:endParaRPr lang="en-US" sz="1350" dirty="0"/>
          </a:p>
        </p:txBody>
      </p:sp>
      <p:sp>
        <p:nvSpPr>
          <p:cNvPr id="6" name="Shape 4"/>
          <p:cNvSpPr/>
          <p:nvPr/>
        </p:nvSpPr>
        <p:spPr>
          <a:xfrm>
            <a:off x="5989320" y="1417320"/>
            <a:ext cx="5623560" cy="4572000"/>
          </a:xfrm>
          <a:prstGeom prst="roundRect">
            <a:avLst>
              <a:gd name="adj" fmla="val 1600"/>
            </a:avLst>
          </a:prstGeom>
          <a:solidFill>
            <a:srgbClr val="0B1F3A"/>
          </a:solidFill>
          <a:ln/>
          <a:effectLst>
            <a:outerShdw sx="100000" sy="100000" kx="0" ky="0" algn="bl" rotWithShape="0" blurRad="76200" dist="25400" dir="5400000">
              <a:srgbClr val="0B1F3A">
                <a:alpha val="18000"/>
              </a:srgbClr>
            </a:outerShdw>
          </a:effectLst>
        </p:spPr>
      </p:sp>
      <p:sp>
        <p:nvSpPr>
          <p:cNvPr id="7" name="Text 5"/>
          <p:cNvSpPr/>
          <p:nvPr/>
        </p:nvSpPr>
        <p:spPr>
          <a:xfrm>
            <a:off x="6245352" y="1600200"/>
            <a:ext cx="5111496" cy="4206240"/>
          </a:xfrm>
          <a:prstGeom prst="rect">
            <a:avLst/>
          </a:prstGeom>
          <a:noFill/>
          <a:ln/>
        </p:spPr>
        <p:txBody>
          <a:bodyPr wrap="square" lIns="0" tIns="0" rIns="0" bIns="0" rtlCol="0" anchor="t"/>
          <a:lstStyle/>
          <a:p>
            <a:pPr indent="0" marL="0">
              <a:lnSpc>
                <a:spcPct val="125000"/>
              </a:lnSpc>
              <a:buNone/>
            </a:pPr>
            <a:r>
              <a:rPr lang="en-US" sz="1250" dirty="0">
                <a:solidFill>
                  <a:srgbClr val="FF8A80"/>
                </a:solidFill>
                <a:latin typeface="Courier New" pitchFamily="34" charset="0"/>
                <a:ea typeface="Courier New" pitchFamily="34" charset="-122"/>
                <a:cs typeface="Courier New" pitchFamily="34" charset="-120"/>
              </a:rPr>
              <a:t>merchant_category shows up as TEXT</a:t>
            </a:r>
            <a:endParaRPr lang="en-US" sz="1250" dirty="0"/>
          </a:p>
          <a:p>
            <a:pPr indent="0" marL="0">
              <a:lnSpc>
                <a:spcPct val="125000"/>
              </a:lnSpc>
              <a:buNone/>
            </a:pPr>
            <a:r>
              <a:rPr lang="en-US" sz="1250" dirty="0">
                <a:solidFill>
                  <a:srgbClr val="FF8A80"/>
                </a:solidFill>
                <a:latin typeface="Courier New" pitchFamily="34" charset="0"/>
                <a:ea typeface="Courier New" pitchFamily="34" charset="-122"/>
                <a:cs typeface="Courier New" pitchFamily="34" charset="-120"/>
              </a:rPr>
              <a:t>in the report, not CATEGORY — it's</a:t>
            </a:r>
            <a:endParaRPr lang="en-US" sz="1250" dirty="0"/>
          </a:p>
          <a:p>
            <a:pPr indent="0" marL="0">
              <a:lnSpc>
                <a:spcPct val="125000"/>
              </a:lnSpc>
              <a:buNone/>
            </a:pPr>
            <a:r>
              <a:rPr lang="en-US" sz="1250" dirty="0">
                <a:solidFill>
                  <a:srgbClr val="FF8A80"/>
                </a:solidFill>
                <a:latin typeface="Courier New" pitchFamily="34" charset="0"/>
                <a:ea typeface="Courier New" pitchFamily="34" charset="-122"/>
                <a:cs typeface="Courier New" pitchFamily="34" charset="-120"/>
              </a:rPr>
              <a:t>throwing off the correlation stats.</a:t>
            </a:r>
            <a:endParaRPr lang="en-US" sz="1250" dirty="0"/>
          </a:p>
          <a:p>
            <a:pPr indent="0" marL="0">
              <a:lnSpc>
                <a:spcPct val="125000"/>
              </a:lnSpc>
              <a:buNone/>
            </a:pPr>
            <a:endParaRPr lang="en-US" sz="1250" dirty="0"/>
          </a:p>
          <a:p>
            <a:pPr indent="0" marL="0">
              <a:lnSpc>
                <a:spcPct val="125000"/>
              </a:lnSpc>
              <a:buNone/>
            </a:pPr>
            <a:r>
              <a:rPr lang="en-US" sz="1250" b="1" dirty="0">
                <a:solidFill>
                  <a:srgbClr val="FFFFFF"/>
                </a:solidFill>
                <a:latin typeface="Courier New" pitchFamily="34" charset="0"/>
                <a:ea typeface="Courier New" pitchFamily="34" charset="-122"/>
                <a:cs typeface="Courier New" pitchFamily="34" charset="-120"/>
              </a:rPr>
              <a:t>@afd_profile.py why is</a:t>
            </a:r>
            <a:endParaRPr lang="en-US" sz="1250" dirty="0"/>
          </a:p>
          <a:p>
            <a:pPr indent="0" marL="0">
              <a:lnSpc>
                <a:spcPct val="125000"/>
              </a:lnSpc>
              <a:buNone/>
            </a:pPr>
            <a:r>
              <a:rPr lang="en-US" sz="1250" b="1" dirty="0">
                <a:solidFill>
                  <a:srgbClr val="FFFFFF"/>
                </a:solidFill>
                <a:latin typeface="Courier New" pitchFamily="34" charset="0"/>
                <a:ea typeface="Courier New" pitchFamily="34" charset="-122"/>
                <a:cs typeface="Courier New" pitchFamily="34" charset="-120"/>
              </a:rPr>
              <a:t>merchant_category classified as</a:t>
            </a:r>
            <a:endParaRPr lang="en-US" sz="1250" dirty="0"/>
          </a:p>
          <a:p>
            <a:pPr indent="0" marL="0">
              <a:lnSpc>
                <a:spcPct val="125000"/>
              </a:lnSpc>
              <a:buNone/>
            </a:pPr>
            <a:r>
              <a:rPr lang="en-US" sz="1250" b="1" dirty="0">
                <a:solidFill>
                  <a:srgbClr val="FFFFFF"/>
                </a:solidFill>
                <a:latin typeface="Courier New" pitchFamily="34" charset="0"/>
                <a:ea typeface="Courier New" pitchFamily="34" charset="-122"/>
                <a:cs typeface="Courier New" pitchFamily="34" charset="-120"/>
              </a:rPr>
              <a:t>TEXT instead of CATEGORY?</a:t>
            </a:r>
            <a:endParaRPr lang="en-US" sz="1250" dirty="0"/>
          </a:p>
          <a:p>
            <a:pPr indent="0" marL="0">
              <a:lnSpc>
                <a:spcPct val="125000"/>
              </a:lnSpc>
              <a:buNone/>
            </a:pPr>
            <a:endParaRPr lang="en-US" sz="1250" dirty="0"/>
          </a:p>
          <a:p>
            <a:pPr indent="0" marL="0">
              <a:lnSpc>
                <a:spcPct val="125000"/>
              </a:lnSpc>
              <a:buNone/>
            </a:pPr>
            <a:r>
              <a:rPr lang="en-US" sz="1250" b="1" dirty="0">
                <a:solidFill>
                  <a:srgbClr val="F2A541"/>
                </a:solidFill>
                <a:latin typeface="Courier New" pitchFamily="34" charset="0"/>
                <a:ea typeface="Courier New" pitchFamily="34" charset="-122"/>
                <a:cs typeface="Courier New" pitchFamily="34" charset="-120"/>
              </a:rPr>
              <a:t>→ Root cause: check_if_nlp_feature()</a:t>
            </a:r>
            <a:endParaRPr lang="en-US" sz="1250" dirty="0"/>
          </a:p>
          <a:p>
            <a:pPr indent="0" marL="0">
              <a:lnSpc>
                <a:spcPct val="125000"/>
              </a:lnSpc>
              <a:buNone/>
            </a:pPr>
            <a:r>
              <a:rPr lang="en-US" sz="1250" b="1" dirty="0">
                <a:solidFill>
                  <a:srgbClr val="F2A541"/>
                </a:solidFill>
                <a:latin typeface="Courier New" pitchFamily="34" charset="0"/>
                <a:ea typeface="Courier New" pitchFamily="34" charset="-122"/>
                <a:cs typeface="Courier New" pitchFamily="34" charset="-120"/>
              </a:rPr>
              <a:t>  flags object columns with &gt;1%</a:t>
            </a:r>
            <a:endParaRPr lang="en-US" sz="1250" dirty="0"/>
          </a:p>
          <a:p>
            <a:pPr indent="0" marL="0">
              <a:lnSpc>
                <a:spcPct val="125000"/>
              </a:lnSpc>
              <a:buNone/>
            </a:pPr>
            <a:r>
              <a:rPr lang="en-US" sz="1250" b="1" dirty="0">
                <a:solidFill>
                  <a:srgbClr val="F2A541"/>
                </a:solidFill>
                <a:latin typeface="Courier New" pitchFamily="34" charset="0"/>
                <a:ea typeface="Courier New" pitchFamily="34" charset="-122"/>
                <a:cs typeface="Courier New" pitchFamily="34" charset="-120"/>
              </a:rPr>
              <a:t>  unique values and 3+ avg words as</a:t>
            </a:r>
            <a:endParaRPr lang="en-US" sz="1250" dirty="0"/>
          </a:p>
          <a:p>
            <a:pPr indent="0" marL="0">
              <a:lnSpc>
                <a:spcPct val="125000"/>
              </a:lnSpc>
              <a:buNone/>
            </a:pPr>
            <a:r>
              <a:rPr lang="en-US" sz="1250" b="1" dirty="0">
                <a:solidFill>
                  <a:srgbClr val="F2A541"/>
                </a:solidFill>
                <a:latin typeface="Courier New" pitchFamily="34" charset="0"/>
                <a:ea typeface="Courier New" pitchFamily="34" charset="-122"/>
                <a:cs typeface="Courier New" pitchFamily="34" charset="-120"/>
              </a:rPr>
              <a:t>  NLP text. Labels like "grocery</a:t>
            </a:r>
            <a:endParaRPr lang="en-US" sz="1250" dirty="0"/>
          </a:p>
          <a:p>
            <a:pPr indent="0" marL="0">
              <a:lnSpc>
                <a:spcPct val="125000"/>
              </a:lnSpc>
              <a:buNone/>
            </a:pPr>
            <a:r>
              <a:rPr lang="en-US" sz="1250" b="1" dirty="0">
                <a:solidFill>
                  <a:srgbClr val="F2A541"/>
                </a:solidFill>
                <a:latin typeface="Courier New" pitchFamily="34" charset="0"/>
                <a:ea typeface="Courier New" pitchFamily="34" charset="-122"/>
                <a:cs typeface="Courier New" pitchFamily="34" charset="-120"/>
              </a:rPr>
              <a:t>  store" trip the word-count check.</a:t>
            </a:r>
            <a:endParaRPr lang="en-US" sz="1250" dirty="0"/>
          </a:p>
        </p:txBody>
      </p:sp>
      <p:sp>
        <p:nvSpPr>
          <p:cNvPr id="8" name="Text 6"/>
          <p:cNvSpPr/>
          <p:nvPr/>
        </p:nvSpPr>
        <p:spPr>
          <a:xfrm>
            <a:off x="548640" y="6537960"/>
            <a:ext cx="5486400" cy="274320"/>
          </a:xfrm>
          <a:prstGeom prst="rect">
            <a:avLst/>
          </a:prstGeom>
          <a:noFill/>
          <a:ln/>
        </p:spPr>
        <p:txBody>
          <a:bodyPr wrap="square" lIns="0" tIns="0" rIns="0" bIns="0" rtlCol="0" anchor="ctr"/>
          <a:lstStyle/>
          <a:p>
            <a:pPr indent="0" marL="0">
              <a:buNone/>
            </a:pPr>
            <a:r>
              <a:rPr lang="en-US" sz="900" dirty="0">
                <a:solidFill>
                  <a:srgbClr val="9AA7B5"/>
                </a:solidFill>
                <a:latin typeface="Calibri" pitchFamily="34" charset="0"/>
                <a:ea typeface="Calibri" pitchFamily="34" charset="-122"/>
                <a:cs typeface="Calibri" pitchFamily="34" charset="-120"/>
              </a:rPr>
              <a:t>Cursor for Engineers</a:t>
            </a:r>
            <a:endParaRPr lang="en-US" sz="900" dirty="0"/>
          </a:p>
        </p:txBody>
      </p:sp>
      <p:sp>
        <p:nvSpPr>
          <p:cNvPr id="9" name="Text 7"/>
          <p:cNvSpPr/>
          <p:nvPr/>
        </p:nvSpPr>
        <p:spPr>
          <a:xfrm>
            <a:off x="11338560" y="6537960"/>
            <a:ext cx="365760" cy="274320"/>
          </a:xfrm>
          <a:prstGeom prst="rect">
            <a:avLst/>
          </a:prstGeom>
          <a:noFill/>
          <a:ln/>
        </p:spPr>
        <p:txBody>
          <a:bodyPr wrap="square" lIns="0" tIns="0" rIns="0" bIns="0" rtlCol="0" anchor="ctr"/>
          <a:lstStyle/>
          <a:p>
            <a:pPr algn="r" indent="0" marL="0">
              <a:buNone/>
            </a:pPr>
            <a:r>
              <a:rPr lang="en-US" sz="900" dirty="0">
                <a:solidFill>
                  <a:srgbClr val="9AA7B5"/>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F3A"/>
          </a:solidFill>
          <a:ln/>
        </p:spPr>
      </p:sp>
      <p:sp>
        <p:nvSpPr>
          <p:cNvPr id="3" name="Text 1"/>
          <p:cNvSpPr/>
          <p:nvPr/>
        </p:nvSpPr>
        <p:spPr>
          <a:xfrm>
            <a:off x="9418320" y="4206240"/>
            <a:ext cx="2743200" cy="2011680"/>
          </a:xfrm>
          <a:prstGeom prst="rect">
            <a:avLst/>
          </a:prstGeom>
          <a:noFill/>
          <a:ln/>
        </p:spPr>
        <p:txBody>
          <a:bodyPr wrap="square" lIns="0" tIns="0" rIns="0" bIns="0" rtlCol="0" anchor="ctr"/>
          <a:lstStyle/>
          <a:p>
            <a:pPr indent="0" marL="0">
              <a:buNone/>
            </a:pPr>
            <a:r>
              <a:rPr lang="en-US" sz="14000" b="1" dirty="0">
                <a:solidFill>
                  <a:srgbClr val="132A4C"/>
                </a:solidFill>
                <a:latin typeface="Courier New" pitchFamily="34" charset="0"/>
                <a:ea typeface="Courier New" pitchFamily="34" charset="-122"/>
                <a:cs typeface="Courier New" pitchFamily="34" charset="-120"/>
              </a:rPr>
              <a:t>{ }</a:t>
            </a:r>
            <a:endParaRPr lang="en-US" sz="14000" dirty="0"/>
          </a:p>
        </p:txBody>
      </p:sp>
      <p:sp>
        <p:nvSpPr>
          <p:cNvPr id="4" name="Text 2"/>
          <p:cNvSpPr/>
          <p:nvPr/>
        </p:nvSpPr>
        <p:spPr>
          <a:xfrm>
            <a:off x="822960" y="2331720"/>
            <a:ext cx="5486400" cy="457200"/>
          </a:xfrm>
          <a:prstGeom prst="rect">
            <a:avLst/>
          </a:prstGeom>
          <a:noFill/>
          <a:ln/>
        </p:spPr>
        <p:txBody>
          <a:bodyPr wrap="square" lIns="0" tIns="0" rIns="0" bIns="0" rtlCol="0" anchor="ctr"/>
          <a:lstStyle/>
          <a:p>
            <a:pPr indent="0" marL="0">
              <a:buNone/>
            </a:pPr>
            <a:r>
              <a:rPr lang="en-US" sz="1500" b="1" spc="300" kern="0" dirty="0">
                <a:solidFill>
                  <a:srgbClr val="F2A541"/>
                </a:solidFill>
                <a:latin typeface="Calibri" pitchFamily="34" charset="0"/>
                <a:ea typeface="Calibri" pitchFamily="34" charset="-122"/>
                <a:cs typeface="Calibri" pitchFamily="34" charset="-120"/>
              </a:rPr>
              <a:t>CHAPTER 3</a:t>
            </a:r>
            <a:endParaRPr lang="en-US" sz="1500" dirty="0"/>
          </a:p>
        </p:txBody>
      </p:sp>
      <p:sp>
        <p:nvSpPr>
          <p:cNvPr id="5" name="Text 3"/>
          <p:cNvSpPr/>
          <p:nvPr/>
        </p:nvSpPr>
        <p:spPr>
          <a:xfrm>
            <a:off x="822960" y="2788920"/>
            <a:ext cx="9875520" cy="146304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Scaling &amp; Securing Your Workflow</a:t>
            </a:r>
            <a:endParaRPr lang="en-US" sz="3800" dirty="0"/>
          </a:p>
        </p:txBody>
      </p:sp>
      <p:sp>
        <p:nvSpPr>
          <p:cNvPr id="6" name="Text 4"/>
          <p:cNvSpPr/>
          <p:nvPr/>
        </p:nvSpPr>
        <p:spPr>
          <a:xfrm>
            <a:off x="822960" y="4160520"/>
            <a:ext cx="9418320" cy="731520"/>
          </a:xfrm>
          <a:prstGeom prst="rect">
            <a:avLst/>
          </a:prstGeom>
          <a:noFill/>
          <a:ln/>
        </p:spPr>
        <p:txBody>
          <a:bodyPr wrap="square" lIns="0" tIns="0" rIns="0" bIns="0" rtlCol="0" anchor="ctr"/>
          <a:lstStyle/>
          <a:p>
            <a:pPr indent="0" marL="0">
              <a:buNone/>
            </a:pPr>
            <a:r>
              <a:rPr lang="en-US" sz="1600" dirty="0">
                <a:solidFill>
                  <a:srgbClr val="AFC6DE"/>
                </a:solidFill>
                <a:latin typeface="Calibri" pitchFamily="34" charset="0"/>
                <a:ea typeface="Calibri" pitchFamily="34" charset="-122"/>
                <a:cs typeface="Calibri" pitchFamily="34" charset="-120"/>
              </a:rPr>
              <a:t>Git, secrets, Composer, parallel agents, Max Mode, and MCP</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lIns="0" tIns="0" rIns="0" bIns="0" rtlCol="0" anchor="ctr"/>
          <a:lstStyle/>
          <a:p>
            <a:pPr indent="0" marL="0">
              <a:buNone/>
            </a:pPr>
            <a:r>
              <a:rPr lang="en-US" sz="1300" b="1" spc="200" kern="0" dirty="0">
                <a:solidFill>
                  <a:srgbClr val="3282B8"/>
                </a:solidFill>
                <a:latin typeface="Calibri" pitchFamily="34" charset="0"/>
                <a:ea typeface="Calibri" pitchFamily="34" charset="-122"/>
                <a:cs typeface="Calibri" pitchFamily="34" charset="-120"/>
              </a:rPr>
              <a:t>CHAPTER 3</a:t>
            </a:r>
            <a:endParaRPr lang="en-US" sz="1300" dirty="0"/>
          </a:p>
        </p:txBody>
      </p:sp>
      <p:sp>
        <p:nvSpPr>
          <p:cNvPr id="3" name="Text 1"/>
          <p:cNvSpPr/>
          <p:nvPr/>
        </p:nvSpPr>
        <p:spPr>
          <a:xfrm>
            <a:off x="548640" y="731520"/>
            <a:ext cx="11064240" cy="822960"/>
          </a:xfrm>
          <a:prstGeom prst="rect">
            <a:avLst/>
          </a:prstGeom>
          <a:noFill/>
          <a:ln/>
        </p:spPr>
        <p:txBody>
          <a:bodyPr wrap="square" lIns="0" tIns="0" rIns="0" bIns="0" rtlCol="0" anchor="ctr"/>
          <a:lstStyle/>
          <a:p>
            <a:pPr indent="0" marL="0">
              <a:buNone/>
            </a:pPr>
            <a:r>
              <a:rPr lang="en-US" sz="3000" b="1" dirty="0">
                <a:solidFill>
                  <a:srgbClr val="16233A"/>
                </a:solidFill>
                <a:latin typeface="Cambria" pitchFamily="34" charset="0"/>
                <a:ea typeface="Cambria" pitchFamily="34" charset="-122"/>
                <a:cs typeface="Cambria" pitchFamily="34" charset="-120"/>
              </a:rPr>
              <a:t>Git inside Cursor: stage, commit, resolve</a:t>
            </a:r>
            <a:endParaRPr lang="en-US" sz="3000" dirty="0"/>
          </a:p>
        </p:txBody>
      </p:sp>
      <p:sp>
        <p:nvSpPr>
          <p:cNvPr id="4" name="Shape 2"/>
          <p:cNvSpPr/>
          <p:nvPr/>
        </p:nvSpPr>
        <p:spPr>
          <a:xfrm>
            <a:off x="548640" y="1737360"/>
            <a:ext cx="5486400" cy="1234440"/>
          </a:xfrm>
          <a:prstGeom prst="roundRect">
            <a:avLst>
              <a:gd name="adj" fmla="val 7407"/>
            </a:avLst>
          </a:prstGeom>
          <a:solidFill>
            <a:srgbClr val="F0F4F8"/>
          </a:solidFill>
          <a:ln/>
          <a:effectLst>
            <a:outerShdw sx="100000" sy="100000" kx="0" ky="0" algn="bl" rotWithShape="0" blurRad="76200" dist="25400" dir="5400000">
              <a:srgbClr val="0B1F3A">
                <a:alpha val="18000"/>
              </a:srgbClr>
            </a:outerShdw>
          </a:effectLst>
        </p:spPr>
      </p:sp>
      <p:sp>
        <p:nvSpPr>
          <p:cNvPr id="5" name="Text 3"/>
          <p:cNvSpPr/>
          <p:nvPr/>
        </p:nvSpPr>
        <p:spPr>
          <a:xfrm>
            <a:off x="822960" y="1901952"/>
            <a:ext cx="4937760" cy="411480"/>
          </a:xfrm>
          <a:prstGeom prst="rect">
            <a:avLst/>
          </a:prstGeom>
          <a:noFill/>
          <a:ln/>
        </p:spPr>
        <p:txBody>
          <a:bodyPr wrap="square" lIns="0" tIns="0" rIns="0" bIns="0" rtlCol="0" anchor="ctr"/>
          <a:lstStyle/>
          <a:p>
            <a:pPr indent="0" marL="0">
              <a:buNone/>
            </a:pPr>
            <a:r>
              <a:rPr lang="en-US" sz="1600" b="1" dirty="0">
                <a:solidFill>
                  <a:srgbClr val="16233A"/>
                </a:solidFill>
                <a:latin typeface="Cambria" pitchFamily="34" charset="0"/>
                <a:ea typeface="Cambria" pitchFamily="34" charset="-122"/>
                <a:cs typeface="Cambria" pitchFamily="34" charset="-120"/>
              </a:rPr>
              <a:t>Stage with intent</a:t>
            </a:r>
            <a:endParaRPr lang="en-US" sz="1600" dirty="0"/>
          </a:p>
        </p:txBody>
      </p:sp>
      <p:sp>
        <p:nvSpPr>
          <p:cNvPr id="6" name="Text 4"/>
          <p:cNvSpPr/>
          <p:nvPr/>
        </p:nvSpPr>
        <p:spPr>
          <a:xfrm>
            <a:off x="822960" y="2331720"/>
            <a:ext cx="4937760" cy="548640"/>
          </a:xfrm>
          <a:prstGeom prst="rect">
            <a:avLst/>
          </a:prstGeom>
          <a:noFill/>
          <a:ln/>
        </p:spPr>
        <p:txBody>
          <a:bodyPr wrap="square" lIns="0" tIns="0" rIns="0" bIns="0" rtlCol="0" anchor="ctr"/>
          <a:lstStyle/>
          <a:p>
            <a:pPr indent="0" marL="0">
              <a:lnSpc>
                <a:spcPct val="120000"/>
              </a:lnSpc>
              <a:buNone/>
            </a:pPr>
            <a:r>
              <a:rPr lang="en-US" sz="1250" dirty="0">
                <a:solidFill>
                  <a:srgbClr val="5C6B7A"/>
                </a:solidFill>
                <a:latin typeface="Calibri" pitchFamily="34" charset="0"/>
                <a:ea typeface="Calibri" pitchFamily="34" charset="-122"/>
                <a:cs typeface="Calibri" pitchFamily="34" charset="-120"/>
              </a:rPr>
              <a:t>Stage only what you want the Agent reasoning about — keep unrelated work-in-progress out of context</a:t>
            </a:r>
            <a:endParaRPr lang="en-US" sz="1250" dirty="0"/>
          </a:p>
        </p:txBody>
      </p:sp>
      <p:sp>
        <p:nvSpPr>
          <p:cNvPr id="7" name="Shape 5"/>
          <p:cNvSpPr/>
          <p:nvPr/>
        </p:nvSpPr>
        <p:spPr>
          <a:xfrm>
            <a:off x="548640" y="3154680"/>
            <a:ext cx="5486400" cy="1234440"/>
          </a:xfrm>
          <a:prstGeom prst="roundRect">
            <a:avLst>
              <a:gd name="adj" fmla="val 7407"/>
            </a:avLst>
          </a:prstGeom>
          <a:solidFill>
            <a:srgbClr val="F0F4F8"/>
          </a:solidFill>
          <a:ln/>
          <a:effectLst>
            <a:outerShdw sx="100000" sy="100000" kx="0" ky="0" algn="bl" rotWithShape="0" blurRad="76200" dist="25400" dir="5400000">
              <a:srgbClr val="0B1F3A">
                <a:alpha val="18000"/>
              </a:srgbClr>
            </a:outerShdw>
          </a:effectLst>
        </p:spPr>
      </p:sp>
      <p:sp>
        <p:nvSpPr>
          <p:cNvPr id="8" name="Text 6"/>
          <p:cNvSpPr/>
          <p:nvPr/>
        </p:nvSpPr>
        <p:spPr>
          <a:xfrm>
            <a:off x="822960" y="3319272"/>
            <a:ext cx="4937760" cy="411480"/>
          </a:xfrm>
          <a:prstGeom prst="rect">
            <a:avLst/>
          </a:prstGeom>
          <a:noFill/>
          <a:ln/>
        </p:spPr>
        <p:txBody>
          <a:bodyPr wrap="square" lIns="0" tIns="0" rIns="0" bIns="0" rtlCol="0" anchor="ctr"/>
          <a:lstStyle/>
          <a:p>
            <a:pPr indent="0" marL="0">
              <a:buNone/>
            </a:pPr>
            <a:r>
              <a:rPr lang="en-US" sz="1600" b="1" dirty="0">
                <a:solidFill>
                  <a:srgbClr val="16233A"/>
                </a:solidFill>
                <a:latin typeface="Cambria" pitchFamily="34" charset="0"/>
                <a:ea typeface="Cambria" pitchFamily="34" charset="-122"/>
                <a:cs typeface="Cambria" pitchFamily="34" charset="-120"/>
              </a:rPr>
              <a:t>AI-drafted commit messages</a:t>
            </a:r>
            <a:endParaRPr lang="en-US" sz="1600" dirty="0"/>
          </a:p>
        </p:txBody>
      </p:sp>
      <p:sp>
        <p:nvSpPr>
          <p:cNvPr id="9" name="Text 7"/>
          <p:cNvSpPr/>
          <p:nvPr/>
        </p:nvSpPr>
        <p:spPr>
          <a:xfrm>
            <a:off x="822960" y="3749040"/>
            <a:ext cx="4937760" cy="548640"/>
          </a:xfrm>
          <a:prstGeom prst="rect">
            <a:avLst/>
          </a:prstGeom>
          <a:noFill/>
          <a:ln/>
        </p:spPr>
        <p:txBody>
          <a:bodyPr wrap="square" lIns="0" tIns="0" rIns="0" bIns="0" rtlCol="0" anchor="ctr"/>
          <a:lstStyle/>
          <a:p>
            <a:pPr indent="0" marL="0">
              <a:lnSpc>
                <a:spcPct val="120000"/>
              </a:lnSpc>
              <a:buNone/>
            </a:pPr>
            <a:r>
              <a:rPr lang="en-US" sz="1250" dirty="0">
                <a:solidFill>
                  <a:srgbClr val="5C6B7A"/>
                </a:solidFill>
                <a:latin typeface="Calibri" pitchFamily="34" charset="0"/>
                <a:ea typeface="Calibri" pitchFamily="34" charset="-122"/>
                <a:cs typeface="Calibri" pitchFamily="34" charset="-120"/>
              </a:rPr>
              <a:t>Generated from the actual diff, not a generic template</a:t>
            </a:r>
            <a:endParaRPr lang="en-US" sz="1250" dirty="0"/>
          </a:p>
        </p:txBody>
      </p:sp>
      <p:sp>
        <p:nvSpPr>
          <p:cNvPr id="10" name="Shape 8"/>
          <p:cNvSpPr/>
          <p:nvPr/>
        </p:nvSpPr>
        <p:spPr>
          <a:xfrm>
            <a:off x="548640" y="4572000"/>
            <a:ext cx="5486400" cy="1234440"/>
          </a:xfrm>
          <a:prstGeom prst="roundRect">
            <a:avLst>
              <a:gd name="adj" fmla="val 7407"/>
            </a:avLst>
          </a:prstGeom>
          <a:solidFill>
            <a:srgbClr val="F0F4F8"/>
          </a:solidFill>
          <a:ln/>
          <a:effectLst>
            <a:outerShdw sx="100000" sy="100000" kx="0" ky="0" algn="bl" rotWithShape="0" blurRad="76200" dist="25400" dir="5400000">
              <a:srgbClr val="0B1F3A">
                <a:alpha val="18000"/>
              </a:srgbClr>
            </a:outerShdw>
          </a:effectLst>
        </p:spPr>
      </p:sp>
      <p:sp>
        <p:nvSpPr>
          <p:cNvPr id="11" name="Text 9"/>
          <p:cNvSpPr/>
          <p:nvPr/>
        </p:nvSpPr>
        <p:spPr>
          <a:xfrm>
            <a:off x="822960" y="4736592"/>
            <a:ext cx="4937760" cy="411480"/>
          </a:xfrm>
          <a:prstGeom prst="rect">
            <a:avLst/>
          </a:prstGeom>
          <a:noFill/>
          <a:ln/>
        </p:spPr>
        <p:txBody>
          <a:bodyPr wrap="square" lIns="0" tIns="0" rIns="0" bIns="0" rtlCol="0" anchor="ctr"/>
          <a:lstStyle/>
          <a:p>
            <a:pPr indent="0" marL="0">
              <a:buNone/>
            </a:pPr>
            <a:r>
              <a:rPr lang="en-US" sz="1600" b="1" dirty="0">
                <a:solidFill>
                  <a:srgbClr val="16233A"/>
                </a:solidFill>
                <a:latin typeface="Cambria" pitchFamily="34" charset="0"/>
                <a:ea typeface="Cambria" pitchFamily="34" charset="-122"/>
                <a:cs typeface="Cambria" pitchFamily="34" charset="-120"/>
              </a:rPr>
              <a:t>Merge conflict resolution</a:t>
            </a:r>
            <a:endParaRPr lang="en-US" sz="1600" dirty="0"/>
          </a:p>
        </p:txBody>
      </p:sp>
      <p:sp>
        <p:nvSpPr>
          <p:cNvPr id="12" name="Text 10"/>
          <p:cNvSpPr/>
          <p:nvPr/>
        </p:nvSpPr>
        <p:spPr>
          <a:xfrm>
            <a:off x="822960" y="5166360"/>
            <a:ext cx="4937760" cy="548640"/>
          </a:xfrm>
          <a:prstGeom prst="rect">
            <a:avLst/>
          </a:prstGeom>
          <a:noFill/>
          <a:ln/>
        </p:spPr>
        <p:txBody>
          <a:bodyPr wrap="square" lIns="0" tIns="0" rIns="0" bIns="0" rtlCol="0" anchor="ctr"/>
          <a:lstStyle/>
          <a:p>
            <a:pPr indent="0" marL="0">
              <a:lnSpc>
                <a:spcPct val="120000"/>
              </a:lnSpc>
              <a:buNone/>
            </a:pPr>
            <a:r>
              <a:rPr lang="en-US" sz="1250" dirty="0">
                <a:solidFill>
                  <a:srgbClr val="5C6B7A"/>
                </a:solidFill>
                <a:latin typeface="Calibri" pitchFamily="34" charset="0"/>
                <a:ea typeface="Calibri" pitchFamily="34" charset="-122"/>
                <a:cs typeface="Calibri" pitchFamily="34" charset="-120"/>
              </a:rPr>
              <a:t>Agent proposes a resolution grounded in both branches' intent</a:t>
            </a:r>
            <a:endParaRPr lang="en-US" sz="1250" dirty="0"/>
          </a:p>
        </p:txBody>
      </p:sp>
      <p:sp>
        <p:nvSpPr>
          <p:cNvPr id="13" name="Shape 11"/>
          <p:cNvSpPr/>
          <p:nvPr/>
        </p:nvSpPr>
        <p:spPr>
          <a:xfrm>
            <a:off x="6355080" y="1737360"/>
            <a:ext cx="5257800" cy="4251960"/>
          </a:xfrm>
          <a:prstGeom prst="roundRect">
            <a:avLst>
              <a:gd name="adj" fmla="val 1720"/>
            </a:avLst>
          </a:prstGeom>
          <a:solidFill>
            <a:srgbClr val="0B1F3A"/>
          </a:solidFill>
          <a:ln/>
          <a:effectLst>
            <a:outerShdw sx="100000" sy="100000" kx="0" ky="0" algn="bl" rotWithShape="0" blurRad="76200" dist="25400" dir="5400000">
              <a:srgbClr val="0B1F3A">
                <a:alpha val="18000"/>
              </a:srgbClr>
            </a:outerShdw>
          </a:effectLst>
        </p:spPr>
      </p:sp>
      <p:sp>
        <p:nvSpPr>
          <p:cNvPr id="14" name="Text 12"/>
          <p:cNvSpPr/>
          <p:nvPr/>
        </p:nvSpPr>
        <p:spPr>
          <a:xfrm>
            <a:off x="6611112" y="1920240"/>
            <a:ext cx="4745736" cy="3886200"/>
          </a:xfrm>
          <a:prstGeom prst="rect">
            <a:avLst/>
          </a:prstGeom>
          <a:noFill/>
          <a:ln/>
        </p:spPr>
        <p:txBody>
          <a:bodyPr wrap="square" lIns="0" tIns="0" rIns="0" bIns="0" rtlCol="0" anchor="t"/>
          <a:lstStyle/>
          <a:p>
            <a:pPr indent="0" marL="0">
              <a:lnSpc>
                <a:spcPct val="125000"/>
              </a:lnSpc>
              <a:buNone/>
            </a:pPr>
            <a:r>
              <a:rPr lang="en-US" sz="1250" dirty="0">
                <a:solidFill>
                  <a:srgbClr val="8FA6BE"/>
                </a:solidFill>
                <a:latin typeface="Courier New" pitchFamily="34" charset="0"/>
                <a:ea typeface="Courier New" pitchFamily="34" charset="-122"/>
                <a:cs typeface="Courier New" pitchFamily="34" charset="-120"/>
              </a:rPr>
              <a:t>$ git add afd_profile.py requirements.txt</a:t>
            </a:r>
            <a:endParaRPr lang="en-US" sz="1250" dirty="0"/>
          </a:p>
          <a:p>
            <a:pPr indent="0" marL="0">
              <a:lnSpc>
                <a:spcPct val="125000"/>
              </a:lnSpc>
              <a:buNone/>
            </a:pPr>
            <a:r>
              <a:rPr lang="en-US" sz="1250" dirty="0">
                <a:solidFill>
                  <a:srgbClr val="8FA6BE"/>
                </a:solidFill>
                <a:latin typeface="Courier New" pitchFamily="34" charset="0"/>
                <a:ea typeface="Courier New" pitchFamily="34" charset="-122"/>
                <a:cs typeface="Courier New" pitchFamily="34" charset="-120"/>
              </a:rPr>
              <a:t>$ git status</a:t>
            </a:r>
            <a:endParaRPr lang="en-US" sz="1250" dirty="0"/>
          </a:p>
          <a:p>
            <a:pPr indent="0" marL="0">
              <a:lnSpc>
                <a:spcPct val="125000"/>
              </a:lnSpc>
              <a:buNone/>
            </a:pPr>
            <a:r>
              <a:rPr lang="en-US" sz="1250" dirty="0">
                <a:solidFill>
                  <a:srgbClr val="6FCF97"/>
                </a:solidFill>
                <a:latin typeface="Courier New" pitchFamily="34" charset="0"/>
                <a:ea typeface="Courier New" pitchFamily="34" charset="-122"/>
                <a:cs typeface="Courier New" pitchFamily="34" charset="-120"/>
              </a:rPr>
              <a:t>staged: afd_profile.py</a:t>
            </a:r>
            <a:endParaRPr lang="en-US" sz="1250" dirty="0"/>
          </a:p>
          <a:p>
            <a:pPr indent="0" marL="0">
              <a:lnSpc>
                <a:spcPct val="125000"/>
              </a:lnSpc>
              <a:buNone/>
            </a:pPr>
            <a:r>
              <a:rPr lang="en-US" sz="1250" dirty="0">
                <a:solidFill>
                  <a:srgbClr val="6FCF97"/>
                </a:solidFill>
                <a:latin typeface="Courier New" pitchFamily="34" charset="0"/>
                <a:ea typeface="Courier New" pitchFamily="34" charset="-122"/>
                <a:cs typeface="Courier New" pitchFamily="34" charset="-120"/>
              </a:rPr>
              <a:t>staged: requirements.txt</a:t>
            </a:r>
            <a:endParaRPr lang="en-US" sz="1250" dirty="0"/>
          </a:p>
          <a:p>
            <a:pPr indent="0" marL="0">
              <a:lnSpc>
                <a:spcPct val="125000"/>
              </a:lnSpc>
              <a:buNone/>
            </a:pPr>
            <a:endParaRPr lang="en-US" sz="1250" dirty="0"/>
          </a:p>
          <a:p>
            <a:pPr indent="0" marL="0">
              <a:lnSpc>
                <a:spcPct val="125000"/>
              </a:lnSpc>
              <a:buNone/>
            </a:pPr>
            <a:r>
              <a:rPr lang="en-US" sz="1250" b="1" dirty="0">
                <a:solidFill>
                  <a:srgbClr val="FFFFFF"/>
                </a:solidFill>
                <a:latin typeface="Courier New" pitchFamily="34" charset="0"/>
                <a:ea typeface="Courier New" pitchFamily="34" charset="-122"/>
                <a:cs typeface="Courier New" pitchFamily="34" charset="-120"/>
              </a:rPr>
              <a:t>/Generate Commit Message</a:t>
            </a:r>
            <a:endParaRPr lang="en-US" sz="1250" dirty="0"/>
          </a:p>
          <a:p>
            <a:pPr indent="0" marL="0">
              <a:lnSpc>
                <a:spcPct val="125000"/>
              </a:lnSpc>
              <a:buNone/>
            </a:pPr>
            <a:endParaRPr lang="en-US" sz="1250" dirty="0"/>
          </a:p>
          <a:p>
            <a:pPr indent="0" marL="0">
              <a:lnSpc>
                <a:spcPct val="125000"/>
              </a:lnSpc>
              <a:buNone/>
            </a:pPr>
            <a:r>
              <a:rPr lang="en-US" sz="1250" dirty="0">
                <a:solidFill>
                  <a:srgbClr val="F2A541"/>
                </a:solidFill>
                <a:latin typeface="Courier New" pitchFamily="34" charset="0"/>
                <a:ea typeface="Courier New" pitchFamily="34" charset="-122"/>
                <a:cs typeface="Courier New" pitchFamily="34" charset="-120"/>
              </a:rPr>
              <a:t>fix(profiler): replace DataFrame</a:t>
            </a:r>
            <a:endParaRPr lang="en-US" sz="1250" dirty="0"/>
          </a:p>
          <a:p>
            <a:pPr indent="0" marL="0">
              <a:lnSpc>
                <a:spcPct val="125000"/>
              </a:lnSpc>
              <a:buNone/>
            </a:pPr>
            <a:r>
              <a:rPr lang="en-US" sz="1250" dirty="0">
                <a:solidFill>
                  <a:srgbClr val="F2A541"/>
                </a:solidFill>
                <a:latin typeface="Courier New" pitchFamily="34" charset="0"/>
                <a:ea typeface="Courier New" pitchFamily="34" charset="-122"/>
                <a:cs typeface="Courier New" pitchFamily="34" charset="-120"/>
              </a:rPr>
              <a:t>.append() with pd.concat() ahead</a:t>
            </a:r>
            <a:endParaRPr lang="en-US" sz="1250" dirty="0"/>
          </a:p>
          <a:p>
            <a:pPr indent="0" marL="0">
              <a:lnSpc>
                <a:spcPct val="125000"/>
              </a:lnSpc>
              <a:buNone/>
            </a:pPr>
            <a:r>
              <a:rPr lang="en-US" sz="1250" dirty="0">
                <a:solidFill>
                  <a:srgbClr val="F2A541"/>
                </a:solidFill>
                <a:latin typeface="Courier New" pitchFamily="34" charset="0"/>
                <a:ea typeface="Courier New" pitchFamily="34" charset="-122"/>
                <a:cs typeface="Courier New" pitchFamily="34" charset="-120"/>
              </a:rPr>
              <a:t>of the pandas 2.0 upgrade</a:t>
            </a:r>
            <a:endParaRPr lang="en-US" sz="1250" dirty="0"/>
          </a:p>
          <a:p>
            <a:pPr indent="0" marL="0">
              <a:lnSpc>
                <a:spcPct val="125000"/>
              </a:lnSpc>
              <a:buNone/>
            </a:pPr>
            <a:endParaRPr lang="en-US" sz="1250" dirty="0"/>
          </a:p>
          <a:p>
            <a:pPr indent="0" marL="0">
              <a:lnSpc>
                <a:spcPct val="125000"/>
              </a:lnSpc>
              <a:buNone/>
            </a:pPr>
            <a:r>
              <a:rPr lang="en-US" sz="1250" dirty="0">
                <a:solidFill>
                  <a:srgbClr val="8FA6BE"/>
                </a:solidFill>
                <a:latin typeface="Courier New" pitchFamily="34" charset="0"/>
                <a:ea typeface="Courier New" pitchFamily="34" charset="-122"/>
                <a:cs typeface="Courier New" pitchFamily="34" charset="-120"/>
              </a:rPr>
              <a:t># merge conflict on afd_profile.py</a:t>
            </a:r>
            <a:endParaRPr lang="en-US" sz="1250" dirty="0"/>
          </a:p>
          <a:p>
            <a:pPr indent="0" marL="0">
              <a:lnSpc>
                <a:spcPct val="125000"/>
              </a:lnSpc>
              <a:buNone/>
            </a:pPr>
            <a:r>
              <a:rPr lang="en-US" sz="1250" b="1" dirty="0">
                <a:solidFill>
                  <a:srgbClr val="FFFFFF"/>
                </a:solidFill>
                <a:latin typeface="Courier New" pitchFamily="34" charset="0"/>
                <a:ea typeface="Courier New" pitchFamily="34" charset="-122"/>
                <a:cs typeface="Courier New" pitchFamily="34" charset="-120"/>
              </a:rPr>
              <a:t>/Resolve Conflict — grounded in both</a:t>
            </a:r>
            <a:endParaRPr lang="en-US" sz="1250" dirty="0"/>
          </a:p>
          <a:p>
            <a:pPr indent="0" marL="0">
              <a:lnSpc>
                <a:spcPct val="125000"/>
              </a:lnSpc>
              <a:buNone/>
            </a:pPr>
            <a:r>
              <a:rPr lang="en-US" sz="1250" b="1" dirty="0">
                <a:solidFill>
                  <a:srgbClr val="FFFFFF"/>
                </a:solidFill>
                <a:latin typeface="Courier New" pitchFamily="34" charset="0"/>
                <a:ea typeface="Courier New" pitchFamily="34" charset="-122"/>
                <a:cs typeface="Courier New" pitchFamily="34" charset="-120"/>
              </a:rPr>
              <a:t>branches' intent, not just "ours"</a:t>
            </a:r>
            <a:endParaRPr lang="en-US" sz="1250" dirty="0"/>
          </a:p>
        </p:txBody>
      </p:sp>
      <p:sp>
        <p:nvSpPr>
          <p:cNvPr id="15" name="Text 13"/>
          <p:cNvSpPr/>
          <p:nvPr/>
        </p:nvSpPr>
        <p:spPr>
          <a:xfrm>
            <a:off x="548640" y="6537960"/>
            <a:ext cx="5486400" cy="274320"/>
          </a:xfrm>
          <a:prstGeom prst="rect">
            <a:avLst/>
          </a:prstGeom>
          <a:noFill/>
          <a:ln/>
        </p:spPr>
        <p:txBody>
          <a:bodyPr wrap="square" lIns="0" tIns="0" rIns="0" bIns="0" rtlCol="0" anchor="ctr"/>
          <a:lstStyle/>
          <a:p>
            <a:pPr indent="0" marL="0">
              <a:buNone/>
            </a:pPr>
            <a:r>
              <a:rPr lang="en-US" sz="900" dirty="0">
                <a:solidFill>
                  <a:srgbClr val="9AA7B5"/>
                </a:solidFill>
                <a:latin typeface="Calibri" pitchFamily="34" charset="0"/>
                <a:ea typeface="Calibri" pitchFamily="34" charset="-122"/>
                <a:cs typeface="Calibri" pitchFamily="34" charset="-120"/>
              </a:rPr>
              <a:t>Cursor for Engineers</a:t>
            </a:r>
            <a:endParaRPr lang="en-US" sz="900" dirty="0"/>
          </a:p>
        </p:txBody>
      </p:sp>
      <p:sp>
        <p:nvSpPr>
          <p:cNvPr id="16" name="Text 14"/>
          <p:cNvSpPr/>
          <p:nvPr/>
        </p:nvSpPr>
        <p:spPr>
          <a:xfrm>
            <a:off x="11338560" y="6537960"/>
            <a:ext cx="365760" cy="274320"/>
          </a:xfrm>
          <a:prstGeom prst="rect">
            <a:avLst/>
          </a:prstGeom>
          <a:noFill/>
          <a:ln/>
        </p:spPr>
        <p:txBody>
          <a:bodyPr wrap="square" lIns="0" tIns="0" rIns="0" bIns="0" rtlCol="0" anchor="ctr"/>
          <a:lstStyle/>
          <a:p>
            <a:pPr algn="r" indent="0" marL="0">
              <a:buNone/>
            </a:pPr>
            <a:r>
              <a:rPr lang="en-US" sz="900" dirty="0">
                <a:solidFill>
                  <a:srgbClr val="9AA7B5"/>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lIns="0" tIns="0" rIns="0" bIns="0" rtlCol="0" anchor="ctr"/>
          <a:lstStyle/>
          <a:p>
            <a:pPr indent="0" marL="0">
              <a:buNone/>
            </a:pPr>
            <a:r>
              <a:rPr lang="en-US" sz="1300" b="1" spc="200" kern="0" dirty="0">
                <a:solidFill>
                  <a:srgbClr val="3282B8"/>
                </a:solidFill>
                <a:latin typeface="Calibri" pitchFamily="34" charset="0"/>
                <a:ea typeface="Calibri" pitchFamily="34" charset="-122"/>
                <a:cs typeface="Calibri" pitchFamily="34" charset="-120"/>
              </a:rPr>
              <a:t>KEEP IT PRIVATE</a:t>
            </a:r>
            <a:endParaRPr lang="en-US" sz="1300" dirty="0"/>
          </a:p>
        </p:txBody>
      </p:sp>
      <p:sp>
        <p:nvSpPr>
          <p:cNvPr id="3" name="Text 1"/>
          <p:cNvSpPr/>
          <p:nvPr/>
        </p:nvSpPr>
        <p:spPr>
          <a:xfrm>
            <a:off x="548640" y="731520"/>
            <a:ext cx="11064240" cy="822960"/>
          </a:xfrm>
          <a:prstGeom prst="rect">
            <a:avLst/>
          </a:prstGeom>
          <a:noFill/>
          <a:ln/>
        </p:spPr>
        <p:txBody>
          <a:bodyPr wrap="square" lIns="0" tIns="0" rIns="0" bIns="0" rtlCol="0" anchor="ctr"/>
          <a:lstStyle/>
          <a:p>
            <a:pPr indent="0" marL="0">
              <a:buNone/>
            </a:pPr>
            <a:r>
              <a:rPr lang="en-US" sz="3000" b="1" dirty="0">
                <a:solidFill>
                  <a:srgbClr val="16233A"/>
                </a:solidFill>
                <a:latin typeface="Cambria" pitchFamily="34" charset="0"/>
                <a:ea typeface="Cambria" pitchFamily="34" charset="-122"/>
                <a:cs typeface="Cambria" pitchFamily="34" charset="-120"/>
              </a:rPr>
              <a:t>Protecting secrets: .cursorignore &amp; Privacy Mode</a:t>
            </a:r>
            <a:endParaRPr lang="en-US" sz="3000" dirty="0"/>
          </a:p>
        </p:txBody>
      </p:sp>
      <p:sp>
        <p:nvSpPr>
          <p:cNvPr id="4" name="Text 2"/>
          <p:cNvSpPr/>
          <p:nvPr/>
        </p:nvSpPr>
        <p:spPr>
          <a:xfrm>
            <a:off x="548640" y="1417320"/>
            <a:ext cx="11064240" cy="685800"/>
          </a:xfrm>
          <a:prstGeom prst="rect">
            <a:avLst/>
          </a:prstGeom>
          <a:noFill/>
          <a:ln/>
        </p:spPr>
        <p:txBody>
          <a:bodyPr wrap="square" lIns="0" tIns="0" rIns="0" bIns="0" rtlCol="0" anchor="ctr"/>
          <a:lstStyle/>
          <a:p>
            <a:pPr indent="0" marL="0">
              <a:lnSpc>
                <a:spcPct val="130000"/>
              </a:lnSpc>
              <a:buNone/>
            </a:pPr>
            <a:r>
              <a:rPr lang="en-US" sz="1450" dirty="0">
                <a:solidFill>
                  <a:srgbClr val="16233A"/>
                </a:solidFill>
                <a:latin typeface="Calibri" pitchFamily="34" charset="0"/>
                <a:ea typeface="Calibri" pitchFamily="34" charset="-122"/>
                <a:cs typeface="Calibri" pitchFamily="34" charset="-120"/>
              </a:rPr>
              <a:t>Two layers, two jobs: .cursorignore keeps sensitive files out of context entirely; Privacy Mode governs whether anything you do send is ever used for training.</a:t>
            </a:r>
            <a:endParaRPr lang="en-US" sz="1450" dirty="0"/>
          </a:p>
        </p:txBody>
      </p:sp>
      <p:sp>
        <p:nvSpPr>
          <p:cNvPr id="5" name="Shape 3"/>
          <p:cNvSpPr/>
          <p:nvPr/>
        </p:nvSpPr>
        <p:spPr>
          <a:xfrm>
            <a:off x="548640" y="2331720"/>
            <a:ext cx="5257800" cy="3749040"/>
          </a:xfrm>
          <a:prstGeom prst="roundRect">
            <a:avLst>
              <a:gd name="adj" fmla="val 2439"/>
            </a:avLst>
          </a:prstGeom>
          <a:solidFill>
            <a:srgbClr val="0B1F3A"/>
          </a:solidFill>
          <a:ln/>
          <a:effectLst>
            <a:outerShdw sx="100000" sy="100000" kx="0" ky="0" algn="bl" rotWithShape="0" blurRad="76200" dist="25400" dir="5400000">
              <a:srgbClr val="0B1F3A">
                <a:alpha val="18000"/>
              </a:srgbClr>
            </a:outerShdw>
          </a:effectLst>
        </p:spPr>
      </p:sp>
      <p:sp>
        <p:nvSpPr>
          <p:cNvPr id="6" name="Text 4"/>
          <p:cNvSpPr/>
          <p:nvPr/>
        </p:nvSpPr>
        <p:spPr>
          <a:xfrm>
            <a:off x="822960" y="2606040"/>
            <a:ext cx="4709160" cy="457200"/>
          </a:xfrm>
          <a:prstGeom prst="rect">
            <a:avLst/>
          </a:prstGeom>
          <a:noFill/>
          <a:ln/>
        </p:spPr>
        <p:txBody>
          <a:bodyPr wrap="square" lIns="0" tIns="0" rIns="0" bIns="0" rtlCol="0" anchor="ctr"/>
          <a:lstStyle/>
          <a:p>
            <a:pPr indent="0" marL="0">
              <a:buNone/>
            </a:pPr>
            <a:r>
              <a:rPr lang="en-US" sz="1700" b="1" dirty="0">
                <a:solidFill>
                  <a:srgbClr val="F2A541"/>
                </a:solidFill>
                <a:latin typeface="Courier New" pitchFamily="34" charset="0"/>
                <a:ea typeface="Courier New" pitchFamily="34" charset="-122"/>
                <a:cs typeface="Courier New" pitchFamily="34" charset="-120"/>
              </a:rPr>
              <a:t>.cursorignore</a:t>
            </a:r>
            <a:endParaRPr lang="en-US" sz="1700" dirty="0"/>
          </a:p>
        </p:txBody>
      </p:sp>
      <p:sp>
        <p:nvSpPr>
          <p:cNvPr id="7" name="Text 5"/>
          <p:cNvSpPr/>
          <p:nvPr/>
        </p:nvSpPr>
        <p:spPr>
          <a:xfrm>
            <a:off x="822960" y="3154680"/>
            <a:ext cx="4709160" cy="914400"/>
          </a:xfrm>
          <a:prstGeom prst="rect">
            <a:avLst/>
          </a:prstGeom>
          <a:noFill/>
          <a:ln/>
        </p:spPr>
        <p:txBody>
          <a:bodyPr wrap="square" lIns="0" tIns="0" rIns="0" bIns="0" rtlCol="0" anchor="ctr"/>
          <a:lstStyle/>
          <a:p>
            <a:pPr indent="0" marL="0">
              <a:lnSpc>
                <a:spcPct val="125000"/>
              </a:lnSpc>
              <a:buNone/>
            </a:pPr>
            <a:r>
              <a:rPr lang="en-US" sz="1300" dirty="0">
                <a:solidFill>
                  <a:srgbClr val="DCE6F0"/>
                </a:solidFill>
                <a:latin typeface="Calibri" pitchFamily="34" charset="0"/>
                <a:ea typeface="Calibri" pitchFamily="34" charset="-122"/>
                <a:cs typeface="Calibri" pitchFamily="34" charset="-120"/>
              </a:rPr>
              <a:t>Excludes files from ever entering the Agent's context — .env files, credential dumps, raw customer data exports.</a:t>
            </a:r>
            <a:endParaRPr lang="en-US" sz="1300" dirty="0"/>
          </a:p>
        </p:txBody>
      </p:sp>
      <p:sp>
        <p:nvSpPr>
          <p:cNvPr id="8" name="Shape 6"/>
          <p:cNvSpPr/>
          <p:nvPr/>
        </p:nvSpPr>
        <p:spPr>
          <a:xfrm>
            <a:off x="822960" y="4160520"/>
            <a:ext cx="4709160" cy="1737360"/>
          </a:xfrm>
          <a:prstGeom prst="roundRect">
            <a:avLst>
              <a:gd name="adj" fmla="val 4211"/>
            </a:avLst>
          </a:prstGeom>
          <a:solidFill>
            <a:srgbClr val="0B1F3A"/>
          </a:solidFill>
          <a:ln/>
          <a:effectLst>
            <a:outerShdw sx="100000" sy="100000" kx="0" ky="0" algn="bl" rotWithShape="0" blurRad="76200" dist="25400" dir="5400000">
              <a:srgbClr val="0B1F3A">
                <a:alpha val="18000"/>
              </a:srgbClr>
            </a:outerShdw>
          </a:effectLst>
        </p:spPr>
      </p:sp>
      <p:sp>
        <p:nvSpPr>
          <p:cNvPr id="9" name="Text 7"/>
          <p:cNvSpPr/>
          <p:nvPr/>
        </p:nvSpPr>
        <p:spPr>
          <a:xfrm>
            <a:off x="1078992" y="4343400"/>
            <a:ext cx="4197096" cy="1371600"/>
          </a:xfrm>
          <a:prstGeom prst="rect">
            <a:avLst/>
          </a:prstGeom>
          <a:noFill/>
          <a:ln/>
        </p:spPr>
        <p:txBody>
          <a:bodyPr wrap="square" lIns="0" tIns="0" rIns="0" bIns="0" rtlCol="0" anchor="t"/>
          <a:lstStyle/>
          <a:p>
            <a:pPr indent="0" marL="0">
              <a:lnSpc>
                <a:spcPct val="125000"/>
              </a:lnSpc>
              <a:buNone/>
            </a:pPr>
            <a:r>
              <a:rPr lang="en-US" sz="1300" dirty="0">
                <a:solidFill>
                  <a:srgbClr val="D7E6F5"/>
                </a:solidFill>
                <a:latin typeface="Courier New" pitchFamily="34" charset="0"/>
                <a:ea typeface="Courier New" pitchFamily="34" charset="-122"/>
                <a:cs typeface="Courier New" pitchFamily="34" charset="-120"/>
              </a:rPr>
              <a:t># .cursorignore</a:t>
            </a:r>
            <a:endParaRPr lang="en-US" sz="1300" dirty="0"/>
          </a:p>
          <a:p>
            <a:pPr indent="0" marL="0">
              <a:lnSpc>
                <a:spcPct val="125000"/>
              </a:lnSpc>
              <a:buNone/>
            </a:pPr>
            <a:r>
              <a:rPr lang="en-US" sz="1300" dirty="0">
                <a:solidFill>
                  <a:srgbClr val="D7E6F5"/>
                </a:solidFill>
                <a:latin typeface="Courier New" pitchFamily="34" charset="0"/>
                <a:ea typeface="Courier New" pitchFamily="34" charset="-122"/>
                <a:cs typeface="Courier New" pitchFamily="34" charset="-120"/>
              </a:rPr>
              <a:t>.env</a:t>
            </a:r>
            <a:endParaRPr lang="en-US" sz="1300" dirty="0"/>
          </a:p>
          <a:p>
            <a:pPr indent="0" marL="0">
              <a:lnSpc>
                <a:spcPct val="125000"/>
              </a:lnSpc>
              <a:buNone/>
            </a:pPr>
            <a:r>
              <a:rPr lang="en-US" sz="1300" dirty="0">
                <a:solidFill>
                  <a:srgbClr val="D7E6F5"/>
                </a:solidFill>
                <a:latin typeface="Courier New" pitchFamily="34" charset="0"/>
                <a:ea typeface="Courier New" pitchFamily="34" charset="-122"/>
                <a:cs typeface="Courier New" pitchFamily="34" charset="-120"/>
              </a:rPr>
              <a:t>**/credentials.json</a:t>
            </a:r>
            <a:endParaRPr lang="en-US" sz="1300" dirty="0"/>
          </a:p>
          <a:p>
            <a:pPr indent="0" marL="0">
              <a:lnSpc>
                <a:spcPct val="125000"/>
              </a:lnSpc>
              <a:buNone/>
            </a:pPr>
            <a:r>
              <a:rPr lang="en-US" sz="1300" dirty="0">
                <a:solidFill>
                  <a:srgbClr val="D7E6F5"/>
                </a:solidFill>
                <a:latin typeface="Courier New" pitchFamily="34" charset="0"/>
                <a:ea typeface="Courier New" pitchFamily="34" charset="-122"/>
                <a:cs typeface="Courier New" pitchFamily="34" charset="-120"/>
              </a:rPr>
              <a:t>data/raw_customer_exports/</a:t>
            </a:r>
            <a:endParaRPr lang="en-US" sz="1300" dirty="0"/>
          </a:p>
        </p:txBody>
      </p:sp>
      <p:sp>
        <p:nvSpPr>
          <p:cNvPr id="10" name="Shape 8"/>
          <p:cNvSpPr/>
          <p:nvPr/>
        </p:nvSpPr>
        <p:spPr>
          <a:xfrm>
            <a:off x="6172200" y="2331720"/>
            <a:ext cx="5257800" cy="3749040"/>
          </a:xfrm>
          <a:prstGeom prst="roundRect">
            <a:avLst>
              <a:gd name="adj" fmla="val 2439"/>
            </a:avLst>
          </a:prstGeom>
          <a:solidFill>
            <a:srgbClr val="F0F4F8"/>
          </a:solidFill>
          <a:ln/>
          <a:effectLst>
            <a:outerShdw sx="100000" sy="100000" kx="0" ky="0" algn="bl" rotWithShape="0" blurRad="76200" dist="25400" dir="5400000">
              <a:srgbClr val="0B1F3A">
                <a:alpha val="18000"/>
              </a:srgbClr>
            </a:outerShdw>
          </a:effectLst>
        </p:spPr>
      </p:sp>
      <p:sp>
        <p:nvSpPr>
          <p:cNvPr id="11" name="Text 9"/>
          <p:cNvSpPr/>
          <p:nvPr/>
        </p:nvSpPr>
        <p:spPr>
          <a:xfrm>
            <a:off x="6446520" y="2606040"/>
            <a:ext cx="4709160" cy="457200"/>
          </a:xfrm>
          <a:prstGeom prst="rect">
            <a:avLst/>
          </a:prstGeom>
          <a:noFill/>
          <a:ln/>
        </p:spPr>
        <p:txBody>
          <a:bodyPr wrap="square" lIns="0" tIns="0" rIns="0" bIns="0" rtlCol="0" anchor="ctr"/>
          <a:lstStyle/>
          <a:p>
            <a:pPr indent="0" marL="0">
              <a:buNone/>
            </a:pPr>
            <a:r>
              <a:rPr lang="en-US" sz="1700" b="1" dirty="0">
                <a:solidFill>
                  <a:srgbClr val="16233A"/>
                </a:solidFill>
                <a:latin typeface="Cambria" pitchFamily="34" charset="0"/>
                <a:ea typeface="Cambria" pitchFamily="34" charset="-122"/>
                <a:cs typeface="Cambria" pitchFamily="34" charset="-120"/>
              </a:rPr>
              <a:t>Privacy Mode</a:t>
            </a:r>
            <a:endParaRPr lang="en-US" sz="1700" dirty="0"/>
          </a:p>
        </p:txBody>
      </p:sp>
      <p:sp>
        <p:nvSpPr>
          <p:cNvPr id="12" name="Text 10"/>
          <p:cNvSpPr/>
          <p:nvPr/>
        </p:nvSpPr>
        <p:spPr>
          <a:xfrm>
            <a:off x="6446520" y="3200400"/>
            <a:ext cx="4709160" cy="2651760"/>
          </a:xfrm>
          <a:prstGeom prst="rect">
            <a:avLst/>
          </a:prstGeom>
          <a:noFill/>
          <a:ln/>
        </p:spPr>
        <p:txBody>
          <a:bodyPr wrap="square" lIns="0" tIns="0" rIns="0" bIns="0" rtlCol="0" anchor="ctr"/>
          <a:lstStyle/>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Your code is never used to train models when it's on</a:t>
            </a:r>
            <a:endParaRPr lang="en-US" sz="1350" dirty="0"/>
          </a:p>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Verify it's enabled for any repo with regulated or customer data</a:t>
            </a:r>
            <a:endParaRPr lang="en-US" sz="1350" dirty="0"/>
          </a:p>
          <a:p>
            <a:pPr marL="342900" indent="-342900">
              <a:spcAft>
                <a:spcPts val="1000"/>
              </a:spcAft>
              <a:buSzPct val="100000"/>
              <a:buChar char="•"/>
            </a:pPr>
            <a:r>
              <a:rPr lang="en-US" sz="1350" dirty="0">
                <a:solidFill>
                  <a:srgbClr val="16233A"/>
                </a:solidFill>
                <a:latin typeface="Calibri" pitchFamily="34" charset="0"/>
                <a:ea typeface="Calibri" pitchFamily="34" charset="-122"/>
                <a:cs typeface="Calibri" pitchFamily="34" charset="-120"/>
              </a:rPr>
              <a:t>Applies org-wide when set by a team admin</a:t>
            </a:r>
            <a:endParaRPr lang="en-US" sz="1350" dirty="0"/>
          </a:p>
        </p:txBody>
      </p:sp>
      <p:sp>
        <p:nvSpPr>
          <p:cNvPr id="13" name="Text 11"/>
          <p:cNvSpPr/>
          <p:nvPr/>
        </p:nvSpPr>
        <p:spPr>
          <a:xfrm>
            <a:off x="548640" y="6537960"/>
            <a:ext cx="5486400" cy="274320"/>
          </a:xfrm>
          <a:prstGeom prst="rect">
            <a:avLst/>
          </a:prstGeom>
          <a:noFill/>
          <a:ln/>
        </p:spPr>
        <p:txBody>
          <a:bodyPr wrap="square" lIns="0" tIns="0" rIns="0" bIns="0" rtlCol="0" anchor="ctr"/>
          <a:lstStyle/>
          <a:p>
            <a:pPr indent="0" marL="0">
              <a:buNone/>
            </a:pPr>
            <a:r>
              <a:rPr lang="en-US" sz="900" dirty="0">
                <a:solidFill>
                  <a:srgbClr val="9AA7B5"/>
                </a:solidFill>
                <a:latin typeface="Calibri" pitchFamily="34" charset="0"/>
                <a:ea typeface="Calibri" pitchFamily="34" charset="-122"/>
                <a:cs typeface="Calibri" pitchFamily="34" charset="-120"/>
              </a:rPr>
              <a:t>Cursor for Engineers</a:t>
            </a:r>
            <a:endParaRPr lang="en-US" sz="900" dirty="0"/>
          </a:p>
        </p:txBody>
      </p:sp>
      <p:sp>
        <p:nvSpPr>
          <p:cNvPr id="14" name="Text 12"/>
          <p:cNvSpPr/>
          <p:nvPr/>
        </p:nvSpPr>
        <p:spPr>
          <a:xfrm>
            <a:off x="11338560" y="6537960"/>
            <a:ext cx="365760" cy="274320"/>
          </a:xfrm>
          <a:prstGeom prst="rect">
            <a:avLst/>
          </a:prstGeom>
          <a:noFill/>
          <a:ln/>
        </p:spPr>
        <p:txBody>
          <a:bodyPr wrap="square" lIns="0" tIns="0" rIns="0" bIns="0" rtlCol="0" anchor="ctr"/>
          <a:lstStyle/>
          <a:p>
            <a:pPr algn="r" indent="0" marL="0">
              <a:buNone/>
            </a:pPr>
            <a:r>
              <a:rPr lang="en-US" sz="900" dirty="0">
                <a:solidFill>
                  <a:srgbClr val="9AA7B5"/>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lIns="0" tIns="0" rIns="0" bIns="0" rtlCol="0" anchor="ctr"/>
          <a:lstStyle/>
          <a:p>
            <a:pPr indent="0" marL="0">
              <a:buNone/>
            </a:pPr>
            <a:r>
              <a:rPr lang="en-US" sz="1300" b="1" spc="200" kern="0" dirty="0">
                <a:solidFill>
                  <a:srgbClr val="3282B8"/>
                </a:solidFill>
                <a:latin typeface="Calibri" pitchFamily="34" charset="0"/>
                <a:ea typeface="Calibri" pitchFamily="34" charset="-122"/>
                <a:cs typeface="Calibri" pitchFamily="34" charset="-120"/>
              </a:rPr>
              <a:t>AUTOMATE THE ROUTINE</a:t>
            </a:r>
            <a:endParaRPr lang="en-US" sz="1300" dirty="0"/>
          </a:p>
        </p:txBody>
      </p:sp>
      <p:sp>
        <p:nvSpPr>
          <p:cNvPr id="3" name="Text 1"/>
          <p:cNvSpPr/>
          <p:nvPr/>
        </p:nvSpPr>
        <p:spPr>
          <a:xfrm>
            <a:off x="548640" y="731520"/>
            <a:ext cx="11064240" cy="822960"/>
          </a:xfrm>
          <a:prstGeom prst="rect">
            <a:avLst/>
          </a:prstGeom>
          <a:noFill/>
          <a:ln/>
        </p:spPr>
        <p:txBody>
          <a:bodyPr wrap="square" lIns="0" tIns="0" rIns="0" bIns="0" rtlCol="0" anchor="ctr"/>
          <a:lstStyle/>
          <a:p>
            <a:pPr indent="0" marL="0">
              <a:buNone/>
            </a:pPr>
            <a:r>
              <a:rPr lang="en-US" sz="3000" b="1" dirty="0">
                <a:solidFill>
                  <a:srgbClr val="16233A"/>
                </a:solidFill>
                <a:latin typeface="Cambria" pitchFamily="34" charset="0"/>
                <a:ea typeface="Cambria" pitchFamily="34" charset="-122"/>
                <a:cs typeface="Cambria" pitchFamily="34" charset="-120"/>
              </a:rPr>
              <a:t>Custom commands: your team's playbook, one keystroke away</a:t>
            </a:r>
            <a:endParaRPr lang="en-US" sz="3000" dirty="0"/>
          </a:p>
        </p:txBody>
      </p:sp>
      <p:sp>
        <p:nvSpPr>
          <p:cNvPr id="4" name="Text 2"/>
          <p:cNvSpPr/>
          <p:nvPr/>
        </p:nvSpPr>
        <p:spPr>
          <a:xfrm>
            <a:off x="548640" y="1417320"/>
            <a:ext cx="11064240" cy="594360"/>
          </a:xfrm>
          <a:prstGeom prst="rect">
            <a:avLst/>
          </a:prstGeom>
          <a:noFill/>
          <a:ln/>
        </p:spPr>
        <p:txBody>
          <a:bodyPr wrap="square" lIns="0" tIns="0" rIns="0" bIns="0" rtlCol="0" anchor="ctr"/>
          <a:lstStyle/>
          <a:p>
            <a:pPr indent="0" marL="0">
              <a:buNone/>
            </a:pPr>
            <a:r>
              <a:rPr lang="en-US" sz="1450" dirty="0">
                <a:solidFill>
                  <a:srgbClr val="16233A"/>
                </a:solidFill>
                <a:latin typeface="Calibri" pitchFamily="34" charset="0"/>
                <a:ea typeface="Calibri" pitchFamily="34" charset="-122"/>
                <a:cs typeface="Calibri" pitchFamily="34" charset="-120"/>
              </a:rPr>
              <a:t>Package a sequence of steps — lint, test, coverage, a CLI smoke test — into a single command every teammate can run the same way.</a:t>
            </a:r>
            <a:endParaRPr lang="en-US" sz="1450" dirty="0"/>
          </a:p>
        </p:txBody>
      </p:sp>
      <p:sp>
        <p:nvSpPr>
          <p:cNvPr id="5" name="Shape 3"/>
          <p:cNvSpPr/>
          <p:nvPr/>
        </p:nvSpPr>
        <p:spPr>
          <a:xfrm>
            <a:off x="548640" y="2240280"/>
            <a:ext cx="11064240" cy="3749040"/>
          </a:xfrm>
          <a:prstGeom prst="roundRect">
            <a:avLst>
              <a:gd name="adj" fmla="val 1951"/>
            </a:avLst>
          </a:prstGeom>
          <a:solidFill>
            <a:srgbClr val="0B1F3A"/>
          </a:solidFill>
          <a:ln/>
          <a:effectLst>
            <a:outerShdw sx="100000" sy="100000" kx="0" ky="0" algn="bl" rotWithShape="0" blurRad="76200" dist="25400" dir="5400000">
              <a:srgbClr val="0B1F3A">
                <a:alpha val="18000"/>
              </a:srgbClr>
            </a:outerShdw>
          </a:effectLst>
        </p:spPr>
      </p:sp>
      <p:sp>
        <p:nvSpPr>
          <p:cNvPr id="6" name="Text 4"/>
          <p:cNvSpPr/>
          <p:nvPr/>
        </p:nvSpPr>
        <p:spPr>
          <a:xfrm>
            <a:off x="804672" y="2423160"/>
            <a:ext cx="10552176" cy="3383280"/>
          </a:xfrm>
          <a:prstGeom prst="rect">
            <a:avLst/>
          </a:prstGeom>
          <a:noFill/>
          <a:ln/>
        </p:spPr>
        <p:txBody>
          <a:bodyPr wrap="square" lIns="0" tIns="0" rIns="0" bIns="0" rtlCol="0" anchor="t"/>
          <a:lstStyle/>
          <a:p>
            <a:pPr indent="0" marL="0">
              <a:lnSpc>
                <a:spcPct val="125000"/>
              </a:lnSpc>
              <a:buNone/>
            </a:pPr>
            <a:r>
              <a:rPr lang="en-US" sz="1400" dirty="0">
                <a:solidFill>
                  <a:srgbClr val="8FA6BE"/>
                </a:solidFill>
                <a:latin typeface="Courier New" pitchFamily="34" charset="0"/>
                <a:ea typeface="Courier New" pitchFamily="34" charset="-122"/>
                <a:cs typeface="Courier New" pitchFamily="34" charset="-120"/>
              </a:rPr>
              <a:t>// .cursor/commands/profile-check.json</a:t>
            </a:r>
            <a:endParaRPr lang="en-US" sz="1400" dirty="0"/>
          </a:p>
          <a:p>
            <a:pPr indent="0" marL="0">
              <a:lnSpc>
                <a:spcPct val="125000"/>
              </a:lnSpc>
              <a:buNone/>
            </a:pPr>
            <a:r>
              <a:rPr lang="en-US" sz="1400" dirty="0">
                <a:solidFill>
                  <a:srgbClr val="D7E6F5"/>
                </a:solidFill>
                <a:latin typeface="Courier New" pitchFamily="34" charset="0"/>
                <a:ea typeface="Courier New" pitchFamily="34" charset="-122"/>
                <a:cs typeface="Courier New" pitchFamily="34" charset="-120"/>
              </a:rPr>
              <a:t>{</a:t>
            </a:r>
            <a:endParaRPr lang="en-US" sz="1400" dirty="0"/>
          </a:p>
          <a:p>
            <a:pPr indent="0" marL="0">
              <a:lnSpc>
                <a:spcPct val="125000"/>
              </a:lnSpc>
              <a:buNone/>
            </a:pPr>
            <a:r>
              <a:rPr lang="en-US" sz="1400" dirty="0">
                <a:solidFill>
                  <a:srgbClr val="6FCF97"/>
                </a:solidFill>
                <a:latin typeface="Courier New" pitchFamily="34" charset="0"/>
                <a:ea typeface="Courier New" pitchFamily="34" charset="-122"/>
                <a:cs typeface="Courier New" pitchFamily="34" charset="-120"/>
              </a:rPr>
              <a:t>  "name": "Profile Check",</a:t>
            </a:r>
            <a:endParaRPr lang="en-US" sz="1400" dirty="0"/>
          </a:p>
          <a:p>
            <a:pPr indent="0" marL="0">
              <a:lnSpc>
                <a:spcPct val="125000"/>
              </a:lnSpc>
              <a:buNone/>
            </a:pPr>
            <a:r>
              <a:rPr lang="en-US" sz="1400" dirty="0">
                <a:solidFill>
                  <a:srgbClr val="6FCF97"/>
                </a:solidFill>
                <a:latin typeface="Courier New" pitchFamily="34" charset="0"/>
                <a:ea typeface="Courier New" pitchFamily="34" charset="-122"/>
                <a:cs typeface="Courier New" pitchFamily="34" charset="-120"/>
              </a:rPr>
              <a:t>  "steps": [</a:t>
            </a:r>
            <a:endParaRPr lang="en-US" sz="1400" dirty="0"/>
          </a:p>
          <a:p>
            <a:pPr indent="0" marL="0">
              <a:lnSpc>
                <a:spcPct val="125000"/>
              </a:lnSpc>
              <a:buNone/>
            </a:pPr>
            <a:r>
              <a:rPr lang="en-US" sz="1400" dirty="0">
                <a:solidFill>
                  <a:srgbClr val="D7E6F5"/>
                </a:solidFill>
                <a:latin typeface="Courier New" pitchFamily="34" charset="0"/>
                <a:ea typeface="Courier New" pitchFamily="34" charset="-122"/>
                <a:cs typeface="Courier New" pitchFamily="34" charset="-120"/>
              </a:rPr>
              <a:t>    "ruff check .",</a:t>
            </a:r>
            <a:endParaRPr lang="en-US" sz="1400" dirty="0"/>
          </a:p>
          <a:p>
            <a:pPr indent="0" marL="0">
              <a:lnSpc>
                <a:spcPct val="125000"/>
              </a:lnSpc>
              <a:buNone/>
            </a:pPr>
            <a:r>
              <a:rPr lang="en-US" sz="1400" dirty="0">
                <a:solidFill>
                  <a:srgbClr val="D7E6F5"/>
                </a:solidFill>
                <a:latin typeface="Courier New" pitchFamily="34" charset="0"/>
                <a:ea typeface="Courier New" pitchFamily="34" charset="-122"/>
                <a:cs typeface="Courier New" pitchFamily="34" charset="-120"/>
              </a:rPr>
              <a:t>    "pytest --cov=profiler",</a:t>
            </a:r>
            <a:endParaRPr lang="en-US" sz="1400" dirty="0"/>
          </a:p>
          <a:p>
            <a:pPr indent="0" marL="0">
              <a:lnSpc>
                <a:spcPct val="125000"/>
              </a:lnSpc>
              <a:buNone/>
            </a:pPr>
            <a:r>
              <a:rPr lang="en-US" sz="1400" dirty="0">
                <a:solidFill>
                  <a:srgbClr val="D7E6F5"/>
                </a:solidFill>
                <a:latin typeface="Courier New" pitchFamily="34" charset="0"/>
                <a:ea typeface="Courier New" pitchFamily="34" charset="-122"/>
                <a:cs typeface="Courier New" pitchFamily="34" charset="-120"/>
              </a:rPr>
              <a:t>    "mypy profiler/",</a:t>
            </a:r>
            <a:endParaRPr lang="en-US" sz="1400" dirty="0"/>
          </a:p>
          <a:p>
            <a:pPr indent="0" marL="0">
              <a:lnSpc>
                <a:spcPct val="125000"/>
              </a:lnSpc>
              <a:buNone/>
            </a:pPr>
            <a:r>
              <a:rPr lang="en-US" sz="1400" dirty="0">
                <a:solidFill>
                  <a:srgbClr val="D7E6F5"/>
                </a:solidFill>
                <a:latin typeface="Courier New" pitchFamily="34" charset="0"/>
                <a:ea typeface="Courier New" pitchFamily="34" charset="-122"/>
                <a:cs typeface="Courier New" pitchFamily="34" charset="-120"/>
              </a:rPr>
              <a:t>    "python cli.py --input sample_data/tx.csv --label is_fraud --dry-run"</a:t>
            </a:r>
            <a:endParaRPr lang="en-US" sz="1400" dirty="0"/>
          </a:p>
          <a:p>
            <a:pPr indent="0" marL="0">
              <a:lnSpc>
                <a:spcPct val="125000"/>
              </a:lnSpc>
              <a:buNone/>
            </a:pPr>
            <a:r>
              <a:rPr lang="en-US" sz="1400" dirty="0">
                <a:solidFill>
                  <a:srgbClr val="6FCF97"/>
                </a:solidFill>
                <a:latin typeface="Courier New" pitchFamily="34" charset="0"/>
                <a:ea typeface="Courier New" pitchFamily="34" charset="-122"/>
                <a:cs typeface="Courier New" pitchFamily="34" charset="-120"/>
              </a:rPr>
              <a:t>  ]</a:t>
            </a:r>
            <a:endParaRPr lang="en-US" sz="1400" dirty="0"/>
          </a:p>
          <a:p>
            <a:pPr indent="0" marL="0">
              <a:lnSpc>
                <a:spcPct val="125000"/>
              </a:lnSpc>
              <a:buNone/>
            </a:pPr>
            <a:r>
              <a:rPr lang="en-US" sz="1400" dirty="0">
                <a:solidFill>
                  <a:srgbClr val="D7E6F5"/>
                </a:solidFill>
                <a:latin typeface="Courier New" pitchFamily="34" charset="0"/>
                <a:ea typeface="Courier New" pitchFamily="34" charset="-122"/>
                <a:cs typeface="Courier New" pitchFamily="34" charset="-120"/>
              </a:rPr>
              <a:t>}</a:t>
            </a:r>
            <a:endParaRPr lang="en-US" sz="1400" dirty="0"/>
          </a:p>
          <a:p>
            <a:pPr indent="0" marL="0">
              <a:lnSpc>
                <a:spcPct val="125000"/>
              </a:lnSpc>
              <a:buNone/>
            </a:pPr>
            <a:endParaRPr lang="en-US" sz="1400" dirty="0"/>
          </a:p>
          <a:p>
            <a:pPr indent="0" marL="0">
              <a:lnSpc>
                <a:spcPct val="125000"/>
              </a:lnSpc>
              <a:buNone/>
            </a:pPr>
            <a:r>
              <a:rPr lang="en-US" sz="1400" b="1" dirty="0">
                <a:solidFill>
                  <a:srgbClr val="F2A541"/>
                </a:solidFill>
                <a:latin typeface="Courier New" pitchFamily="34" charset="0"/>
                <a:ea typeface="Courier New" pitchFamily="34" charset="-122"/>
                <a:cs typeface="Courier New" pitchFamily="34" charset="-120"/>
              </a:rPr>
              <a:t>Run with: /profile-check  — same checklist, every PR, every teammate.</a:t>
            </a:r>
            <a:endParaRPr lang="en-US" sz="1400" dirty="0"/>
          </a:p>
        </p:txBody>
      </p:sp>
      <p:sp>
        <p:nvSpPr>
          <p:cNvPr id="7" name="Text 5"/>
          <p:cNvSpPr/>
          <p:nvPr/>
        </p:nvSpPr>
        <p:spPr>
          <a:xfrm>
            <a:off x="548640" y="6537960"/>
            <a:ext cx="5486400" cy="274320"/>
          </a:xfrm>
          <a:prstGeom prst="rect">
            <a:avLst/>
          </a:prstGeom>
          <a:noFill/>
          <a:ln/>
        </p:spPr>
        <p:txBody>
          <a:bodyPr wrap="square" lIns="0" tIns="0" rIns="0" bIns="0" rtlCol="0" anchor="ctr"/>
          <a:lstStyle/>
          <a:p>
            <a:pPr indent="0" marL="0">
              <a:buNone/>
            </a:pPr>
            <a:r>
              <a:rPr lang="en-US" sz="900" dirty="0">
                <a:solidFill>
                  <a:srgbClr val="9AA7B5"/>
                </a:solidFill>
                <a:latin typeface="Calibri" pitchFamily="34" charset="0"/>
                <a:ea typeface="Calibri" pitchFamily="34" charset="-122"/>
                <a:cs typeface="Calibri" pitchFamily="34" charset="-120"/>
              </a:rPr>
              <a:t>Cursor for Engineers</a:t>
            </a:r>
            <a:endParaRPr lang="en-US" sz="900" dirty="0"/>
          </a:p>
        </p:txBody>
      </p:sp>
      <p:sp>
        <p:nvSpPr>
          <p:cNvPr id="8" name="Text 6"/>
          <p:cNvSpPr/>
          <p:nvPr/>
        </p:nvSpPr>
        <p:spPr>
          <a:xfrm>
            <a:off x="11338560" y="6537960"/>
            <a:ext cx="365760" cy="274320"/>
          </a:xfrm>
          <a:prstGeom prst="rect">
            <a:avLst/>
          </a:prstGeom>
          <a:noFill/>
          <a:ln/>
        </p:spPr>
        <p:txBody>
          <a:bodyPr wrap="square" lIns="0" tIns="0" rIns="0" bIns="0" rtlCol="0" anchor="ctr"/>
          <a:lstStyle/>
          <a:p>
            <a:pPr algn="r" indent="0" marL="0">
              <a:buNone/>
            </a:pPr>
            <a:r>
              <a:rPr lang="en-US" sz="900" dirty="0">
                <a:solidFill>
                  <a:srgbClr val="9AA7B5"/>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lIns="0" tIns="0" rIns="0" bIns="0" rtlCol="0" anchor="ctr"/>
          <a:lstStyle/>
          <a:p>
            <a:pPr indent="0" marL="0">
              <a:buNone/>
            </a:pPr>
            <a:r>
              <a:rPr lang="en-US" sz="1300" b="1" spc="200" kern="0" dirty="0">
                <a:solidFill>
                  <a:srgbClr val="3282B8"/>
                </a:solidFill>
                <a:latin typeface="Calibri" pitchFamily="34" charset="0"/>
                <a:ea typeface="Calibri" pitchFamily="34" charset="-122"/>
                <a:cs typeface="Calibri" pitchFamily="34" charset="-120"/>
              </a:rPr>
              <a:t>DO MORE AT ONCE</a:t>
            </a:r>
            <a:endParaRPr lang="en-US" sz="1300" dirty="0"/>
          </a:p>
        </p:txBody>
      </p:sp>
      <p:sp>
        <p:nvSpPr>
          <p:cNvPr id="3" name="Text 1"/>
          <p:cNvSpPr/>
          <p:nvPr/>
        </p:nvSpPr>
        <p:spPr>
          <a:xfrm>
            <a:off x="548640" y="731520"/>
            <a:ext cx="11064240" cy="822960"/>
          </a:xfrm>
          <a:prstGeom prst="rect">
            <a:avLst/>
          </a:prstGeom>
          <a:noFill/>
          <a:ln/>
        </p:spPr>
        <p:txBody>
          <a:bodyPr wrap="square" lIns="0" tIns="0" rIns="0" bIns="0" rtlCol="0" anchor="ctr"/>
          <a:lstStyle/>
          <a:p>
            <a:pPr indent="0" marL="0">
              <a:buNone/>
            </a:pPr>
            <a:r>
              <a:rPr lang="en-US" sz="3000" b="1" dirty="0">
                <a:solidFill>
                  <a:srgbClr val="16233A"/>
                </a:solidFill>
                <a:latin typeface="Cambria" pitchFamily="34" charset="0"/>
                <a:ea typeface="Cambria" pitchFamily="34" charset="-122"/>
                <a:cs typeface="Cambria" pitchFamily="34" charset="-120"/>
              </a:rPr>
              <a:t>Agent Window &amp; Composer: run several agents in parallel</a:t>
            </a:r>
            <a:endParaRPr lang="en-US" sz="3000" dirty="0"/>
          </a:p>
        </p:txBody>
      </p:sp>
      <p:sp>
        <p:nvSpPr>
          <p:cNvPr id="4" name="Text 2"/>
          <p:cNvSpPr/>
          <p:nvPr/>
        </p:nvSpPr>
        <p:spPr>
          <a:xfrm>
            <a:off x="548640" y="1417320"/>
            <a:ext cx="11064240" cy="777240"/>
          </a:xfrm>
          <a:prstGeom prst="rect">
            <a:avLst/>
          </a:prstGeom>
          <a:noFill/>
          <a:ln/>
        </p:spPr>
        <p:txBody>
          <a:bodyPr wrap="square" lIns="0" tIns="0" rIns="0" bIns="0" rtlCol="0" anchor="ctr"/>
          <a:lstStyle/>
          <a:p>
            <a:pPr indent="0" marL="0">
              <a:lnSpc>
                <a:spcPct val="130000"/>
              </a:lnSpc>
              <a:buNone/>
            </a:pPr>
            <a:r>
              <a:rPr lang="en-US" sz="1450" dirty="0">
                <a:solidFill>
                  <a:srgbClr val="16233A"/>
                </a:solidFill>
                <a:latin typeface="Calibri" pitchFamily="34" charset="0"/>
                <a:ea typeface="Calibri" pitchFamily="34" charset="-122"/>
                <a:cs typeface="Calibri" pitchFamily="34" charset="-120"/>
              </a:rPr>
              <a:t>The Agent Window hosts one conversation; Composer lets you split a large task into independent threads and chain them — each in its own window, each with its own diff to review.</a:t>
            </a:r>
            <a:endParaRPr lang="en-US" sz="1450" dirty="0"/>
          </a:p>
        </p:txBody>
      </p:sp>
      <p:sp>
        <p:nvSpPr>
          <p:cNvPr id="5" name="Shape 3"/>
          <p:cNvSpPr/>
          <p:nvPr/>
        </p:nvSpPr>
        <p:spPr>
          <a:xfrm>
            <a:off x="548640" y="2514600"/>
            <a:ext cx="3520440" cy="3200400"/>
          </a:xfrm>
          <a:prstGeom prst="roundRect">
            <a:avLst>
              <a:gd name="adj" fmla="val 2857"/>
            </a:avLst>
          </a:prstGeom>
          <a:solidFill>
            <a:srgbClr val="F0F4F8"/>
          </a:solidFill>
          <a:ln/>
          <a:effectLst>
            <a:outerShdw sx="100000" sy="100000" kx="0" ky="0" algn="bl" rotWithShape="0" blurRad="76200" dist="25400" dir="5400000">
              <a:srgbClr val="0B1F3A">
                <a:alpha val="18000"/>
              </a:srgbClr>
            </a:outerShdw>
          </a:effectLst>
        </p:spPr>
      </p:sp>
      <p:sp>
        <p:nvSpPr>
          <p:cNvPr id="6" name="Shape 4"/>
          <p:cNvSpPr/>
          <p:nvPr/>
        </p:nvSpPr>
        <p:spPr>
          <a:xfrm>
            <a:off x="822960" y="2788920"/>
            <a:ext cx="548640" cy="548640"/>
          </a:xfrm>
          <a:prstGeom prst="ellipse">
            <a:avLst/>
          </a:prstGeom>
          <a:solidFill>
            <a:srgbClr val="0F4C75"/>
          </a:solidFill>
          <a:ln/>
          <a:effectLst>
            <a:outerShdw sx="100000" sy="100000" kx="0" ky="0" algn="bl" rotWithShape="0" blurRad="76200" dist="25400" dir="5400000">
              <a:srgbClr val="0B1F3A">
                <a:alpha val="18000"/>
              </a:srgbClr>
            </a:outerShdw>
          </a:effectLst>
        </p:spPr>
      </p:sp>
      <p:sp>
        <p:nvSpPr>
          <p:cNvPr id="7" name="Text 5"/>
          <p:cNvSpPr/>
          <p:nvPr/>
        </p:nvSpPr>
        <p:spPr>
          <a:xfrm>
            <a:off x="822960" y="278892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8" name="Text 6"/>
          <p:cNvSpPr/>
          <p:nvPr/>
        </p:nvSpPr>
        <p:spPr>
          <a:xfrm>
            <a:off x="822960" y="3520440"/>
            <a:ext cx="2971800" cy="411480"/>
          </a:xfrm>
          <a:prstGeom prst="rect">
            <a:avLst/>
          </a:prstGeom>
          <a:noFill/>
          <a:ln/>
        </p:spPr>
        <p:txBody>
          <a:bodyPr wrap="square" lIns="0" tIns="0" rIns="0" bIns="0" rtlCol="0" anchor="ctr"/>
          <a:lstStyle/>
          <a:p>
            <a:pPr indent="0" marL="0">
              <a:buNone/>
            </a:pPr>
            <a:r>
              <a:rPr lang="en-US" sz="1700" b="1" dirty="0">
                <a:solidFill>
                  <a:srgbClr val="16233A"/>
                </a:solidFill>
                <a:latin typeface="Cambria" pitchFamily="34" charset="0"/>
                <a:ea typeface="Cambria" pitchFamily="34" charset="-122"/>
                <a:cs typeface="Cambria" pitchFamily="34" charset="-120"/>
              </a:rPr>
              <a:t>Agent A</a:t>
            </a:r>
            <a:endParaRPr lang="en-US" sz="1700" dirty="0"/>
          </a:p>
        </p:txBody>
      </p:sp>
      <p:sp>
        <p:nvSpPr>
          <p:cNvPr id="9" name="Text 7"/>
          <p:cNvSpPr/>
          <p:nvPr/>
        </p:nvSpPr>
        <p:spPr>
          <a:xfrm>
            <a:off x="822960" y="3977640"/>
            <a:ext cx="2971800" cy="1463040"/>
          </a:xfrm>
          <a:prstGeom prst="rect">
            <a:avLst/>
          </a:prstGeom>
          <a:noFill/>
          <a:ln/>
        </p:spPr>
        <p:txBody>
          <a:bodyPr wrap="square" lIns="0" tIns="0" rIns="0" bIns="0" rtlCol="0" anchor="ctr"/>
          <a:lstStyle/>
          <a:p>
            <a:pPr indent="0" marL="0">
              <a:lnSpc>
                <a:spcPct val="125000"/>
              </a:lnSpc>
              <a:buNone/>
            </a:pPr>
            <a:r>
              <a:rPr lang="en-US" sz="1300" dirty="0">
                <a:solidFill>
                  <a:srgbClr val="5C6B7A"/>
                </a:solidFill>
                <a:latin typeface="Calibri" pitchFamily="34" charset="0"/>
                <a:ea typeface="Calibri" pitchFamily="34" charset="-122"/>
                <a:cs typeface="Calibri" pitchFamily="34" charset="-120"/>
              </a:rPr>
              <a:t>Builds cli.py with argparse for the profiler</a:t>
            </a:r>
            <a:endParaRPr lang="en-US" sz="1300" dirty="0"/>
          </a:p>
        </p:txBody>
      </p:sp>
      <p:sp>
        <p:nvSpPr>
          <p:cNvPr id="10" name="Shape 8"/>
          <p:cNvSpPr/>
          <p:nvPr/>
        </p:nvSpPr>
        <p:spPr>
          <a:xfrm>
            <a:off x="4389120" y="2514600"/>
            <a:ext cx="3520440" cy="3200400"/>
          </a:xfrm>
          <a:prstGeom prst="roundRect">
            <a:avLst>
              <a:gd name="adj" fmla="val 2857"/>
            </a:avLst>
          </a:prstGeom>
          <a:solidFill>
            <a:srgbClr val="0B1F3A"/>
          </a:solidFill>
          <a:ln/>
          <a:effectLst>
            <a:outerShdw sx="100000" sy="100000" kx="0" ky="0" algn="bl" rotWithShape="0" blurRad="76200" dist="25400" dir="5400000">
              <a:srgbClr val="0B1F3A">
                <a:alpha val="18000"/>
              </a:srgbClr>
            </a:outerShdw>
          </a:effectLst>
        </p:spPr>
      </p:sp>
      <p:sp>
        <p:nvSpPr>
          <p:cNvPr id="11" name="Shape 9"/>
          <p:cNvSpPr/>
          <p:nvPr/>
        </p:nvSpPr>
        <p:spPr>
          <a:xfrm>
            <a:off x="4663440" y="2788920"/>
            <a:ext cx="548640" cy="548640"/>
          </a:xfrm>
          <a:prstGeom prst="ellipse">
            <a:avLst/>
          </a:prstGeom>
          <a:solidFill>
            <a:srgbClr val="F2A541"/>
          </a:solidFill>
          <a:ln/>
          <a:effectLst>
            <a:outerShdw sx="100000" sy="100000" kx="0" ky="0" algn="bl" rotWithShape="0" blurRad="76200" dist="25400" dir="5400000">
              <a:srgbClr val="0B1F3A">
                <a:alpha val="18000"/>
              </a:srgbClr>
            </a:outerShdw>
          </a:effectLst>
        </p:spPr>
      </p:sp>
      <p:sp>
        <p:nvSpPr>
          <p:cNvPr id="12" name="Text 10"/>
          <p:cNvSpPr/>
          <p:nvPr/>
        </p:nvSpPr>
        <p:spPr>
          <a:xfrm>
            <a:off x="4663440" y="278892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3" name="Text 11"/>
          <p:cNvSpPr/>
          <p:nvPr/>
        </p:nvSpPr>
        <p:spPr>
          <a:xfrm>
            <a:off x="4663440" y="3520440"/>
            <a:ext cx="2971800" cy="41148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Agent B</a:t>
            </a:r>
            <a:endParaRPr lang="en-US" sz="1700" dirty="0"/>
          </a:p>
        </p:txBody>
      </p:sp>
      <p:sp>
        <p:nvSpPr>
          <p:cNvPr id="14" name="Text 12"/>
          <p:cNvSpPr/>
          <p:nvPr/>
        </p:nvSpPr>
        <p:spPr>
          <a:xfrm>
            <a:off x="4663440" y="3977640"/>
            <a:ext cx="2971800" cy="1463040"/>
          </a:xfrm>
          <a:prstGeom prst="rect">
            <a:avLst/>
          </a:prstGeom>
          <a:noFill/>
          <a:ln/>
        </p:spPr>
        <p:txBody>
          <a:bodyPr wrap="square" lIns="0" tIns="0" rIns="0" bIns="0" rtlCol="0" anchor="ctr"/>
          <a:lstStyle/>
          <a:p>
            <a:pPr indent="0" marL="0">
              <a:lnSpc>
                <a:spcPct val="125000"/>
              </a:lnSpc>
              <a:buNone/>
            </a:pPr>
            <a:r>
              <a:rPr lang="en-US" sz="1300" dirty="0">
                <a:solidFill>
                  <a:srgbClr val="C7D9EA"/>
                </a:solidFill>
                <a:latin typeface="Calibri" pitchFamily="34" charset="0"/>
                <a:ea typeface="Calibri" pitchFamily="34" charset="-122"/>
                <a:cs typeface="Calibri" pitchFamily="34" charset="-120"/>
              </a:rPr>
              <a:t>Writes pytest coverage for the new CLI entrypoint</a:t>
            </a:r>
            <a:endParaRPr lang="en-US" sz="1300" dirty="0"/>
          </a:p>
        </p:txBody>
      </p:sp>
      <p:sp>
        <p:nvSpPr>
          <p:cNvPr id="15" name="Shape 13"/>
          <p:cNvSpPr/>
          <p:nvPr/>
        </p:nvSpPr>
        <p:spPr>
          <a:xfrm>
            <a:off x="8229600" y="2514600"/>
            <a:ext cx="3520440" cy="3200400"/>
          </a:xfrm>
          <a:prstGeom prst="roundRect">
            <a:avLst>
              <a:gd name="adj" fmla="val 2857"/>
            </a:avLst>
          </a:prstGeom>
          <a:solidFill>
            <a:srgbClr val="F0F4F8"/>
          </a:solidFill>
          <a:ln/>
          <a:effectLst>
            <a:outerShdw sx="100000" sy="100000" kx="0" ky="0" algn="bl" rotWithShape="0" blurRad="76200" dist="25400" dir="5400000">
              <a:srgbClr val="0B1F3A">
                <a:alpha val="18000"/>
              </a:srgbClr>
            </a:outerShdw>
          </a:effectLst>
        </p:spPr>
      </p:sp>
      <p:sp>
        <p:nvSpPr>
          <p:cNvPr id="16" name="Shape 14"/>
          <p:cNvSpPr/>
          <p:nvPr/>
        </p:nvSpPr>
        <p:spPr>
          <a:xfrm>
            <a:off x="8503920" y="2788920"/>
            <a:ext cx="548640" cy="548640"/>
          </a:xfrm>
          <a:prstGeom prst="ellipse">
            <a:avLst/>
          </a:prstGeom>
          <a:solidFill>
            <a:srgbClr val="0F4C75"/>
          </a:solidFill>
          <a:ln/>
          <a:effectLst>
            <a:outerShdw sx="100000" sy="100000" kx="0" ky="0" algn="bl" rotWithShape="0" blurRad="76200" dist="25400" dir="5400000">
              <a:srgbClr val="0B1F3A">
                <a:alpha val="18000"/>
              </a:srgbClr>
            </a:outerShdw>
          </a:effectLst>
        </p:spPr>
      </p:sp>
      <p:sp>
        <p:nvSpPr>
          <p:cNvPr id="17" name="Text 15"/>
          <p:cNvSpPr/>
          <p:nvPr/>
        </p:nvSpPr>
        <p:spPr>
          <a:xfrm>
            <a:off x="8503920" y="278892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8" name="Text 16"/>
          <p:cNvSpPr/>
          <p:nvPr/>
        </p:nvSpPr>
        <p:spPr>
          <a:xfrm>
            <a:off x="8503920" y="3520440"/>
            <a:ext cx="2971800" cy="411480"/>
          </a:xfrm>
          <a:prstGeom prst="rect">
            <a:avLst/>
          </a:prstGeom>
          <a:noFill/>
          <a:ln/>
        </p:spPr>
        <p:txBody>
          <a:bodyPr wrap="square" lIns="0" tIns="0" rIns="0" bIns="0" rtlCol="0" anchor="ctr"/>
          <a:lstStyle/>
          <a:p>
            <a:pPr indent="0" marL="0">
              <a:buNone/>
            </a:pPr>
            <a:r>
              <a:rPr lang="en-US" sz="1700" b="1" dirty="0">
                <a:solidFill>
                  <a:srgbClr val="16233A"/>
                </a:solidFill>
                <a:latin typeface="Cambria" pitchFamily="34" charset="0"/>
                <a:ea typeface="Cambria" pitchFamily="34" charset="-122"/>
                <a:cs typeface="Cambria" pitchFamily="34" charset="-120"/>
              </a:rPr>
              <a:t>Agent C</a:t>
            </a:r>
            <a:endParaRPr lang="en-US" sz="1700" dirty="0"/>
          </a:p>
        </p:txBody>
      </p:sp>
      <p:sp>
        <p:nvSpPr>
          <p:cNvPr id="19" name="Text 17"/>
          <p:cNvSpPr/>
          <p:nvPr/>
        </p:nvSpPr>
        <p:spPr>
          <a:xfrm>
            <a:off x="8503920" y="3977640"/>
            <a:ext cx="2971800" cy="1463040"/>
          </a:xfrm>
          <a:prstGeom prst="rect">
            <a:avLst/>
          </a:prstGeom>
          <a:noFill/>
          <a:ln/>
        </p:spPr>
        <p:txBody>
          <a:bodyPr wrap="square" lIns="0" tIns="0" rIns="0" bIns="0" rtlCol="0" anchor="ctr"/>
          <a:lstStyle/>
          <a:p>
            <a:pPr indent="0" marL="0">
              <a:lnSpc>
                <a:spcPct val="125000"/>
              </a:lnSpc>
              <a:buNone/>
            </a:pPr>
            <a:r>
              <a:rPr lang="en-US" sz="1300" dirty="0">
                <a:solidFill>
                  <a:srgbClr val="5C6B7A"/>
                </a:solidFill>
                <a:latin typeface="Calibri" pitchFamily="34" charset="0"/>
                <a:ea typeface="Calibri" pitchFamily="34" charset="-122"/>
                <a:cs typeface="Calibri" pitchFamily="34" charset="-120"/>
              </a:rPr>
              <a:t>Updates README.md with install and usage docs</a:t>
            </a:r>
            <a:endParaRPr lang="en-US" sz="1300" dirty="0"/>
          </a:p>
        </p:txBody>
      </p:sp>
      <p:sp>
        <p:nvSpPr>
          <p:cNvPr id="20" name="Text 18"/>
          <p:cNvSpPr/>
          <p:nvPr/>
        </p:nvSpPr>
        <p:spPr>
          <a:xfrm>
            <a:off x="548640" y="5989320"/>
            <a:ext cx="11064240" cy="365760"/>
          </a:xfrm>
          <a:prstGeom prst="rect">
            <a:avLst/>
          </a:prstGeom>
          <a:noFill/>
          <a:ln/>
        </p:spPr>
        <p:txBody>
          <a:bodyPr wrap="square" lIns="0" tIns="0" rIns="0" bIns="0" rtlCol="0" anchor="ctr"/>
          <a:lstStyle/>
          <a:p>
            <a:pPr indent="0" marL="0">
              <a:buNone/>
            </a:pPr>
            <a:r>
              <a:rPr lang="en-US" sz="1250" i="1" dirty="0">
                <a:solidFill>
                  <a:srgbClr val="5C6B7A"/>
                </a:solidFill>
                <a:latin typeface="Calibri" pitchFamily="34" charset="0"/>
                <a:ea typeface="Calibri" pitchFamily="34" charset="-122"/>
                <a:cs typeface="Calibri" pitchFamily="34" charset="-120"/>
              </a:rPr>
              <a:t>You review three separate diffs — not one tangled changeset. Composer can chain them: B waits on A, C waits on B.</a:t>
            </a:r>
            <a:endParaRPr lang="en-US" sz="1250" dirty="0"/>
          </a:p>
        </p:txBody>
      </p:sp>
      <p:sp>
        <p:nvSpPr>
          <p:cNvPr id="21" name="Text 19"/>
          <p:cNvSpPr/>
          <p:nvPr/>
        </p:nvSpPr>
        <p:spPr>
          <a:xfrm>
            <a:off x="548640" y="6537960"/>
            <a:ext cx="5486400" cy="274320"/>
          </a:xfrm>
          <a:prstGeom prst="rect">
            <a:avLst/>
          </a:prstGeom>
          <a:noFill/>
          <a:ln/>
        </p:spPr>
        <p:txBody>
          <a:bodyPr wrap="square" lIns="0" tIns="0" rIns="0" bIns="0" rtlCol="0" anchor="ctr"/>
          <a:lstStyle/>
          <a:p>
            <a:pPr indent="0" marL="0">
              <a:buNone/>
            </a:pPr>
            <a:r>
              <a:rPr lang="en-US" sz="900" dirty="0">
                <a:solidFill>
                  <a:srgbClr val="9AA7B5"/>
                </a:solidFill>
                <a:latin typeface="Calibri" pitchFamily="34" charset="0"/>
                <a:ea typeface="Calibri" pitchFamily="34" charset="-122"/>
                <a:cs typeface="Calibri" pitchFamily="34" charset="-120"/>
              </a:rPr>
              <a:t>Cursor for Engineers</a:t>
            </a:r>
            <a:endParaRPr lang="en-US" sz="900" dirty="0"/>
          </a:p>
        </p:txBody>
      </p:sp>
      <p:sp>
        <p:nvSpPr>
          <p:cNvPr id="22" name="Text 20"/>
          <p:cNvSpPr/>
          <p:nvPr/>
        </p:nvSpPr>
        <p:spPr>
          <a:xfrm>
            <a:off x="11338560" y="6537960"/>
            <a:ext cx="365760" cy="274320"/>
          </a:xfrm>
          <a:prstGeom prst="rect">
            <a:avLst/>
          </a:prstGeom>
          <a:noFill/>
          <a:ln/>
        </p:spPr>
        <p:txBody>
          <a:bodyPr wrap="square" lIns="0" tIns="0" rIns="0" bIns="0" rtlCol="0" anchor="ctr"/>
          <a:lstStyle/>
          <a:p>
            <a:pPr algn="r" indent="0" marL="0">
              <a:buNone/>
            </a:pPr>
            <a:r>
              <a:rPr lang="en-US" sz="900" dirty="0">
                <a:solidFill>
                  <a:srgbClr val="9AA7B5"/>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lIns="0" tIns="0" rIns="0" bIns="0" rtlCol="0" anchor="ctr"/>
          <a:lstStyle/>
          <a:p>
            <a:pPr indent="0" marL="0">
              <a:buNone/>
            </a:pPr>
            <a:r>
              <a:rPr lang="en-US" sz="1300" b="1" spc="200" kern="0" dirty="0">
                <a:solidFill>
                  <a:srgbClr val="3282B8"/>
                </a:solidFill>
                <a:latin typeface="Calibri" pitchFamily="34" charset="0"/>
                <a:ea typeface="Calibri" pitchFamily="34" charset="-122"/>
                <a:cs typeface="Calibri" pitchFamily="34" charset="-120"/>
              </a:rPr>
              <a:t>EXPAND THE CONTEXT</a:t>
            </a:r>
            <a:endParaRPr lang="en-US" sz="1300" dirty="0"/>
          </a:p>
        </p:txBody>
      </p:sp>
      <p:sp>
        <p:nvSpPr>
          <p:cNvPr id="3" name="Text 1"/>
          <p:cNvSpPr/>
          <p:nvPr/>
        </p:nvSpPr>
        <p:spPr>
          <a:xfrm>
            <a:off x="548640" y="731520"/>
            <a:ext cx="11064240" cy="822960"/>
          </a:xfrm>
          <a:prstGeom prst="rect">
            <a:avLst/>
          </a:prstGeom>
          <a:noFill/>
          <a:ln/>
        </p:spPr>
        <p:txBody>
          <a:bodyPr wrap="square" lIns="0" tIns="0" rIns="0" bIns="0" rtlCol="0" anchor="ctr"/>
          <a:lstStyle/>
          <a:p>
            <a:pPr indent="0" marL="0">
              <a:buNone/>
            </a:pPr>
            <a:r>
              <a:rPr lang="en-US" sz="3000" b="1" dirty="0">
                <a:solidFill>
                  <a:srgbClr val="16233A"/>
                </a:solidFill>
                <a:latin typeface="Cambria" pitchFamily="34" charset="0"/>
                <a:ea typeface="Cambria" pitchFamily="34" charset="-122"/>
                <a:cs typeface="Cambria" pitchFamily="34" charset="-120"/>
              </a:rPr>
              <a:t>MCP servers and Max Mode: scale to bigger, real systems</a:t>
            </a:r>
            <a:endParaRPr lang="en-US" sz="3000" dirty="0"/>
          </a:p>
        </p:txBody>
      </p:sp>
      <p:sp>
        <p:nvSpPr>
          <p:cNvPr id="4" name="Text 2"/>
          <p:cNvSpPr/>
          <p:nvPr/>
        </p:nvSpPr>
        <p:spPr>
          <a:xfrm>
            <a:off x="548640" y="1417320"/>
            <a:ext cx="11064240" cy="731520"/>
          </a:xfrm>
          <a:prstGeom prst="rect">
            <a:avLst/>
          </a:prstGeom>
          <a:noFill/>
          <a:ln/>
        </p:spPr>
        <p:txBody>
          <a:bodyPr wrap="square" lIns="0" tIns="0" rIns="0" bIns="0" rtlCol="0" anchor="ctr"/>
          <a:lstStyle/>
          <a:p>
            <a:pPr indent="0" marL="0">
              <a:lnSpc>
                <a:spcPct val="130000"/>
              </a:lnSpc>
              <a:buNone/>
            </a:pPr>
            <a:r>
              <a:rPr lang="en-US" sz="1400" dirty="0">
                <a:solidFill>
                  <a:srgbClr val="16233A"/>
                </a:solidFill>
                <a:latin typeface="Calibri" pitchFamily="34" charset="0"/>
                <a:ea typeface="Calibri" pitchFamily="34" charset="-122"/>
                <a:cs typeface="Calibri" pitchFamily="34" charset="-120"/>
              </a:rPr>
              <a:t>MCP connects the Agent to live systems instead of stale copy-paste. Max Mode extends the context window so the Agent can hold a much larger codebase, or long external docs, in view at once.</a:t>
            </a:r>
            <a:endParaRPr lang="en-US" sz="1400" dirty="0"/>
          </a:p>
        </p:txBody>
      </p:sp>
      <p:sp>
        <p:nvSpPr>
          <p:cNvPr id="5" name="Shape 3"/>
          <p:cNvSpPr/>
          <p:nvPr/>
        </p:nvSpPr>
        <p:spPr>
          <a:xfrm>
            <a:off x="548640" y="2286000"/>
            <a:ext cx="5440680" cy="960120"/>
          </a:xfrm>
          <a:prstGeom prst="roundRect">
            <a:avLst>
              <a:gd name="adj" fmla="val 9524"/>
            </a:avLst>
          </a:prstGeom>
          <a:solidFill>
            <a:srgbClr val="F0F4F8"/>
          </a:solidFill>
          <a:ln/>
          <a:effectLst>
            <a:outerShdw sx="100000" sy="100000" kx="0" ky="0" algn="bl" rotWithShape="0" blurRad="76200" dist="25400" dir="5400000">
              <a:srgbClr val="0B1F3A">
                <a:alpha val="18000"/>
              </a:srgbClr>
            </a:outerShdw>
          </a:effectLst>
        </p:spPr>
      </p:sp>
      <p:sp>
        <p:nvSpPr>
          <p:cNvPr id="6" name="Shape 4"/>
          <p:cNvSpPr/>
          <p:nvPr/>
        </p:nvSpPr>
        <p:spPr>
          <a:xfrm>
            <a:off x="777240" y="2468880"/>
            <a:ext cx="548640" cy="548640"/>
          </a:xfrm>
          <a:prstGeom prst="ellipse">
            <a:avLst/>
          </a:prstGeom>
          <a:solidFill>
            <a:srgbClr val="3282B8"/>
          </a:solidFill>
          <a:ln/>
          <a:effectLst>
            <a:outerShdw sx="100000" sy="100000" kx="0" ky="0" algn="bl" rotWithShape="0" blurRad="76200" dist="25400" dir="5400000">
              <a:srgbClr val="0B1F3A">
                <a:alpha val="18000"/>
              </a:srgbClr>
            </a:outerShdw>
          </a:effectLst>
        </p:spPr>
      </p:sp>
      <p:sp>
        <p:nvSpPr>
          <p:cNvPr id="7" name="Text 5"/>
          <p:cNvSpPr/>
          <p:nvPr/>
        </p:nvSpPr>
        <p:spPr>
          <a:xfrm>
            <a:off x="777240" y="246888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8" name="Text 6"/>
          <p:cNvSpPr/>
          <p:nvPr/>
        </p:nvSpPr>
        <p:spPr>
          <a:xfrm>
            <a:off x="1508760" y="2395728"/>
            <a:ext cx="4251960" cy="365760"/>
          </a:xfrm>
          <a:prstGeom prst="rect">
            <a:avLst/>
          </a:prstGeom>
          <a:noFill/>
          <a:ln/>
        </p:spPr>
        <p:txBody>
          <a:bodyPr wrap="square" lIns="0" tIns="0" rIns="0" bIns="0" rtlCol="0" anchor="ctr"/>
          <a:lstStyle/>
          <a:p>
            <a:pPr indent="0" marL="0">
              <a:buNone/>
            </a:pPr>
            <a:r>
              <a:rPr lang="en-US" sz="1450" b="1" dirty="0">
                <a:solidFill>
                  <a:srgbClr val="16233A"/>
                </a:solidFill>
                <a:latin typeface="Cambria" pitchFamily="34" charset="0"/>
                <a:ea typeface="Cambria" pitchFamily="34" charset="-122"/>
                <a:cs typeface="Cambria" pitchFamily="34" charset="-120"/>
              </a:rPr>
              <a:t>Postgres / Snowflake</a:t>
            </a:r>
            <a:endParaRPr lang="en-US" sz="1450" dirty="0"/>
          </a:p>
        </p:txBody>
      </p:sp>
      <p:sp>
        <p:nvSpPr>
          <p:cNvPr id="9" name="Text 7"/>
          <p:cNvSpPr/>
          <p:nvPr/>
        </p:nvSpPr>
        <p:spPr>
          <a:xfrm>
            <a:off x="1508760" y="2743200"/>
            <a:ext cx="4251960" cy="457200"/>
          </a:xfrm>
          <a:prstGeom prst="rect">
            <a:avLst/>
          </a:prstGeom>
          <a:noFill/>
          <a:ln/>
        </p:spPr>
        <p:txBody>
          <a:bodyPr wrap="square" lIns="0" tIns="0" rIns="0" bIns="0" rtlCol="0" anchor="ctr"/>
          <a:lstStyle/>
          <a:p>
            <a:pPr indent="0" marL="0">
              <a:lnSpc>
                <a:spcPct val="115000"/>
              </a:lnSpc>
              <a:buNone/>
            </a:pPr>
            <a:r>
              <a:rPr lang="en-US" sz="1150" dirty="0">
                <a:solidFill>
                  <a:srgbClr val="5C6B7A"/>
                </a:solidFill>
                <a:latin typeface="Calibri" pitchFamily="34" charset="0"/>
                <a:ea typeface="Calibri" pitchFamily="34" charset="-122"/>
                <a:cs typeface="Calibri" pitchFamily="34" charset="-120"/>
              </a:rPr>
              <a:t>Query live schemas — no more stale schema dumps in prompts</a:t>
            </a:r>
            <a:endParaRPr lang="en-US" sz="1150" dirty="0"/>
          </a:p>
        </p:txBody>
      </p:sp>
      <p:sp>
        <p:nvSpPr>
          <p:cNvPr id="10" name="Shape 8"/>
          <p:cNvSpPr/>
          <p:nvPr/>
        </p:nvSpPr>
        <p:spPr>
          <a:xfrm>
            <a:off x="6355080" y="2286000"/>
            <a:ext cx="5440680" cy="960120"/>
          </a:xfrm>
          <a:prstGeom prst="roundRect">
            <a:avLst>
              <a:gd name="adj" fmla="val 9524"/>
            </a:avLst>
          </a:prstGeom>
          <a:solidFill>
            <a:srgbClr val="F0F4F8"/>
          </a:solidFill>
          <a:ln/>
          <a:effectLst>
            <a:outerShdw sx="100000" sy="100000" kx="0" ky="0" algn="bl" rotWithShape="0" blurRad="76200" dist="25400" dir="5400000">
              <a:srgbClr val="0B1F3A">
                <a:alpha val="18000"/>
              </a:srgbClr>
            </a:outerShdw>
          </a:effectLst>
        </p:spPr>
      </p:sp>
      <p:sp>
        <p:nvSpPr>
          <p:cNvPr id="11" name="Shape 9"/>
          <p:cNvSpPr/>
          <p:nvPr/>
        </p:nvSpPr>
        <p:spPr>
          <a:xfrm>
            <a:off x="6583680" y="2468880"/>
            <a:ext cx="548640" cy="548640"/>
          </a:xfrm>
          <a:prstGeom prst="ellipse">
            <a:avLst/>
          </a:prstGeom>
          <a:solidFill>
            <a:srgbClr val="3282B8"/>
          </a:solidFill>
          <a:ln/>
          <a:effectLst>
            <a:outerShdw sx="100000" sy="100000" kx="0" ky="0" algn="bl" rotWithShape="0" blurRad="76200" dist="25400" dir="5400000">
              <a:srgbClr val="0B1F3A">
                <a:alpha val="18000"/>
              </a:srgbClr>
            </a:outerShdw>
          </a:effectLst>
        </p:spPr>
      </p:sp>
      <p:sp>
        <p:nvSpPr>
          <p:cNvPr id="12" name="Text 10"/>
          <p:cNvSpPr/>
          <p:nvPr/>
        </p:nvSpPr>
        <p:spPr>
          <a:xfrm>
            <a:off x="6583680" y="246888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3" name="Text 11"/>
          <p:cNvSpPr/>
          <p:nvPr/>
        </p:nvSpPr>
        <p:spPr>
          <a:xfrm>
            <a:off x="7315200" y="2395728"/>
            <a:ext cx="4251960" cy="365760"/>
          </a:xfrm>
          <a:prstGeom prst="rect">
            <a:avLst/>
          </a:prstGeom>
          <a:noFill/>
          <a:ln/>
        </p:spPr>
        <p:txBody>
          <a:bodyPr wrap="square" lIns="0" tIns="0" rIns="0" bIns="0" rtlCol="0" anchor="ctr"/>
          <a:lstStyle/>
          <a:p>
            <a:pPr indent="0" marL="0">
              <a:buNone/>
            </a:pPr>
            <a:r>
              <a:rPr lang="en-US" sz="1450" b="1" dirty="0">
                <a:solidFill>
                  <a:srgbClr val="16233A"/>
                </a:solidFill>
                <a:latin typeface="Cambria" pitchFamily="34" charset="0"/>
                <a:ea typeface="Cambria" pitchFamily="34" charset="-122"/>
                <a:cs typeface="Cambria" pitchFamily="34" charset="-120"/>
              </a:rPr>
              <a:t>GitHub</a:t>
            </a:r>
            <a:endParaRPr lang="en-US" sz="1450" dirty="0"/>
          </a:p>
        </p:txBody>
      </p:sp>
      <p:sp>
        <p:nvSpPr>
          <p:cNvPr id="14" name="Text 12"/>
          <p:cNvSpPr/>
          <p:nvPr/>
        </p:nvSpPr>
        <p:spPr>
          <a:xfrm>
            <a:off x="7315200" y="2743200"/>
            <a:ext cx="4251960" cy="457200"/>
          </a:xfrm>
          <a:prstGeom prst="rect">
            <a:avLst/>
          </a:prstGeom>
          <a:noFill/>
          <a:ln/>
        </p:spPr>
        <p:txBody>
          <a:bodyPr wrap="square" lIns="0" tIns="0" rIns="0" bIns="0" rtlCol="0" anchor="ctr"/>
          <a:lstStyle/>
          <a:p>
            <a:pPr indent="0" marL="0">
              <a:lnSpc>
                <a:spcPct val="115000"/>
              </a:lnSpc>
              <a:buNone/>
            </a:pPr>
            <a:r>
              <a:rPr lang="en-US" sz="1150" dirty="0">
                <a:solidFill>
                  <a:srgbClr val="5C6B7A"/>
                </a:solidFill>
                <a:latin typeface="Calibri" pitchFamily="34" charset="0"/>
                <a:ea typeface="Calibri" pitchFamily="34" charset="-122"/>
                <a:cs typeface="Calibri" pitchFamily="34" charset="-120"/>
              </a:rPr>
              <a:t>Open PRs, read review comments, check CI status</a:t>
            </a:r>
            <a:endParaRPr lang="en-US" sz="1150" dirty="0"/>
          </a:p>
        </p:txBody>
      </p:sp>
      <p:sp>
        <p:nvSpPr>
          <p:cNvPr id="15" name="Shape 13"/>
          <p:cNvSpPr/>
          <p:nvPr/>
        </p:nvSpPr>
        <p:spPr>
          <a:xfrm>
            <a:off x="548640" y="3410712"/>
            <a:ext cx="5440680" cy="960120"/>
          </a:xfrm>
          <a:prstGeom prst="roundRect">
            <a:avLst>
              <a:gd name="adj" fmla="val 9524"/>
            </a:avLst>
          </a:prstGeom>
          <a:solidFill>
            <a:srgbClr val="F0F4F8"/>
          </a:solidFill>
          <a:ln/>
          <a:effectLst>
            <a:outerShdw sx="100000" sy="100000" kx="0" ky="0" algn="bl" rotWithShape="0" blurRad="76200" dist="25400" dir="5400000">
              <a:srgbClr val="0B1F3A">
                <a:alpha val="18000"/>
              </a:srgbClr>
            </a:outerShdw>
          </a:effectLst>
        </p:spPr>
      </p:sp>
      <p:sp>
        <p:nvSpPr>
          <p:cNvPr id="16" name="Shape 14"/>
          <p:cNvSpPr/>
          <p:nvPr/>
        </p:nvSpPr>
        <p:spPr>
          <a:xfrm>
            <a:off x="777240" y="3593592"/>
            <a:ext cx="548640" cy="548640"/>
          </a:xfrm>
          <a:prstGeom prst="ellipse">
            <a:avLst/>
          </a:prstGeom>
          <a:solidFill>
            <a:srgbClr val="3282B8"/>
          </a:solidFill>
          <a:ln/>
          <a:effectLst>
            <a:outerShdw sx="100000" sy="100000" kx="0" ky="0" algn="bl" rotWithShape="0" blurRad="76200" dist="25400" dir="5400000">
              <a:srgbClr val="0B1F3A">
                <a:alpha val="18000"/>
              </a:srgbClr>
            </a:outerShdw>
          </a:effectLst>
        </p:spPr>
      </p:sp>
      <p:sp>
        <p:nvSpPr>
          <p:cNvPr id="17" name="Text 15"/>
          <p:cNvSpPr/>
          <p:nvPr/>
        </p:nvSpPr>
        <p:spPr>
          <a:xfrm>
            <a:off x="777240" y="3593592"/>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8" name="Text 16"/>
          <p:cNvSpPr/>
          <p:nvPr/>
        </p:nvSpPr>
        <p:spPr>
          <a:xfrm>
            <a:off x="1508760" y="3520440"/>
            <a:ext cx="4251960" cy="365760"/>
          </a:xfrm>
          <a:prstGeom prst="rect">
            <a:avLst/>
          </a:prstGeom>
          <a:noFill/>
          <a:ln/>
        </p:spPr>
        <p:txBody>
          <a:bodyPr wrap="square" lIns="0" tIns="0" rIns="0" bIns="0" rtlCol="0" anchor="ctr"/>
          <a:lstStyle/>
          <a:p>
            <a:pPr indent="0" marL="0">
              <a:buNone/>
            </a:pPr>
            <a:r>
              <a:rPr lang="en-US" sz="1450" b="1" dirty="0">
                <a:solidFill>
                  <a:srgbClr val="16233A"/>
                </a:solidFill>
                <a:latin typeface="Cambria" pitchFamily="34" charset="0"/>
                <a:ea typeface="Cambria" pitchFamily="34" charset="-122"/>
                <a:cs typeface="Cambria" pitchFamily="34" charset="-120"/>
              </a:rPr>
              <a:t>S3 / data lake</a:t>
            </a:r>
            <a:endParaRPr lang="en-US" sz="1450" dirty="0"/>
          </a:p>
        </p:txBody>
      </p:sp>
      <p:sp>
        <p:nvSpPr>
          <p:cNvPr id="19" name="Text 17"/>
          <p:cNvSpPr/>
          <p:nvPr/>
        </p:nvSpPr>
        <p:spPr>
          <a:xfrm>
            <a:off x="1508760" y="3867912"/>
            <a:ext cx="4251960" cy="457200"/>
          </a:xfrm>
          <a:prstGeom prst="rect">
            <a:avLst/>
          </a:prstGeom>
          <a:noFill/>
          <a:ln/>
        </p:spPr>
        <p:txBody>
          <a:bodyPr wrap="square" lIns="0" tIns="0" rIns="0" bIns="0" rtlCol="0" anchor="ctr"/>
          <a:lstStyle/>
          <a:p>
            <a:pPr indent="0" marL="0">
              <a:lnSpc>
                <a:spcPct val="115000"/>
              </a:lnSpc>
              <a:buNone/>
            </a:pPr>
            <a:r>
              <a:rPr lang="en-US" sz="1150" dirty="0">
                <a:solidFill>
                  <a:srgbClr val="5C6B7A"/>
                </a:solidFill>
                <a:latin typeface="Calibri" pitchFamily="34" charset="0"/>
                <a:ea typeface="Calibri" pitchFamily="34" charset="-122"/>
                <a:cs typeface="Calibri" pitchFamily="34" charset="-120"/>
              </a:rPr>
              <a:t>Pull real transaction CSVs and past profiler reports for context</a:t>
            </a:r>
            <a:endParaRPr lang="en-US" sz="1150" dirty="0"/>
          </a:p>
        </p:txBody>
      </p:sp>
      <p:sp>
        <p:nvSpPr>
          <p:cNvPr id="20" name="Shape 18"/>
          <p:cNvSpPr/>
          <p:nvPr/>
        </p:nvSpPr>
        <p:spPr>
          <a:xfrm>
            <a:off x="6355080" y="3410712"/>
            <a:ext cx="5440680" cy="960120"/>
          </a:xfrm>
          <a:prstGeom prst="roundRect">
            <a:avLst>
              <a:gd name="adj" fmla="val 9524"/>
            </a:avLst>
          </a:prstGeom>
          <a:solidFill>
            <a:srgbClr val="F0F4F8"/>
          </a:solidFill>
          <a:ln/>
          <a:effectLst>
            <a:outerShdw sx="100000" sy="100000" kx="0" ky="0" algn="bl" rotWithShape="0" blurRad="76200" dist="25400" dir="5400000">
              <a:srgbClr val="0B1F3A">
                <a:alpha val="18000"/>
              </a:srgbClr>
            </a:outerShdw>
          </a:effectLst>
        </p:spPr>
      </p:sp>
      <p:sp>
        <p:nvSpPr>
          <p:cNvPr id="21" name="Shape 19"/>
          <p:cNvSpPr/>
          <p:nvPr/>
        </p:nvSpPr>
        <p:spPr>
          <a:xfrm>
            <a:off x="6583680" y="3593592"/>
            <a:ext cx="548640" cy="548640"/>
          </a:xfrm>
          <a:prstGeom prst="ellipse">
            <a:avLst/>
          </a:prstGeom>
          <a:solidFill>
            <a:srgbClr val="3282B8"/>
          </a:solidFill>
          <a:ln/>
          <a:effectLst>
            <a:outerShdw sx="100000" sy="100000" kx="0" ky="0" algn="bl" rotWithShape="0" blurRad="76200" dist="25400" dir="5400000">
              <a:srgbClr val="0B1F3A">
                <a:alpha val="18000"/>
              </a:srgbClr>
            </a:outerShdw>
          </a:effectLst>
        </p:spPr>
      </p:sp>
      <p:sp>
        <p:nvSpPr>
          <p:cNvPr id="22" name="Text 20"/>
          <p:cNvSpPr/>
          <p:nvPr/>
        </p:nvSpPr>
        <p:spPr>
          <a:xfrm>
            <a:off x="6583680" y="3593592"/>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3" name="Text 21"/>
          <p:cNvSpPr/>
          <p:nvPr/>
        </p:nvSpPr>
        <p:spPr>
          <a:xfrm>
            <a:off x="7315200" y="3520440"/>
            <a:ext cx="4251960" cy="365760"/>
          </a:xfrm>
          <a:prstGeom prst="rect">
            <a:avLst/>
          </a:prstGeom>
          <a:noFill/>
          <a:ln/>
        </p:spPr>
        <p:txBody>
          <a:bodyPr wrap="square" lIns="0" tIns="0" rIns="0" bIns="0" rtlCol="0" anchor="ctr"/>
          <a:lstStyle/>
          <a:p>
            <a:pPr indent="0" marL="0">
              <a:buNone/>
            </a:pPr>
            <a:r>
              <a:rPr lang="en-US" sz="1450" b="1" dirty="0">
                <a:solidFill>
                  <a:srgbClr val="16233A"/>
                </a:solidFill>
                <a:latin typeface="Cambria" pitchFamily="34" charset="0"/>
                <a:ea typeface="Cambria" pitchFamily="34" charset="-122"/>
                <a:cs typeface="Cambria" pitchFamily="34" charset="-120"/>
              </a:rPr>
              <a:t>Slack / Linear</a:t>
            </a:r>
            <a:endParaRPr lang="en-US" sz="1450" dirty="0"/>
          </a:p>
        </p:txBody>
      </p:sp>
      <p:sp>
        <p:nvSpPr>
          <p:cNvPr id="24" name="Text 22"/>
          <p:cNvSpPr/>
          <p:nvPr/>
        </p:nvSpPr>
        <p:spPr>
          <a:xfrm>
            <a:off x="7315200" y="3867912"/>
            <a:ext cx="4251960" cy="457200"/>
          </a:xfrm>
          <a:prstGeom prst="rect">
            <a:avLst/>
          </a:prstGeom>
          <a:noFill/>
          <a:ln/>
        </p:spPr>
        <p:txBody>
          <a:bodyPr wrap="square" lIns="0" tIns="0" rIns="0" bIns="0" rtlCol="0" anchor="ctr"/>
          <a:lstStyle/>
          <a:p>
            <a:pPr indent="0" marL="0">
              <a:lnSpc>
                <a:spcPct val="115000"/>
              </a:lnSpc>
              <a:buNone/>
            </a:pPr>
            <a:r>
              <a:rPr lang="en-US" sz="1150" dirty="0">
                <a:solidFill>
                  <a:srgbClr val="5C6B7A"/>
                </a:solidFill>
                <a:latin typeface="Calibri" pitchFamily="34" charset="0"/>
                <a:ea typeface="Calibri" pitchFamily="34" charset="-122"/>
                <a:cs typeface="Calibri" pitchFamily="34" charset="-120"/>
              </a:rPr>
              <a:t>Post results or check a ticket's acceptance criteria</a:t>
            </a:r>
            <a:endParaRPr lang="en-US" sz="1150" dirty="0"/>
          </a:p>
        </p:txBody>
      </p:sp>
      <p:sp>
        <p:nvSpPr>
          <p:cNvPr id="25" name="Shape 23"/>
          <p:cNvSpPr/>
          <p:nvPr/>
        </p:nvSpPr>
        <p:spPr>
          <a:xfrm>
            <a:off x="548640" y="5257800"/>
            <a:ext cx="11064240" cy="914400"/>
          </a:xfrm>
          <a:prstGeom prst="roundRect">
            <a:avLst>
              <a:gd name="adj" fmla="val 10000"/>
            </a:avLst>
          </a:prstGeom>
          <a:solidFill>
            <a:srgbClr val="0B1F3A"/>
          </a:solidFill>
          <a:ln/>
          <a:effectLst>
            <a:outerShdw sx="100000" sy="100000" kx="0" ky="0" algn="bl" rotWithShape="0" blurRad="76200" dist="25400" dir="5400000">
              <a:srgbClr val="0B1F3A">
                <a:alpha val="18000"/>
              </a:srgbClr>
            </a:outerShdw>
          </a:effectLst>
        </p:spPr>
      </p:sp>
      <p:sp>
        <p:nvSpPr>
          <p:cNvPr id="26" name="Text 24"/>
          <p:cNvSpPr/>
          <p:nvPr/>
        </p:nvSpPr>
        <p:spPr>
          <a:xfrm>
            <a:off x="822960" y="5257800"/>
            <a:ext cx="2286000" cy="914400"/>
          </a:xfrm>
          <a:prstGeom prst="rect">
            <a:avLst/>
          </a:prstGeom>
          <a:noFill/>
          <a:ln/>
        </p:spPr>
        <p:txBody>
          <a:bodyPr wrap="square" lIns="0" tIns="0" rIns="0" bIns="0" rtlCol="0" anchor="ctr"/>
          <a:lstStyle/>
          <a:p>
            <a:pPr indent="0" marL="0">
              <a:buNone/>
            </a:pPr>
            <a:r>
              <a:rPr lang="en-US" sz="1600" b="1" dirty="0">
                <a:solidFill>
                  <a:srgbClr val="F2A541"/>
                </a:solidFill>
                <a:latin typeface="Cambria" pitchFamily="34" charset="0"/>
                <a:ea typeface="Cambria" pitchFamily="34" charset="-122"/>
                <a:cs typeface="Cambria" pitchFamily="34" charset="-120"/>
              </a:rPr>
              <a:t>Max Mode</a:t>
            </a:r>
            <a:endParaRPr lang="en-US" sz="1600" dirty="0"/>
          </a:p>
        </p:txBody>
      </p:sp>
      <p:sp>
        <p:nvSpPr>
          <p:cNvPr id="27" name="Text 25"/>
          <p:cNvSpPr/>
          <p:nvPr/>
        </p:nvSpPr>
        <p:spPr>
          <a:xfrm>
            <a:off x="3017520" y="5257800"/>
            <a:ext cx="8321040" cy="914400"/>
          </a:xfrm>
          <a:prstGeom prst="rect">
            <a:avLst/>
          </a:prstGeom>
          <a:noFill/>
          <a:ln/>
        </p:spPr>
        <p:txBody>
          <a:bodyPr wrap="square" lIns="0" tIns="0" rIns="0" bIns="0" rtlCol="0" anchor="ctr"/>
          <a:lstStyle/>
          <a:p>
            <a:pPr indent="0" marL="0">
              <a:lnSpc>
                <a:spcPct val="120000"/>
              </a:lnSpc>
              <a:buNone/>
            </a:pPr>
            <a:r>
              <a:rPr lang="en-US" sz="1300" dirty="0">
                <a:solidFill>
                  <a:srgbClr val="DCE6F0"/>
                </a:solidFill>
                <a:latin typeface="Calibri" pitchFamily="34" charset="0"/>
                <a:ea typeface="Calibri" pitchFamily="34" charset="-122"/>
                <a:cs typeface="Calibri" pitchFamily="34" charset="-120"/>
              </a:rPr>
              <a:t>Reach for it on large, complex codebases or when grounding a task in long external documentation the default context can't hold.</a:t>
            </a:r>
            <a:endParaRPr lang="en-US" sz="1300" dirty="0"/>
          </a:p>
        </p:txBody>
      </p:sp>
      <p:sp>
        <p:nvSpPr>
          <p:cNvPr id="28" name="Text 26"/>
          <p:cNvSpPr/>
          <p:nvPr/>
        </p:nvSpPr>
        <p:spPr>
          <a:xfrm>
            <a:off x="548640" y="6537960"/>
            <a:ext cx="5486400" cy="274320"/>
          </a:xfrm>
          <a:prstGeom prst="rect">
            <a:avLst/>
          </a:prstGeom>
          <a:noFill/>
          <a:ln/>
        </p:spPr>
        <p:txBody>
          <a:bodyPr wrap="square" lIns="0" tIns="0" rIns="0" bIns="0" rtlCol="0" anchor="ctr"/>
          <a:lstStyle/>
          <a:p>
            <a:pPr indent="0" marL="0">
              <a:buNone/>
            </a:pPr>
            <a:r>
              <a:rPr lang="en-US" sz="900" dirty="0">
                <a:solidFill>
                  <a:srgbClr val="9AA7B5"/>
                </a:solidFill>
                <a:latin typeface="Calibri" pitchFamily="34" charset="0"/>
                <a:ea typeface="Calibri" pitchFamily="34" charset="-122"/>
                <a:cs typeface="Calibri" pitchFamily="34" charset="-120"/>
              </a:rPr>
              <a:t>Cursor for Engineers</a:t>
            </a:r>
            <a:endParaRPr lang="en-US" sz="900" dirty="0"/>
          </a:p>
        </p:txBody>
      </p:sp>
      <p:sp>
        <p:nvSpPr>
          <p:cNvPr id="29" name="Text 27"/>
          <p:cNvSpPr/>
          <p:nvPr/>
        </p:nvSpPr>
        <p:spPr>
          <a:xfrm>
            <a:off x="11338560" y="6537960"/>
            <a:ext cx="365760" cy="274320"/>
          </a:xfrm>
          <a:prstGeom prst="rect">
            <a:avLst/>
          </a:prstGeom>
          <a:noFill/>
          <a:ln/>
        </p:spPr>
        <p:txBody>
          <a:bodyPr wrap="square" lIns="0" tIns="0" rIns="0" bIns="0" rtlCol="0" anchor="ctr"/>
          <a:lstStyle/>
          <a:p>
            <a:pPr algn="r" indent="0" marL="0">
              <a:buNone/>
            </a:pPr>
            <a:r>
              <a:rPr lang="en-US" sz="900" dirty="0">
                <a:solidFill>
                  <a:srgbClr val="9AA7B5"/>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lIns="0" tIns="0" rIns="0" bIns="0" rtlCol="0" anchor="ctr"/>
          <a:lstStyle/>
          <a:p>
            <a:pPr indent="0" marL="0">
              <a:buNone/>
            </a:pPr>
            <a:r>
              <a:rPr lang="en-US" sz="1300" b="1" spc="200" kern="0" dirty="0">
                <a:solidFill>
                  <a:srgbClr val="F2A541"/>
                </a:solidFill>
                <a:latin typeface="Calibri" pitchFamily="34" charset="0"/>
                <a:ea typeface="Calibri" pitchFamily="34" charset="-122"/>
                <a:cs typeface="Calibri" pitchFamily="34" charset="-120"/>
              </a:rPr>
              <a:t>TEAM SPOTLIGHT</a:t>
            </a:r>
            <a:endParaRPr lang="en-US" sz="1300" dirty="0"/>
          </a:p>
        </p:txBody>
      </p:sp>
      <p:sp>
        <p:nvSpPr>
          <p:cNvPr id="3" name="Text 1"/>
          <p:cNvSpPr/>
          <p:nvPr/>
        </p:nvSpPr>
        <p:spPr>
          <a:xfrm>
            <a:off x="548640" y="731520"/>
            <a:ext cx="11064240" cy="822960"/>
          </a:xfrm>
          <a:prstGeom prst="rect">
            <a:avLst/>
          </a:prstGeom>
          <a:noFill/>
          <a:ln/>
        </p:spPr>
        <p:txBody>
          <a:bodyPr wrap="square" lIns="0" tIns="0" rIns="0" bIns="0" rtlCol="0" anchor="ctr"/>
          <a:lstStyle/>
          <a:p>
            <a:pPr indent="0" marL="0">
              <a:buNone/>
            </a:pPr>
            <a:r>
              <a:rPr lang="en-US" sz="3000" b="1" dirty="0">
                <a:solidFill>
                  <a:srgbClr val="16233A"/>
                </a:solidFill>
                <a:latin typeface="Cambria" pitchFamily="34" charset="0"/>
                <a:ea typeface="Cambria" pitchFamily="34" charset="-122"/>
                <a:cs typeface="Cambria" pitchFamily="34" charset="-120"/>
              </a:rPr>
              <a:t>Cursor for our stack: modernizing the fraud-detector profiler</a:t>
            </a:r>
            <a:endParaRPr lang="en-US" sz="3000" dirty="0"/>
          </a:p>
        </p:txBody>
      </p:sp>
      <p:sp>
        <p:nvSpPr>
          <p:cNvPr id="4" name="Shape 2"/>
          <p:cNvSpPr/>
          <p:nvPr/>
        </p:nvSpPr>
        <p:spPr>
          <a:xfrm>
            <a:off x="548640" y="1691640"/>
            <a:ext cx="11064240" cy="1024128"/>
          </a:xfrm>
          <a:prstGeom prst="roundRect">
            <a:avLst>
              <a:gd name="adj" fmla="val 8929"/>
            </a:avLst>
          </a:prstGeom>
          <a:solidFill>
            <a:srgbClr val="F0F4F8"/>
          </a:solidFill>
          <a:ln/>
          <a:effectLst>
            <a:outerShdw sx="100000" sy="100000" kx="0" ky="0" algn="bl" rotWithShape="0" blurRad="76200" dist="25400" dir="5400000">
              <a:srgbClr val="0B1F3A">
                <a:alpha val="18000"/>
              </a:srgbClr>
            </a:outerShdw>
          </a:effectLst>
        </p:spPr>
      </p:sp>
      <p:sp>
        <p:nvSpPr>
          <p:cNvPr id="5" name="Text 3"/>
          <p:cNvSpPr/>
          <p:nvPr/>
        </p:nvSpPr>
        <p:spPr>
          <a:xfrm>
            <a:off x="822960" y="1691640"/>
            <a:ext cx="2834640" cy="1024128"/>
          </a:xfrm>
          <a:prstGeom prst="rect">
            <a:avLst/>
          </a:prstGeom>
          <a:noFill/>
          <a:ln/>
        </p:spPr>
        <p:txBody>
          <a:bodyPr wrap="square" lIns="0" tIns="0" rIns="0" bIns="0" rtlCol="0" anchor="ctr"/>
          <a:lstStyle/>
          <a:p>
            <a:pPr indent="0" marL="0">
              <a:buNone/>
            </a:pPr>
            <a:r>
              <a:rPr lang="en-US" sz="1500" b="1" dirty="0">
                <a:solidFill>
                  <a:srgbClr val="0F4C75"/>
                </a:solidFill>
                <a:latin typeface="Cambria" pitchFamily="34" charset="0"/>
                <a:ea typeface="Cambria" pitchFamily="34" charset="-122"/>
                <a:cs typeface="Cambria" pitchFamily="34" charset="-120"/>
              </a:rPr>
              <a:t>Notebook → CLI</a:t>
            </a:r>
            <a:endParaRPr lang="en-US" sz="1500" dirty="0"/>
          </a:p>
        </p:txBody>
      </p:sp>
      <p:sp>
        <p:nvSpPr>
          <p:cNvPr id="6" name="Text 4"/>
          <p:cNvSpPr/>
          <p:nvPr/>
        </p:nvSpPr>
        <p:spPr>
          <a:xfrm>
            <a:off x="3794760" y="1691640"/>
            <a:ext cx="7589520" cy="1024128"/>
          </a:xfrm>
          <a:prstGeom prst="rect">
            <a:avLst/>
          </a:prstGeom>
          <a:noFill/>
          <a:ln/>
        </p:spPr>
        <p:txBody>
          <a:bodyPr wrap="square" lIns="0" tIns="0" rIns="0" bIns="0" rtlCol="0" anchor="ctr"/>
          <a:lstStyle/>
          <a:p>
            <a:pPr indent="0" marL="0">
              <a:lnSpc>
                <a:spcPct val="120000"/>
              </a:lnSpc>
              <a:buNone/>
            </a:pPr>
            <a:r>
              <a:rPr lang="en-US" sz="1250" i="1" dirty="0">
                <a:solidFill>
                  <a:srgbClr val="16233A"/>
                </a:solidFill>
                <a:latin typeface="Calibri" pitchFamily="34" charset="0"/>
                <a:ea typeface="Calibri" pitchFamily="34" charset="-122"/>
                <a:cs typeface="Calibri" pitchFamily="34" charset="-120"/>
              </a:rPr>
              <a:t>“Turn afd_profile.py and the profiling notebook into a CLI: argparse for --input/--label/--output, no notebook cells.”</a:t>
            </a:r>
            <a:endParaRPr lang="en-US" sz="1250" dirty="0"/>
          </a:p>
        </p:txBody>
      </p:sp>
      <p:sp>
        <p:nvSpPr>
          <p:cNvPr id="7" name="Shape 5"/>
          <p:cNvSpPr/>
          <p:nvPr/>
        </p:nvSpPr>
        <p:spPr>
          <a:xfrm>
            <a:off x="548640" y="2862072"/>
            <a:ext cx="11064240" cy="1024128"/>
          </a:xfrm>
          <a:prstGeom prst="roundRect">
            <a:avLst>
              <a:gd name="adj" fmla="val 8929"/>
            </a:avLst>
          </a:prstGeom>
          <a:solidFill>
            <a:srgbClr val="F0F4F8"/>
          </a:solidFill>
          <a:ln/>
          <a:effectLst>
            <a:outerShdw sx="100000" sy="100000" kx="0" ky="0" algn="bl" rotWithShape="0" blurRad="76200" dist="25400" dir="5400000">
              <a:srgbClr val="0B1F3A">
                <a:alpha val="18000"/>
              </a:srgbClr>
            </a:outerShdw>
          </a:effectLst>
        </p:spPr>
      </p:sp>
      <p:sp>
        <p:nvSpPr>
          <p:cNvPr id="8" name="Text 6"/>
          <p:cNvSpPr/>
          <p:nvPr/>
        </p:nvSpPr>
        <p:spPr>
          <a:xfrm>
            <a:off x="822960" y="2862072"/>
            <a:ext cx="2834640" cy="1024128"/>
          </a:xfrm>
          <a:prstGeom prst="rect">
            <a:avLst/>
          </a:prstGeom>
          <a:noFill/>
          <a:ln/>
        </p:spPr>
        <p:txBody>
          <a:bodyPr wrap="square" lIns="0" tIns="0" rIns="0" bIns="0" rtlCol="0" anchor="ctr"/>
          <a:lstStyle/>
          <a:p>
            <a:pPr indent="0" marL="0">
              <a:buNone/>
            </a:pPr>
            <a:r>
              <a:rPr lang="en-US" sz="1500" b="1" dirty="0">
                <a:solidFill>
                  <a:srgbClr val="0F4C75"/>
                </a:solidFill>
                <a:latin typeface="Cambria" pitchFamily="34" charset="0"/>
                <a:ea typeface="Cambria" pitchFamily="34" charset="-122"/>
                <a:cs typeface="Cambria" pitchFamily="34" charset="-120"/>
              </a:rPr>
              <a:t>Fix the pandas break</a:t>
            </a:r>
            <a:endParaRPr lang="en-US" sz="1500" dirty="0"/>
          </a:p>
        </p:txBody>
      </p:sp>
      <p:sp>
        <p:nvSpPr>
          <p:cNvPr id="9" name="Text 7"/>
          <p:cNvSpPr/>
          <p:nvPr/>
        </p:nvSpPr>
        <p:spPr>
          <a:xfrm>
            <a:off x="3794760" y="2862072"/>
            <a:ext cx="7589520" cy="1024128"/>
          </a:xfrm>
          <a:prstGeom prst="rect">
            <a:avLst/>
          </a:prstGeom>
          <a:noFill/>
          <a:ln/>
        </p:spPr>
        <p:txBody>
          <a:bodyPr wrap="square" lIns="0" tIns="0" rIns="0" bIns="0" rtlCol="0" anchor="ctr"/>
          <a:lstStyle/>
          <a:p>
            <a:pPr indent="0" marL="0">
              <a:lnSpc>
                <a:spcPct val="120000"/>
              </a:lnSpc>
              <a:buNone/>
            </a:pPr>
            <a:r>
              <a:rPr lang="en-US" sz="1250" i="1" dirty="0">
                <a:solidFill>
                  <a:srgbClr val="16233A"/>
                </a:solidFill>
                <a:latin typeface="Calibri" pitchFamily="34" charset="0"/>
                <a:ea typeface="Calibri" pitchFamily="34" charset="-122"/>
                <a:cs typeface="Calibri" pitchFamily="34" charset="-120"/>
              </a:rPr>
              <a:t>“Replace every DataFrame.append() call with pd.concat() — removed in pandas 2.0 — and add a regression test.”</a:t>
            </a:r>
            <a:endParaRPr lang="en-US" sz="1250" dirty="0"/>
          </a:p>
        </p:txBody>
      </p:sp>
      <p:sp>
        <p:nvSpPr>
          <p:cNvPr id="10" name="Shape 8"/>
          <p:cNvSpPr/>
          <p:nvPr/>
        </p:nvSpPr>
        <p:spPr>
          <a:xfrm>
            <a:off x="548640" y="4032504"/>
            <a:ext cx="11064240" cy="1024128"/>
          </a:xfrm>
          <a:prstGeom prst="roundRect">
            <a:avLst>
              <a:gd name="adj" fmla="val 8929"/>
            </a:avLst>
          </a:prstGeom>
          <a:solidFill>
            <a:srgbClr val="F0F4F8"/>
          </a:solidFill>
          <a:ln/>
          <a:effectLst>
            <a:outerShdw sx="100000" sy="100000" kx="0" ky="0" algn="bl" rotWithShape="0" blurRad="76200" dist="25400" dir="5400000">
              <a:srgbClr val="0B1F3A">
                <a:alpha val="18000"/>
              </a:srgbClr>
            </a:outerShdw>
          </a:effectLst>
        </p:spPr>
      </p:sp>
      <p:sp>
        <p:nvSpPr>
          <p:cNvPr id="11" name="Text 9"/>
          <p:cNvSpPr/>
          <p:nvPr/>
        </p:nvSpPr>
        <p:spPr>
          <a:xfrm>
            <a:off x="822960" y="4032504"/>
            <a:ext cx="2834640" cy="1024128"/>
          </a:xfrm>
          <a:prstGeom prst="rect">
            <a:avLst/>
          </a:prstGeom>
          <a:noFill/>
          <a:ln/>
        </p:spPr>
        <p:txBody>
          <a:bodyPr wrap="square" lIns="0" tIns="0" rIns="0" bIns="0" rtlCol="0" anchor="ctr"/>
          <a:lstStyle/>
          <a:p>
            <a:pPr indent="0" marL="0">
              <a:buNone/>
            </a:pPr>
            <a:r>
              <a:rPr lang="en-US" sz="1500" b="1" dirty="0">
                <a:solidFill>
                  <a:srgbClr val="0F4C75"/>
                </a:solidFill>
                <a:latin typeface="Cambria" pitchFamily="34" charset="0"/>
                <a:ea typeface="Cambria" pitchFamily="34" charset="-122"/>
                <a:cs typeface="Cambria" pitchFamily="34" charset="-120"/>
              </a:rPr>
              <a:t>Ship templates in-repo</a:t>
            </a:r>
            <a:endParaRPr lang="en-US" sz="1500" dirty="0"/>
          </a:p>
        </p:txBody>
      </p:sp>
      <p:sp>
        <p:nvSpPr>
          <p:cNvPr id="12" name="Text 10"/>
          <p:cNvSpPr/>
          <p:nvPr/>
        </p:nvSpPr>
        <p:spPr>
          <a:xfrm>
            <a:off x="3794760" y="4032504"/>
            <a:ext cx="7589520" cy="1024128"/>
          </a:xfrm>
          <a:prstGeom prst="rect">
            <a:avLst/>
          </a:prstGeom>
          <a:noFill/>
          <a:ln/>
        </p:spPr>
        <p:txBody>
          <a:bodyPr wrap="square" lIns="0" tIns="0" rIns="0" bIns="0" rtlCol="0" anchor="ctr"/>
          <a:lstStyle/>
          <a:p>
            <a:pPr indent="0" marL="0">
              <a:lnSpc>
                <a:spcPct val="120000"/>
              </a:lnSpc>
              <a:buNone/>
            </a:pPr>
            <a:r>
              <a:rPr lang="en-US" sz="1250" i="1" dirty="0">
                <a:solidFill>
                  <a:srgbClr val="16233A"/>
                </a:solidFill>
                <a:latin typeface="Calibri" pitchFamily="34" charset="0"/>
                <a:ea typeface="Calibri" pitchFamily="34" charset="-122"/>
                <a:cs typeface="Calibri" pitchFamily="34" charset="-120"/>
              </a:rPr>
              <a:t>“Stop fetching Jinja2 templates from a hardcoded GitHub URL at runtime — bundle them in the package instead.”</a:t>
            </a:r>
            <a:endParaRPr lang="en-US" sz="1250" dirty="0"/>
          </a:p>
        </p:txBody>
      </p:sp>
      <p:sp>
        <p:nvSpPr>
          <p:cNvPr id="13" name="Shape 11"/>
          <p:cNvSpPr/>
          <p:nvPr/>
        </p:nvSpPr>
        <p:spPr>
          <a:xfrm>
            <a:off x="548640" y="5202936"/>
            <a:ext cx="11064240" cy="1024128"/>
          </a:xfrm>
          <a:prstGeom prst="roundRect">
            <a:avLst>
              <a:gd name="adj" fmla="val 8929"/>
            </a:avLst>
          </a:prstGeom>
          <a:solidFill>
            <a:srgbClr val="F0F4F8"/>
          </a:solidFill>
          <a:ln/>
          <a:effectLst>
            <a:outerShdw sx="100000" sy="100000" kx="0" ky="0" algn="bl" rotWithShape="0" blurRad="76200" dist="25400" dir="5400000">
              <a:srgbClr val="0B1F3A">
                <a:alpha val="18000"/>
              </a:srgbClr>
            </a:outerShdw>
          </a:effectLst>
        </p:spPr>
      </p:sp>
      <p:sp>
        <p:nvSpPr>
          <p:cNvPr id="14" name="Text 12"/>
          <p:cNvSpPr/>
          <p:nvPr/>
        </p:nvSpPr>
        <p:spPr>
          <a:xfrm>
            <a:off x="822960" y="5202936"/>
            <a:ext cx="2834640" cy="1024128"/>
          </a:xfrm>
          <a:prstGeom prst="rect">
            <a:avLst/>
          </a:prstGeom>
          <a:noFill/>
          <a:ln/>
        </p:spPr>
        <p:txBody>
          <a:bodyPr wrap="square" lIns="0" tIns="0" rIns="0" bIns="0" rtlCol="0" anchor="ctr"/>
          <a:lstStyle/>
          <a:p>
            <a:pPr indent="0" marL="0">
              <a:buNone/>
            </a:pPr>
            <a:r>
              <a:rPr lang="en-US" sz="1500" b="1" dirty="0">
                <a:solidFill>
                  <a:srgbClr val="0F4C75"/>
                </a:solidFill>
                <a:latin typeface="Cambria" pitchFamily="34" charset="0"/>
                <a:ea typeface="Cambria" pitchFamily="34" charset="-122"/>
                <a:cs typeface="Cambria" pitchFamily="34" charset="-120"/>
              </a:rPr>
              <a:t>Smoke-test in CI</a:t>
            </a:r>
            <a:endParaRPr lang="en-US" sz="1500" dirty="0"/>
          </a:p>
        </p:txBody>
      </p:sp>
      <p:sp>
        <p:nvSpPr>
          <p:cNvPr id="15" name="Text 13"/>
          <p:cNvSpPr/>
          <p:nvPr/>
        </p:nvSpPr>
        <p:spPr>
          <a:xfrm>
            <a:off x="3794760" y="5202936"/>
            <a:ext cx="7589520" cy="1024128"/>
          </a:xfrm>
          <a:prstGeom prst="rect">
            <a:avLst/>
          </a:prstGeom>
          <a:noFill/>
          <a:ln/>
        </p:spPr>
        <p:txBody>
          <a:bodyPr wrap="square" lIns="0" tIns="0" rIns="0" bIns="0" rtlCol="0" anchor="ctr"/>
          <a:lstStyle/>
          <a:p>
            <a:pPr indent="0" marL="0">
              <a:lnSpc>
                <a:spcPct val="120000"/>
              </a:lnSpc>
              <a:buNone/>
            </a:pPr>
            <a:r>
              <a:rPr lang="en-US" sz="1250" i="1" dirty="0">
                <a:solidFill>
                  <a:srgbClr val="16233A"/>
                </a:solidFill>
                <a:latin typeface="Calibri" pitchFamily="34" charset="0"/>
                <a:ea typeface="Calibri" pitchFamily="34" charset="-122"/>
                <a:cs typeface="Calibri" pitchFamily="34" charset="-120"/>
              </a:rPr>
              <a:t>“Add a CI step that runs the CLI against a sample CSV and checks report_*.html was generated.”</a:t>
            </a:r>
            <a:endParaRPr lang="en-US" sz="1250" dirty="0"/>
          </a:p>
        </p:txBody>
      </p:sp>
      <p:sp>
        <p:nvSpPr>
          <p:cNvPr id="16" name="Text 14"/>
          <p:cNvSpPr/>
          <p:nvPr/>
        </p:nvSpPr>
        <p:spPr>
          <a:xfrm>
            <a:off x="548640" y="5989320"/>
            <a:ext cx="11064240" cy="365760"/>
          </a:xfrm>
          <a:prstGeom prst="rect">
            <a:avLst/>
          </a:prstGeom>
          <a:noFill/>
          <a:ln/>
        </p:spPr>
        <p:txBody>
          <a:bodyPr wrap="square" lIns="0" tIns="0" rIns="0" bIns="0" rtlCol="0" anchor="ctr"/>
          <a:lstStyle/>
          <a:p>
            <a:pPr indent="0" marL="0">
              <a:buNone/>
            </a:pPr>
            <a:r>
              <a:rPr lang="en-US" sz="1150" i="1" dirty="0">
                <a:solidFill>
                  <a:srgbClr val="5C6B7A"/>
                </a:solidFill>
                <a:latin typeface="Calibri" pitchFamily="34" charset="0"/>
                <a:ea typeface="Calibri" pitchFamily="34" charset="-122"/>
                <a:cs typeface="Calibri" pitchFamily="34" charset="-120"/>
              </a:rPr>
              <a:t>Based on aws-samples/aws-fraud-detector-samples — profiler/ManualNotebookSolution.</a:t>
            </a:r>
            <a:endParaRPr lang="en-US" sz="1150" dirty="0"/>
          </a:p>
        </p:txBody>
      </p:sp>
      <p:sp>
        <p:nvSpPr>
          <p:cNvPr id="17" name="Text 15"/>
          <p:cNvSpPr/>
          <p:nvPr/>
        </p:nvSpPr>
        <p:spPr>
          <a:xfrm>
            <a:off x="548640" y="6537960"/>
            <a:ext cx="5486400" cy="274320"/>
          </a:xfrm>
          <a:prstGeom prst="rect">
            <a:avLst/>
          </a:prstGeom>
          <a:noFill/>
          <a:ln/>
        </p:spPr>
        <p:txBody>
          <a:bodyPr wrap="square" lIns="0" tIns="0" rIns="0" bIns="0" rtlCol="0" anchor="ctr"/>
          <a:lstStyle/>
          <a:p>
            <a:pPr indent="0" marL="0">
              <a:buNone/>
            </a:pPr>
            <a:r>
              <a:rPr lang="en-US" sz="900" dirty="0">
                <a:solidFill>
                  <a:srgbClr val="9AA7B5"/>
                </a:solidFill>
                <a:latin typeface="Calibri" pitchFamily="34" charset="0"/>
                <a:ea typeface="Calibri" pitchFamily="34" charset="-122"/>
                <a:cs typeface="Calibri" pitchFamily="34" charset="-120"/>
              </a:rPr>
              <a:t>Cursor for Engineers</a:t>
            </a:r>
            <a:endParaRPr lang="en-US" sz="900" dirty="0"/>
          </a:p>
        </p:txBody>
      </p:sp>
      <p:sp>
        <p:nvSpPr>
          <p:cNvPr id="18" name="Text 16"/>
          <p:cNvSpPr/>
          <p:nvPr/>
        </p:nvSpPr>
        <p:spPr>
          <a:xfrm>
            <a:off x="11338560" y="6537960"/>
            <a:ext cx="365760" cy="274320"/>
          </a:xfrm>
          <a:prstGeom prst="rect">
            <a:avLst/>
          </a:prstGeom>
          <a:noFill/>
          <a:ln/>
        </p:spPr>
        <p:txBody>
          <a:bodyPr wrap="square" lIns="0" tIns="0" rIns="0" bIns="0" rtlCol="0" anchor="ctr"/>
          <a:lstStyle/>
          <a:p>
            <a:pPr algn="r" indent="0" marL="0">
              <a:buNone/>
            </a:pPr>
            <a:r>
              <a:rPr lang="en-US" sz="900" dirty="0">
                <a:solidFill>
                  <a:srgbClr val="9AA7B5"/>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lIns="0" tIns="0" rIns="0" bIns="0" rtlCol="0" anchor="ctr"/>
          <a:lstStyle/>
          <a:p>
            <a:pPr indent="0" marL="0">
              <a:buNone/>
            </a:pPr>
            <a:r>
              <a:rPr lang="en-US" sz="1300" b="1" spc="200" kern="0" dirty="0">
                <a:solidFill>
                  <a:srgbClr val="3282B8"/>
                </a:solidFill>
                <a:latin typeface="Calibri" pitchFamily="34" charset="0"/>
                <a:ea typeface="Calibri" pitchFamily="34" charset="-122"/>
                <a:cs typeface="Calibri" pitchFamily="34" charset="-120"/>
              </a:rPr>
              <a:t>WORKING WELL WITH THE AGENT</a:t>
            </a:r>
            <a:endParaRPr lang="en-US" sz="1300" dirty="0"/>
          </a:p>
        </p:txBody>
      </p:sp>
      <p:sp>
        <p:nvSpPr>
          <p:cNvPr id="3" name="Text 1"/>
          <p:cNvSpPr/>
          <p:nvPr/>
        </p:nvSpPr>
        <p:spPr>
          <a:xfrm>
            <a:off x="548640" y="731520"/>
            <a:ext cx="11064240" cy="822960"/>
          </a:xfrm>
          <a:prstGeom prst="rect">
            <a:avLst/>
          </a:prstGeom>
          <a:noFill/>
          <a:ln/>
        </p:spPr>
        <p:txBody>
          <a:bodyPr wrap="square" lIns="0" tIns="0" rIns="0" bIns="0" rtlCol="0" anchor="ctr"/>
          <a:lstStyle/>
          <a:p>
            <a:pPr indent="0" marL="0">
              <a:buNone/>
            </a:pPr>
            <a:r>
              <a:rPr lang="en-US" sz="3000" b="1" dirty="0">
                <a:solidFill>
                  <a:srgbClr val="16233A"/>
                </a:solidFill>
                <a:latin typeface="Cambria" pitchFamily="34" charset="0"/>
                <a:ea typeface="Cambria" pitchFamily="34" charset="-122"/>
                <a:cs typeface="Cambria" pitchFamily="34" charset="-120"/>
              </a:rPr>
              <a:t>Do's and don'ts</a:t>
            </a:r>
            <a:endParaRPr lang="en-US" sz="3000" dirty="0"/>
          </a:p>
        </p:txBody>
      </p:sp>
      <p:sp>
        <p:nvSpPr>
          <p:cNvPr id="4" name="Shape 2"/>
          <p:cNvSpPr/>
          <p:nvPr/>
        </p:nvSpPr>
        <p:spPr>
          <a:xfrm>
            <a:off x="548640" y="1691640"/>
            <a:ext cx="5257800" cy="4480560"/>
          </a:xfrm>
          <a:prstGeom prst="roundRect">
            <a:avLst>
              <a:gd name="adj" fmla="val 2041"/>
            </a:avLst>
          </a:prstGeom>
          <a:solidFill>
            <a:srgbClr val="F0F4F8"/>
          </a:solidFill>
          <a:ln/>
        </p:spPr>
      </p:sp>
      <p:sp>
        <p:nvSpPr>
          <p:cNvPr id="5" name="Shape 3"/>
          <p:cNvSpPr/>
          <p:nvPr/>
        </p:nvSpPr>
        <p:spPr>
          <a:xfrm>
            <a:off x="6172200" y="1691640"/>
            <a:ext cx="5257800" cy="4480560"/>
          </a:xfrm>
          <a:prstGeom prst="roundRect">
            <a:avLst>
              <a:gd name="adj" fmla="val 2041"/>
            </a:avLst>
          </a:prstGeom>
          <a:solidFill>
            <a:srgbClr val="F0F4F8"/>
          </a:solidFill>
          <a:ln/>
        </p:spPr>
      </p:sp>
      <p:sp>
        <p:nvSpPr>
          <p:cNvPr id="6" name="Text 4"/>
          <p:cNvSpPr/>
          <p:nvPr/>
        </p:nvSpPr>
        <p:spPr>
          <a:xfrm>
            <a:off x="914400" y="1965960"/>
            <a:ext cx="4526280" cy="457200"/>
          </a:xfrm>
          <a:prstGeom prst="rect">
            <a:avLst/>
          </a:prstGeom>
          <a:noFill/>
          <a:ln/>
        </p:spPr>
        <p:txBody>
          <a:bodyPr wrap="square" lIns="0" tIns="0" rIns="0" bIns="0" rtlCol="0" anchor="ctr"/>
          <a:lstStyle/>
          <a:p>
            <a:pPr indent="0" marL="0">
              <a:buNone/>
            </a:pPr>
            <a:r>
              <a:rPr lang="en-US" sz="1800" b="1" dirty="0">
                <a:solidFill>
                  <a:srgbClr val="2E9E5B"/>
                </a:solidFill>
                <a:latin typeface="Cambria" pitchFamily="34" charset="0"/>
                <a:ea typeface="Cambria" pitchFamily="34" charset="-122"/>
                <a:cs typeface="Cambria" pitchFamily="34" charset="-120"/>
              </a:rPr>
              <a:t>DO</a:t>
            </a:r>
            <a:endParaRPr lang="en-US" sz="1800" dirty="0"/>
          </a:p>
        </p:txBody>
      </p:sp>
      <p:sp>
        <p:nvSpPr>
          <p:cNvPr id="7" name="Text 5"/>
          <p:cNvSpPr/>
          <p:nvPr/>
        </p:nvSpPr>
        <p:spPr>
          <a:xfrm>
            <a:off x="6537960" y="1965960"/>
            <a:ext cx="4526280" cy="457200"/>
          </a:xfrm>
          <a:prstGeom prst="rect">
            <a:avLst/>
          </a:prstGeom>
          <a:noFill/>
          <a:ln/>
        </p:spPr>
        <p:txBody>
          <a:bodyPr wrap="square" lIns="0" tIns="0" rIns="0" bIns="0" rtlCol="0" anchor="ctr"/>
          <a:lstStyle/>
          <a:p>
            <a:pPr indent="0" marL="0">
              <a:buNone/>
            </a:pPr>
            <a:r>
              <a:rPr lang="en-US" sz="1800" b="1" dirty="0">
                <a:solidFill>
                  <a:srgbClr val="D9534F"/>
                </a:solidFill>
                <a:latin typeface="Cambria" pitchFamily="34" charset="0"/>
                <a:ea typeface="Cambria" pitchFamily="34" charset="-122"/>
                <a:cs typeface="Cambria" pitchFamily="34" charset="-120"/>
              </a:rPr>
              <a:t>AVOID</a:t>
            </a:r>
            <a:endParaRPr lang="en-US" sz="1800" dirty="0"/>
          </a:p>
        </p:txBody>
      </p:sp>
      <p:sp>
        <p:nvSpPr>
          <p:cNvPr id="8" name="Text 6"/>
          <p:cNvSpPr/>
          <p:nvPr/>
        </p:nvSpPr>
        <p:spPr>
          <a:xfrm>
            <a:off x="914400" y="2560320"/>
            <a:ext cx="4526280" cy="3291840"/>
          </a:xfrm>
          <a:prstGeom prst="rect">
            <a:avLst/>
          </a:prstGeom>
          <a:noFill/>
          <a:ln/>
        </p:spPr>
        <p:txBody>
          <a:bodyPr wrap="square" lIns="0" tIns="0" rIns="0" bIns="0" rtlCol="0" anchor="ctr"/>
          <a:lstStyle/>
          <a:p>
            <a:pPr marL="342900" indent="-342900">
              <a:lnSpc>
                <a:spcPct val="125000"/>
              </a:lnSpc>
              <a:spcAft>
                <a:spcPts val="1200"/>
              </a:spcAft>
              <a:buSzPct val="100000"/>
              <a:buChar char="•"/>
            </a:pPr>
            <a:r>
              <a:rPr lang="en-US" sz="1300" dirty="0">
                <a:solidFill>
                  <a:srgbClr val="16233A"/>
                </a:solidFill>
                <a:latin typeface="Calibri" pitchFamily="34" charset="0"/>
                <a:ea typeface="Calibri" pitchFamily="34" charset="-122"/>
                <a:cs typeface="Calibri" pitchFamily="34" charset="-120"/>
              </a:rPr>
              <a:t>Review every diff before accepting, especially in prod code paths</a:t>
            </a:r>
            <a:endParaRPr lang="en-US" sz="1300" dirty="0"/>
          </a:p>
          <a:p>
            <a:pPr marL="342900" indent="-342900">
              <a:lnSpc>
                <a:spcPct val="125000"/>
              </a:lnSpc>
              <a:spcAft>
                <a:spcPts val="1200"/>
              </a:spcAft>
              <a:buSzPct val="100000"/>
              <a:buChar char="•"/>
            </a:pPr>
            <a:r>
              <a:rPr lang="en-US" sz="1300" dirty="0">
                <a:solidFill>
                  <a:srgbClr val="16233A"/>
                </a:solidFill>
                <a:latin typeface="Calibri" pitchFamily="34" charset="0"/>
                <a:ea typeface="Calibri" pitchFamily="34" charset="-122"/>
                <a:cs typeface="Calibri" pitchFamily="34" charset="-120"/>
              </a:rPr>
              <a:t>Ground prompts with @ files, Rules, and AGENTS.md instead of re-typing context</a:t>
            </a:r>
            <a:endParaRPr lang="en-US" sz="1300" dirty="0"/>
          </a:p>
          <a:p>
            <a:pPr marL="342900" indent="-342900">
              <a:lnSpc>
                <a:spcPct val="125000"/>
              </a:lnSpc>
              <a:spcAft>
                <a:spcPts val="1200"/>
              </a:spcAft>
              <a:buSzPct val="100000"/>
              <a:buChar char="•"/>
            </a:pPr>
            <a:r>
              <a:rPr lang="en-US" sz="1300" dirty="0">
                <a:solidFill>
                  <a:srgbClr val="16233A"/>
                </a:solidFill>
                <a:latin typeface="Calibri" pitchFamily="34" charset="0"/>
                <a:ea typeface="Calibri" pitchFamily="34" charset="-122"/>
                <a:cs typeface="Calibri" pitchFamily="34" charset="-120"/>
              </a:rPr>
              <a:t>Let the Agent run tests and iterate — that's the loop working</a:t>
            </a:r>
            <a:endParaRPr lang="en-US" sz="1300" dirty="0"/>
          </a:p>
          <a:p>
            <a:pPr marL="342900" indent="-342900">
              <a:lnSpc>
                <a:spcPct val="125000"/>
              </a:lnSpc>
              <a:spcAft>
                <a:spcPts val="1200"/>
              </a:spcAft>
              <a:buSzPct val="100000"/>
              <a:buChar char="•"/>
            </a:pPr>
            <a:r>
              <a:rPr lang="en-US" sz="1300" dirty="0">
                <a:solidFill>
                  <a:srgbClr val="16233A"/>
                </a:solidFill>
                <a:latin typeface="Calibri" pitchFamily="34" charset="0"/>
                <a:ea typeface="Calibri" pitchFamily="34" charset="-122"/>
                <a:cs typeface="Calibri" pitchFamily="34" charset="-120"/>
              </a:rPr>
              <a:t>Keep secrets out via .cursorignore, never in a prompt</a:t>
            </a:r>
            <a:endParaRPr lang="en-US" sz="1300" dirty="0"/>
          </a:p>
        </p:txBody>
      </p:sp>
      <p:sp>
        <p:nvSpPr>
          <p:cNvPr id="9" name="Text 7"/>
          <p:cNvSpPr/>
          <p:nvPr/>
        </p:nvSpPr>
        <p:spPr>
          <a:xfrm>
            <a:off x="6537960" y="2560320"/>
            <a:ext cx="4526280" cy="3291840"/>
          </a:xfrm>
          <a:prstGeom prst="rect">
            <a:avLst/>
          </a:prstGeom>
          <a:noFill/>
          <a:ln/>
        </p:spPr>
        <p:txBody>
          <a:bodyPr wrap="square" lIns="0" tIns="0" rIns="0" bIns="0" rtlCol="0" anchor="ctr"/>
          <a:lstStyle/>
          <a:p>
            <a:pPr marL="342900" indent="-342900">
              <a:lnSpc>
                <a:spcPct val="125000"/>
              </a:lnSpc>
              <a:spcAft>
                <a:spcPts val="1200"/>
              </a:spcAft>
              <a:buSzPct val="100000"/>
              <a:buChar char="•"/>
            </a:pPr>
            <a:r>
              <a:rPr lang="en-US" sz="1300" dirty="0">
                <a:solidFill>
                  <a:srgbClr val="16233A"/>
                </a:solidFill>
                <a:latin typeface="Calibri" pitchFamily="34" charset="0"/>
                <a:ea typeface="Calibri" pitchFamily="34" charset="-122"/>
                <a:cs typeface="Calibri" pitchFamily="34" charset="-120"/>
              </a:rPr>
              <a:t>Accept a multi-file diff without reading it end to end</a:t>
            </a:r>
            <a:endParaRPr lang="en-US" sz="1300" dirty="0"/>
          </a:p>
          <a:p>
            <a:pPr marL="342900" indent="-342900">
              <a:lnSpc>
                <a:spcPct val="125000"/>
              </a:lnSpc>
              <a:spcAft>
                <a:spcPts val="1200"/>
              </a:spcAft>
              <a:buSzPct val="100000"/>
              <a:buChar char="•"/>
            </a:pPr>
            <a:r>
              <a:rPr lang="en-US" sz="1300" dirty="0">
                <a:solidFill>
                  <a:srgbClr val="16233A"/>
                </a:solidFill>
                <a:latin typeface="Calibri" pitchFamily="34" charset="0"/>
                <a:ea typeface="Calibri" pitchFamily="34" charset="-122"/>
                <a:cs typeface="Calibri" pitchFamily="34" charset="-120"/>
              </a:rPr>
              <a:t>Paste credentials, PII, or customer data into a prompt</a:t>
            </a:r>
            <a:endParaRPr lang="en-US" sz="1300" dirty="0"/>
          </a:p>
          <a:p>
            <a:pPr marL="342900" indent="-342900">
              <a:lnSpc>
                <a:spcPct val="125000"/>
              </a:lnSpc>
              <a:spcAft>
                <a:spcPts val="1200"/>
              </a:spcAft>
              <a:buSzPct val="100000"/>
              <a:buChar char="•"/>
            </a:pPr>
            <a:r>
              <a:rPr lang="en-US" sz="1300" dirty="0">
                <a:solidFill>
                  <a:srgbClr val="16233A"/>
                </a:solidFill>
                <a:latin typeface="Calibri" pitchFamily="34" charset="0"/>
                <a:ea typeface="Calibri" pitchFamily="34" charset="-122"/>
                <a:cs typeface="Calibri" pitchFamily="34" charset="-120"/>
              </a:rPr>
              <a:t>Treat Agent output as final — it's a draft, you're the reviewer</a:t>
            </a:r>
            <a:endParaRPr lang="en-US" sz="1300" dirty="0"/>
          </a:p>
          <a:p>
            <a:pPr marL="342900" indent="-342900">
              <a:lnSpc>
                <a:spcPct val="125000"/>
              </a:lnSpc>
              <a:spcAft>
                <a:spcPts val="1200"/>
              </a:spcAft>
              <a:buSzPct val="100000"/>
              <a:buChar char="•"/>
            </a:pPr>
            <a:r>
              <a:rPr lang="en-US" sz="1300" dirty="0">
                <a:solidFill>
                  <a:srgbClr val="16233A"/>
                </a:solidFill>
                <a:latin typeface="Calibri" pitchFamily="34" charset="0"/>
                <a:ea typeface="Calibri" pitchFamily="34" charset="-122"/>
                <a:cs typeface="Calibri" pitchFamily="34" charset="-120"/>
              </a:rPr>
              <a:t>Skip Privacy Mode when working with regulated or sensitive data</a:t>
            </a:r>
            <a:endParaRPr lang="en-US" sz="1300" dirty="0"/>
          </a:p>
        </p:txBody>
      </p:sp>
      <p:sp>
        <p:nvSpPr>
          <p:cNvPr id="10" name="Text 8"/>
          <p:cNvSpPr/>
          <p:nvPr/>
        </p:nvSpPr>
        <p:spPr>
          <a:xfrm>
            <a:off x="548640" y="6537960"/>
            <a:ext cx="5486400" cy="274320"/>
          </a:xfrm>
          <a:prstGeom prst="rect">
            <a:avLst/>
          </a:prstGeom>
          <a:noFill/>
          <a:ln/>
        </p:spPr>
        <p:txBody>
          <a:bodyPr wrap="square" lIns="0" tIns="0" rIns="0" bIns="0" rtlCol="0" anchor="ctr"/>
          <a:lstStyle/>
          <a:p>
            <a:pPr indent="0" marL="0">
              <a:buNone/>
            </a:pPr>
            <a:r>
              <a:rPr lang="en-US" sz="900" dirty="0">
                <a:solidFill>
                  <a:srgbClr val="9AA7B5"/>
                </a:solidFill>
                <a:latin typeface="Calibri" pitchFamily="34" charset="0"/>
                <a:ea typeface="Calibri" pitchFamily="34" charset="-122"/>
                <a:cs typeface="Calibri" pitchFamily="34" charset="-120"/>
              </a:rPr>
              <a:t>Cursor for Engineers</a:t>
            </a:r>
            <a:endParaRPr lang="en-US" sz="900" dirty="0"/>
          </a:p>
        </p:txBody>
      </p:sp>
      <p:sp>
        <p:nvSpPr>
          <p:cNvPr id="11" name="Text 9"/>
          <p:cNvSpPr/>
          <p:nvPr/>
        </p:nvSpPr>
        <p:spPr>
          <a:xfrm>
            <a:off x="11338560" y="6537960"/>
            <a:ext cx="365760" cy="274320"/>
          </a:xfrm>
          <a:prstGeom prst="rect">
            <a:avLst/>
          </a:prstGeom>
          <a:noFill/>
          <a:ln/>
        </p:spPr>
        <p:txBody>
          <a:bodyPr wrap="square" lIns="0" tIns="0" rIns="0" bIns="0" rtlCol="0" anchor="ctr"/>
          <a:lstStyle/>
          <a:p>
            <a:pPr algn="r" indent="0" marL="0">
              <a:buNone/>
            </a:pPr>
            <a:r>
              <a:rPr lang="en-US" sz="900" dirty="0">
                <a:solidFill>
                  <a:srgbClr val="9AA7B5"/>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lIns="0" tIns="0" rIns="0" bIns="0" rtlCol="0" anchor="ctr"/>
          <a:lstStyle/>
          <a:p>
            <a:pPr indent="0" marL="0">
              <a:buNone/>
            </a:pPr>
            <a:r>
              <a:rPr lang="en-US" sz="1300" b="1" spc="200" kern="0" dirty="0">
                <a:solidFill>
                  <a:srgbClr val="3282B8"/>
                </a:solidFill>
                <a:latin typeface="Calibri" pitchFamily="34" charset="0"/>
                <a:ea typeface="Calibri" pitchFamily="34" charset="-122"/>
                <a:cs typeface="Calibri" pitchFamily="34" charset="-120"/>
              </a:rPr>
              <a:t>YOUR FIRST WEEK</a:t>
            </a:r>
            <a:endParaRPr lang="en-US" sz="1300" dirty="0"/>
          </a:p>
        </p:txBody>
      </p:sp>
      <p:sp>
        <p:nvSpPr>
          <p:cNvPr id="3" name="Text 1"/>
          <p:cNvSpPr/>
          <p:nvPr/>
        </p:nvSpPr>
        <p:spPr>
          <a:xfrm>
            <a:off x="548640" y="731520"/>
            <a:ext cx="11064240" cy="822960"/>
          </a:xfrm>
          <a:prstGeom prst="rect">
            <a:avLst/>
          </a:prstGeom>
          <a:noFill/>
          <a:ln/>
        </p:spPr>
        <p:txBody>
          <a:bodyPr wrap="square" lIns="0" tIns="0" rIns="0" bIns="0" rtlCol="0" anchor="ctr"/>
          <a:lstStyle/>
          <a:p>
            <a:pPr indent="0" marL="0">
              <a:buNone/>
            </a:pPr>
            <a:r>
              <a:rPr lang="en-US" sz="3000" b="1" dirty="0">
                <a:solidFill>
                  <a:srgbClr val="16233A"/>
                </a:solidFill>
                <a:latin typeface="Cambria" pitchFamily="34" charset="0"/>
                <a:ea typeface="Cambria" pitchFamily="34" charset="-122"/>
                <a:cs typeface="Cambria" pitchFamily="34" charset="-120"/>
              </a:rPr>
              <a:t>Getting started: a five-day ramp-up</a:t>
            </a:r>
            <a:endParaRPr lang="en-US" sz="3000" dirty="0"/>
          </a:p>
        </p:txBody>
      </p:sp>
      <p:sp>
        <p:nvSpPr>
          <p:cNvPr id="4" name="Shape 2"/>
          <p:cNvSpPr/>
          <p:nvPr/>
        </p:nvSpPr>
        <p:spPr>
          <a:xfrm>
            <a:off x="548640" y="1691640"/>
            <a:ext cx="1371600" cy="777240"/>
          </a:xfrm>
          <a:prstGeom prst="roundRect">
            <a:avLst>
              <a:gd name="adj" fmla="val 9412"/>
            </a:avLst>
          </a:prstGeom>
          <a:solidFill>
            <a:srgbClr val="0F4C75"/>
          </a:solidFill>
          <a:ln/>
        </p:spPr>
      </p:sp>
      <p:sp>
        <p:nvSpPr>
          <p:cNvPr id="5" name="Text 3"/>
          <p:cNvSpPr/>
          <p:nvPr/>
        </p:nvSpPr>
        <p:spPr>
          <a:xfrm>
            <a:off x="548640" y="1691640"/>
            <a:ext cx="1371600" cy="7772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Day 1</a:t>
            </a:r>
            <a:endParaRPr lang="en-US" sz="1500" dirty="0"/>
          </a:p>
        </p:txBody>
      </p:sp>
      <p:sp>
        <p:nvSpPr>
          <p:cNvPr id="6" name="Shape 4"/>
          <p:cNvSpPr/>
          <p:nvPr/>
        </p:nvSpPr>
        <p:spPr>
          <a:xfrm>
            <a:off x="2057400" y="1691640"/>
            <a:ext cx="9555480" cy="777240"/>
          </a:xfrm>
          <a:prstGeom prst="roundRect">
            <a:avLst>
              <a:gd name="adj" fmla="val 9412"/>
            </a:avLst>
          </a:prstGeom>
          <a:solidFill>
            <a:srgbClr val="F0F4F8"/>
          </a:solidFill>
          <a:ln/>
        </p:spPr>
      </p:sp>
      <p:sp>
        <p:nvSpPr>
          <p:cNvPr id="7" name="Text 5"/>
          <p:cNvSpPr/>
          <p:nvPr/>
        </p:nvSpPr>
        <p:spPr>
          <a:xfrm>
            <a:off x="2331720" y="1691640"/>
            <a:ext cx="9052560" cy="777240"/>
          </a:xfrm>
          <a:prstGeom prst="rect">
            <a:avLst/>
          </a:prstGeom>
          <a:noFill/>
          <a:ln/>
        </p:spPr>
        <p:txBody>
          <a:bodyPr wrap="square" lIns="0" tIns="0" rIns="0" bIns="0" rtlCol="0" anchor="ctr"/>
          <a:lstStyle/>
          <a:p>
            <a:pPr indent="0" marL="0">
              <a:buNone/>
            </a:pPr>
            <a:r>
              <a:rPr lang="en-US" sz="1300" dirty="0">
                <a:solidFill>
                  <a:srgbClr val="16233A"/>
                </a:solidFill>
                <a:latin typeface="Calibri" pitchFamily="34" charset="0"/>
                <a:ea typeface="Calibri" pitchFamily="34" charset="-122"/>
                <a:cs typeface="Calibri" pitchFamily="34" charset="-120"/>
              </a:rPr>
              <a:t>Install Cursor, open a repo you know, try Ask mode on 3 questions you'd normally Slack a teammate</a:t>
            </a:r>
            <a:endParaRPr lang="en-US" sz="1300" dirty="0"/>
          </a:p>
        </p:txBody>
      </p:sp>
      <p:sp>
        <p:nvSpPr>
          <p:cNvPr id="8" name="Shape 6"/>
          <p:cNvSpPr/>
          <p:nvPr/>
        </p:nvSpPr>
        <p:spPr>
          <a:xfrm>
            <a:off x="548640" y="2606040"/>
            <a:ext cx="1371600" cy="777240"/>
          </a:xfrm>
          <a:prstGeom prst="roundRect">
            <a:avLst>
              <a:gd name="adj" fmla="val 9412"/>
            </a:avLst>
          </a:prstGeom>
          <a:solidFill>
            <a:srgbClr val="0F4C75"/>
          </a:solidFill>
          <a:ln/>
        </p:spPr>
      </p:sp>
      <p:sp>
        <p:nvSpPr>
          <p:cNvPr id="9" name="Text 7"/>
          <p:cNvSpPr/>
          <p:nvPr/>
        </p:nvSpPr>
        <p:spPr>
          <a:xfrm>
            <a:off x="548640" y="2606040"/>
            <a:ext cx="1371600" cy="7772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Day 2</a:t>
            </a:r>
            <a:endParaRPr lang="en-US" sz="1500" dirty="0"/>
          </a:p>
        </p:txBody>
      </p:sp>
      <p:sp>
        <p:nvSpPr>
          <p:cNvPr id="10" name="Shape 8"/>
          <p:cNvSpPr/>
          <p:nvPr/>
        </p:nvSpPr>
        <p:spPr>
          <a:xfrm>
            <a:off x="2057400" y="2606040"/>
            <a:ext cx="9555480" cy="777240"/>
          </a:xfrm>
          <a:prstGeom prst="roundRect">
            <a:avLst>
              <a:gd name="adj" fmla="val 9412"/>
            </a:avLst>
          </a:prstGeom>
          <a:solidFill>
            <a:srgbClr val="F0F4F8"/>
          </a:solidFill>
          <a:ln/>
        </p:spPr>
      </p:sp>
      <p:sp>
        <p:nvSpPr>
          <p:cNvPr id="11" name="Text 9"/>
          <p:cNvSpPr/>
          <p:nvPr/>
        </p:nvSpPr>
        <p:spPr>
          <a:xfrm>
            <a:off x="2331720" y="2606040"/>
            <a:ext cx="9052560" cy="777240"/>
          </a:xfrm>
          <a:prstGeom prst="rect">
            <a:avLst/>
          </a:prstGeom>
          <a:noFill/>
          <a:ln/>
        </p:spPr>
        <p:txBody>
          <a:bodyPr wrap="square" lIns="0" tIns="0" rIns="0" bIns="0" rtlCol="0" anchor="ctr"/>
          <a:lstStyle/>
          <a:p>
            <a:pPr indent="0" marL="0">
              <a:buNone/>
            </a:pPr>
            <a:r>
              <a:rPr lang="en-US" sz="1300" dirty="0">
                <a:solidFill>
                  <a:srgbClr val="16233A"/>
                </a:solidFill>
                <a:latin typeface="Calibri" pitchFamily="34" charset="0"/>
                <a:ea typeface="Calibri" pitchFamily="34" charset="-122"/>
                <a:cs typeface="Calibri" pitchFamily="34" charset="-120"/>
              </a:rPr>
              <a:t>Use Tab and Inline Edit for a real change; try /Explain and /Generate Tests on one function</a:t>
            </a:r>
            <a:endParaRPr lang="en-US" sz="1300" dirty="0"/>
          </a:p>
        </p:txBody>
      </p:sp>
      <p:sp>
        <p:nvSpPr>
          <p:cNvPr id="12" name="Shape 10"/>
          <p:cNvSpPr/>
          <p:nvPr/>
        </p:nvSpPr>
        <p:spPr>
          <a:xfrm>
            <a:off x="548640" y="3520440"/>
            <a:ext cx="1371600" cy="777240"/>
          </a:xfrm>
          <a:prstGeom prst="roundRect">
            <a:avLst>
              <a:gd name="adj" fmla="val 9412"/>
            </a:avLst>
          </a:prstGeom>
          <a:solidFill>
            <a:srgbClr val="0F4C75"/>
          </a:solidFill>
          <a:ln/>
        </p:spPr>
      </p:sp>
      <p:sp>
        <p:nvSpPr>
          <p:cNvPr id="13" name="Text 11"/>
          <p:cNvSpPr/>
          <p:nvPr/>
        </p:nvSpPr>
        <p:spPr>
          <a:xfrm>
            <a:off x="548640" y="3520440"/>
            <a:ext cx="1371600" cy="7772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Day 3</a:t>
            </a:r>
            <a:endParaRPr lang="en-US" sz="1500" dirty="0"/>
          </a:p>
        </p:txBody>
      </p:sp>
      <p:sp>
        <p:nvSpPr>
          <p:cNvPr id="14" name="Shape 12"/>
          <p:cNvSpPr/>
          <p:nvPr/>
        </p:nvSpPr>
        <p:spPr>
          <a:xfrm>
            <a:off x="2057400" y="3520440"/>
            <a:ext cx="9555480" cy="777240"/>
          </a:xfrm>
          <a:prstGeom prst="roundRect">
            <a:avLst>
              <a:gd name="adj" fmla="val 9412"/>
            </a:avLst>
          </a:prstGeom>
          <a:solidFill>
            <a:srgbClr val="F0F4F8"/>
          </a:solidFill>
          <a:ln/>
        </p:spPr>
      </p:sp>
      <p:sp>
        <p:nvSpPr>
          <p:cNvPr id="15" name="Text 13"/>
          <p:cNvSpPr/>
          <p:nvPr/>
        </p:nvSpPr>
        <p:spPr>
          <a:xfrm>
            <a:off x="2331720" y="3520440"/>
            <a:ext cx="9052560" cy="777240"/>
          </a:xfrm>
          <a:prstGeom prst="rect">
            <a:avLst/>
          </a:prstGeom>
          <a:noFill/>
          <a:ln/>
        </p:spPr>
        <p:txBody>
          <a:bodyPr wrap="square" lIns="0" tIns="0" rIns="0" bIns="0" rtlCol="0" anchor="ctr"/>
          <a:lstStyle/>
          <a:p>
            <a:pPr indent="0" marL="0">
              <a:buNone/>
            </a:pPr>
            <a:r>
              <a:rPr lang="en-US" sz="1300" dirty="0">
                <a:solidFill>
                  <a:srgbClr val="16233A"/>
                </a:solidFill>
                <a:latin typeface="Calibri" pitchFamily="34" charset="0"/>
                <a:ea typeface="Calibri" pitchFamily="34" charset="-122"/>
                <a:cs typeface="Calibri" pitchFamily="34" charset="-120"/>
              </a:rPr>
              <a:t>Try Plan mode on a real multi-step task — e.g. turning a script into a CLI — then let Agent execute it</a:t>
            </a:r>
            <a:endParaRPr lang="en-US" sz="1300" dirty="0"/>
          </a:p>
        </p:txBody>
      </p:sp>
      <p:sp>
        <p:nvSpPr>
          <p:cNvPr id="16" name="Shape 14"/>
          <p:cNvSpPr/>
          <p:nvPr/>
        </p:nvSpPr>
        <p:spPr>
          <a:xfrm>
            <a:off x="548640" y="4434840"/>
            <a:ext cx="1371600" cy="777240"/>
          </a:xfrm>
          <a:prstGeom prst="roundRect">
            <a:avLst>
              <a:gd name="adj" fmla="val 9412"/>
            </a:avLst>
          </a:prstGeom>
          <a:solidFill>
            <a:srgbClr val="0F4C75"/>
          </a:solidFill>
          <a:ln/>
        </p:spPr>
      </p:sp>
      <p:sp>
        <p:nvSpPr>
          <p:cNvPr id="17" name="Text 15"/>
          <p:cNvSpPr/>
          <p:nvPr/>
        </p:nvSpPr>
        <p:spPr>
          <a:xfrm>
            <a:off x="548640" y="4434840"/>
            <a:ext cx="1371600" cy="7772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Day 4</a:t>
            </a:r>
            <a:endParaRPr lang="en-US" sz="1500" dirty="0"/>
          </a:p>
        </p:txBody>
      </p:sp>
      <p:sp>
        <p:nvSpPr>
          <p:cNvPr id="18" name="Shape 16"/>
          <p:cNvSpPr/>
          <p:nvPr/>
        </p:nvSpPr>
        <p:spPr>
          <a:xfrm>
            <a:off x="2057400" y="4434840"/>
            <a:ext cx="9555480" cy="777240"/>
          </a:xfrm>
          <a:prstGeom prst="roundRect">
            <a:avLst>
              <a:gd name="adj" fmla="val 9412"/>
            </a:avLst>
          </a:prstGeom>
          <a:solidFill>
            <a:srgbClr val="F0F4F8"/>
          </a:solidFill>
          <a:ln/>
        </p:spPr>
      </p:sp>
      <p:sp>
        <p:nvSpPr>
          <p:cNvPr id="19" name="Text 17"/>
          <p:cNvSpPr/>
          <p:nvPr/>
        </p:nvSpPr>
        <p:spPr>
          <a:xfrm>
            <a:off x="2331720" y="4434840"/>
            <a:ext cx="9052560" cy="777240"/>
          </a:xfrm>
          <a:prstGeom prst="rect">
            <a:avLst/>
          </a:prstGeom>
          <a:noFill/>
          <a:ln/>
        </p:spPr>
        <p:txBody>
          <a:bodyPr wrap="square" lIns="0" tIns="0" rIns="0" bIns="0" rtlCol="0" anchor="ctr"/>
          <a:lstStyle/>
          <a:p>
            <a:pPr indent="0" marL="0">
              <a:buNone/>
            </a:pPr>
            <a:r>
              <a:rPr lang="en-US" sz="1300" dirty="0">
                <a:solidFill>
                  <a:srgbClr val="16233A"/>
                </a:solidFill>
                <a:latin typeface="Calibri" pitchFamily="34" charset="0"/>
                <a:ea typeface="Calibri" pitchFamily="34" charset="-122"/>
                <a:cs typeface="Calibri" pitchFamily="34" charset="-120"/>
              </a:rPr>
              <a:t>Write your first .cursor/rules/ file and a starter AGENTS.md for your repo</a:t>
            </a:r>
            <a:endParaRPr lang="en-US" sz="1300" dirty="0"/>
          </a:p>
        </p:txBody>
      </p:sp>
      <p:sp>
        <p:nvSpPr>
          <p:cNvPr id="20" name="Shape 18"/>
          <p:cNvSpPr/>
          <p:nvPr/>
        </p:nvSpPr>
        <p:spPr>
          <a:xfrm>
            <a:off x="548640" y="5349240"/>
            <a:ext cx="1371600" cy="777240"/>
          </a:xfrm>
          <a:prstGeom prst="roundRect">
            <a:avLst>
              <a:gd name="adj" fmla="val 9412"/>
            </a:avLst>
          </a:prstGeom>
          <a:solidFill>
            <a:srgbClr val="0F4C75"/>
          </a:solidFill>
          <a:ln/>
        </p:spPr>
      </p:sp>
      <p:sp>
        <p:nvSpPr>
          <p:cNvPr id="21" name="Text 19"/>
          <p:cNvSpPr/>
          <p:nvPr/>
        </p:nvSpPr>
        <p:spPr>
          <a:xfrm>
            <a:off x="548640" y="5349240"/>
            <a:ext cx="1371600" cy="7772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Day 5</a:t>
            </a:r>
            <a:endParaRPr lang="en-US" sz="1500" dirty="0"/>
          </a:p>
        </p:txBody>
      </p:sp>
      <p:sp>
        <p:nvSpPr>
          <p:cNvPr id="22" name="Shape 20"/>
          <p:cNvSpPr/>
          <p:nvPr/>
        </p:nvSpPr>
        <p:spPr>
          <a:xfrm>
            <a:off x="2057400" y="5349240"/>
            <a:ext cx="9555480" cy="777240"/>
          </a:xfrm>
          <a:prstGeom prst="roundRect">
            <a:avLst>
              <a:gd name="adj" fmla="val 9412"/>
            </a:avLst>
          </a:prstGeom>
          <a:solidFill>
            <a:srgbClr val="F0F4F8"/>
          </a:solidFill>
          <a:ln/>
        </p:spPr>
      </p:sp>
      <p:sp>
        <p:nvSpPr>
          <p:cNvPr id="23" name="Text 21"/>
          <p:cNvSpPr/>
          <p:nvPr/>
        </p:nvSpPr>
        <p:spPr>
          <a:xfrm>
            <a:off x="2331720" y="5349240"/>
            <a:ext cx="9052560" cy="777240"/>
          </a:xfrm>
          <a:prstGeom prst="rect">
            <a:avLst/>
          </a:prstGeom>
          <a:noFill/>
          <a:ln/>
        </p:spPr>
        <p:txBody>
          <a:bodyPr wrap="square" lIns="0" tIns="0" rIns="0" bIns="0" rtlCol="0" anchor="ctr"/>
          <a:lstStyle/>
          <a:p>
            <a:pPr indent="0" marL="0">
              <a:buNone/>
            </a:pPr>
            <a:r>
              <a:rPr lang="en-US" sz="1300" dirty="0">
                <a:solidFill>
                  <a:srgbClr val="16233A"/>
                </a:solidFill>
                <a:latin typeface="Calibri" pitchFamily="34" charset="0"/>
                <a:ea typeface="Calibri" pitchFamily="34" charset="-122"/>
                <a:cs typeface="Calibri" pitchFamily="34" charset="-120"/>
              </a:rPr>
              <a:t>Try a multi-file refactor or connect one MCP server your team already uses</a:t>
            </a:r>
            <a:endParaRPr lang="en-US" sz="1300" dirty="0"/>
          </a:p>
        </p:txBody>
      </p:sp>
      <p:sp>
        <p:nvSpPr>
          <p:cNvPr id="24" name="Text 22"/>
          <p:cNvSpPr/>
          <p:nvPr/>
        </p:nvSpPr>
        <p:spPr>
          <a:xfrm>
            <a:off x="548640" y="6537960"/>
            <a:ext cx="5486400" cy="274320"/>
          </a:xfrm>
          <a:prstGeom prst="rect">
            <a:avLst/>
          </a:prstGeom>
          <a:noFill/>
          <a:ln/>
        </p:spPr>
        <p:txBody>
          <a:bodyPr wrap="square" lIns="0" tIns="0" rIns="0" bIns="0" rtlCol="0" anchor="ctr"/>
          <a:lstStyle/>
          <a:p>
            <a:pPr indent="0" marL="0">
              <a:buNone/>
            </a:pPr>
            <a:r>
              <a:rPr lang="en-US" sz="900" dirty="0">
                <a:solidFill>
                  <a:srgbClr val="9AA7B5"/>
                </a:solidFill>
                <a:latin typeface="Calibri" pitchFamily="34" charset="0"/>
                <a:ea typeface="Calibri" pitchFamily="34" charset="-122"/>
                <a:cs typeface="Calibri" pitchFamily="34" charset="-120"/>
              </a:rPr>
              <a:t>Cursor for Engineers</a:t>
            </a:r>
            <a:endParaRPr lang="en-US" sz="900" dirty="0"/>
          </a:p>
        </p:txBody>
      </p:sp>
      <p:sp>
        <p:nvSpPr>
          <p:cNvPr id="25" name="Text 23"/>
          <p:cNvSpPr/>
          <p:nvPr/>
        </p:nvSpPr>
        <p:spPr>
          <a:xfrm>
            <a:off x="11338560" y="6537960"/>
            <a:ext cx="365760" cy="274320"/>
          </a:xfrm>
          <a:prstGeom prst="rect">
            <a:avLst/>
          </a:prstGeom>
          <a:noFill/>
          <a:ln/>
        </p:spPr>
        <p:txBody>
          <a:bodyPr wrap="square" lIns="0" tIns="0" rIns="0" bIns="0" rtlCol="0" anchor="ctr"/>
          <a:lstStyle/>
          <a:p>
            <a:pPr algn="r" indent="0" marL="0">
              <a:buNone/>
            </a:pPr>
            <a:r>
              <a:rPr lang="en-US" sz="900" dirty="0">
                <a:solidFill>
                  <a:srgbClr val="9AA7B5"/>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lIns="0" tIns="0" rIns="0" bIns="0" rtlCol="0" anchor="ctr"/>
          <a:lstStyle/>
          <a:p>
            <a:pPr indent="0" marL="0">
              <a:buNone/>
            </a:pPr>
            <a:r>
              <a:rPr lang="en-US" sz="1300" b="1" spc="200" kern="0" dirty="0">
                <a:solidFill>
                  <a:srgbClr val="3282B8"/>
                </a:solidFill>
                <a:latin typeface="Calibri" pitchFamily="34" charset="0"/>
                <a:ea typeface="Calibri" pitchFamily="34" charset="-122"/>
                <a:cs typeface="Calibri" pitchFamily="34" charset="-120"/>
              </a:rPr>
              <a:t>CONGRATULATIONS</a:t>
            </a:r>
            <a:endParaRPr lang="en-US" sz="1300" dirty="0"/>
          </a:p>
        </p:txBody>
      </p:sp>
      <p:sp>
        <p:nvSpPr>
          <p:cNvPr id="3" name="Text 1"/>
          <p:cNvSpPr/>
          <p:nvPr/>
        </p:nvSpPr>
        <p:spPr>
          <a:xfrm>
            <a:off x="548640" y="731520"/>
            <a:ext cx="11064240" cy="822960"/>
          </a:xfrm>
          <a:prstGeom prst="rect">
            <a:avLst/>
          </a:prstGeom>
          <a:noFill/>
          <a:ln/>
        </p:spPr>
        <p:txBody>
          <a:bodyPr wrap="square" lIns="0" tIns="0" rIns="0" bIns="0" rtlCol="0" anchor="ctr"/>
          <a:lstStyle/>
          <a:p>
            <a:pPr indent="0" marL="0">
              <a:buNone/>
            </a:pPr>
            <a:r>
              <a:rPr lang="en-US" sz="3000" b="1" dirty="0">
                <a:solidFill>
                  <a:srgbClr val="16233A"/>
                </a:solidFill>
                <a:latin typeface="Cambria" pitchFamily="34" charset="0"/>
                <a:ea typeface="Cambria" pitchFamily="34" charset="-122"/>
                <a:cs typeface="Cambria" pitchFamily="34" charset="-120"/>
              </a:rPr>
              <a:t>From first steps to a true coding partner</a:t>
            </a:r>
            <a:endParaRPr lang="en-US" sz="3000" dirty="0"/>
          </a:p>
        </p:txBody>
      </p:sp>
      <p:sp>
        <p:nvSpPr>
          <p:cNvPr id="4" name="Text 2"/>
          <p:cNvSpPr/>
          <p:nvPr/>
        </p:nvSpPr>
        <p:spPr>
          <a:xfrm>
            <a:off x="548640" y="1371600"/>
            <a:ext cx="11064240" cy="365760"/>
          </a:xfrm>
          <a:prstGeom prst="rect">
            <a:avLst/>
          </a:prstGeom>
          <a:noFill/>
          <a:ln/>
        </p:spPr>
        <p:txBody>
          <a:bodyPr wrap="square" lIns="0" tIns="0" rIns="0" bIns="0" rtlCol="0" anchor="ctr"/>
          <a:lstStyle/>
          <a:p>
            <a:pPr indent="0" marL="0">
              <a:buNone/>
            </a:pPr>
            <a:r>
              <a:rPr lang="en-US" sz="1400" i="1" dirty="0">
                <a:solidFill>
                  <a:srgbClr val="5C6B7A"/>
                </a:solidFill>
                <a:latin typeface="Calibri" pitchFamily="34" charset="0"/>
                <a:ea typeface="Calibri" pitchFamily="34" charset="-122"/>
                <a:cs typeface="Calibri" pitchFamily="34" charset="-120"/>
              </a:rPr>
              <a:t>Together we've covered a lot — here's the arc, chapter by chapter.</a:t>
            </a:r>
            <a:endParaRPr lang="en-US" sz="1400" dirty="0"/>
          </a:p>
        </p:txBody>
      </p:sp>
      <p:sp>
        <p:nvSpPr>
          <p:cNvPr id="5" name="Shape 3"/>
          <p:cNvSpPr/>
          <p:nvPr/>
        </p:nvSpPr>
        <p:spPr>
          <a:xfrm>
            <a:off x="548640" y="1920240"/>
            <a:ext cx="3520440" cy="4251960"/>
          </a:xfrm>
          <a:prstGeom prst="roundRect">
            <a:avLst>
              <a:gd name="adj" fmla="val 2597"/>
            </a:avLst>
          </a:prstGeom>
          <a:solidFill>
            <a:srgbClr val="F0F4F8"/>
          </a:solidFill>
          <a:ln/>
          <a:effectLst>
            <a:outerShdw sx="100000" sy="100000" kx="0" ky="0" algn="bl" rotWithShape="0" blurRad="76200" dist="25400" dir="5400000">
              <a:srgbClr val="0B1F3A">
                <a:alpha val="18000"/>
              </a:srgbClr>
            </a:outerShdw>
          </a:effectLst>
        </p:spPr>
      </p:sp>
      <p:sp>
        <p:nvSpPr>
          <p:cNvPr id="6" name="Text 4"/>
          <p:cNvSpPr/>
          <p:nvPr/>
        </p:nvSpPr>
        <p:spPr>
          <a:xfrm>
            <a:off x="822960" y="2194560"/>
            <a:ext cx="2971800" cy="685800"/>
          </a:xfrm>
          <a:prstGeom prst="rect">
            <a:avLst/>
          </a:prstGeom>
          <a:noFill/>
          <a:ln/>
        </p:spPr>
        <p:txBody>
          <a:bodyPr wrap="square" lIns="0" tIns="0" rIns="0" bIns="0" rtlCol="0" anchor="ctr"/>
          <a:lstStyle/>
          <a:p>
            <a:pPr indent="0" marL="0">
              <a:lnSpc>
                <a:spcPct val="110000"/>
              </a:lnSpc>
              <a:buNone/>
            </a:pPr>
            <a:r>
              <a:rPr lang="en-US" sz="1550" b="1" dirty="0">
                <a:solidFill>
                  <a:srgbClr val="0F4C75"/>
                </a:solidFill>
                <a:latin typeface="Cambria" pitchFamily="34" charset="0"/>
                <a:ea typeface="Cambria" pitchFamily="34" charset="-122"/>
                <a:cs typeface="Cambria" pitchFamily="34" charset="-120"/>
              </a:rPr>
              <a:t>Chapter 1 — Foundations</a:t>
            </a:r>
            <a:endParaRPr lang="en-US" sz="1550" dirty="0"/>
          </a:p>
        </p:txBody>
      </p:sp>
      <p:sp>
        <p:nvSpPr>
          <p:cNvPr id="7" name="Text 5"/>
          <p:cNvSpPr/>
          <p:nvPr/>
        </p:nvSpPr>
        <p:spPr>
          <a:xfrm>
            <a:off x="822960" y="2971800"/>
            <a:ext cx="2971800" cy="3017520"/>
          </a:xfrm>
          <a:prstGeom prst="rect">
            <a:avLst/>
          </a:prstGeom>
          <a:noFill/>
          <a:ln/>
        </p:spPr>
        <p:txBody>
          <a:bodyPr wrap="square" lIns="0" tIns="0" rIns="0" bIns="0" rtlCol="0" anchor="ctr"/>
          <a:lstStyle/>
          <a:p>
            <a:pPr marL="342900" indent="-342900">
              <a:lnSpc>
                <a:spcPct val="125000"/>
              </a:lnSpc>
              <a:spcAft>
                <a:spcPts val="1200"/>
              </a:spcAft>
              <a:buSzPct val="100000"/>
              <a:buChar char="✓"/>
            </a:pPr>
            <a:r>
              <a:rPr lang="en-US" sz="1150" dirty="0">
                <a:solidFill>
                  <a:srgbClr val="16233A"/>
                </a:solidFill>
                <a:latin typeface="Calibri" pitchFamily="34" charset="0"/>
                <a:ea typeface="Calibri" pitchFamily="34" charset="-122"/>
                <a:cs typeface="Calibri" pitchFamily="34" charset="-120"/>
              </a:rPr>
              <a:t>Views, choosing a model, Tab, Inline Edit, and Agent Chat</a:t>
            </a:r>
            <a:endParaRPr lang="en-US" sz="1150" dirty="0"/>
          </a:p>
          <a:p>
            <a:pPr marL="342900" indent="-342900">
              <a:lnSpc>
                <a:spcPct val="125000"/>
              </a:lnSpc>
              <a:spcAft>
                <a:spcPts val="1200"/>
              </a:spcAft>
              <a:buSzPct val="100000"/>
              <a:buChar char="✓"/>
            </a:pPr>
            <a:r>
              <a:rPr lang="en-US" sz="1150" dirty="0">
                <a:solidFill>
                  <a:srgbClr val="16233A"/>
                </a:solidFill>
                <a:latin typeface="Calibri" pitchFamily="34" charset="0"/>
                <a:ea typeface="Calibri" pitchFamily="34" charset="-122"/>
                <a:cs typeface="Calibri" pitchFamily="34" charset="-120"/>
              </a:rPr>
              <a:t>Ask, Plan, and Agent modes — deep dives on each, plus writing a spec</a:t>
            </a:r>
            <a:endParaRPr lang="en-US" sz="1150" dirty="0"/>
          </a:p>
          <a:p>
            <a:pPr marL="342900" indent="-342900">
              <a:lnSpc>
                <a:spcPct val="125000"/>
              </a:lnSpc>
              <a:spcAft>
                <a:spcPts val="1200"/>
              </a:spcAft>
              <a:buSzPct val="100000"/>
              <a:buChar char="✓"/>
            </a:pPr>
            <a:r>
              <a:rPr lang="en-US" sz="1150" dirty="0">
                <a:solidFill>
                  <a:srgbClr val="16233A"/>
                </a:solidFill>
                <a:latin typeface="Calibri" pitchFamily="34" charset="0"/>
                <a:ea typeface="Calibri" pitchFamily="34" charset="-122"/>
                <a:cs typeface="Calibri" pitchFamily="34" charset="-120"/>
              </a:rPr>
              <a:t>Shaping behavior with Rules, AGENTS.md, and Memory</a:t>
            </a:r>
            <a:endParaRPr lang="en-US" sz="1150" dirty="0"/>
          </a:p>
        </p:txBody>
      </p:sp>
      <p:sp>
        <p:nvSpPr>
          <p:cNvPr id="8" name="Shape 6"/>
          <p:cNvSpPr/>
          <p:nvPr/>
        </p:nvSpPr>
        <p:spPr>
          <a:xfrm>
            <a:off x="4389120" y="1920240"/>
            <a:ext cx="3520440" cy="4251960"/>
          </a:xfrm>
          <a:prstGeom prst="roundRect">
            <a:avLst>
              <a:gd name="adj" fmla="val 2597"/>
            </a:avLst>
          </a:prstGeom>
          <a:solidFill>
            <a:srgbClr val="F0F4F8"/>
          </a:solidFill>
          <a:ln/>
          <a:effectLst>
            <a:outerShdw sx="100000" sy="100000" kx="0" ky="0" algn="bl" rotWithShape="0" blurRad="76200" dist="25400" dir="5400000">
              <a:srgbClr val="0B1F3A">
                <a:alpha val="18000"/>
              </a:srgbClr>
            </a:outerShdw>
          </a:effectLst>
        </p:spPr>
      </p:sp>
      <p:sp>
        <p:nvSpPr>
          <p:cNvPr id="9" name="Text 7"/>
          <p:cNvSpPr/>
          <p:nvPr/>
        </p:nvSpPr>
        <p:spPr>
          <a:xfrm>
            <a:off x="4663440" y="2194560"/>
            <a:ext cx="2971800" cy="685800"/>
          </a:xfrm>
          <a:prstGeom prst="rect">
            <a:avLst/>
          </a:prstGeom>
          <a:noFill/>
          <a:ln/>
        </p:spPr>
        <p:txBody>
          <a:bodyPr wrap="square" lIns="0" tIns="0" rIns="0" bIns="0" rtlCol="0" anchor="ctr"/>
          <a:lstStyle/>
          <a:p>
            <a:pPr indent="0" marL="0">
              <a:lnSpc>
                <a:spcPct val="110000"/>
              </a:lnSpc>
              <a:buNone/>
            </a:pPr>
            <a:r>
              <a:rPr lang="en-US" sz="1550" b="1" dirty="0">
                <a:solidFill>
                  <a:srgbClr val="0F4C75"/>
                </a:solidFill>
                <a:latin typeface="Cambria" pitchFamily="34" charset="0"/>
                <a:ea typeface="Cambria" pitchFamily="34" charset="-122"/>
                <a:cs typeface="Cambria" pitchFamily="34" charset="-120"/>
              </a:rPr>
              <a:t>Chapter 2 — Production Workflows</a:t>
            </a:r>
            <a:endParaRPr lang="en-US" sz="1550" dirty="0"/>
          </a:p>
        </p:txBody>
      </p:sp>
      <p:sp>
        <p:nvSpPr>
          <p:cNvPr id="10" name="Text 8"/>
          <p:cNvSpPr/>
          <p:nvPr/>
        </p:nvSpPr>
        <p:spPr>
          <a:xfrm>
            <a:off x="4663440" y="2971800"/>
            <a:ext cx="2971800" cy="3017520"/>
          </a:xfrm>
          <a:prstGeom prst="rect">
            <a:avLst/>
          </a:prstGeom>
          <a:noFill/>
          <a:ln/>
        </p:spPr>
        <p:txBody>
          <a:bodyPr wrap="square" lIns="0" tIns="0" rIns="0" bIns="0" rtlCol="0" anchor="ctr"/>
          <a:lstStyle/>
          <a:p>
            <a:pPr marL="342900" indent="-342900">
              <a:lnSpc>
                <a:spcPct val="125000"/>
              </a:lnSpc>
              <a:spcAft>
                <a:spcPts val="1200"/>
              </a:spcAft>
              <a:buSzPct val="100000"/>
              <a:buChar char="✓"/>
            </a:pPr>
            <a:r>
              <a:rPr lang="en-US" sz="1150" dirty="0">
                <a:solidFill>
                  <a:srgbClr val="16233A"/>
                </a:solidFill>
                <a:latin typeface="Calibri" pitchFamily="34" charset="0"/>
                <a:ea typeface="Calibri" pitchFamily="34" charset="-122"/>
                <a:cs typeface="Calibri" pitchFamily="34" charset="-120"/>
              </a:rPr>
              <a:t>@ references to ground responses in files, docs, and folders</a:t>
            </a:r>
            <a:endParaRPr lang="en-US" sz="1150" dirty="0"/>
          </a:p>
          <a:p>
            <a:pPr marL="342900" indent="-342900">
              <a:lnSpc>
                <a:spcPct val="125000"/>
              </a:lnSpc>
              <a:spcAft>
                <a:spcPts val="1200"/>
              </a:spcAft>
              <a:buSzPct val="100000"/>
              <a:buChar char="✓"/>
            </a:pPr>
            <a:r>
              <a:rPr lang="en-US" sz="1150" dirty="0">
                <a:solidFill>
                  <a:srgbClr val="16233A"/>
                </a:solidFill>
                <a:latin typeface="Calibri" pitchFamily="34" charset="0"/>
                <a:ea typeface="Calibri" pitchFamily="34" charset="-122"/>
                <a:cs typeface="Calibri" pitchFamily="34" charset="-120"/>
              </a:rPr>
              <a:t>TDD for small, testable goals — tests as the safety net</a:t>
            </a:r>
            <a:endParaRPr lang="en-US" sz="1150" dirty="0"/>
          </a:p>
          <a:p>
            <a:pPr marL="342900" indent="-342900">
              <a:lnSpc>
                <a:spcPct val="125000"/>
              </a:lnSpc>
              <a:spcAft>
                <a:spcPts val="1200"/>
              </a:spcAft>
              <a:buSzPct val="100000"/>
              <a:buChar char="✓"/>
            </a:pPr>
            <a:r>
              <a:rPr lang="en-US" sz="1150" dirty="0">
                <a:solidFill>
                  <a:srgbClr val="16233A"/>
                </a:solidFill>
                <a:latin typeface="Calibri" pitchFamily="34" charset="0"/>
                <a:ea typeface="Calibri" pitchFamily="34" charset="-122"/>
                <a:cs typeface="Calibri" pitchFamily="34" charset="-120"/>
              </a:rPr>
              <a:t>Multi-file changes as one diff, and debugging with logs &amp; screenshots</a:t>
            </a:r>
            <a:endParaRPr lang="en-US" sz="1150" dirty="0"/>
          </a:p>
        </p:txBody>
      </p:sp>
      <p:sp>
        <p:nvSpPr>
          <p:cNvPr id="11" name="Shape 9"/>
          <p:cNvSpPr/>
          <p:nvPr/>
        </p:nvSpPr>
        <p:spPr>
          <a:xfrm>
            <a:off x="8229600" y="1920240"/>
            <a:ext cx="3520440" cy="4251960"/>
          </a:xfrm>
          <a:prstGeom prst="roundRect">
            <a:avLst>
              <a:gd name="adj" fmla="val 2597"/>
            </a:avLst>
          </a:prstGeom>
          <a:solidFill>
            <a:srgbClr val="F0F4F8"/>
          </a:solidFill>
          <a:ln/>
          <a:effectLst>
            <a:outerShdw sx="100000" sy="100000" kx="0" ky="0" algn="bl" rotWithShape="0" blurRad="76200" dist="25400" dir="5400000">
              <a:srgbClr val="0B1F3A">
                <a:alpha val="18000"/>
              </a:srgbClr>
            </a:outerShdw>
          </a:effectLst>
        </p:spPr>
      </p:sp>
      <p:sp>
        <p:nvSpPr>
          <p:cNvPr id="12" name="Text 10"/>
          <p:cNvSpPr/>
          <p:nvPr/>
        </p:nvSpPr>
        <p:spPr>
          <a:xfrm>
            <a:off x="8503920" y="2194560"/>
            <a:ext cx="2971800" cy="685800"/>
          </a:xfrm>
          <a:prstGeom prst="rect">
            <a:avLst/>
          </a:prstGeom>
          <a:noFill/>
          <a:ln/>
        </p:spPr>
        <p:txBody>
          <a:bodyPr wrap="square" lIns="0" tIns="0" rIns="0" bIns="0" rtlCol="0" anchor="ctr"/>
          <a:lstStyle/>
          <a:p>
            <a:pPr indent="0" marL="0">
              <a:lnSpc>
                <a:spcPct val="110000"/>
              </a:lnSpc>
              <a:buNone/>
            </a:pPr>
            <a:r>
              <a:rPr lang="en-US" sz="1550" b="1" dirty="0">
                <a:solidFill>
                  <a:srgbClr val="0F4C75"/>
                </a:solidFill>
                <a:latin typeface="Cambria" pitchFamily="34" charset="0"/>
                <a:ea typeface="Cambria" pitchFamily="34" charset="-122"/>
                <a:cs typeface="Cambria" pitchFamily="34" charset="-120"/>
              </a:rPr>
              <a:t>Chapter 3 — Scaling &amp; Security</a:t>
            </a:r>
            <a:endParaRPr lang="en-US" sz="1550" dirty="0"/>
          </a:p>
        </p:txBody>
      </p:sp>
      <p:sp>
        <p:nvSpPr>
          <p:cNvPr id="13" name="Text 11"/>
          <p:cNvSpPr/>
          <p:nvPr/>
        </p:nvSpPr>
        <p:spPr>
          <a:xfrm>
            <a:off x="8503920" y="2971800"/>
            <a:ext cx="2971800" cy="3017520"/>
          </a:xfrm>
          <a:prstGeom prst="rect">
            <a:avLst/>
          </a:prstGeom>
          <a:noFill/>
          <a:ln/>
        </p:spPr>
        <p:txBody>
          <a:bodyPr wrap="square" lIns="0" tIns="0" rIns="0" bIns="0" rtlCol="0" anchor="ctr"/>
          <a:lstStyle/>
          <a:p>
            <a:pPr marL="342900" indent="-342900">
              <a:lnSpc>
                <a:spcPct val="125000"/>
              </a:lnSpc>
              <a:spcAft>
                <a:spcPts val="1200"/>
              </a:spcAft>
              <a:buSzPct val="100000"/>
              <a:buChar char="✓"/>
            </a:pPr>
            <a:r>
              <a:rPr lang="en-US" sz="1150" dirty="0">
                <a:solidFill>
                  <a:srgbClr val="16233A"/>
                </a:solidFill>
                <a:latin typeface="Calibri" pitchFamily="34" charset="0"/>
                <a:ea typeface="Calibri" pitchFamily="34" charset="-122"/>
                <a:cs typeface="Calibri" pitchFamily="34" charset="-120"/>
              </a:rPr>
              <a:t>Git: staging, AI-drafted commits, and conflict resolution</a:t>
            </a:r>
            <a:endParaRPr lang="en-US" sz="1150" dirty="0"/>
          </a:p>
          <a:p>
            <a:pPr marL="342900" indent="-342900">
              <a:lnSpc>
                <a:spcPct val="125000"/>
              </a:lnSpc>
              <a:spcAft>
                <a:spcPts val="1200"/>
              </a:spcAft>
              <a:buSzPct val="100000"/>
              <a:buChar char="✓"/>
            </a:pPr>
            <a:r>
              <a:rPr lang="en-US" sz="1150" dirty="0">
                <a:solidFill>
                  <a:srgbClr val="16233A"/>
                </a:solidFill>
                <a:latin typeface="Calibri" pitchFamily="34" charset="0"/>
                <a:ea typeface="Calibri" pitchFamily="34" charset="-122"/>
                <a:cs typeface="Calibri" pitchFamily="34" charset="-120"/>
              </a:rPr>
              <a:t>Secrets protected with .cursorignore and Privacy Mode</a:t>
            </a:r>
            <a:endParaRPr lang="en-US" sz="1150" dirty="0"/>
          </a:p>
          <a:p>
            <a:pPr marL="342900" indent="-342900">
              <a:lnSpc>
                <a:spcPct val="125000"/>
              </a:lnSpc>
              <a:spcAft>
                <a:spcPts val="1200"/>
              </a:spcAft>
              <a:buSzPct val="100000"/>
              <a:buChar char="✓"/>
            </a:pPr>
            <a:r>
              <a:rPr lang="en-US" sz="1150" dirty="0">
                <a:solidFill>
                  <a:srgbClr val="16233A"/>
                </a:solidFill>
                <a:latin typeface="Calibri" pitchFamily="34" charset="0"/>
                <a:ea typeface="Calibri" pitchFamily="34" charset="-122"/>
                <a:cs typeface="Calibri" pitchFamily="34" charset="-120"/>
              </a:rPr>
              <a:t>Agent Window, Composer, parallel agents, Max Mode, and MCP servers</a:t>
            </a:r>
            <a:endParaRPr lang="en-US" sz="1150" dirty="0"/>
          </a:p>
        </p:txBody>
      </p:sp>
      <p:sp>
        <p:nvSpPr>
          <p:cNvPr id="14" name="Text 12"/>
          <p:cNvSpPr/>
          <p:nvPr/>
        </p:nvSpPr>
        <p:spPr>
          <a:xfrm>
            <a:off x="548640" y="6537960"/>
            <a:ext cx="5486400" cy="274320"/>
          </a:xfrm>
          <a:prstGeom prst="rect">
            <a:avLst/>
          </a:prstGeom>
          <a:noFill/>
          <a:ln/>
        </p:spPr>
        <p:txBody>
          <a:bodyPr wrap="square" lIns="0" tIns="0" rIns="0" bIns="0" rtlCol="0" anchor="ctr"/>
          <a:lstStyle/>
          <a:p>
            <a:pPr indent="0" marL="0">
              <a:buNone/>
            </a:pPr>
            <a:r>
              <a:rPr lang="en-US" sz="900" dirty="0">
                <a:solidFill>
                  <a:srgbClr val="9AA7B5"/>
                </a:solidFill>
                <a:latin typeface="Calibri" pitchFamily="34" charset="0"/>
                <a:ea typeface="Calibri" pitchFamily="34" charset="-122"/>
                <a:cs typeface="Calibri" pitchFamily="34" charset="-120"/>
              </a:rPr>
              <a:t>Cursor for Engineers</a:t>
            </a:r>
            <a:endParaRPr lang="en-US" sz="900" dirty="0"/>
          </a:p>
        </p:txBody>
      </p:sp>
      <p:sp>
        <p:nvSpPr>
          <p:cNvPr id="15" name="Text 13"/>
          <p:cNvSpPr/>
          <p:nvPr/>
        </p:nvSpPr>
        <p:spPr>
          <a:xfrm>
            <a:off x="11338560" y="6537960"/>
            <a:ext cx="365760" cy="274320"/>
          </a:xfrm>
          <a:prstGeom prst="rect">
            <a:avLst/>
          </a:prstGeom>
          <a:noFill/>
          <a:ln/>
        </p:spPr>
        <p:txBody>
          <a:bodyPr wrap="square" lIns="0" tIns="0" rIns="0" bIns="0" rtlCol="0" anchor="ctr"/>
          <a:lstStyle/>
          <a:p>
            <a:pPr algn="r" indent="0" marL="0">
              <a:buNone/>
            </a:pPr>
            <a:r>
              <a:rPr lang="en-US" sz="900" dirty="0">
                <a:solidFill>
                  <a:srgbClr val="9AA7B5"/>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F3A"/>
          </a:solidFill>
          <a:ln/>
        </p:spPr>
      </p:sp>
      <p:sp>
        <p:nvSpPr>
          <p:cNvPr id="3" name="Text 1"/>
          <p:cNvSpPr/>
          <p:nvPr/>
        </p:nvSpPr>
        <p:spPr>
          <a:xfrm>
            <a:off x="9418320" y="274320"/>
            <a:ext cx="2743200" cy="2011680"/>
          </a:xfrm>
          <a:prstGeom prst="rect">
            <a:avLst/>
          </a:prstGeom>
          <a:noFill/>
          <a:ln/>
        </p:spPr>
        <p:txBody>
          <a:bodyPr wrap="square" lIns="0" tIns="0" rIns="0" bIns="0" rtlCol="0" anchor="ctr"/>
          <a:lstStyle/>
          <a:p>
            <a:pPr indent="0" marL="0">
              <a:buNone/>
            </a:pPr>
            <a:r>
              <a:rPr lang="en-US" sz="12000" b="1" dirty="0">
                <a:solidFill>
                  <a:srgbClr val="132A4C"/>
                </a:solidFill>
                <a:latin typeface="Courier New" pitchFamily="34" charset="0"/>
                <a:ea typeface="Courier New" pitchFamily="34" charset="-122"/>
                <a:cs typeface="Courier New" pitchFamily="34" charset="-120"/>
              </a:rPr>
              <a:t>{ }</a:t>
            </a:r>
            <a:endParaRPr lang="en-US" sz="12000" dirty="0"/>
          </a:p>
        </p:txBody>
      </p:sp>
      <p:sp>
        <p:nvSpPr>
          <p:cNvPr id="4" name="Text 2"/>
          <p:cNvSpPr/>
          <p:nvPr/>
        </p:nvSpPr>
        <p:spPr>
          <a:xfrm>
            <a:off x="822960" y="1463040"/>
            <a:ext cx="5486400" cy="457200"/>
          </a:xfrm>
          <a:prstGeom prst="rect">
            <a:avLst/>
          </a:prstGeom>
          <a:noFill/>
          <a:ln/>
        </p:spPr>
        <p:txBody>
          <a:bodyPr wrap="square" lIns="0" tIns="0" rIns="0" bIns="0" rtlCol="0" anchor="ctr"/>
          <a:lstStyle/>
          <a:p>
            <a:pPr indent="0" marL="0">
              <a:buNone/>
            </a:pPr>
            <a:r>
              <a:rPr lang="en-US" sz="1500" b="1" spc="300" kern="0" dirty="0">
                <a:solidFill>
                  <a:srgbClr val="F2A541"/>
                </a:solidFill>
                <a:latin typeface="Calibri" pitchFamily="34" charset="0"/>
                <a:ea typeface="Calibri" pitchFamily="34" charset="-122"/>
                <a:cs typeface="Calibri" pitchFamily="34" charset="-120"/>
              </a:rPr>
              <a:t>QUESTIONS?</a:t>
            </a:r>
            <a:endParaRPr lang="en-US" sz="1500" dirty="0"/>
          </a:p>
        </p:txBody>
      </p:sp>
      <p:sp>
        <p:nvSpPr>
          <p:cNvPr id="5" name="Text 3"/>
          <p:cNvSpPr/>
          <p:nvPr/>
        </p:nvSpPr>
        <p:spPr>
          <a:xfrm>
            <a:off x="822960" y="1920240"/>
            <a:ext cx="9144000" cy="100584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Let's build the loop together</a:t>
            </a:r>
            <a:endParaRPr lang="en-US" sz="3800" dirty="0"/>
          </a:p>
        </p:txBody>
      </p:sp>
      <p:sp>
        <p:nvSpPr>
          <p:cNvPr id="6" name="Text 4"/>
          <p:cNvSpPr/>
          <p:nvPr/>
        </p:nvSpPr>
        <p:spPr>
          <a:xfrm>
            <a:off x="822960" y="3291840"/>
            <a:ext cx="7315200" cy="2194560"/>
          </a:xfrm>
          <a:prstGeom prst="rect">
            <a:avLst/>
          </a:prstGeom>
          <a:noFill/>
          <a:ln/>
        </p:spPr>
        <p:txBody>
          <a:bodyPr wrap="square" lIns="0" tIns="0" rIns="0" bIns="0" rtlCol="0" anchor="ctr"/>
          <a:lstStyle/>
          <a:p>
            <a:pPr marL="342900" indent="-342900">
              <a:spcAft>
                <a:spcPts val="1000"/>
              </a:spcAft>
              <a:buSzPct val="100000"/>
              <a:buChar char="•"/>
            </a:pPr>
            <a:r>
              <a:rPr lang="en-US" sz="1500" dirty="0">
                <a:solidFill>
                  <a:srgbClr val="DCE6F0"/>
                </a:solidFill>
                <a:latin typeface="Calibri" pitchFamily="34" charset="0"/>
                <a:ea typeface="Calibri" pitchFamily="34" charset="-122"/>
                <a:cs typeface="Calibri" pitchFamily="34" charset="-120"/>
              </a:rPr>
              <a:t>Docs: cursor.com/docs</a:t>
            </a:r>
            <a:endParaRPr lang="en-US" sz="1500" dirty="0"/>
          </a:p>
          <a:p>
            <a:pPr marL="342900" indent="-342900">
              <a:spcAft>
                <a:spcPts val="1000"/>
              </a:spcAft>
              <a:buSzPct val="100000"/>
              <a:buChar char="•"/>
            </a:pPr>
            <a:r>
              <a:rPr lang="en-US" sz="1500" dirty="0">
                <a:solidFill>
                  <a:srgbClr val="DCE6F0"/>
                </a:solidFill>
                <a:latin typeface="Calibri" pitchFamily="34" charset="0"/>
                <a:ea typeface="Calibri" pitchFamily="34" charset="-122"/>
                <a:cs typeface="Calibri" pitchFamily="34" charset="-120"/>
              </a:rPr>
              <a:t>Team rules: repo /.cursor/rules/ and /AGENTS.md</a:t>
            </a:r>
            <a:endParaRPr lang="en-US" sz="1500" dirty="0"/>
          </a:p>
          <a:p>
            <a:pPr marL="342900" indent="-342900">
              <a:spcAft>
                <a:spcPts val="1000"/>
              </a:spcAft>
              <a:buSzPct val="100000"/>
              <a:buChar char="•"/>
            </a:pPr>
            <a:r>
              <a:rPr lang="en-US" sz="1500" dirty="0">
                <a:solidFill>
                  <a:srgbClr val="DCE6F0"/>
                </a:solidFill>
                <a:latin typeface="Calibri" pitchFamily="34" charset="0"/>
                <a:ea typeface="Calibri" pitchFamily="34" charset="-122"/>
                <a:cs typeface="Calibri" pitchFamily="34" charset="-120"/>
              </a:rPr>
              <a:t>MCP catalog: shared in #eng-tools</a:t>
            </a:r>
            <a:endParaRPr lang="en-US" sz="1500" dirty="0"/>
          </a:p>
          <a:p>
            <a:pPr marL="342900" indent="-342900">
              <a:spcAft>
                <a:spcPts val="1000"/>
              </a:spcAft>
              <a:buSzPct val="100000"/>
              <a:buChar char="•"/>
            </a:pPr>
            <a:r>
              <a:rPr lang="en-US" sz="1500" dirty="0">
                <a:solidFill>
                  <a:srgbClr val="DCE6F0"/>
                </a:solidFill>
                <a:latin typeface="Calibri" pitchFamily="34" charset="0"/>
                <a:ea typeface="Calibri" pitchFamily="34" charset="-122"/>
                <a:cs typeface="Calibri" pitchFamily="34" charset="-120"/>
              </a:rPr>
              <a:t>Questions anytime — michael.ames@gmail.com</a:t>
            </a:r>
            <a:endParaRPr lang="en-US" sz="1500" dirty="0"/>
          </a:p>
        </p:txBody>
      </p:sp>
      <p:sp>
        <p:nvSpPr>
          <p:cNvPr id="7" name="Text 5"/>
          <p:cNvSpPr/>
          <p:nvPr/>
        </p:nvSpPr>
        <p:spPr>
          <a:xfrm>
            <a:off x="822960" y="5943600"/>
            <a:ext cx="5486400" cy="457200"/>
          </a:xfrm>
          <a:prstGeom prst="rect">
            <a:avLst/>
          </a:prstGeom>
          <a:noFill/>
          <a:ln/>
        </p:spPr>
        <p:txBody>
          <a:bodyPr wrap="square" lIns="0" tIns="0" rIns="0" bIns="0" rtlCol="0" anchor="ctr"/>
          <a:lstStyle/>
          <a:p>
            <a:pPr indent="0" marL="0">
              <a:buNone/>
            </a:pPr>
            <a:r>
              <a:rPr lang="en-US" sz="1300" dirty="0">
                <a:solidFill>
                  <a:srgbClr val="3282B8"/>
                </a:solidFill>
                <a:latin typeface="Calibri" pitchFamily="34" charset="0"/>
                <a:ea typeface="Calibri" pitchFamily="34" charset="-122"/>
                <a:cs typeface="Calibri" pitchFamily="34" charset="-120"/>
              </a:rPr>
              <a:t>Thank you</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2026-07-16T14:58:28Z</dcterms:created>
  <dcterms:modified xsi:type="dcterms:W3CDTF">2026-07-16T14:58:28Z</dcterms:modified>
</cp:coreProperties>
</file>