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85C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76DCF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WEBINAR 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 &amp; the Jack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Henry Data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data-driven institution — Data Hub, Jack Henry Insights, and JHBI: your front door to your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Ames  &amp;  Brad Minton  |  Jack Henry &amp; Associates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— 45–50 minutes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2199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Hub: The Pipe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560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who it's for, and how to get your data moving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8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0215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Henry Insights: The First Tap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8404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reporting on top of that pipe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8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78231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82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91640" y="46634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JHBI: The Front Door to Your Data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51206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PowerBI-ready, Data Catalog, AI-powered query building, and more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leave time for Q&amp;A at the end — drop questions in the chat as we go and we'll group them at the close.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be the great equalizer for community banks and credit unions — if they move now.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575A5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25007" y="2470489"/>
            <a:ext cx="79370" cy="108850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9" name="Shape 7"/>
          <p:cNvSpPr/>
          <p:nvPr/>
        </p:nvSpPr>
        <p:spPr>
          <a:xfrm>
            <a:off x="1061070" y="2395655"/>
            <a:ext cx="79370" cy="183685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10" name="Shape 8"/>
          <p:cNvSpPr/>
          <p:nvPr/>
        </p:nvSpPr>
        <p:spPr>
          <a:xfrm>
            <a:off x="1197132" y="2314017"/>
            <a:ext cx="79370" cy="265322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DC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Jack Henry clients' #1 tech investment priority — ahead of digital banking (38%) and data analytics (32%).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085C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9432" y="2103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8802" y="2409261"/>
            <a:ext cx="113386" cy="181417"/>
          </a:xfrm>
          <a:prstGeom prst="triangle">
            <a:avLst/>
          </a:prstGeom>
          <a:solidFill>
            <a:srgbClr val="085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973604" y="2409261"/>
            <a:ext cx="113386" cy="181417"/>
          </a:xfrm>
          <a:prstGeom prst="triangle">
            <a:avLst/>
          </a:prstGeom>
          <a:solidFill>
            <a:srgbClr val="085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24156" y="2171151"/>
            <a:ext cx="317480" cy="317480"/>
          </a:xfrm>
          <a:prstGeom prst="ellipse">
            <a:avLst/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DC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Out-scored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99432" y="35661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credit unions ($1B–$5B) beat institutions over $5B on innovation readiness — AI through partners lets small teams skip the build.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06185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103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0628" y="2227844"/>
            <a:ext cx="317480" cy="317480"/>
          </a:xfrm>
          <a:prstGeom prst="star4">
            <a:avLst/>
          </a:prstGeom>
          <a:solidFill>
            <a:srgbClr val="06185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5904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DC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$250–500M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75904" y="35661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pretax profit per $100B in assets from realistic AI adoption — industry profit pools compress 9–10% as early movers pull ahead.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001768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Jack Henry 2026 Strategic Priorities Benchmark (193 client executives, institutions under $500M to over $5B in assets); PYMNTS, “AI Gives Smaller Credit Unions a Shot at Bigger Growth,” 2026; McKinsey, “Move first or fall behind: How AI is rewriting the rules of banking,” 2026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45896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8F7F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589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none of that works without the plumbing. Today is about the plumbing.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FOR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institution ends up asking the same three questions.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06185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my data out?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Hub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1031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085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432" y="2377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5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9432" y="320040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I see today, ready-made?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Jack Henry Insights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1031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575A5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2377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75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5904" y="320040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my front door to all of it — governed, standardized, ready to use?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JHBI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answer each one, in order, over the next 45 minutes.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85CE5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76DCFD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Hub: The Pipe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data out — the foundation everything else builds 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 is the pipe. Nothing more, nothing less.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cloud-native data accessibility solution that pipelines data from Jack Henry products to customer-owned cloud environments.”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Henry Data Hub, knowledge.banno.com/data-reporting/data-hub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8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63931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913632"/>
            <a:ext cx="98755" cy="98755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02182" y="3792931"/>
            <a:ext cx="208483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976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46634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and delivers your institutional data to a cloud destination you own and control.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33832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8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1144" y="363931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34763" y="3792931"/>
            <a:ext cx="24140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4734763" y="3792931"/>
            <a:ext cx="24140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42976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doesn't 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81144" y="46634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reporting, no dashboards, no visualization. That's intentional — it keeps the pipe simple and fast.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01584" y="33832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8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357616" y="363931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3" name="Shape 21"/>
          <p:cNvSpPr/>
          <p:nvPr/>
        </p:nvSpPr>
        <p:spPr>
          <a:xfrm>
            <a:off x="8401507" y="3760013"/>
            <a:ext cx="460858" cy="307238"/>
          </a:xfrm>
          <a:prstGeom prst="cloud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42976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7616" y="46634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Google Cloud Platform, using BigQuery and BigQuery Sharing to hand off single-tenant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three audiences — often at the same institution.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institutions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10312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who want their own data in their own cloud, to connect BI tools, run custom SQL, or feed internal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8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Henry products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4290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JHBI, and future JH applications all draw from the same standardized pipe rather than separate integrations.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8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8308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fintechs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7548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and fintech partners that need programmatic, governed access to FI data without a custom integration project.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Single-tenant by design — your data, your project, your control.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06185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610" y="2454250"/>
            <a:ext cx="395021" cy="175565"/>
          </a:xfrm>
          <a:prstGeom prst="triangl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" y="2651760"/>
            <a:ext cx="351130" cy="164592"/>
          </a:xfrm>
          <a:prstGeom prst="rect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827325"/>
            <a:ext cx="438912" cy="32918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 Source Systems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SilverLake, Banno, Payments &amp; Treasury, Risk…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64992" y="21488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085CE5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7872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6627" y="2585923"/>
            <a:ext cx="351130" cy="131674"/>
          </a:xfrm>
          <a:prstGeom prst="roundRect">
            <a:avLst>
              <a:gd name="adj" fmla="val 50000"/>
            </a:avLst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0790" y="2618842"/>
            <a:ext cx="65837" cy="65837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3997757" y="2618842"/>
            <a:ext cx="65837" cy="65837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9" name="Text 17"/>
          <p:cNvSpPr/>
          <p:nvPr/>
        </p:nvSpPr>
        <p:spPr>
          <a:xfrm>
            <a:off x="3547872" y="3108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547872" y="365760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multi-tenant source data on GCP, using BigQuery + BigQuery Sharing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71032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27064" y="21488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76DCFD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9944" y="2377440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3835" y="2487168"/>
            <a:ext cx="252374" cy="252374"/>
          </a:xfrm>
          <a:prstGeom prst="donu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0373" y="2596896"/>
            <a:ext cx="252374" cy="252374"/>
          </a:xfrm>
          <a:prstGeom prst="donu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108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Hub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9944" y="365760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subscribe to your linked dataset — secure, granular, permissioned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33104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089136" y="21488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575A5D"/>
          </a:solidFill>
          <a:ln/>
        </p:spPr>
      </p:sp>
      <p:sp>
        <p:nvSpPr>
          <p:cNvPr id="30" name="Shape 28"/>
          <p:cNvSpPr/>
          <p:nvPr/>
        </p:nvSpPr>
        <p:spPr>
          <a:xfrm>
            <a:off x="9272016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315907" y="2498141"/>
            <a:ext cx="460858" cy="307238"/>
          </a:xfrm>
          <a:prstGeom prst="cloud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2016" y="31089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GCP Project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272016" y="365760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Single-tenant. You own it, you control access.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349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data in, segregated single-tenant data out. This raw handoff is what becomes the “Bronze” layer once it lands in JHBI's medallion architecture — more in Part 3.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" y="61447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Henry Data Hub Overview, jackhenry.dev/data-hub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pipeline ships in three formats — pick what fits your use case.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Shape 6"/>
          <p:cNvSpPr/>
          <p:nvPr/>
        </p:nvSpPr>
        <p:spPr>
          <a:xfrm>
            <a:off x="938174" y="2355494"/>
            <a:ext cx="409651" cy="409651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38174" y="2355494"/>
            <a:ext cx="409651" cy="409651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Canonicalized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uniform structure across sources — built for comparison and analysis without extra cleanup.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8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24028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27448" y="2419502"/>
            <a:ext cx="38404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27448" y="2560320"/>
            <a:ext cx="38404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27448" y="2701138"/>
            <a:ext cx="38404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Dereferenced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9432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and abbreviations converted to human-readable values — ready for a business audience, not just engineers.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01584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8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224028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1" name="Shape 19"/>
          <p:cNvSpPr/>
          <p:nvPr/>
        </p:nvSpPr>
        <p:spPr>
          <a:xfrm>
            <a:off x="8491118" y="2355494"/>
            <a:ext cx="409651" cy="409651"/>
          </a:xfrm>
          <a:prstGeom prst="diamond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75904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Unprocessed, as-generated data — maximum flexibility and full historical preservation for teams who want to transform it themselves.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Henry Data Hub Overview, jackhenry.dev/data-hub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pipelines available today — and growing.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06185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214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&amp; Accounts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SilverLake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009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Account Services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813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General Ledger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325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Entity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1568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085CE5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1214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&amp; Banno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 Operation &amp; Transaction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33009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 Usage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84448" y="3813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 Conversations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4325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 History 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48371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 Ads Reporting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84448" y="5349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 Mgmt Data Exchange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0216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76DC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21214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Treasury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83096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JH Wires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83096" y="33009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Payments-Smartsight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83096" y="3813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Treasury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83096" y="4325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Exception Item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98864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575A5D"/>
          </a:solidFill>
          <a:ln/>
        </p:spPr>
      </p:sp>
      <p:sp>
        <p:nvSpPr>
          <p:cNvPr id="27" name="Text 25"/>
          <p:cNvSpPr/>
          <p:nvPr/>
        </p:nvSpPr>
        <p:spPr>
          <a:xfrm>
            <a:off x="9381744" y="21214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3rd Party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81744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Sanction Screening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81744" y="33009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Finicity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Pipelined Data Sets, jackhenry.dev/data-hub/jhdb-pipeline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ways to receive it — not just BigQuery.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(native)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96265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dataset delivered into your GCP project via Analytics Hub — subscribed access, no file handling.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02996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Pub/Sub (near real-time)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296265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topics move data out of GCP as it changes — the only truly real-time egress path today.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1584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2752" y="202996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2752" y="26060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file transfer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02752" y="296265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AVRO, or Parquet delivered via the Jack Henry File Transfer service — for teams not yet on GCP.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99592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45720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into AWS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" y="492861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and Data Exchange connectors pull Data Hub datasets into your AWS environment.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5112" y="3794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399592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45720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into Azure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26280" y="492861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Factory, Databricks, or GCP Data Flow pushed to Azure SQL / Data Lake.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01584" y="3794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302752" y="3995928"/>
            <a:ext cx="502920" cy="50292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02752" y="45720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into Snowflake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02752" y="492861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Snowpipe, Kafka, or cloud storage connectors — customer-managed, using standard Snowflake tooling.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Pub/Sub moves data in real time — BigQuery Sharing, batch transfer, and cloud-pull methods all run on a scheduled or subscribed cadence, not continuous streaming.  Source: Jack Henry Data Hub docs, jackhenry.dev/data-hub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— five steps to your first linked dataset.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9339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92938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GCP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929384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— sandbox to start, or a billing-enabled dev/prod project.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52344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E8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871216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71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8072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the BigQuery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280720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new projects; a quick console step on existing 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E8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68503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an IAM account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68503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FI-owned account with bigquery.datasets.create, submitted to JH's provisioning queue.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E8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626864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56285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 to shared datasets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456285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Jack Henry's shared dataset via BigQuery Analytics Hub.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85816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E8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440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costs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54406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Google Cost Calculator to estimate ongoing BigQuery spend.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setup lift you own directly — later in Part 3, we'll show what JHBI takes off your plate.  Source: FI/Customer Setup Guide, jackhenry.dev/data-broker/consumer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DATA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building this alone.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Shape 6"/>
          <p:cNvSpPr/>
          <p:nvPr/>
        </p:nvSpPr>
        <p:spPr>
          <a:xfrm>
            <a:off x="964692" y="2532888"/>
            <a:ext cx="493776" cy="329184"/>
          </a:xfrm>
          <a:prstGeom prst="roundRect">
            <a:avLst>
              <a:gd name="adj" fmla="val 20833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033272" y="2807208"/>
            <a:ext cx="109728" cy="109728"/>
          </a:xfrm>
          <a:prstGeom prst="triangl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48716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Discourse Community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forum for how-to questions, troubleshooting, and peer institutions comparing notes on setup.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jackhenry.discourse.group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E8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423160"/>
            <a:ext cx="685800" cy="68580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2532" y="2519172"/>
            <a:ext cx="493776" cy="49377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9420" y="2615184"/>
            <a:ext cx="914" cy="15087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9420" y="2766060"/>
            <a:ext cx="109728" cy="91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48716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Office Hours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monthly sessions where Jack Henry engineers answer real-time technical questions — bring your setup issues.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931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discover.jackhenry.com/webinar/developer-office-hours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E7ECF0"/>
          </a:solidFill>
          <a:ln w="19050">
            <a:solidFill>
              <a:srgbClr val="B6BBC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04647" y="4919618"/>
            <a:ext cx="397947" cy="328306"/>
          </a:xfrm>
          <a:prstGeom prst="rect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54390" y="4979310"/>
            <a:ext cx="69641" cy="69641"/>
          </a:xfrm>
          <a:prstGeom prst="ellipse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904647" y="5058900"/>
            <a:ext cx="169127" cy="99487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073774" y="5078797"/>
            <a:ext cx="179076" cy="169127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65038"/>
            <a:ext cx="10561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5839358"/>
            <a:ext cx="105613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console — BigQuery linked-dataset subscription screen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85CE5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76DCFD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Henry Insights: The First Tap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reporting on top of the pipe — no data engineering required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JACK HENRY INSIGHTS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Data Hub is the pipe, Insights is the first tap on it.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8F7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reporting and visualization layer that makes data accessible to every employee — from the teller line to the C-suite — without specialized data skills.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more: knowledge.banno.com/data-reporting/jack-henry-insights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8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50215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1" name="Shape 9"/>
          <p:cNvSpPr/>
          <p:nvPr/>
        </p:nvSpPr>
        <p:spPr>
          <a:xfrm>
            <a:off x="925373" y="3622853"/>
            <a:ext cx="307238" cy="307238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1605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AI-prompted reports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4663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report by describing what you need — no query language required.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5112" y="3246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8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1144" y="350215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12818" y="3567989"/>
            <a:ext cx="285293" cy="416966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6709" y="3666744"/>
            <a:ext cx="197510" cy="9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6709" y="3760013"/>
            <a:ext cx="197510" cy="9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6709" y="3853282"/>
            <a:ext cx="197510" cy="9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41605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or from scratch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81144" y="4663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ready-made template, or build a fully custom view.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1584" y="3246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8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357616" y="3502152"/>
            <a:ext cx="548640" cy="5486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4" name="Shape 22"/>
          <p:cNvSpPr/>
          <p:nvPr/>
        </p:nvSpPr>
        <p:spPr>
          <a:xfrm>
            <a:off x="8445398" y="3589934"/>
            <a:ext cx="373075" cy="373075"/>
          </a:xfrm>
          <a:prstGeom prst="gear6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41605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Customizable metrics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57616" y="4663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numbers shown to what your institution actually tracks.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Henry Insights, knowledge.banno.com/data-reporting/jack-henry-insights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JACK HENRY INSIGHTS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report domains today — Banno-first, more on the way.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618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&amp; App Usage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618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Pay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618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29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Deposit Capture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618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sourced from Banno today. Jack Henry has stated data from other product groups is “coming soon.”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managed through Banno Admin → Users &amp; Groups.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7ECF0"/>
          </a:solidFill>
          <a:ln w="19050">
            <a:solidFill>
              <a:srgbClr val="B6BBC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705088" y="2860243"/>
            <a:ext cx="512064" cy="422453"/>
          </a:xfrm>
          <a:prstGeom prst="rect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69096" y="2937053"/>
            <a:ext cx="89611" cy="89611"/>
          </a:xfrm>
          <a:prstGeom prst="ellipse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705088" y="3039466"/>
            <a:ext cx="217627" cy="128016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922715" y="3065069"/>
            <a:ext cx="230429" cy="217627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3936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4668012"/>
            <a:ext cx="4846320" cy="1520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Insights — sample Activity &amp; App Usage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Henry Insights, knowledge.banno.com/data-reporting/jack-henry-insights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85CE5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76DCFD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JHBI: The Front Door to Your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PowerBI-ready, Data Catalog, AI-powered query building, and more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BIG PICTURE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 version.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979676" y="2468880"/>
            <a:ext cx="1371600" cy="1371600"/>
          </a:xfrm>
          <a:prstGeom prst="ellipse">
            <a:avLst/>
          </a:prstGeom>
          <a:solidFill>
            <a:srgbClr val="575A5D"/>
          </a:solidFill>
          <a:ln/>
        </p:spPr>
      </p:sp>
      <p:sp>
        <p:nvSpPr>
          <p:cNvPr id="7" name="Shape 5"/>
          <p:cNvSpPr/>
          <p:nvPr/>
        </p:nvSpPr>
        <p:spPr>
          <a:xfrm>
            <a:off x="2171700" y="2660904"/>
            <a:ext cx="987552" cy="438912"/>
          </a:xfrm>
          <a:prstGeom prst="triangle">
            <a:avLst/>
          </a:prstGeom>
          <a:ln w="29528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6564" y="3154680"/>
            <a:ext cx="877824" cy="411480"/>
          </a:xfrm>
          <a:prstGeom prst="rect">
            <a:avLst/>
          </a:prstGeom>
          <a:ln w="29528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16836" y="3593592"/>
            <a:ext cx="109728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76756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76756" y="45902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digital, payments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51276" y="2880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265676" y="2468880"/>
            <a:ext cx="1371600" cy="137160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12564" y="2990088"/>
            <a:ext cx="877824" cy="329184"/>
          </a:xfrm>
          <a:prstGeom prst="roundRect">
            <a:avLst>
              <a:gd name="adj" fmla="val 50000"/>
            </a:avLst>
          </a:prstGeom>
          <a:ln w="29528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7972" y="30723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0388" y="30723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2756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62756" y="45902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 (Bronze)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37276" y="2880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551676" y="2468880"/>
            <a:ext cx="1371600" cy="137160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3700" y="3209544"/>
            <a:ext cx="274320" cy="43891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56932" y="3209544"/>
            <a:ext cx="274320" cy="43891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3428" y="2633472"/>
            <a:ext cx="768096" cy="768096"/>
          </a:xfrm>
          <a:prstGeom prst="ellipse">
            <a:avLst/>
          </a:prstGeom>
          <a:ln w="29528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48756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 Medallion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048756" y="45902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Provisioned, processed, portal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23276" y="2880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837676" y="2468880"/>
            <a:ext cx="1371600" cy="1371600"/>
          </a:xfrm>
          <a:prstGeom prst="ellipse">
            <a:avLst/>
          </a:prstGeom>
          <a:solidFill>
            <a:srgbClr val="76DCFD"/>
          </a:solidFill>
          <a:ln/>
        </p:spPr>
      </p:sp>
      <p:sp>
        <p:nvSpPr>
          <p:cNvPr id="28" name="Shape 26"/>
          <p:cNvSpPr/>
          <p:nvPr/>
        </p:nvSpPr>
        <p:spPr>
          <a:xfrm>
            <a:off x="9084564" y="3357677"/>
            <a:ext cx="192024" cy="26334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3748" y="3176626"/>
            <a:ext cx="192024" cy="444398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Shape 28"/>
          <p:cNvSpPr/>
          <p:nvPr/>
        </p:nvSpPr>
        <p:spPr>
          <a:xfrm>
            <a:off x="9742932" y="2979115"/>
            <a:ext cx="192024" cy="641909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/>
          <p:nvPr/>
        </p:nvSpPr>
        <p:spPr>
          <a:xfrm>
            <a:off x="8334756" y="39502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34756" y="45902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your BI tools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story. Everything else today is detail on how each step works.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PLATFORM AT A GLANCE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purpose-built for banks and credit unions.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1783080"/>
            <a:ext cx="9372600" cy="1207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B6BBC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11480" y="1783080"/>
            <a:ext cx="1691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75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75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292983" y="2088490"/>
            <a:ext cx="329184" cy="146304"/>
          </a:xfrm>
          <a:prstGeom prst="triangle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1271" y="2253082"/>
            <a:ext cx="292608" cy="137160"/>
          </a:xfrm>
          <a:prstGeom prst="rect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2399386"/>
            <a:ext cx="365760" cy="27432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11" name="Text 9"/>
          <p:cNvSpPr/>
          <p:nvPr/>
        </p:nvSpPr>
        <p:spPr>
          <a:xfrm>
            <a:off x="2359152" y="2507285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09285" y="2070202"/>
            <a:ext cx="182880" cy="356616"/>
          </a:xfrm>
          <a:prstGeom prst="roundRect">
            <a:avLst>
              <a:gd name="adj" fmla="val 15000"/>
            </a:avLst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2437" y="2381098"/>
            <a:ext cx="36576" cy="36576"/>
          </a:xfrm>
          <a:prstGeom prst="ellipse">
            <a:avLst/>
          </a:prstGeom>
          <a:solidFill>
            <a:srgbClr val="575A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2302" y="2507285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60995" y="2143354"/>
            <a:ext cx="365760" cy="219456"/>
          </a:xfrm>
          <a:prstGeom prst="roundRect">
            <a:avLst>
              <a:gd name="adj" fmla="val 12500"/>
            </a:avLst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60995" y="2198218"/>
            <a:ext cx="365760" cy="45720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5452" y="2507285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40721" y="2079346"/>
            <a:ext cx="292608" cy="338328"/>
          </a:xfrm>
          <a:prstGeom prst="hexagon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8602" y="2507285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3rd party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0" y="3227832"/>
            <a:ext cx="9372600" cy="1207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B6BBC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11480" y="3227832"/>
            <a:ext cx="1691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85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</a:t>
            </a:r>
            <a:endParaRPr lang="en-US" sz="16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85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3311271" y="3642970"/>
            <a:ext cx="292608" cy="109728"/>
          </a:xfrm>
          <a:prstGeom prst="roundRect">
            <a:avLst>
              <a:gd name="adj" fmla="val 50000"/>
            </a:avLst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6407" y="3670402"/>
            <a:ext cx="54864" cy="54864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03879" y="3670402"/>
            <a:ext cx="54864" cy="54864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25" name="Text 23"/>
          <p:cNvSpPr/>
          <p:nvPr/>
        </p:nvSpPr>
        <p:spPr>
          <a:xfrm>
            <a:off x="2359152" y="3952037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Pipelines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08701" y="3569818"/>
            <a:ext cx="384048" cy="256032"/>
          </a:xfrm>
          <a:prstGeom prst="cloud">
            <a:avLst/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2302" y="3952037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/ BigQuery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1851" y="3560674"/>
            <a:ext cx="210312" cy="210312"/>
          </a:xfrm>
          <a:prstGeom prst="donut">
            <a:avLst/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7299" y="3652114"/>
            <a:ext cx="210312" cy="210312"/>
          </a:xfrm>
          <a:prstGeom prst="donut">
            <a:avLst/>
          </a:prstGeom>
          <a:ln w="15875">
            <a:solidFill>
              <a:srgbClr val="085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5452" y="3952037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40721" y="3765499"/>
            <a:ext cx="64008" cy="87782"/>
          </a:xfrm>
          <a:prstGeom prst="rect">
            <a:avLst/>
          </a:prstGeom>
          <a:solidFill>
            <a:srgbClr val="085C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0449" y="3705149"/>
            <a:ext cx="64008" cy="148133"/>
          </a:xfrm>
          <a:prstGeom prst="rect">
            <a:avLst/>
          </a:prstGeom>
          <a:solidFill>
            <a:srgbClr val="085C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60177" y="3639312"/>
            <a:ext cx="64008" cy="213970"/>
          </a:xfrm>
          <a:prstGeom prst="rect">
            <a:avLst/>
          </a:prstGeom>
          <a:solidFill>
            <a:srgbClr val="085CE5"/>
          </a:solidFill>
          <a:ln/>
        </p:spPr>
      </p:sp>
      <p:sp>
        <p:nvSpPr>
          <p:cNvPr id="34" name="Text 32"/>
          <p:cNvSpPr/>
          <p:nvPr/>
        </p:nvSpPr>
        <p:spPr>
          <a:xfrm>
            <a:off x="9388602" y="3952037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Options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0" y="4672584"/>
            <a:ext cx="9372600" cy="1207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B6BBC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11480" y="4672584"/>
            <a:ext cx="1691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</a:t>
            </a:r>
            <a:endParaRPr lang="en-US" sz="16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Door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3292983" y="5160874"/>
            <a:ext cx="91440" cy="146304"/>
          </a:xfrm>
          <a:prstGeom prst="triangle">
            <a:avLst/>
          </a:prstGeom>
          <a:solidFill>
            <a:srgbClr val="0618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530727" y="5160874"/>
            <a:ext cx="91440" cy="146304"/>
          </a:xfrm>
          <a:prstGeom prst="triangle">
            <a:avLst/>
          </a:prstGeom>
          <a:solidFill>
            <a:srgbClr val="0618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329559" y="4968850"/>
            <a:ext cx="256032" cy="256032"/>
          </a:xfrm>
          <a:prstGeom prst="ellips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5396789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36133" y="5023714"/>
            <a:ext cx="137160" cy="45720"/>
          </a:xfrm>
          <a:prstGeom prst="rect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6133" y="5069434"/>
            <a:ext cx="329184" cy="201168"/>
          </a:xfrm>
          <a:prstGeom prst="rect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2302" y="5396789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88427" y="5005426"/>
            <a:ext cx="310896" cy="201168"/>
          </a:xfrm>
          <a:prstGeom prst="roundRect">
            <a:avLst>
              <a:gd name="adj" fmla="val 18182"/>
            </a:avLst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8034147" y="5179162"/>
            <a:ext cx="64008" cy="64008"/>
          </a:xfrm>
          <a:prstGeom prst="triangl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61579" y="5069434"/>
            <a:ext cx="45720" cy="457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47" name="Shape 45"/>
          <p:cNvSpPr/>
          <p:nvPr/>
        </p:nvSpPr>
        <p:spPr>
          <a:xfrm>
            <a:off x="8180451" y="5069434"/>
            <a:ext cx="45720" cy="457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48" name="Text 46"/>
          <p:cNvSpPr/>
          <p:nvPr/>
        </p:nvSpPr>
        <p:spPr>
          <a:xfrm>
            <a:off x="7045452" y="5396789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Building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349865" y="5142586"/>
            <a:ext cx="82296" cy="82296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10423017" y="5042002"/>
            <a:ext cx="173736" cy="182880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88602" y="5396789"/>
            <a:ext cx="2196846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PowerBI-Ready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any modern data platform — sources, a pipe, and a governed front door — purpose-built for community banks and credit unions.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JHBI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 is your front door to your data.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8F7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0195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pipeline, and not just another report. One place to walk through — provisioned, standardized, and ready to explore.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7F7"/>
          </a:solidFill>
          <a:ln/>
        </p:spPr>
      </p:sp>
      <p:sp>
        <p:nvSpPr>
          <p:cNvPr id="9" name="Shape 7"/>
          <p:cNvSpPr/>
          <p:nvPr/>
        </p:nvSpPr>
        <p:spPr>
          <a:xfrm>
            <a:off x="1531620" y="333756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0" name="Shape 8"/>
          <p:cNvSpPr/>
          <p:nvPr/>
        </p:nvSpPr>
        <p:spPr>
          <a:xfrm>
            <a:off x="1646834" y="3752332"/>
            <a:ext cx="89611" cy="122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800454" y="3667841"/>
            <a:ext cx="89611" cy="207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54073" y="3575670"/>
            <a:ext cx="89611" cy="2995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PowerBI-Ready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484632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already modeled for Power BI — connect and go.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6260" y="333756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7" name="Shape 15"/>
          <p:cNvSpPr/>
          <p:nvPr/>
        </p:nvSpPr>
        <p:spPr>
          <a:xfrm>
            <a:off x="4455871" y="3491179"/>
            <a:ext cx="192024" cy="6400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5871" y="3555187"/>
            <a:ext cx="460858" cy="281635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Catalog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47872" y="484632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searchable inventory of everything available to you.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00900" y="333756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03313" y="3465576"/>
            <a:ext cx="435254" cy="281635"/>
          </a:xfrm>
          <a:prstGeom prst="roundRect">
            <a:avLst>
              <a:gd name="adj" fmla="val 1818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7367321" y="3708806"/>
            <a:ext cx="89611" cy="89611"/>
          </a:xfrm>
          <a:prstGeom prst="triangl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5726" y="3555187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72146" y="3555187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Query Building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82512" y="484632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what you need in plain language — JHBI builds the query.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2560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35540" y="3337560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01961" y="3503981"/>
            <a:ext cx="307238" cy="307238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89720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more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17152" y="484632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 and purpose-built data science apps, all from the same front door.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JHBI'S VALUE ADD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JHBI does for you — that you'd otherwise have to do yourself.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provision the GCP project for you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560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5-step Data Hub setup? With JHBI, Jack Henry stands up and manages the GCP environment — you skip the IAM configuration and cost planning.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3611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process &amp; standardize the data for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Hub output is refined through JHBI's medallion architecture — cleansed, deduplicated, and mapped to BIAN industry standards. Automatically.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085CE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83080" y="51206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provide the portal — reports &amp; dashboards included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5577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 and PowerBI dashboards ready on day one, plus the Data Catalog to search and AI-powered query building for anything custom — all in one front door.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VALUE ADD #2 — THE MEDALLION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raw data in. We hand you trustworthy data back.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575A5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67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DATA 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Data Hub delivers — raw, single-tenant, untouched.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34840" y="19659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85CE5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67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0632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deduplicated, and conformed across sources — plus cross-solution entity resolution.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668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92440" y="19659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6185F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67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30632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BIAN industry data models — business-ready.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34340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E8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4165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entire pipeline runs automatically — no ETL to build, no BIAN mapping to maintain. You don't manage this. We do.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53492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06185F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41324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add nobody else does: cross-solution entity resolution &amp; linking — we recognize that “John Smith the depositor” and “John Smith the loan holder” are the same relationship, across every source system.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VALUE ADD #2 — THE MEDALLION ARCHITECTURE IN 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customer, three messy systems. Here's what refining actually does.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raw, as-is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0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refined &amp; linked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26680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01000" y="1691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standardized &amp; ready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075688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575A5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488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8658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CUST_ID: 00482AB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NM: "SMITH JOHN R"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ADDR: "1400 MAIN ST APT 4"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BAL: 15420.33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310128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575A5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832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62102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 jsmith88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full_name: "John Smith"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j.smith@email.com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last_login: 2026-08-30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544568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575A5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61772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CARD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85546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cardholder: "J SMITH"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acct_ref: 00482AB-C1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card_last4: 4432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top_mcc: "5411 Grocery"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2075688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085CE5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22402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 ID: JH-9F21C  ·  John R. Smith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62272" y="2788920"/>
            <a:ext cx="274320" cy="2743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7136" y="2926080"/>
            <a:ext cx="49378" cy="4937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4561027" y="2865730"/>
            <a:ext cx="104242" cy="1097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75234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resolved identity — the same person recognized as depositor, digital user, and cardholder across all 3 source systems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62272" y="3502152"/>
            <a:ext cx="274320" cy="2743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17136" y="3639312"/>
            <a:ext cx="49378" cy="4937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4561027" y="3578962"/>
            <a:ext cx="104242" cy="1097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4655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Cross-solution entity resolution &amp; linking ties the accounts together as one relationship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62272" y="4215384"/>
            <a:ext cx="274320" cy="2743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7136" y="4352544"/>
            <a:ext cx="49378" cy="4937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4561027" y="4292194"/>
            <a:ext cx="104242" cy="1097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1788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addresses &amp; formats standardized and deduplicated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62272" y="4928616"/>
            <a:ext cx="274320" cy="27432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17136" y="5065776"/>
            <a:ext cx="49378" cy="4937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4561027" y="5005426"/>
            <a:ext cx="104242" cy="1097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4892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handled, data types conformed, timestamps normalized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01000" y="2075688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06185F"/>
          </a:solidFill>
          <a:ln/>
        </p:spPr>
      </p:sp>
      <p:sp>
        <p:nvSpPr>
          <p:cNvPr id="39" name="Text 37"/>
          <p:cNvSpPr/>
          <p:nvPr/>
        </p:nvSpPr>
        <p:spPr>
          <a:xfrm>
            <a:off x="8257032" y="22402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BIAN Party Record — reporting-ready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257032" y="2788920"/>
            <a:ext cx="274320" cy="274320"/>
          </a:xfrm>
          <a:prstGeom prst="ellipse">
            <a:avLst/>
          </a:prstGeom>
          <a:solidFill>
            <a:srgbClr val="76DCFD"/>
          </a:solidFill>
          <a:ln/>
        </p:spPr>
      </p:sp>
      <p:sp>
        <p:nvSpPr>
          <p:cNvPr id="41" name="Shape 39"/>
          <p:cNvSpPr/>
          <p:nvPr/>
        </p:nvSpPr>
        <p:spPr>
          <a:xfrm>
            <a:off x="8311896" y="2926080"/>
            <a:ext cx="49378" cy="4937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8355787" y="2865730"/>
            <a:ext cx="104242" cy="10972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59368" y="275234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relationship: $15,420 in deposits + active card + engaged digital user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57032" y="3502152"/>
            <a:ext cx="274320" cy="274320"/>
          </a:xfrm>
          <a:prstGeom prst="ellipse">
            <a:avLst/>
          </a:prstGeom>
          <a:solidFill>
            <a:srgbClr val="76DCFD"/>
          </a:solidFill>
          <a:ln/>
        </p:spPr>
      </p:sp>
      <p:sp>
        <p:nvSpPr>
          <p:cNvPr id="45" name="Shape 43"/>
          <p:cNvSpPr/>
          <p:nvPr/>
        </p:nvSpPr>
        <p:spPr>
          <a:xfrm>
            <a:off x="8311896" y="3639312"/>
            <a:ext cx="49378" cy="4937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8355787" y="3578962"/>
            <a:ext cx="104242" cy="10972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9368" y="34655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digitally-engaged, multi-product household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57032" y="4215384"/>
            <a:ext cx="274320" cy="274320"/>
          </a:xfrm>
          <a:prstGeom prst="ellipse">
            <a:avLst/>
          </a:prstGeom>
          <a:solidFill>
            <a:srgbClr val="76DCFD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1896" y="4352544"/>
            <a:ext cx="49378" cy="4937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8355787" y="4292194"/>
            <a:ext cx="104242" cy="10972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59368" y="41788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BIAN industry data model — consistent across every JHBI customer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57032" y="4928616"/>
            <a:ext cx="274320" cy="274320"/>
          </a:xfrm>
          <a:prstGeom prst="ellipse">
            <a:avLst/>
          </a:prstGeom>
          <a:solidFill>
            <a:srgbClr val="76DCFD"/>
          </a:solidFill>
          <a:ln/>
        </p:spPr>
      </p:sp>
      <p:sp>
        <p:nvSpPr>
          <p:cNvPr id="53" name="Shape 51"/>
          <p:cNvSpPr/>
          <p:nvPr/>
        </p:nvSpPr>
        <p:spPr>
          <a:xfrm>
            <a:off x="8311896" y="5065776"/>
            <a:ext cx="49378" cy="4937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8355787" y="5005426"/>
            <a:ext cx="104242" cy="109728"/>
          </a:xfrm>
          <a:prstGeom prst="line">
            <a:avLst/>
          </a:prstGeom>
          <a:noFill/>
          <a:ln w="15875">
            <a:solidFill>
              <a:srgbClr val="0618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9368" y="4892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OOTB dashboards &amp; cross-sell insight — no analyst spreadsheet-wrangling required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1480" y="5870448"/>
            <a:ext cx="11384280" cy="502920"/>
          </a:xfrm>
          <a:prstGeom prst="roundRect">
            <a:avLst>
              <a:gd name="adj" fmla="val 10909"/>
            </a:avLst>
          </a:prstGeom>
          <a:solidFill>
            <a:srgbClr val="E8F7F7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5870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value: three messy, disconnected systems become one trustworthy, connectable customer record — automatically, every time.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VALUE ADD #3 — THE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portal to your data — not a project, a login.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84832"/>
            <a:ext cx="777240" cy="77724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Shape 6"/>
          <p:cNvSpPr/>
          <p:nvPr/>
        </p:nvSpPr>
        <p:spPr>
          <a:xfrm>
            <a:off x="1008583" y="2588484"/>
            <a:ext cx="108814" cy="149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95121" y="2485888"/>
            <a:ext cx="108814" cy="2518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658" y="2373965"/>
            <a:ext cx="108814" cy="3637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9659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PowerBI-Ready, with OOTB Reports &amp; Dashboards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65960" y="251460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Gold-layer data arrives pre-modeled for Power BI, with out-of-the-box reports and dashboards ready on day one — connect and go, no build required.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7ECF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inside the portal: the Data Catalog to search and govern everything available to you, and AI-powered query building for the occasional custom ask.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7ECF0"/>
          </a:solidFill>
          <a:ln w="19050">
            <a:solidFill>
              <a:srgbClr val="B6BBC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81238" y="4812597"/>
            <a:ext cx="444764" cy="366930"/>
          </a:xfrm>
          <a:prstGeom prst="rect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6833" y="4879312"/>
            <a:ext cx="77834" cy="77834"/>
          </a:xfrm>
          <a:prstGeom prst="ellipse">
            <a:avLst/>
          </a:prstGeom>
          <a:ln w="15875">
            <a:solidFill>
              <a:srgbClr val="B6BB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881238" y="4968264"/>
            <a:ext cx="189025" cy="111191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070263" y="4990503"/>
            <a:ext cx="200144" cy="189025"/>
          </a:xfrm>
          <a:prstGeom prst="line">
            <a:avLst/>
          </a:prstGeom>
          <a:noFill/>
          <a:ln w="15875">
            <a:solidFill>
              <a:srgbClr val="B6B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33949"/>
            <a:ext cx="10561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5808269"/>
            <a:ext cx="1056132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Portal — home screen with OOTB reports, Power BI, and Data Catalog search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DATA CATALOG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Catalog: two ways to get it.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06185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JHBI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path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JHBI customer gets the Data Catalog automatically — it's the front door's built-in map of everything available to you.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085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ADD-ON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 + Catalog only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46520" y="329184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for the full JHBI portal yet? The Data Catalog is also available on its own, paired directly with Data Hub — governance and discovery without building out the full medallion architecture.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governance backbone either way — the question is just how much of the front door you want on day one.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packaging as of this webinar — confirm current bundling and pricing with your account team.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fits together — one platform, source to solution.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575A5D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187452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06185F"/>
          </a:solidFill>
          <a:ln/>
        </p:spPr>
      </p:sp>
      <p:sp>
        <p:nvSpPr>
          <p:cNvPr id="8" name="Shape 6"/>
          <p:cNvSpPr/>
          <p:nvPr/>
        </p:nvSpPr>
        <p:spPr>
          <a:xfrm>
            <a:off x="4983480" y="18745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085CE5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0" y="1874520"/>
            <a:ext cx="2926080" cy="3520440"/>
          </a:xfrm>
          <a:prstGeom prst="roundRect">
            <a:avLst>
              <a:gd name="adj" fmla="val 2500"/>
            </a:avLst>
          </a:prstGeom>
          <a:solidFill>
            <a:srgbClr val="76DCFD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3147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3147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33147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2075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5146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" y="2572207"/>
            <a:ext cx="296266" cy="131674"/>
          </a:xfrm>
          <a:prstGeom prst="triangle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8426" y="2720340"/>
            <a:ext cx="263347" cy="123444"/>
          </a:xfrm>
          <a:prstGeom prst="rect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" y="2852014"/>
            <a:ext cx="329184" cy="24689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1729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" y="3214116"/>
            <a:ext cx="164592" cy="320954"/>
          </a:xfrm>
          <a:prstGeom prst="roundRect">
            <a:avLst>
              <a:gd name="adj" fmla="val 15000"/>
            </a:avLst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3641" y="3493922"/>
            <a:ext cx="32918" cy="32918"/>
          </a:xfrm>
          <a:prstGeom prst="ellipse">
            <a:avLst/>
          </a:prstGeom>
          <a:solidFill>
            <a:srgbClr val="575A5D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172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3831336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" y="3938321"/>
            <a:ext cx="329184" cy="197510"/>
          </a:xfrm>
          <a:prstGeom prst="roundRect">
            <a:avLst>
              <a:gd name="adj" fmla="val 12500"/>
            </a:avLst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" y="3987698"/>
            <a:ext cx="329184" cy="41148"/>
          </a:xfrm>
          <a:prstGeom prst="rect">
            <a:avLst/>
          </a:prstGeom>
          <a:solidFill>
            <a:srgbClr val="575A5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8313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489704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68426" y="4539082"/>
            <a:ext cx="263347" cy="304495"/>
          </a:xfrm>
          <a:prstGeom prst="hexagon">
            <a:avLst/>
          </a:prstGeom>
          <a:ln w="15875">
            <a:solidFill>
              <a:srgbClr val="575A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4897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3rd party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80360" y="2075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470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446374" y="2792578"/>
            <a:ext cx="468173" cy="175565"/>
          </a:xfrm>
          <a:prstGeom prst="roundRect">
            <a:avLst>
              <a:gd name="adj" fmla="val 50000"/>
            </a:avLst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8591" y="2836469"/>
            <a:ext cx="87782" cy="87782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914546" y="2836469"/>
            <a:ext cx="87782" cy="87782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33832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971800" y="3794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76DCFD"/>
          </a:solidFill>
          <a:ln/>
        </p:spPr>
      </p:sp>
      <p:sp>
        <p:nvSpPr>
          <p:cNvPr id="37" name="Text 35"/>
          <p:cNvSpPr/>
          <p:nvPr/>
        </p:nvSpPr>
        <p:spPr>
          <a:xfrm>
            <a:off x="2971800" y="37947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BRONZE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80360" y="4297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pipelines · GCP / BigQuery · single-tenant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20756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— THE FRONT DOOR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1208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5212080" y="288036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06185F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35508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· deduped · entity-resolved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12080" y="3538728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06185F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35844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355080" y="35844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BIAN-standardized · business-ready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12080" y="4334256"/>
            <a:ext cx="14081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0" y="4334256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57416" y="4334256"/>
            <a:ext cx="18425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757416" y="4334256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Building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12080" y="4818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provision it, process it, and host it — you just log in.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06840" y="2075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06840" y="25146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080906" y="2781239"/>
            <a:ext cx="57607" cy="79004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55" name="Shape 53"/>
          <p:cNvSpPr/>
          <p:nvPr/>
        </p:nvSpPr>
        <p:spPr>
          <a:xfrm>
            <a:off x="9179662" y="2726924"/>
            <a:ext cx="57607" cy="133320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56" name="Shape 54"/>
          <p:cNvSpPr/>
          <p:nvPr/>
        </p:nvSpPr>
        <p:spPr>
          <a:xfrm>
            <a:off x="9278417" y="2667671"/>
            <a:ext cx="57607" cy="192573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57" name="Text 55"/>
          <p:cNvSpPr/>
          <p:nvPr/>
        </p:nvSpPr>
        <p:spPr>
          <a:xfrm>
            <a:off x="9509760" y="25146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006840" y="322783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080906" y="3494471"/>
            <a:ext cx="57607" cy="79004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60" name="Shape 58"/>
          <p:cNvSpPr/>
          <p:nvPr/>
        </p:nvSpPr>
        <p:spPr>
          <a:xfrm>
            <a:off x="9179662" y="3440156"/>
            <a:ext cx="57607" cy="133320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61" name="Shape 59"/>
          <p:cNvSpPr/>
          <p:nvPr/>
        </p:nvSpPr>
        <p:spPr>
          <a:xfrm>
            <a:off x="9278417" y="3380903"/>
            <a:ext cx="57607" cy="192573"/>
          </a:xfrm>
          <a:prstGeom prst="rect">
            <a:avLst/>
          </a:prstGeom>
          <a:solidFill>
            <a:srgbClr val="06185F"/>
          </a:solidFill>
          <a:ln/>
        </p:spPr>
      </p:sp>
      <p:sp>
        <p:nvSpPr>
          <p:cNvPr id="62" name="Text 60"/>
          <p:cNvSpPr/>
          <p:nvPr/>
        </p:nvSpPr>
        <p:spPr>
          <a:xfrm>
            <a:off x="9509760" y="322783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 &amp; dashboards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006840" y="3941064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9150858" y="4085082"/>
            <a:ext cx="123444" cy="123444"/>
          </a:xfrm>
          <a:prstGeom prst="ellips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97366" y="4031590"/>
            <a:ext cx="230429" cy="230429"/>
          </a:xfrm>
          <a:prstGeom prst="ellips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43873" y="3978097"/>
            <a:ext cx="337414" cy="337414"/>
          </a:xfrm>
          <a:prstGeom prst="ellipse">
            <a:avLst/>
          </a:prstGeom>
          <a:ln w="15875">
            <a:solidFill>
              <a:srgbClr val="0618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09760" y="39410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Insights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006840" y="4654296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9175547" y="4695444"/>
            <a:ext cx="74066" cy="74066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70" name="Shape 68"/>
          <p:cNvSpPr/>
          <p:nvPr/>
        </p:nvSpPr>
        <p:spPr>
          <a:xfrm>
            <a:off x="9039758" y="4917643"/>
            <a:ext cx="74066" cy="74066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71" name="Shape 69"/>
          <p:cNvSpPr/>
          <p:nvPr/>
        </p:nvSpPr>
        <p:spPr>
          <a:xfrm>
            <a:off x="9311335" y="4917643"/>
            <a:ext cx="74066" cy="74066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72" name="Text 70"/>
          <p:cNvSpPr/>
          <p:nvPr/>
        </p:nvSpPr>
        <p:spPr>
          <a:xfrm>
            <a:off x="9509760" y="465429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11480" y="55321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reporting, dashboards, next-best-offer, churn, personal vs. commercial detection — depends on this chain holding together.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Hub assets — where to go for more.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465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jackhenry.dev — Data Hub docs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74650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docs: pipeline schemas, setup guides, and egress configuration.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72600" y="174650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jackhenry.dev/data-hub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946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Pipelined Data Sets reference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56946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complete, current list of all 16+ pipelines with field-level detail.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72600" y="256946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jackhenry.dev/data-hub/jhdb-pipeline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924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 / Customer Setup Guide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39242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 of the 5-step GCP and BigQuery setup process.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72600" y="339242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jackhenry.dev/data-broker/consumer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153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Discourse Community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421538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Q&amp;A, troubleshooting, and how-to discussion with other institutions.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2600" y="421538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jackhenry.dev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383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Office Hours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503834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real-time technical Q&amp;A with Jack Henry engineers.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72600" y="503834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via jackhenry.dev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8F7F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8613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 Henry Insights (Banno Knowledge Base)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586130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permissions, and available report domains for Insights.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72600" y="586130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knowledge.banno.com/data-reporting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IT TOGETHER · COMPARISON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solutions, three different jobs.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575A5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93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Moves data OUT to your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for data engineers / analysts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reporting or visualization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Any format: raw, canonical, dereferenced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own &amp; manage the destination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085CE5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993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data IN the Banno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9432" y="324612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for every employee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397764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AI-prompted reporting &amp; visualization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470916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Banno-sourced domains only (today)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9432" y="544068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 destination — lives inside Banno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06185F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1993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75904" y="251460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front door — provisioned &amp; hosted for you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75904" y="324612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for analysts and every employee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5904" y="397764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OOTB reports, PowerBI dashboards, AI query building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470916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medallion-processed, BIAN-standardized + Catalog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75904" y="544068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provision, process, and run the portal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jackhenry.dev/data-hub; knowledge.banno.com/data-reporting/jack-henry-insights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the Jack Henry Data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1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8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2199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9738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is the pipe — get it right first. It's a real setup lift (GCP, BigQuery, IAM), but it's the foundation everything else depends 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8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9359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93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429000"/>
            <a:ext cx="9738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Insights is one tap on that pipe — great for Banno reporting today, not a substitute for the full front door.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8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965192"/>
            <a:ext cx="640080" cy="640080"/>
          </a:xfrm>
          <a:prstGeom prst="ellipse">
            <a:avLst/>
          </a:prstGeom>
          <a:solidFill>
            <a:srgbClr val="0618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800600"/>
            <a:ext cx="9738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is your front door — we provision the GCP project, process and standardize the data, and hand you a portal that's PowerBI-ready with AI-powered query building and the Data Catalog built in.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85CE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Ames  &amp;  Brad Minton  |  Jack Henry &amp; Associates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resources: jackhenry.dev/data-hub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2026-09-09T18:25:36Z</dcterms:created>
  <dcterms:modified xsi:type="dcterms:W3CDTF">2026-09-09T18:25:36Z</dcterms:modified>
</cp:coreProperties>
</file>