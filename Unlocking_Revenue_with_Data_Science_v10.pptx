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9"/>
  </p:notesMasterIdLst>
  <p:sldIdLst>
    <p:sldId id="256" r:id="rId2"/>
    <p:sldId id="257" r:id="rId3"/>
    <p:sldId id="258" r:id="rId4"/>
    <p:sldId id="262" r:id="rId5"/>
    <p:sldId id="282" r:id="rId6"/>
    <p:sldId id="286" r:id="rId7"/>
    <p:sldId id="259" r:id="rId8"/>
    <p:sldId id="269" r:id="rId9"/>
    <p:sldId id="287" r:id="rId10"/>
    <p:sldId id="260" r:id="rId11"/>
    <p:sldId id="294" r:id="rId12"/>
    <p:sldId id="263" r:id="rId13"/>
    <p:sldId id="264" r:id="rId14"/>
    <p:sldId id="289" r:id="rId15"/>
    <p:sldId id="290" r:id="rId16"/>
    <p:sldId id="265" r:id="rId17"/>
    <p:sldId id="291" r:id="rId18"/>
    <p:sldId id="300" r:id="rId19"/>
    <p:sldId id="285" r:id="rId20"/>
    <p:sldId id="293" r:id="rId21"/>
    <p:sldId id="295" r:id="rId22"/>
    <p:sldId id="266" r:id="rId23"/>
    <p:sldId id="292" r:id="rId24"/>
    <p:sldId id="298" r:id="rId25"/>
    <p:sldId id="283" r:id="rId26"/>
    <p:sldId id="272" r:id="rId27"/>
    <p:sldId id="288" r:id="rId28"/>
    <p:sldId id="296" r:id="rId29"/>
    <p:sldId id="284" r:id="rId30"/>
    <p:sldId id="267" r:id="rId31"/>
    <p:sldId id="274" r:id="rId32"/>
    <p:sldId id="275" r:id="rId33"/>
    <p:sldId id="276" r:id="rId34"/>
    <p:sldId id="277" r:id="rId35"/>
    <p:sldId id="278" r:id="rId36"/>
    <p:sldId id="279" r:id="rId37"/>
    <p:sldId id="281" r:id="rId3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5" d="100"/>
          <a:sy n="125" d="100"/>
        </p:scale>
        <p:origin x="23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7408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warm. State the thesis in one breath: community FIs sit on two of the richest, most under-used revenue signals in banking -- who's about to leave, and who's quietly running a business through a personal account. Data science turns both into growth, but only if detection is paired with the right offer at the right moment. That's the throughline for the next 30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sections, thirty minutes: roughly 5 on the business case, 9 on churn, 9 on personal-to-commercial, 7 on making it work and close. Same underlying pattern shows up twice -- that repetition is intentional, it's the point.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NCUA number -- it lands because it's not a vendor stat, it's a regulator's own call-report data. Retention at 83% sounds fine until you translate it into dollars: a 5-point swing in retention moves profit by 25-95% depending on the product, because acquisition is roughly five times more expensive than keeping who you have.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finance slide -- the one the CFO in the room cares about. Every dollar spent detecting risk earlier is leveraged roughly 5x versus spending it on acquisition later. That's the business case for the model, before we've even talked about the model.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Community banks and credit unions approve SMB loans at a much higher rate than large banks, and 60% of SMB decision-makers say they'd switch to a community institution if the digital experience were comparable. The barrier isn't trust or appetite -- it's that most of these small businesses are invisible, banking through a personal account nobody has flagged.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as a two-sided story: it's a growth opportunity for the institution, but it's also a genuine risk-management gap for the member and for BSA/AML monitoring. That combination is what makes the business case for funding this model much easier internally than a pure marketing ask.</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mental model for the rest of the talk. Data-Detect-Explain-Act, with Learn closing the loop. I'll walk it once for churn, then again for personal-to-commercial, so notice how much of the plumbing -- the feature pipeline, the SHAP layer, the offer-ranking logic -- is genuinely shared infrastructure, not two separate projects.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these signals is exotic -- every core and digital banking platform already captures them. The insight isn't discovering new data, it's fusing signals that today live in separate silos into one member-level view.</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not a big-data pitch. The craft is in picking the right five domains and engineering features that actually carry signal -- trend deltas, ratios, and recency windows outperform raw balances every time. Credit and lending data is highlighted because loan renewal timing is often the single highest-value trigger point.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conceptual for an exec audience: tree-based ensembles because banking data is tabular, messy, and mixed-type; AutoGluon because it gives a small data science team leverage without needing a research staff. Monthly batch scoring is a deliberate, practical cadence -- fast enough to act, slow enough to stay explainable and auditable.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is illustrative, not a live model output -- but it's exactly the shape of artifact the model should produce for every flagged member: which features pushed risk up, which pulled it down, in plain language. That's the artifact that satisfies the examiner and the relationship manager with the same output.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reused-infrastructure point is worth making explicitly: once the TreeSHAP governance pipeline exists for churn, extending it to this model is incremental, not a second build. And precision matters more than recall here -- a wrong flag costs goodwill in a way a missed one doesn't.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hinge of the churn section -- the point I want to land before moving to the second use case. Detection is a necessary condition, and most vendor pitches stop right here. The differentiated value is in what happens next, which I'll show concretely once we've covered personal-to-commercial too, so the offer-optimization section can serve both.</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act. This is where the two use cases converge into one operating model.</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same five-node flow for both churn and personal-to-commercial -- only what counts as 'flag' and 'best action' differs. That reuse is what makes the second use case materially cheaper to build once the first one exists.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here is that community FIs aren't starting from a trust deficit -- they're starting from a visibility deficit. Data science is what closes that gap without sacrificing the relationship-first model that's the actual competitive advantage.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Sequencing matters: churn first because the label is clean and the ROI case is easiest to prove quickly, governance second because it has to exist before anything customer-facing scales, then the harder personal-to-commercial problem once the team has reps.</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saying explicitly: none of this is optional overhead bolted onto the model afterward, it's part of the same build. That's exactly why the SHAP/explainability layer was introduced early in the churn section, not as a footnote.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summary slide -- if someone only remembers one image from the talk, it should be this one. The infrastructure reuse is the actual pitch: build it once, fund two growth motions.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Likely questions to be ready for: data privacy/consent for the business-signal model, how false-positive rates were validated, and how this integrates with existing core and Banno data feeds.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185F"/>
        </a:solidFill>
        <a:effectLst/>
      </p:bgPr>
    </p:bg>
    <p:spTree>
      <p:nvGrpSpPr>
        <p:cNvPr id="1" name=""/>
        <p:cNvGrpSpPr/>
        <p:nvPr/>
      </p:nvGrpSpPr>
      <p:grpSpPr>
        <a:xfrm>
          <a:off x="0" y="0"/>
          <a:ext cx="0" cy="0"/>
          <a:chOff x="0" y="0"/>
          <a:chExt cx="0" cy="0"/>
        </a:xfrm>
      </p:grpSpPr>
      <p:sp>
        <p:nvSpPr>
          <p:cNvPr id="2" name="Shape 0"/>
          <p:cNvSpPr/>
          <p:nvPr/>
        </p:nvSpPr>
        <p:spPr>
          <a:xfrm>
            <a:off x="9082735" y="-1463040"/>
            <a:ext cx="4023360" cy="4023360"/>
          </a:xfrm>
          <a:prstGeom prst="ellipse">
            <a:avLst/>
          </a:prstGeom>
          <a:solidFill>
            <a:srgbClr val="085CE5">
              <a:alpha val="22000"/>
            </a:srgbClr>
          </a:solidFill>
          <a:ln/>
        </p:spPr>
        <p:txBody>
          <a:bodyPr/>
          <a:lstStyle/>
          <a:p>
            <a:endParaRPr lang="en-US"/>
          </a:p>
        </p:txBody>
      </p:sp>
      <p:sp>
        <p:nvSpPr>
          <p:cNvPr id="3" name="Shape 1"/>
          <p:cNvSpPr/>
          <p:nvPr/>
        </p:nvSpPr>
        <p:spPr>
          <a:xfrm>
            <a:off x="10271455" y="-548640"/>
            <a:ext cx="2377440" cy="2377440"/>
          </a:xfrm>
          <a:prstGeom prst="ellipse">
            <a:avLst/>
          </a:prstGeom>
          <a:solidFill>
            <a:srgbClr val="76DCFD">
              <a:alpha val="45000"/>
            </a:srgbClr>
          </a:solidFill>
          <a:ln/>
        </p:spPr>
        <p:txBody>
          <a:bodyPr/>
          <a:lstStyle/>
          <a:p>
            <a:endParaRPr lang="en-US"/>
          </a:p>
        </p:txBody>
      </p:sp>
      <p:sp>
        <p:nvSpPr>
          <p:cNvPr id="4" name="Text 2"/>
          <p:cNvSpPr/>
          <p:nvPr/>
        </p:nvSpPr>
        <p:spPr>
          <a:xfrm>
            <a:off x="640080" y="548640"/>
            <a:ext cx="9144000" cy="365760"/>
          </a:xfrm>
          <a:prstGeom prst="rect">
            <a:avLst/>
          </a:prstGeom>
          <a:noFill/>
          <a:ln/>
        </p:spPr>
        <p:txBody>
          <a:bodyPr wrap="square" lIns="0" tIns="0" rIns="0" bIns="0" rtlCol="0" anchor="ctr"/>
          <a:lstStyle/>
          <a:p>
            <a:pPr marL="0" indent="0">
              <a:buNone/>
            </a:pPr>
            <a:r>
              <a:rPr lang="en-US" sz="1300" b="1" kern="0" spc="200" dirty="0">
                <a:solidFill>
                  <a:srgbClr val="76DCFD"/>
                </a:solidFill>
                <a:latin typeface="Calibri" pitchFamily="34" charset="0"/>
                <a:ea typeface="Calibri" pitchFamily="34" charset="-122"/>
                <a:cs typeface="Calibri" pitchFamily="34" charset="-120"/>
              </a:rPr>
              <a:t>JACK HENRY  //  COMMUNITY BANKING &amp; CREDIT UNIONS</a:t>
            </a:r>
            <a:endParaRPr lang="en-US" sz="1300" dirty="0"/>
          </a:p>
        </p:txBody>
      </p:sp>
      <p:sp>
        <p:nvSpPr>
          <p:cNvPr id="5" name="Text 3"/>
          <p:cNvSpPr/>
          <p:nvPr/>
        </p:nvSpPr>
        <p:spPr>
          <a:xfrm>
            <a:off x="640080" y="2286000"/>
            <a:ext cx="10515600" cy="1280160"/>
          </a:xfrm>
          <a:prstGeom prst="rect">
            <a:avLst/>
          </a:prstGeom>
          <a:noFill/>
          <a:ln/>
        </p:spPr>
        <p:txBody>
          <a:bodyPr wrap="square" lIns="0" tIns="0" rIns="0" bIns="0" rtlCol="0" anchor="ctr"/>
          <a:lstStyle/>
          <a:p>
            <a:pPr marL="0" indent="0">
              <a:buNone/>
            </a:pPr>
            <a:r>
              <a:rPr lang="en-US" sz="4600" b="1" dirty="0">
                <a:solidFill>
                  <a:srgbClr val="FFFFFF"/>
                </a:solidFill>
                <a:latin typeface="Arial" pitchFamily="34" charset="0"/>
                <a:ea typeface="Arial" pitchFamily="34" charset="-122"/>
                <a:cs typeface="Arial" pitchFamily="34" charset="-120"/>
              </a:rPr>
              <a:t>Unlocking Revenue with Data Science</a:t>
            </a:r>
            <a:endParaRPr lang="en-US" sz="4600" dirty="0"/>
          </a:p>
        </p:txBody>
      </p:sp>
      <p:sp>
        <p:nvSpPr>
          <p:cNvPr id="6" name="Text 4"/>
          <p:cNvSpPr/>
          <p:nvPr/>
        </p:nvSpPr>
        <p:spPr>
          <a:xfrm>
            <a:off x="640080" y="3383280"/>
            <a:ext cx="10515600" cy="731520"/>
          </a:xfrm>
          <a:prstGeom prst="rect">
            <a:avLst/>
          </a:prstGeom>
          <a:noFill/>
          <a:ln/>
        </p:spPr>
        <p:txBody>
          <a:bodyPr wrap="square" lIns="0" tIns="0" rIns="0" bIns="0" rtlCol="0" anchor="ctr"/>
          <a:lstStyle/>
          <a:p>
            <a:pPr marL="0" indent="0">
              <a:buNone/>
            </a:pPr>
            <a:r>
              <a:rPr lang="en-US" sz="2600" i="1" dirty="0">
                <a:solidFill>
                  <a:srgbClr val="76DCFD"/>
                </a:solidFill>
                <a:latin typeface="Arial" pitchFamily="34" charset="0"/>
                <a:ea typeface="Arial" pitchFamily="34" charset="-122"/>
                <a:cs typeface="Arial" pitchFamily="34" charset="-120"/>
              </a:rPr>
              <a:t>Turning Intelligence into Growth</a:t>
            </a:r>
            <a:endParaRPr lang="en-US" sz="2600" dirty="0"/>
          </a:p>
        </p:txBody>
      </p:sp>
      <p:sp>
        <p:nvSpPr>
          <p:cNvPr id="7" name="Text 5"/>
          <p:cNvSpPr/>
          <p:nvPr/>
        </p:nvSpPr>
        <p:spPr>
          <a:xfrm>
            <a:off x="640080" y="4160520"/>
            <a:ext cx="8686800" cy="548640"/>
          </a:xfrm>
          <a:prstGeom prst="rect">
            <a:avLst/>
          </a:prstGeom>
          <a:noFill/>
          <a:ln/>
        </p:spPr>
        <p:txBody>
          <a:bodyPr wrap="square" lIns="0" tIns="0" rIns="0" bIns="0" rtlCol="0" anchor="ctr"/>
          <a:lstStyle/>
          <a:p>
            <a:pPr marL="0" indent="0">
              <a:buNone/>
            </a:pPr>
            <a:r>
              <a:rPr lang="en-US" sz="1500" dirty="0">
                <a:solidFill>
                  <a:srgbClr val="CADCFC"/>
                </a:solidFill>
                <a:latin typeface="Calibri" pitchFamily="34" charset="0"/>
                <a:ea typeface="Calibri" pitchFamily="34" charset="-122"/>
                <a:cs typeface="Calibri" pitchFamily="34" charset="-120"/>
              </a:rPr>
              <a:t>Churn detection and personal-to-commercial growth, built for community financial institutions</a:t>
            </a:r>
            <a:endParaRPr lang="en-US" sz="1500" dirty="0"/>
          </a:p>
        </p:txBody>
      </p:sp>
      <p:sp>
        <p:nvSpPr>
          <p:cNvPr id="8" name="Shape 6"/>
          <p:cNvSpPr/>
          <p:nvPr/>
        </p:nvSpPr>
        <p:spPr>
          <a:xfrm>
            <a:off x="658368" y="4892040"/>
            <a:ext cx="2011680" cy="0"/>
          </a:xfrm>
          <a:prstGeom prst="line">
            <a:avLst/>
          </a:prstGeom>
          <a:noFill/>
          <a:ln w="38100">
            <a:solidFill>
              <a:srgbClr val="085CE5"/>
            </a:solidFill>
            <a:prstDash val="solid"/>
          </a:ln>
        </p:spPr>
        <p:txBody>
          <a:bodyPr/>
          <a:lstStyle/>
          <a:p>
            <a:endParaRPr lang="en-US"/>
          </a:p>
        </p:txBody>
      </p:sp>
      <p:sp>
        <p:nvSpPr>
          <p:cNvPr id="9" name="Text 7"/>
          <p:cNvSpPr/>
          <p:nvPr/>
        </p:nvSpPr>
        <p:spPr>
          <a:xfrm>
            <a:off x="640080" y="5943600"/>
            <a:ext cx="365760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Mike Ames</a:t>
            </a:r>
            <a:endParaRPr lang="en-US" sz="1300" dirty="0"/>
          </a:p>
        </p:txBody>
      </p:sp>
      <p:sp>
        <p:nvSpPr>
          <p:cNvPr id="10" name="Text 8"/>
          <p:cNvSpPr/>
          <p:nvPr/>
        </p:nvSpPr>
        <p:spPr>
          <a:xfrm>
            <a:off x="640080" y="6263640"/>
            <a:ext cx="4572000" cy="274320"/>
          </a:xfrm>
          <a:prstGeom prst="rect">
            <a:avLst/>
          </a:prstGeom>
          <a:noFill/>
          <a:ln/>
        </p:spPr>
        <p:txBody>
          <a:bodyPr wrap="square" lIns="0" tIns="0" rIns="0" bIns="0" rtlCol="0" anchor="ctr"/>
          <a:lstStyle/>
          <a:p>
            <a:pPr marL="0" indent="0">
              <a:buNone/>
            </a:pPr>
            <a:r>
              <a:rPr lang="en-US" sz="1100" dirty="0">
                <a:solidFill>
                  <a:srgbClr val="B6BBC0"/>
                </a:solidFill>
                <a:latin typeface="Calibri" pitchFamily="34" charset="0"/>
                <a:ea typeface="Calibri" pitchFamily="34" charset="-122"/>
                <a:cs typeface="Calibri" pitchFamily="34" charset="-120"/>
              </a:rPr>
              <a:t>30-Minute Briefing  |  July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3657600" cy="320040"/>
          </a:xfrm>
          <a:prstGeom prst="rect">
            <a:avLst/>
          </a:prstGeom>
          <a:noFill/>
          <a:ln/>
        </p:spPr>
        <p:txBody>
          <a:bodyPr wrap="square" lIns="0" tIns="0" rIns="0" bIns="0" rtlCol="0" anchor="ctr"/>
          <a:lstStyle/>
          <a:p>
            <a:pPr marL="0" indent="0" algn="l">
              <a:buNone/>
            </a:pPr>
            <a:r>
              <a:rPr lang="en-US" sz="1200" b="1" kern="0" spc="200" dirty="0">
                <a:solidFill>
                  <a:srgbClr val="085CE5"/>
                </a:solidFill>
                <a:latin typeface="Calibri" pitchFamily="34" charset="0"/>
                <a:ea typeface="Calibri" pitchFamily="34" charset="-122"/>
                <a:cs typeface="Calibri" pitchFamily="34" charset="-120"/>
              </a:rPr>
              <a:t>AGENDA</a:t>
            </a:r>
            <a:endParaRPr lang="en-US" sz="1200" dirty="0"/>
          </a:p>
        </p:txBody>
      </p:sp>
      <p:sp>
        <p:nvSpPr>
          <p:cNvPr id="3" name="Text 1"/>
          <p:cNvSpPr/>
          <p:nvPr/>
        </p:nvSpPr>
        <p:spPr>
          <a:xfrm>
            <a:off x="640080" y="822960"/>
            <a:ext cx="9144000" cy="640080"/>
          </a:xfrm>
          <a:prstGeom prst="rect">
            <a:avLst/>
          </a:prstGeom>
          <a:noFill/>
          <a:ln/>
        </p:spPr>
        <p:txBody>
          <a:bodyPr wrap="square" lIns="0" tIns="0" rIns="0" bIns="0" rtlCol="0" anchor="ctr"/>
          <a:lstStyle/>
          <a:p>
            <a:pPr marL="0" indent="0">
              <a:buNone/>
            </a:pPr>
            <a:r>
              <a:rPr lang="en-US" sz="3200" b="1" dirty="0">
                <a:solidFill>
                  <a:srgbClr val="06185F"/>
                </a:solidFill>
                <a:latin typeface="Arial" pitchFamily="34" charset="0"/>
                <a:ea typeface="Arial" pitchFamily="34" charset="-122"/>
                <a:cs typeface="Arial" pitchFamily="34" charset="-120"/>
              </a:rPr>
              <a:t>Where we're headed</a:t>
            </a:r>
            <a:endParaRPr lang="en-US" sz="3200" dirty="0"/>
          </a:p>
        </p:txBody>
      </p:sp>
      <p:sp>
        <p:nvSpPr>
          <p:cNvPr id="4" name="Shape 2"/>
          <p:cNvSpPr/>
          <p:nvPr/>
        </p:nvSpPr>
        <p:spPr>
          <a:xfrm>
            <a:off x="640080" y="1965960"/>
            <a:ext cx="2606040" cy="3931920"/>
          </a:xfrm>
          <a:prstGeom prst="roundRect">
            <a:avLst>
              <a:gd name="adj" fmla="val 2807"/>
            </a:avLst>
          </a:prstGeom>
          <a:solidFill>
            <a:srgbClr val="E8F7F7"/>
          </a:solidFill>
          <a:ln/>
          <a:effectLst>
            <a:outerShdw blurRad="127000" dist="38100" dir="5400000" algn="bl" rotWithShape="0">
              <a:srgbClr val="1B1F3B">
                <a:alpha val="10000"/>
              </a:srgbClr>
            </a:outerShdw>
          </a:effectLst>
        </p:spPr>
        <p:txBody>
          <a:bodyPr/>
          <a:lstStyle/>
          <a:p>
            <a:endParaRPr lang="en-US"/>
          </a:p>
        </p:txBody>
      </p:sp>
      <p:sp>
        <p:nvSpPr>
          <p:cNvPr id="5" name="Shape 3"/>
          <p:cNvSpPr/>
          <p:nvPr/>
        </p:nvSpPr>
        <p:spPr>
          <a:xfrm>
            <a:off x="914400" y="2286000"/>
            <a:ext cx="594360" cy="594360"/>
          </a:xfrm>
          <a:prstGeom prst="ellipse">
            <a:avLst/>
          </a:prstGeom>
          <a:solidFill>
            <a:srgbClr val="085CE5"/>
          </a:solidFill>
          <a:ln/>
        </p:spPr>
        <p:txBody>
          <a:bodyPr/>
          <a:lstStyle/>
          <a:p>
            <a:endParaRPr lang="en-US"/>
          </a:p>
        </p:txBody>
      </p:sp>
      <p:sp>
        <p:nvSpPr>
          <p:cNvPr id="6" name="Shape 4"/>
          <p:cNvSpPr/>
          <p:nvPr/>
        </p:nvSpPr>
        <p:spPr>
          <a:xfrm>
            <a:off x="1086764" y="2603150"/>
            <a:ext cx="59911" cy="104845"/>
          </a:xfrm>
          <a:prstGeom prst="rect">
            <a:avLst/>
          </a:prstGeom>
          <a:solidFill>
            <a:srgbClr val="FFFFFF"/>
          </a:solidFill>
          <a:ln/>
        </p:spPr>
        <p:txBody>
          <a:bodyPr/>
          <a:lstStyle/>
          <a:p>
            <a:endParaRPr lang="en-US"/>
          </a:p>
        </p:txBody>
      </p:sp>
      <p:sp>
        <p:nvSpPr>
          <p:cNvPr id="7" name="Shape 5"/>
          <p:cNvSpPr/>
          <p:nvPr/>
        </p:nvSpPr>
        <p:spPr>
          <a:xfrm>
            <a:off x="1191610" y="2558217"/>
            <a:ext cx="59911" cy="149779"/>
          </a:xfrm>
          <a:prstGeom prst="rect">
            <a:avLst/>
          </a:prstGeom>
          <a:solidFill>
            <a:srgbClr val="FFFFFF"/>
          </a:solidFill>
          <a:ln/>
        </p:spPr>
        <p:txBody>
          <a:bodyPr/>
          <a:lstStyle/>
          <a:p>
            <a:endParaRPr lang="en-US"/>
          </a:p>
        </p:txBody>
      </p:sp>
      <p:sp>
        <p:nvSpPr>
          <p:cNvPr id="8" name="Shape 6"/>
          <p:cNvSpPr/>
          <p:nvPr/>
        </p:nvSpPr>
        <p:spPr>
          <a:xfrm>
            <a:off x="1296455" y="2495809"/>
            <a:ext cx="59911" cy="212187"/>
          </a:xfrm>
          <a:prstGeom prst="rect">
            <a:avLst/>
          </a:prstGeom>
          <a:solidFill>
            <a:srgbClr val="FFFFFF"/>
          </a:solidFill>
          <a:ln/>
        </p:spPr>
        <p:txBody>
          <a:bodyPr/>
          <a:lstStyle/>
          <a:p>
            <a:endParaRPr lang="en-US"/>
          </a:p>
        </p:txBody>
      </p:sp>
      <p:sp>
        <p:nvSpPr>
          <p:cNvPr id="9" name="Text 7"/>
          <p:cNvSpPr/>
          <p:nvPr/>
        </p:nvSpPr>
        <p:spPr>
          <a:xfrm>
            <a:off x="914400" y="3017520"/>
            <a:ext cx="2057400" cy="457200"/>
          </a:xfrm>
          <a:prstGeom prst="rect">
            <a:avLst/>
          </a:prstGeom>
          <a:noFill/>
          <a:ln/>
        </p:spPr>
        <p:txBody>
          <a:bodyPr wrap="square" lIns="0" tIns="0" rIns="0" bIns="0" rtlCol="0" anchor="ctr"/>
          <a:lstStyle/>
          <a:p>
            <a:pPr marL="0" indent="0">
              <a:buNone/>
            </a:pPr>
            <a:r>
              <a:rPr lang="en-US" sz="2200" b="1" dirty="0">
                <a:solidFill>
                  <a:srgbClr val="B6BBC0"/>
                </a:solidFill>
                <a:latin typeface="Arial" pitchFamily="34" charset="0"/>
                <a:ea typeface="Arial" pitchFamily="34" charset="-122"/>
                <a:cs typeface="Arial" pitchFamily="34" charset="-120"/>
              </a:rPr>
              <a:t>01</a:t>
            </a:r>
            <a:endParaRPr lang="en-US" sz="2200" dirty="0"/>
          </a:p>
        </p:txBody>
      </p:sp>
      <p:sp>
        <p:nvSpPr>
          <p:cNvPr id="10" name="Text 8"/>
          <p:cNvSpPr/>
          <p:nvPr/>
        </p:nvSpPr>
        <p:spPr>
          <a:xfrm>
            <a:off x="914400" y="3429000"/>
            <a:ext cx="2057400" cy="868680"/>
          </a:xfrm>
          <a:prstGeom prst="rect">
            <a:avLst/>
          </a:prstGeom>
          <a:noFill/>
          <a:ln/>
        </p:spPr>
        <p:txBody>
          <a:bodyPr wrap="square" lIns="0" tIns="0" rIns="0" bIns="0" rtlCol="0" anchor="ctr"/>
          <a:lstStyle/>
          <a:p>
            <a:pPr marL="0" indent="0">
              <a:buNone/>
            </a:pPr>
            <a:r>
              <a:rPr lang="en-US" sz="1600" b="1" dirty="0">
                <a:solidFill>
                  <a:srgbClr val="06185F"/>
                </a:solidFill>
                <a:latin typeface="Arial" pitchFamily="34" charset="0"/>
                <a:ea typeface="Arial" pitchFamily="34" charset="-122"/>
                <a:cs typeface="Arial" pitchFamily="34" charset="-120"/>
              </a:rPr>
              <a:t>The Business Case</a:t>
            </a:r>
            <a:endParaRPr lang="en-US" sz="1600" dirty="0"/>
          </a:p>
        </p:txBody>
      </p:sp>
      <p:sp>
        <p:nvSpPr>
          <p:cNvPr id="11" name="Text 9"/>
          <p:cNvSpPr/>
          <p:nvPr/>
        </p:nvSpPr>
        <p:spPr>
          <a:xfrm>
            <a:off x="914400" y="4297680"/>
            <a:ext cx="2057400" cy="1417320"/>
          </a:xfrm>
          <a:prstGeom prst="rect">
            <a:avLst/>
          </a:prstGeom>
          <a:noFill/>
          <a:ln/>
        </p:spPr>
        <p:txBody>
          <a:bodyPr wrap="square" lIns="0" tIns="0" rIns="0" bIns="0" rtlCol="0" anchor="ctr"/>
          <a:lstStyle/>
          <a:p>
            <a:pPr marL="0" indent="0">
              <a:buNone/>
            </a:pPr>
            <a:r>
              <a:rPr lang="en-US" sz="1150" dirty="0">
                <a:solidFill>
                  <a:srgbClr val="575A5D"/>
                </a:solidFill>
                <a:latin typeface="Calibri" pitchFamily="34" charset="0"/>
                <a:ea typeface="Calibri" pitchFamily="34" charset="-122"/>
                <a:cs typeface="Calibri" pitchFamily="34" charset="-120"/>
              </a:rPr>
              <a:t>Why churn and small-business drift both cost community FIs real revenue — today</a:t>
            </a:r>
            <a:endParaRPr lang="en-US" sz="1150" dirty="0"/>
          </a:p>
        </p:txBody>
      </p:sp>
      <p:sp>
        <p:nvSpPr>
          <p:cNvPr id="12" name="Shape 10"/>
          <p:cNvSpPr/>
          <p:nvPr/>
        </p:nvSpPr>
        <p:spPr>
          <a:xfrm>
            <a:off x="3474720" y="1965960"/>
            <a:ext cx="2606040" cy="3931920"/>
          </a:xfrm>
          <a:prstGeom prst="roundRect">
            <a:avLst>
              <a:gd name="adj" fmla="val 2807"/>
            </a:avLst>
          </a:prstGeom>
          <a:solidFill>
            <a:srgbClr val="E8F7F7"/>
          </a:solidFill>
          <a:ln/>
          <a:effectLst>
            <a:outerShdw blurRad="127000" dist="38100" dir="5400000" algn="bl" rotWithShape="0">
              <a:srgbClr val="1B1F3B">
                <a:alpha val="10000"/>
              </a:srgbClr>
            </a:outerShdw>
          </a:effectLst>
        </p:spPr>
        <p:txBody>
          <a:bodyPr/>
          <a:lstStyle/>
          <a:p>
            <a:endParaRPr lang="en-US"/>
          </a:p>
        </p:txBody>
      </p:sp>
      <p:sp>
        <p:nvSpPr>
          <p:cNvPr id="13" name="Shape 11"/>
          <p:cNvSpPr/>
          <p:nvPr/>
        </p:nvSpPr>
        <p:spPr>
          <a:xfrm>
            <a:off x="3749040" y="2286000"/>
            <a:ext cx="594360" cy="594360"/>
          </a:xfrm>
          <a:prstGeom prst="ellipse">
            <a:avLst/>
          </a:prstGeom>
          <a:solidFill>
            <a:srgbClr val="085CE5"/>
          </a:solidFill>
          <a:ln/>
        </p:spPr>
        <p:txBody>
          <a:bodyPr/>
          <a:lstStyle/>
          <a:p>
            <a:endParaRPr lang="en-US"/>
          </a:p>
        </p:txBody>
      </p:sp>
      <p:sp>
        <p:nvSpPr>
          <p:cNvPr id="14" name="Shape 12"/>
          <p:cNvSpPr/>
          <p:nvPr/>
        </p:nvSpPr>
        <p:spPr>
          <a:xfrm>
            <a:off x="3921404" y="2458364"/>
            <a:ext cx="249631" cy="249631"/>
          </a:xfrm>
          <a:prstGeom prst="ellipse">
            <a:avLst/>
          </a:prstGeom>
          <a:ln w="31750">
            <a:solidFill>
              <a:srgbClr val="FFFFFF"/>
            </a:solidFill>
            <a:prstDash val="solid"/>
          </a:ln>
        </p:spPr>
        <p:txBody>
          <a:bodyPr/>
          <a:lstStyle/>
          <a:p>
            <a:endParaRPr lang="en-US"/>
          </a:p>
        </p:txBody>
      </p:sp>
      <p:sp>
        <p:nvSpPr>
          <p:cNvPr id="15" name="Text 13"/>
          <p:cNvSpPr/>
          <p:nvPr/>
        </p:nvSpPr>
        <p:spPr>
          <a:xfrm>
            <a:off x="3749040" y="3017520"/>
            <a:ext cx="2057400" cy="457200"/>
          </a:xfrm>
          <a:prstGeom prst="rect">
            <a:avLst/>
          </a:prstGeom>
          <a:noFill/>
          <a:ln/>
        </p:spPr>
        <p:txBody>
          <a:bodyPr wrap="square" lIns="0" tIns="0" rIns="0" bIns="0" rtlCol="0" anchor="ctr"/>
          <a:lstStyle/>
          <a:p>
            <a:pPr marL="0" indent="0">
              <a:buNone/>
            </a:pPr>
            <a:r>
              <a:rPr lang="en-US" sz="2200" b="1" dirty="0">
                <a:solidFill>
                  <a:srgbClr val="B6BBC0"/>
                </a:solidFill>
                <a:latin typeface="Arial" pitchFamily="34" charset="0"/>
                <a:ea typeface="Arial" pitchFamily="34" charset="-122"/>
                <a:cs typeface="Arial" pitchFamily="34" charset="-120"/>
              </a:rPr>
              <a:t>02</a:t>
            </a:r>
            <a:endParaRPr lang="en-US" sz="2200" dirty="0"/>
          </a:p>
        </p:txBody>
      </p:sp>
      <p:sp>
        <p:nvSpPr>
          <p:cNvPr id="16" name="Text 14"/>
          <p:cNvSpPr/>
          <p:nvPr/>
        </p:nvSpPr>
        <p:spPr>
          <a:xfrm>
            <a:off x="3749040" y="3429000"/>
            <a:ext cx="2057400" cy="868680"/>
          </a:xfrm>
          <a:prstGeom prst="rect">
            <a:avLst/>
          </a:prstGeom>
          <a:noFill/>
          <a:ln/>
        </p:spPr>
        <p:txBody>
          <a:bodyPr wrap="square" lIns="0" tIns="0" rIns="0" bIns="0" rtlCol="0" anchor="ctr"/>
          <a:lstStyle/>
          <a:p>
            <a:pPr marL="0" indent="0">
              <a:buNone/>
            </a:pPr>
            <a:r>
              <a:rPr lang="en-US" sz="1600" b="1" dirty="0">
                <a:solidFill>
                  <a:srgbClr val="06185F"/>
                </a:solidFill>
                <a:latin typeface="Arial" pitchFamily="34" charset="0"/>
                <a:ea typeface="Arial" pitchFamily="34" charset="-122"/>
                <a:cs typeface="Arial" pitchFamily="34" charset="-120"/>
              </a:rPr>
              <a:t>Building the Model</a:t>
            </a:r>
            <a:endParaRPr lang="en-US" sz="1600" dirty="0"/>
          </a:p>
        </p:txBody>
      </p:sp>
      <p:sp>
        <p:nvSpPr>
          <p:cNvPr id="17" name="Text 15"/>
          <p:cNvSpPr/>
          <p:nvPr/>
        </p:nvSpPr>
        <p:spPr>
          <a:xfrm>
            <a:off x="3749040" y="4297680"/>
            <a:ext cx="2057400" cy="1417320"/>
          </a:xfrm>
          <a:prstGeom prst="rect">
            <a:avLst/>
          </a:prstGeom>
          <a:noFill/>
          <a:ln/>
        </p:spPr>
        <p:txBody>
          <a:bodyPr wrap="square" lIns="0" tIns="0" rIns="0" bIns="0" rtlCol="0" anchor="ctr"/>
          <a:lstStyle/>
          <a:p>
            <a:pPr marL="0" indent="0">
              <a:buNone/>
            </a:pPr>
            <a:r>
              <a:rPr lang="en-US" sz="1150" dirty="0">
                <a:solidFill>
                  <a:srgbClr val="575A5D"/>
                </a:solidFill>
                <a:latin typeface="Calibri" pitchFamily="34" charset="0"/>
                <a:ea typeface="Calibri" pitchFamily="34" charset="-122"/>
                <a:cs typeface="Calibri" pitchFamily="34" charset="-120"/>
              </a:rPr>
              <a:t>Data, exploration, sampling, and evaluation behind the score — one shared ML pipeline</a:t>
            </a:r>
            <a:endParaRPr lang="en-US" sz="1150" dirty="0"/>
          </a:p>
        </p:txBody>
      </p:sp>
      <p:sp>
        <p:nvSpPr>
          <p:cNvPr id="18" name="Shape 16"/>
          <p:cNvSpPr/>
          <p:nvPr/>
        </p:nvSpPr>
        <p:spPr>
          <a:xfrm>
            <a:off x="6309360" y="1965960"/>
            <a:ext cx="2606040" cy="3931920"/>
          </a:xfrm>
          <a:prstGeom prst="roundRect">
            <a:avLst>
              <a:gd name="adj" fmla="val 2807"/>
            </a:avLst>
          </a:prstGeom>
          <a:solidFill>
            <a:srgbClr val="E8F7F7"/>
          </a:solidFill>
          <a:ln/>
          <a:effectLst>
            <a:outerShdw blurRad="127000" dist="38100" dir="5400000" algn="bl" rotWithShape="0">
              <a:srgbClr val="1B1F3B">
                <a:alpha val="10000"/>
              </a:srgbClr>
            </a:outerShdw>
          </a:effectLst>
        </p:spPr>
        <p:txBody>
          <a:bodyPr/>
          <a:lstStyle/>
          <a:p>
            <a:endParaRPr lang="en-US"/>
          </a:p>
        </p:txBody>
      </p:sp>
      <p:sp>
        <p:nvSpPr>
          <p:cNvPr id="19" name="Shape 17"/>
          <p:cNvSpPr/>
          <p:nvPr/>
        </p:nvSpPr>
        <p:spPr>
          <a:xfrm>
            <a:off x="6583680" y="2286000"/>
            <a:ext cx="594360" cy="594360"/>
          </a:xfrm>
          <a:prstGeom prst="ellipse">
            <a:avLst/>
          </a:prstGeom>
          <a:solidFill>
            <a:srgbClr val="085CE5"/>
          </a:solidFill>
          <a:ln/>
        </p:spPr>
        <p:txBody>
          <a:bodyPr/>
          <a:lstStyle/>
          <a:p>
            <a:endParaRPr lang="en-US"/>
          </a:p>
        </p:txBody>
      </p:sp>
      <p:sp>
        <p:nvSpPr>
          <p:cNvPr id="20" name="Shape 18"/>
          <p:cNvSpPr/>
          <p:nvPr/>
        </p:nvSpPr>
        <p:spPr>
          <a:xfrm>
            <a:off x="6756044" y="2499970"/>
            <a:ext cx="249631" cy="164757"/>
          </a:xfrm>
          <a:prstGeom prst="rightArrow">
            <a:avLst/>
          </a:prstGeom>
          <a:solidFill>
            <a:srgbClr val="FFFFFF"/>
          </a:solidFill>
          <a:ln/>
        </p:spPr>
        <p:txBody>
          <a:bodyPr/>
          <a:lstStyle/>
          <a:p>
            <a:endParaRPr lang="en-US"/>
          </a:p>
        </p:txBody>
      </p:sp>
      <p:sp>
        <p:nvSpPr>
          <p:cNvPr id="21" name="Text 19"/>
          <p:cNvSpPr/>
          <p:nvPr/>
        </p:nvSpPr>
        <p:spPr>
          <a:xfrm>
            <a:off x="6583680" y="3017520"/>
            <a:ext cx="2057400" cy="457200"/>
          </a:xfrm>
          <a:prstGeom prst="rect">
            <a:avLst/>
          </a:prstGeom>
          <a:noFill/>
          <a:ln/>
        </p:spPr>
        <p:txBody>
          <a:bodyPr wrap="square" lIns="0" tIns="0" rIns="0" bIns="0" rtlCol="0" anchor="ctr"/>
          <a:lstStyle/>
          <a:p>
            <a:pPr marL="0" indent="0">
              <a:buNone/>
            </a:pPr>
            <a:r>
              <a:rPr lang="en-US" sz="2200" b="1" dirty="0">
                <a:solidFill>
                  <a:srgbClr val="B6BBC0"/>
                </a:solidFill>
                <a:latin typeface="Arial" pitchFamily="34" charset="0"/>
                <a:ea typeface="Arial" pitchFamily="34" charset="-122"/>
                <a:cs typeface="Arial" pitchFamily="34" charset="-120"/>
              </a:rPr>
              <a:t>03</a:t>
            </a:r>
            <a:endParaRPr lang="en-US" sz="2200" dirty="0"/>
          </a:p>
        </p:txBody>
      </p:sp>
      <p:sp>
        <p:nvSpPr>
          <p:cNvPr id="22" name="Text 20"/>
          <p:cNvSpPr/>
          <p:nvPr/>
        </p:nvSpPr>
        <p:spPr>
          <a:xfrm>
            <a:off x="6583680" y="3429000"/>
            <a:ext cx="2057400" cy="868680"/>
          </a:xfrm>
          <a:prstGeom prst="rect">
            <a:avLst/>
          </a:prstGeom>
          <a:noFill/>
          <a:ln/>
        </p:spPr>
        <p:txBody>
          <a:bodyPr wrap="square" lIns="0" tIns="0" rIns="0" bIns="0" rtlCol="0" anchor="ctr"/>
          <a:lstStyle/>
          <a:p>
            <a:pPr marL="0" indent="0">
              <a:buNone/>
            </a:pPr>
            <a:r>
              <a:rPr lang="en-US" sz="1600" b="1" dirty="0">
                <a:solidFill>
                  <a:srgbClr val="06185F"/>
                </a:solidFill>
                <a:latin typeface="Arial" pitchFamily="34" charset="0"/>
                <a:ea typeface="Arial" pitchFamily="34" charset="-122"/>
                <a:cs typeface="Arial" pitchFamily="34" charset="-120"/>
              </a:rPr>
              <a:t>Making It Explainable</a:t>
            </a:r>
            <a:endParaRPr lang="en-US" sz="1600" dirty="0"/>
          </a:p>
        </p:txBody>
      </p:sp>
      <p:sp>
        <p:nvSpPr>
          <p:cNvPr id="23" name="Text 21"/>
          <p:cNvSpPr/>
          <p:nvPr/>
        </p:nvSpPr>
        <p:spPr>
          <a:xfrm>
            <a:off x="6583680" y="4297680"/>
            <a:ext cx="2057400" cy="1417320"/>
          </a:xfrm>
          <a:prstGeom prst="rect">
            <a:avLst/>
          </a:prstGeom>
          <a:noFill/>
          <a:ln/>
        </p:spPr>
        <p:txBody>
          <a:bodyPr wrap="square" lIns="0" tIns="0" rIns="0" bIns="0" rtlCol="0" anchor="ctr"/>
          <a:lstStyle/>
          <a:p>
            <a:pPr marL="0" indent="0">
              <a:buNone/>
            </a:pPr>
            <a:r>
              <a:rPr lang="en-US" sz="1150" dirty="0">
                <a:solidFill>
                  <a:srgbClr val="575A5D"/>
                </a:solidFill>
                <a:latin typeface="Calibri" pitchFamily="34" charset="0"/>
                <a:ea typeface="Calibri" pitchFamily="34" charset="-122"/>
                <a:cs typeface="Calibri" pitchFamily="34" charset="-120"/>
              </a:rPr>
              <a:t>SHAP, calibrated scores, and AI narrative — turning a model output into an insight</a:t>
            </a:r>
            <a:endParaRPr lang="en-US" sz="1150" dirty="0"/>
          </a:p>
        </p:txBody>
      </p:sp>
      <p:sp>
        <p:nvSpPr>
          <p:cNvPr id="24" name="Shape 22"/>
          <p:cNvSpPr/>
          <p:nvPr/>
        </p:nvSpPr>
        <p:spPr>
          <a:xfrm>
            <a:off x="9144000" y="1965960"/>
            <a:ext cx="2606040" cy="3931920"/>
          </a:xfrm>
          <a:prstGeom prst="roundRect">
            <a:avLst>
              <a:gd name="adj" fmla="val 2807"/>
            </a:avLst>
          </a:prstGeom>
          <a:solidFill>
            <a:srgbClr val="E8F7F7"/>
          </a:solidFill>
          <a:ln/>
          <a:effectLst>
            <a:outerShdw blurRad="127000" dist="38100" dir="5400000" algn="bl" rotWithShape="0">
              <a:srgbClr val="1B1F3B">
                <a:alpha val="10000"/>
              </a:srgbClr>
            </a:outerShdw>
          </a:effectLst>
        </p:spPr>
        <p:txBody>
          <a:bodyPr/>
          <a:lstStyle/>
          <a:p>
            <a:endParaRPr lang="en-US"/>
          </a:p>
        </p:txBody>
      </p:sp>
      <p:sp>
        <p:nvSpPr>
          <p:cNvPr id="25" name="Shape 23"/>
          <p:cNvSpPr/>
          <p:nvPr/>
        </p:nvSpPr>
        <p:spPr>
          <a:xfrm>
            <a:off x="9418320" y="2286000"/>
            <a:ext cx="594360" cy="594360"/>
          </a:xfrm>
          <a:prstGeom prst="ellipse">
            <a:avLst/>
          </a:prstGeom>
          <a:solidFill>
            <a:srgbClr val="085CE5"/>
          </a:solidFill>
          <a:ln/>
        </p:spPr>
        <p:txBody>
          <a:bodyPr/>
          <a:lstStyle/>
          <a:p>
            <a:endParaRPr lang="en-US"/>
          </a:p>
        </p:txBody>
      </p:sp>
      <p:sp>
        <p:nvSpPr>
          <p:cNvPr id="26" name="Shape 24"/>
          <p:cNvSpPr/>
          <p:nvPr/>
        </p:nvSpPr>
        <p:spPr>
          <a:xfrm>
            <a:off x="9590684" y="2458364"/>
            <a:ext cx="249631" cy="249631"/>
          </a:xfrm>
          <a:prstGeom prst="ellipse">
            <a:avLst/>
          </a:prstGeom>
          <a:ln w="38100">
            <a:solidFill>
              <a:srgbClr val="FFFFFF"/>
            </a:solidFill>
            <a:prstDash val="solid"/>
          </a:ln>
        </p:spPr>
        <p:txBody>
          <a:bodyPr/>
          <a:lstStyle/>
          <a:p>
            <a:endParaRPr lang="en-US"/>
          </a:p>
        </p:txBody>
      </p:sp>
      <p:sp>
        <p:nvSpPr>
          <p:cNvPr id="27" name="Shape 25"/>
          <p:cNvSpPr/>
          <p:nvPr/>
        </p:nvSpPr>
        <p:spPr>
          <a:xfrm>
            <a:off x="9680552" y="2548232"/>
            <a:ext cx="69897" cy="69897"/>
          </a:xfrm>
          <a:prstGeom prst="ellipse">
            <a:avLst/>
          </a:prstGeom>
          <a:solidFill>
            <a:srgbClr val="FFFFFF"/>
          </a:solidFill>
          <a:ln/>
        </p:spPr>
        <p:txBody>
          <a:bodyPr/>
          <a:lstStyle/>
          <a:p>
            <a:endParaRPr lang="en-US"/>
          </a:p>
        </p:txBody>
      </p:sp>
      <p:sp>
        <p:nvSpPr>
          <p:cNvPr id="28" name="Text 26"/>
          <p:cNvSpPr/>
          <p:nvPr/>
        </p:nvSpPr>
        <p:spPr>
          <a:xfrm>
            <a:off x="9418320" y="3017520"/>
            <a:ext cx="2057400" cy="457200"/>
          </a:xfrm>
          <a:prstGeom prst="rect">
            <a:avLst/>
          </a:prstGeom>
          <a:noFill/>
          <a:ln/>
        </p:spPr>
        <p:txBody>
          <a:bodyPr wrap="square" lIns="0" tIns="0" rIns="0" bIns="0" rtlCol="0" anchor="ctr"/>
          <a:lstStyle/>
          <a:p>
            <a:pPr marL="0" indent="0">
              <a:buNone/>
            </a:pPr>
            <a:r>
              <a:rPr lang="en-US" sz="2200" b="1" dirty="0">
                <a:solidFill>
                  <a:srgbClr val="B6BBC0"/>
                </a:solidFill>
                <a:latin typeface="Arial" pitchFamily="34" charset="0"/>
                <a:ea typeface="Arial" pitchFamily="34" charset="-122"/>
                <a:cs typeface="Arial" pitchFamily="34" charset="-120"/>
              </a:rPr>
              <a:t>04</a:t>
            </a:r>
            <a:endParaRPr lang="en-US" sz="2200" dirty="0"/>
          </a:p>
        </p:txBody>
      </p:sp>
      <p:sp>
        <p:nvSpPr>
          <p:cNvPr id="29" name="Text 27"/>
          <p:cNvSpPr/>
          <p:nvPr/>
        </p:nvSpPr>
        <p:spPr>
          <a:xfrm>
            <a:off x="9418320" y="3429000"/>
            <a:ext cx="2057400" cy="868680"/>
          </a:xfrm>
          <a:prstGeom prst="rect">
            <a:avLst/>
          </a:prstGeom>
          <a:noFill/>
          <a:ln/>
        </p:spPr>
        <p:txBody>
          <a:bodyPr wrap="square" lIns="0" tIns="0" rIns="0" bIns="0" rtlCol="0" anchor="ctr"/>
          <a:lstStyle/>
          <a:p>
            <a:pPr marL="0" indent="0">
              <a:buNone/>
            </a:pPr>
            <a:r>
              <a:rPr lang="en-US" sz="1600" b="1" dirty="0">
                <a:solidFill>
                  <a:srgbClr val="06185F"/>
                </a:solidFill>
                <a:latin typeface="Arial" pitchFamily="34" charset="0"/>
                <a:ea typeface="Arial" pitchFamily="34" charset="-122"/>
                <a:cs typeface="Arial" pitchFamily="34" charset="-120"/>
              </a:rPr>
              <a:t>Making It Work</a:t>
            </a:r>
            <a:endParaRPr lang="en-US" sz="1600" dirty="0"/>
          </a:p>
        </p:txBody>
      </p:sp>
      <p:sp>
        <p:nvSpPr>
          <p:cNvPr id="30" name="Text 28"/>
          <p:cNvSpPr/>
          <p:nvPr/>
        </p:nvSpPr>
        <p:spPr>
          <a:xfrm>
            <a:off x="9418320" y="4297680"/>
            <a:ext cx="2057400" cy="1417320"/>
          </a:xfrm>
          <a:prstGeom prst="rect">
            <a:avLst/>
          </a:prstGeom>
          <a:noFill/>
          <a:ln/>
        </p:spPr>
        <p:txBody>
          <a:bodyPr wrap="square" lIns="0" tIns="0" rIns="0" bIns="0" rtlCol="0" anchor="ctr"/>
          <a:lstStyle/>
          <a:p>
            <a:pPr marL="0" indent="0">
              <a:buNone/>
            </a:pPr>
            <a:r>
              <a:rPr lang="en-US" sz="1150" dirty="0">
                <a:solidFill>
                  <a:srgbClr val="575A5D"/>
                </a:solidFill>
                <a:latin typeface="Calibri" pitchFamily="34" charset="0"/>
                <a:ea typeface="Calibri" pitchFamily="34" charset="-122"/>
                <a:cs typeface="Calibri" pitchFamily="34" charset="-120"/>
              </a:rPr>
              <a:t>Offer optimization, a rollout roadmap, and the guardrails that protect trust</a:t>
            </a:r>
            <a:endParaRPr lang="en-US" sz="1150" dirty="0"/>
          </a:p>
        </p:txBody>
      </p:sp>
      <p:sp>
        <p:nvSpPr>
          <p:cNvPr id="31" name="Text 29"/>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900" dirty="0">
                <a:solidFill>
                  <a:srgbClr val="B6BBC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5486400" cy="320040"/>
          </a:xfrm>
          <a:prstGeom prst="rect">
            <a:avLst/>
          </a:prstGeom>
          <a:noFill/>
          <a:ln/>
        </p:spPr>
        <p:txBody>
          <a:bodyPr wrap="square" lIns="0" tIns="0" rIns="0" bIns="0" rtlCol="0" anchor="ctr"/>
          <a:lstStyle/>
          <a:p>
            <a:pPr marL="0" indent="0" algn="l">
              <a:buNone/>
            </a:pPr>
            <a:r>
              <a:rPr lang="en-US" sz="1200" b="1" kern="0" spc="200" dirty="0">
                <a:solidFill>
                  <a:srgbClr val="085CE5"/>
                </a:solidFill>
                <a:latin typeface="Calibri" pitchFamily="34" charset="0"/>
                <a:ea typeface="Calibri" pitchFamily="34" charset="-122"/>
                <a:cs typeface="Calibri" pitchFamily="34" charset="-120"/>
              </a:rPr>
              <a:t>THE BUSINESS CASE  —  PART 1 OF 2</a:t>
            </a:r>
            <a:endParaRPr lang="en-US" sz="1200" dirty="0"/>
          </a:p>
        </p:txBody>
      </p:sp>
      <p:sp>
        <p:nvSpPr>
          <p:cNvPr id="3" name="Text 1"/>
          <p:cNvSpPr/>
          <p:nvPr/>
        </p:nvSpPr>
        <p:spPr>
          <a:xfrm>
            <a:off x="640080" y="822960"/>
            <a:ext cx="10515600" cy="822960"/>
          </a:xfrm>
          <a:prstGeom prst="rect">
            <a:avLst/>
          </a:prstGeom>
          <a:noFill/>
          <a:ln/>
        </p:spPr>
        <p:txBody>
          <a:bodyPr wrap="square" lIns="0" tIns="0" rIns="0" bIns="0" rtlCol="0" anchor="ctr"/>
          <a:lstStyle/>
          <a:p>
            <a:pPr marL="0" indent="0">
              <a:buNone/>
            </a:pPr>
            <a:r>
              <a:rPr lang="en-US" sz="3000" b="1" dirty="0">
                <a:solidFill>
                  <a:srgbClr val="06185F"/>
                </a:solidFill>
                <a:latin typeface="Arial" pitchFamily="34" charset="0"/>
                <a:ea typeface="Arial" pitchFamily="34" charset="-122"/>
                <a:cs typeface="Arial" pitchFamily="34" charset="-120"/>
              </a:rPr>
              <a:t>Attrition is quietly draining the balance sheet</a:t>
            </a:r>
            <a:endParaRPr lang="en-US" sz="3000" dirty="0"/>
          </a:p>
        </p:txBody>
      </p:sp>
      <p:sp>
        <p:nvSpPr>
          <p:cNvPr id="4" name="Shape 2"/>
          <p:cNvSpPr/>
          <p:nvPr/>
        </p:nvSpPr>
        <p:spPr>
          <a:xfrm>
            <a:off x="640080" y="1965960"/>
            <a:ext cx="3429000" cy="2834640"/>
          </a:xfrm>
          <a:prstGeom prst="roundRect">
            <a:avLst>
              <a:gd name="adj" fmla="val 2581"/>
            </a:avLst>
          </a:prstGeom>
          <a:solidFill>
            <a:srgbClr val="E8F7F7"/>
          </a:solidFill>
          <a:ln/>
          <a:effectLst>
            <a:outerShdw blurRad="127000" dist="38100" dir="5400000" algn="bl" rotWithShape="0">
              <a:srgbClr val="1B1F3B">
                <a:alpha val="10000"/>
              </a:srgbClr>
            </a:outerShdw>
          </a:effectLst>
        </p:spPr>
        <p:txBody>
          <a:bodyPr/>
          <a:lstStyle/>
          <a:p>
            <a:endParaRPr lang="en-US"/>
          </a:p>
        </p:txBody>
      </p:sp>
      <p:sp>
        <p:nvSpPr>
          <p:cNvPr id="5" name="Text 3"/>
          <p:cNvSpPr/>
          <p:nvPr/>
        </p:nvSpPr>
        <p:spPr>
          <a:xfrm>
            <a:off x="914400" y="2286000"/>
            <a:ext cx="2880360" cy="1005840"/>
          </a:xfrm>
          <a:prstGeom prst="rect">
            <a:avLst/>
          </a:prstGeom>
          <a:noFill/>
          <a:ln/>
        </p:spPr>
        <p:txBody>
          <a:bodyPr wrap="square" lIns="0" tIns="0" rIns="0" bIns="0" rtlCol="0" anchor="ctr"/>
          <a:lstStyle/>
          <a:p>
            <a:pPr marL="0" indent="0">
              <a:buNone/>
            </a:pPr>
            <a:r>
              <a:rPr lang="en-US" sz="4600" b="1" dirty="0">
                <a:solidFill>
                  <a:srgbClr val="085CE5"/>
                </a:solidFill>
                <a:latin typeface="Arial" pitchFamily="34" charset="0"/>
                <a:ea typeface="Arial" pitchFamily="34" charset="-122"/>
                <a:cs typeface="Arial" pitchFamily="34" charset="-120"/>
              </a:rPr>
              <a:t>$195B</a:t>
            </a:r>
            <a:endParaRPr lang="en-US" sz="4600" dirty="0"/>
          </a:p>
        </p:txBody>
      </p:sp>
      <p:sp>
        <p:nvSpPr>
          <p:cNvPr id="6" name="Text 4"/>
          <p:cNvSpPr/>
          <p:nvPr/>
        </p:nvSpPr>
        <p:spPr>
          <a:xfrm>
            <a:off x="914400" y="3337560"/>
            <a:ext cx="2880360" cy="1280160"/>
          </a:xfrm>
          <a:prstGeom prst="rect">
            <a:avLst/>
          </a:prstGeom>
          <a:noFill/>
          <a:ln/>
        </p:spPr>
        <p:txBody>
          <a:bodyPr wrap="square" lIns="0" tIns="0" rIns="0" bIns="0" rtlCol="0" anchor="ctr"/>
          <a:lstStyle/>
          <a:p>
            <a:pPr marL="0" indent="0">
              <a:buNone/>
            </a:pPr>
            <a:r>
              <a:rPr lang="en-US" sz="1350" dirty="0">
                <a:solidFill>
                  <a:srgbClr val="575A5D"/>
                </a:solidFill>
                <a:latin typeface="Calibri" pitchFamily="34" charset="0"/>
                <a:ea typeface="Calibri" pitchFamily="34" charset="-122"/>
                <a:cs typeface="Calibri" pitchFamily="34" charset="-120"/>
              </a:rPr>
              <a:t>lost annually to customer churn across U.S. banks</a:t>
            </a:r>
            <a:endParaRPr lang="en-US" sz="1350" dirty="0"/>
          </a:p>
        </p:txBody>
      </p:sp>
      <p:sp>
        <p:nvSpPr>
          <p:cNvPr id="7" name="Shape 5"/>
          <p:cNvSpPr/>
          <p:nvPr/>
        </p:nvSpPr>
        <p:spPr>
          <a:xfrm>
            <a:off x="4389120" y="1965960"/>
            <a:ext cx="3429000" cy="2834640"/>
          </a:xfrm>
          <a:prstGeom prst="roundRect">
            <a:avLst>
              <a:gd name="adj" fmla="val 2581"/>
            </a:avLst>
          </a:prstGeom>
          <a:solidFill>
            <a:srgbClr val="E8F7F7"/>
          </a:solidFill>
          <a:ln/>
          <a:effectLst>
            <a:outerShdw blurRad="127000" dist="38100" dir="5400000" algn="bl" rotWithShape="0">
              <a:srgbClr val="1B1F3B">
                <a:alpha val="10000"/>
              </a:srgbClr>
            </a:outerShdw>
          </a:effectLst>
        </p:spPr>
        <p:txBody>
          <a:bodyPr/>
          <a:lstStyle/>
          <a:p>
            <a:endParaRPr lang="en-US"/>
          </a:p>
        </p:txBody>
      </p:sp>
      <p:sp>
        <p:nvSpPr>
          <p:cNvPr id="8" name="Text 6"/>
          <p:cNvSpPr/>
          <p:nvPr/>
        </p:nvSpPr>
        <p:spPr>
          <a:xfrm>
            <a:off x="4663440" y="2286000"/>
            <a:ext cx="2880360" cy="1005840"/>
          </a:xfrm>
          <a:prstGeom prst="rect">
            <a:avLst/>
          </a:prstGeom>
          <a:noFill/>
          <a:ln/>
        </p:spPr>
        <p:txBody>
          <a:bodyPr wrap="square" lIns="0" tIns="0" rIns="0" bIns="0" rtlCol="0" anchor="ctr"/>
          <a:lstStyle/>
          <a:p>
            <a:pPr marL="0" indent="0">
              <a:buNone/>
            </a:pPr>
            <a:r>
              <a:rPr lang="en-US" sz="4600" b="1" dirty="0">
                <a:solidFill>
                  <a:srgbClr val="085CE5"/>
                </a:solidFill>
                <a:latin typeface="Arial" pitchFamily="34" charset="0"/>
                <a:ea typeface="Arial" pitchFamily="34" charset="-122"/>
                <a:cs typeface="Arial" pitchFamily="34" charset="-120"/>
              </a:rPr>
              <a:t>55%</a:t>
            </a:r>
            <a:endParaRPr lang="en-US" sz="4600" dirty="0"/>
          </a:p>
        </p:txBody>
      </p:sp>
      <p:sp>
        <p:nvSpPr>
          <p:cNvPr id="9" name="Text 7"/>
          <p:cNvSpPr/>
          <p:nvPr/>
        </p:nvSpPr>
        <p:spPr>
          <a:xfrm>
            <a:off x="4663440" y="3337560"/>
            <a:ext cx="2880360" cy="1280160"/>
          </a:xfrm>
          <a:prstGeom prst="rect">
            <a:avLst/>
          </a:prstGeom>
          <a:noFill/>
          <a:ln/>
        </p:spPr>
        <p:txBody>
          <a:bodyPr wrap="square" lIns="0" tIns="0" rIns="0" bIns="0" rtlCol="0" anchor="ctr"/>
          <a:lstStyle/>
          <a:p>
            <a:pPr marL="0" indent="0">
              <a:buNone/>
            </a:pPr>
            <a:r>
              <a:rPr lang="en-US" sz="1350" dirty="0">
                <a:solidFill>
                  <a:srgbClr val="575A5D"/>
                </a:solidFill>
                <a:latin typeface="Calibri" pitchFamily="34" charset="0"/>
                <a:ea typeface="Calibri" pitchFamily="34" charset="-122"/>
                <a:cs typeface="Calibri" pitchFamily="34" charset="-120"/>
              </a:rPr>
              <a:t>of federally insured credit unions had fewer members at year-end 2025 than a year earlier</a:t>
            </a:r>
            <a:endParaRPr lang="en-US" sz="1350" dirty="0"/>
          </a:p>
        </p:txBody>
      </p:sp>
      <p:sp>
        <p:nvSpPr>
          <p:cNvPr id="10" name="Shape 8"/>
          <p:cNvSpPr/>
          <p:nvPr/>
        </p:nvSpPr>
        <p:spPr>
          <a:xfrm>
            <a:off x="8138160" y="1965960"/>
            <a:ext cx="3429000" cy="2834640"/>
          </a:xfrm>
          <a:prstGeom prst="roundRect">
            <a:avLst>
              <a:gd name="adj" fmla="val 2581"/>
            </a:avLst>
          </a:prstGeom>
          <a:solidFill>
            <a:srgbClr val="E8F7F7"/>
          </a:solidFill>
          <a:ln/>
          <a:effectLst>
            <a:outerShdw blurRad="127000" dist="38100" dir="5400000" algn="bl" rotWithShape="0">
              <a:srgbClr val="1B1F3B">
                <a:alpha val="10000"/>
              </a:srgbClr>
            </a:outerShdw>
          </a:effectLst>
        </p:spPr>
        <p:txBody>
          <a:bodyPr/>
          <a:lstStyle/>
          <a:p>
            <a:endParaRPr lang="en-US"/>
          </a:p>
        </p:txBody>
      </p:sp>
      <p:sp>
        <p:nvSpPr>
          <p:cNvPr id="11" name="Text 9"/>
          <p:cNvSpPr/>
          <p:nvPr/>
        </p:nvSpPr>
        <p:spPr>
          <a:xfrm>
            <a:off x="8412480" y="2286000"/>
            <a:ext cx="2880360" cy="1005840"/>
          </a:xfrm>
          <a:prstGeom prst="rect">
            <a:avLst/>
          </a:prstGeom>
          <a:noFill/>
          <a:ln/>
        </p:spPr>
        <p:txBody>
          <a:bodyPr wrap="square" lIns="0" tIns="0" rIns="0" bIns="0" rtlCol="0" anchor="ctr"/>
          <a:lstStyle/>
          <a:p>
            <a:pPr marL="0" indent="0">
              <a:buNone/>
            </a:pPr>
            <a:r>
              <a:rPr lang="en-US" sz="4600" b="1" dirty="0">
                <a:solidFill>
                  <a:srgbClr val="085CE5"/>
                </a:solidFill>
                <a:latin typeface="Arial" pitchFamily="34" charset="0"/>
                <a:ea typeface="Arial" pitchFamily="34" charset="-122"/>
                <a:cs typeface="Arial" pitchFamily="34" charset="-120"/>
              </a:rPr>
              <a:t>83.1%</a:t>
            </a:r>
            <a:endParaRPr lang="en-US" sz="4600" dirty="0"/>
          </a:p>
        </p:txBody>
      </p:sp>
      <p:sp>
        <p:nvSpPr>
          <p:cNvPr id="12" name="Text 10"/>
          <p:cNvSpPr/>
          <p:nvPr/>
        </p:nvSpPr>
        <p:spPr>
          <a:xfrm>
            <a:off x="8412480" y="3337560"/>
            <a:ext cx="2880360" cy="1280160"/>
          </a:xfrm>
          <a:prstGeom prst="rect">
            <a:avLst/>
          </a:prstGeom>
          <a:noFill/>
          <a:ln/>
        </p:spPr>
        <p:txBody>
          <a:bodyPr wrap="square" lIns="0" tIns="0" rIns="0" bIns="0" rtlCol="0" anchor="ctr"/>
          <a:lstStyle/>
          <a:p>
            <a:pPr marL="0" indent="0">
              <a:buNone/>
            </a:pPr>
            <a:r>
              <a:rPr lang="en-US" sz="1350" dirty="0">
                <a:solidFill>
                  <a:srgbClr val="575A5D"/>
                </a:solidFill>
                <a:latin typeface="Calibri" pitchFamily="34" charset="0"/>
                <a:ea typeface="Calibri" pitchFamily="34" charset="-122"/>
                <a:cs typeface="Calibri" pitchFamily="34" charset="-120"/>
              </a:rPr>
              <a:t>average community-bank retention rate — solid, but eroding at the margin</a:t>
            </a:r>
            <a:endParaRPr lang="en-US" sz="1350" dirty="0"/>
          </a:p>
        </p:txBody>
      </p:sp>
      <p:sp>
        <p:nvSpPr>
          <p:cNvPr id="13" name="Text 11"/>
          <p:cNvSpPr/>
          <p:nvPr/>
        </p:nvSpPr>
        <p:spPr>
          <a:xfrm>
            <a:off x="640080" y="5074920"/>
            <a:ext cx="10058400" cy="320040"/>
          </a:xfrm>
          <a:prstGeom prst="rect">
            <a:avLst/>
          </a:prstGeom>
          <a:noFill/>
          <a:ln/>
        </p:spPr>
        <p:txBody>
          <a:bodyPr wrap="square" lIns="0" tIns="0" rIns="0" bIns="0" rtlCol="0" anchor="ctr"/>
          <a:lstStyle/>
          <a:p>
            <a:pPr marL="0" indent="0">
              <a:buNone/>
            </a:pPr>
            <a:r>
              <a:rPr lang="en-US" sz="950" i="1" dirty="0">
                <a:solidFill>
                  <a:srgbClr val="B6BBC0"/>
                </a:solidFill>
                <a:latin typeface="Calibri" pitchFamily="34" charset="0"/>
                <a:ea typeface="Calibri" pitchFamily="34" charset="-122"/>
                <a:cs typeface="Calibri" pitchFamily="34" charset="-120"/>
              </a:rPr>
              <a:t>Sources: NCUA 2025 year-end call report data; industry churn-cost estimates, 2025–26.</a:t>
            </a:r>
            <a:endParaRPr lang="en-US" sz="950" dirty="0"/>
          </a:p>
        </p:txBody>
      </p:sp>
      <p:sp>
        <p:nvSpPr>
          <p:cNvPr id="14" name="Text 12"/>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900" dirty="0">
                <a:solidFill>
                  <a:srgbClr val="B6BBC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5486400" cy="320040"/>
          </a:xfrm>
          <a:prstGeom prst="rect">
            <a:avLst/>
          </a:prstGeom>
          <a:noFill/>
          <a:ln/>
        </p:spPr>
        <p:txBody>
          <a:bodyPr wrap="square" lIns="0" tIns="0" rIns="0" bIns="0" rtlCol="0" anchor="ctr"/>
          <a:lstStyle/>
          <a:p>
            <a:pPr marL="0" indent="0" algn="l">
              <a:buNone/>
            </a:pPr>
            <a:r>
              <a:rPr lang="en-US" sz="1200" b="1" kern="0" spc="200" dirty="0">
                <a:solidFill>
                  <a:srgbClr val="085CE5"/>
                </a:solidFill>
                <a:latin typeface="Calibri" pitchFamily="34" charset="0"/>
                <a:ea typeface="Calibri" pitchFamily="34" charset="-122"/>
                <a:cs typeface="Calibri" pitchFamily="34" charset="-120"/>
              </a:rPr>
              <a:t>THE BUSINESS MODEL</a:t>
            </a:r>
            <a:endParaRPr lang="en-US" sz="1200" dirty="0"/>
          </a:p>
        </p:txBody>
      </p:sp>
      <p:sp>
        <p:nvSpPr>
          <p:cNvPr id="3" name="Text 1"/>
          <p:cNvSpPr/>
          <p:nvPr/>
        </p:nvSpPr>
        <p:spPr>
          <a:xfrm>
            <a:off x="640080" y="822960"/>
            <a:ext cx="10515600" cy="731520"/>
          </a:xfrm>
          <a:prstGeom prst="rect">
            <a:avLst/>
          </a:prstGeom>
          <a:noFill/>
          <a:ln/>
        </p:spPr>
        <p:txBody>
          <a:bodyPr wrap="square" lIns="0" tIns="0" rIns="0" bIns="0" rtlCol="0" anchor="ctr"/>
          <a:lstStyle/>
          <a:p>
            <a:pPr marL="0" indent="0">
              <a:buNone/>
            </a:pPr>
            <a:r>
              <a:rPr lang="en-US" sz="2800" b="1" dirty="0">
                <a:solidFill>
                  <a:srgbClr val="06185F"/>
                </a:solidFill>
                <a:latin typeface="Arial" pitchFamily="34" charset="0"/>
                <a:ea typeface="Arial" pitchFamily="34" charset="-122"/>
                <a:cs typeface="Arial" pitchFamily="34" charset="-120"/>
              </a:rPr>
              <a:t>Retention is the cheapest growth lever you have</a:t>
            </a:r>
            <a:endParaRPr lang="en-US" sz="2800" dirty="0"/>
          </a:p>
        </p:txBody>
      </p:sp>
      <p:sp>
        <p:nvSpPr>
          <p:cNvPr id="4" name="Shape 2"/>
          <p:cNvSpPr/>
          <p:nvPr/>
        </p:nvSpPr>
        <p:spPr>
          <a:xfrm>
            <a:off x="640080" y="1920240"/>
            <a:ext cx="3429000" cy="3063240"/>
          </a:xfrm>
          <a:prstGeom prst="roundRect">
            <a:avLst>
              <a:gd name="adj" fmla="val 2388"/>
            </a:avLst>
          </a:prstGeom>
          <a:solidFill>
            <a:srgbClr val="E8F7F7"/>
          </a:solidFill>
          <a:ln/>
          <a:effectLst>
            <a:outerShdw blurRad="127000" dist="38100" dir="5400000" algn="bl" rotWithShape="0">
              <a:srgbClr val="1B1F3B">
                <a:alpha val="10000"/>
              </a:srgbClr>
            </a:outerShdw>
          </a:effectLst>
        </p:spPr>
        <p:txBody>
          <a:bodyPr/>
          <a:lstStyle/>
          <a:p>
            <a:endParaRPr lang="en-US"/>
          </a:p>
        </p:txBody>
      </p:sp>
      <p:sp>
        <p:nvSpPr>
          <p:cNvPr id="5" name="Shape 3"/>
          <p:cNvSpPr/>
          <p:nvPr/>
        </p:nvSpPr>
        <p:spPr>
          <a:xfrm>
            <a:off x="914400" y="2212848"/>
            <a:ext cx="566928" cy="566928"/>
          </a:xfrm>
          <a:prstGeom prst="ellipse">
            <a:avLst/>
          </a:prstGeom>
          <a:solidFill>
            <a:srgbClr val="085CE5"/>
          </a:solidFill>
          <a:ln/>
        </p:spPr>
        <p:txBody>
          <a:bodyPr/>
          <a:lstStyle/>
          <a:p>
            <a:endParaRPr lang="en-US"/>
          </a:p>
        </p:txBody>
      </p:sp>
      <p:sp>
        <p:nvSpPr>
          <p:cNvPr id="6" name="Shape 4"/>
          <p:cNvSpPr/>
          <p:nvPr/>
        </p:nvSpPr>
        <p:spPr>
          <a:xfrm>
            <a:off x="1078809" y="2416942"/>
            <a:ext cx="238110" cy="157152"/>
          </a:xfrm>
          <a:prstGeom prst="rightArrow">
            <a:avLst/>
          </a:prstGeom>
          <a:solidFill>
            <a:srgbClr val="FFFFFF"/>
          </a:solidFill>
          <a:ln/>
        </p:spPr>
        <p:txBody>
          <a:bodyPr/>
          <a:lstStyle/>
          <a:p>
            <a:endParaRPr lang="en-US"/>
          </a:p>
        </p:txBody>
      </p:sp>
      <p:sp>
        <p:nvSpPr>
          <p:cNvPr id="7" name="Text 5"/>
          <p:cNvSpPr/>
          <p:nvPr/>
        </p:nvSpPr>
        <p:spPr>
          <a:xfrm>
            <a:off x="914400" y="2926080"/>
            <a:ext cx="2880360" cy="594360"/>
          </a:xfrm>
          <a:prstGeom prst="rect">
            <a:avLst/>
          </a:prstGeom>
          <a:noFill/>
          <a:ln/>
        </p:spPr>
        <p:txBody>
          <a:bodyPr wrap="square" lIns="0" tIns="0" rIns="0" bIns="0" rtlCol="0" anchor="ctr"/>
          <a:lstStyle/>
          <a:p>
            <a:pPr marL="0" indent="0">
              <a:buNone/>
            </a:pPr>
            <a:r>
              <a:rPr lang="en-US" sz="2400" b="1" dirty="0">
                <a:solidFill>
                  <a:srgbClr val="06185F"/>
                </a:solidFill>
                <a:latin typeface="Arial" pitchFamily="34" charset="0"/>
                <a:ea typeface="Arial" pitchFamily="34" charset="-122"/>
                <a:cs typeface="Arial" pitchFamily="34" charset="-120"/>
              </a:rPr>
              <a:t>~5x cost, acquire vs. retain</a:t>
            </a:r>
            <a:endParaRPr lang="en-US" sz="2400" dirty="0"/>
          </a:p>
        </p:txBody>
      </p:sp>
      <p:sp>
        <p:nvSpPr>
          <p:cNvPr id="8" name="Text 6"/>
          <p:cNvSpPr/>
          <p:nvPr/>
        </p:nvSpPr>
        <p:spPr>
          <a:xfrm>
            <a:off x="914400" y="3566160"/>
            <a:ext cx="2880360" cy="1280160"/>
          </a:xfrm>
          <a:prstGeom prst="rect">
            <a:avLst/>
          </a:prstGeom>
          <a:noFill/>
          <a:ln/>
        </p:spPr>
        <p:txBody>
          <a:bodyPr wrap="square" lIns="0" tIns="0" rIns="0" bIns="0" rtlCol="0" anchor="ctr"/>
          <a:lstStyle/>
          <a:p>
            <a:pPr marL="0" indent="0">
              <a:buNone/>
            </a:pPr>
            <a:r>
              <a:rPr lang="en-US" sz="1250" dirty="0">
                <a:solidFill>
                  <a:srgbClr val="575A5D"/>
                </a:solidFill>
                <a:latin typeface="Calibri" pitchFamily="34" charset="0"/>
                <a:ea typeface="Calibri" pitchFamily="34" charset="-122"/>
                <a:cs typeface="Calibri" pitchFamily="34" charset="-120"/>
              </a:rPr>
              <a:t>average cost to acquire a new banking customer vs. retain an existing one, a ratio consistently found across banking and consumer research</a:t>
            </a:r>
            <a:endParaRPr lang="en-US" sz="1250" dirty="0"/>
          </a:p>
        </p:txBody>
      </p:sp>
      <p:sp>
        <p:nvSpPr>
          <p:cNvPr id="9" name="Shape 7"/>
          <p:cNvSpPr/>
          <p:nvPr/>
        </p:nvSpPr>
        <p:spPr>
          <a:xfrm>
            <a:off x="4389120" y="1920240"/>
            <a:ext cx="3429000" cy="3063240"/>
          </a:xfrm>
          <a:prstGeom prst="roundRect">
            <a:avLst>
              <a:gd name="adj" fmla="val 2388"/>
            </a:avLst>
          </a:prstGeom>
          <a:solidFill>
            <a:srgbClr val="E8F7F7"/>
          </a:solidFill>
          <a:ln/>
          <a:effectLst>
            <a:outerShdw blurRad="127000" dist="38100" dir="5400000" algn="bl" rotWithShape="0">
              <a:srgbClr val="1B1F3B">
                <a:alpha val="10000"/>
              </a:srgbClr>
            </a:outerShdw>
          </a:effectLst>
        </p:spPr>
        <p:txBody>
          <a:bodyPr/>
          <a:lstStyle/>
          <a:p>
            <a:endParaRPr lang="en-US"/>
          </a:p>
        </p:txBody>
      </p:sp>
      <p:sp>
        <p:nvSpPr>
          <p:cNvPr id="10" name="Shape 8"/>
          <p:cNvSpPr/>
          <p:nvPr/>
        </p:nvSpPr>
        <p:spPr>
          <a:xfrm>
            <a:off x="4663440" y="2212848"/>
            <a:ext cx="566928" cy="566928"/>
          </a:xfrm>
          <a:prstGeom prst="ellipse">
            <a:avLst/>
          </a:prstGeom>
          <a:solidFill>
            <a:srgbClr val="085CE5"/>
          </a:solidFill>
          <a:ln/>
        </p:spPr>
        <p:txBody>
          <a:bodyPr/>
          <a:lstStyle/>
          <a:p>
            <a:endParaRPr lang="en-US"/>
          </a:p>
        </p:txBody>
      </p:sp>
      <p:sp>
        <p:nvSpPr>
          <p:cNvPr id="11" name="Shape 9"/>
          <p:cNvSpPr/>
          <p:nvPr/>
        </p:nvSpPr>
        <p:spPr>
          <a:xfrm>
            <a:off x="4827849" y="2377257"/>
            <a:ext cx="238110" cy="238110"/>
          </a:xfrm>
          <a:prstGeom prst="ellipse">
            <a:avLst/>
          </a:prstGeom>
          <a:ln w="31750">
            <a:solidFill>
              <a:srgbClr val="FFFFFF"/>
            </a:solidFill>
            <a:prstDash val="solid"/>
          </a:ln>
        </p:spPr>
        <p:txBody>
          <a:bodyPr/>
          <a:lstStyle/>
          <a:p>
            <a:endParaRPr lang="en-US"/>
          </a:p>
        </p:txBody>
      </p:sp>
      <p:sp>
        <p:nvSpPr>
          <p:cNvPr id="12" name="Text 10"/>
          <p:cNvSpPr/>
          <p:nvPr/>
        </p:nvSpPr>
        <p:spPr>
          <a:xfrm>
            <a:off x="4663440" y="2926080"/>
            <a:ext cx="2880360" cy="594360"/>
          </a:xfrm>
          <a:prstGeom prst="rect">
            <a:avLst/>
          </a:prstGeom>
          <a:noFill/>
          <a:ln/>
        </p:spPr>
        <p:txBody>
          <a:bodyPr wrap="square" lIns="0" tIns="0" rIns="0" bIns="0" rtlCol="0" anchor="ctr"/>
          <a:lstStyle/>
          <a:p>
            <a:pPr marL="0" indent="0">
              <a:buNone/>
            </a:pPr>
            <a:r>
              <a:rPr lang="en-US" sz="2400" b="1" dirty="0">
                <a:solidFill>
                  <a:srgbClr val="06185F"/>
                </a:solidFill>
                <a:latin typeface="Arial" pitchFamily="34" charset="0"/>
                <a:ea typeface="Arial" pitchFamily="34" charset="-122"/>
                <a:cs typeface="Arial" pitchFamily="34" charset="-120"/>
              </a:rPr>
              <a:t>12–18 months</a:t>
            </a:r>
            <a:endParaRPr lang="en-US" sz="2400" dirty="0"/>
          </a:p>
        </p:txBody>
      </p:sp>
      <p:sp>
        <p:nvSpPr>
          <p:cNvPr id="13" name="Text 11"/>
          <p:cNvSpPr/>
          <p:nvPr/>
        </p:nvSpPr>
        <p:spPr>
          <a:xfrm>
            <a:off x="4663440" y="3566160"/>
            <a:ext cx="2880360" cy="1280160"/>
          </a:xfrm>
          <a:prstGeom prst="rect">
            <a:avLst/>
          </a:prstGeom>
          <a:noFill/>
          <a:ln/>
        </p:spPr>
        <p:txBody>
          <a:bodyPr wrap="square" lIns="0" tIns="0" rIns="0" bIns="0" rtlCol="0" anchor="ctr"/>
          <a:lstStyle/>
          <a:p>
            <a:pPr marL="0" indent="0">
              <a:buNone/>
            </a:pPr>
            <a:r>
              <a:rPr lang="en-US" sz="1250" dirty="0">
                <a:solidFill>
                  <a:srgbClr val="575A5D"/>
                </a:solidFill>
                <a:latin typeface="Calibri" pitchFamily="34" charset="0"/>
                <a:ea typeface="Calibri" pitchFamily="34" charset="-122"/>
                <a:cs typeface="Calibri" pitchFamily="34" charset="-120"/>
              </a:rPr>
              <a:t>typical payback window on a newly acquired banking customer — retention returns value immediately, without the wait</a:t>
            </a:r>
            <a:endParaRPr lang="en-US" sz="1250" dirty="0"/>
          </a:p>
        </p:txBody>
      </p:sp>
      <p:sp>
        <p:nvSpPr>
          <p:cNvPr id="14" name="Shape 12"/>
          <p:cNvSpPr/>
          <p:nvPr/>
        </p:nvSpPr>
        <p:spPr>
          <a:xfrm>
            <a:off x="8138160" y="1920240"/>
            <a:ext cx="3429000" cy="3063240"/>
          </a:xfrm>
          <a:prstGeom prst="roundRect">
            <a:avLst>
              <a:gd name="adj" fmla="val 2388"/>
            </a:avLst>
          </a:prstGeom>
          <a:solidFill>
            <a:srgbClr val="E8F7F7"/>
          </a:solidFill>
          <a:ln/>
          <a:effectLst>
            <a:outerShdw blurRad="127000" dist="38100" dir="5400000" algn="bl" rotWithShape="0">
              <a:srgbClr val="1B1F3B">
                <a:alpha val="10000"/>
              </a:srgbClr>
            </a:outerShdw>
          </a:effectLst>
        </p:spPr>
        <p:txBody>
          <a:bodyPr/>
          <a:lstStyle/>
          <a:p>
            <a:endParaRPr lang="en-US"/>
          </a:p>
        </p:txBody>
      </p:sp>
      <p:sp>
        <p:nvSpPr>
          <p:cNvPr id="15" name="Shape 13"/>
          <p:cNvSpPr/>
          <p:nvPr/>
        </p:nvSpPr>
        <p:spPr>
          <a:xfrm>
            <a:off x="8412480" y="2212848"/>
            <a:ext cx="566928" cy="566928"/>
          </a:xfrm>
          <a:prstGeom prst="ellipse">
            <a:avLst/>
          </a:prstGeom>
          <a:solidFill>
            <a:srgbClr val="085CE5"/>
          </a:solidFill>
          <a:ln/>
        </p:spPr>
        <p:txBody>
          <a:bodyPr/>
          <a:lstStyle/>
          <a:p>
            <a:endParaRPr lang="en-US"/>
          </a:p>
        </p:txBody>
      </p:sp>
      <p:sp>
        <p:nvSpPr>
          <p:cNvPr id="16" name="Shape 14"/>
          <p:cNvSpPr/>
          <p:nvPr/>
        </p:nvSpPr>
        <p:spPr>
          <a:xfrm>
            <a:off x="8576889" y="2515361"/>
            <a:ext cx="57146" cy="100006"/>
          </a:xfrm>
          <a:prstGeom prst="rect">
            <a:avLst/>
          </a:prstGeom>
          <a:solidFill>
            <a:srgbClr val="FFFFFF"/>
          </a:solidFill>
          <a:ln/>
        </p:spPr>
        <p:txBody>
          <a:bodyPr/>
          <a:lstStyle/>
          <a:p>
            <a:endParaRPr lang="en-US"/>
          </a:p>
        </p:txBody>
      </p:sp>
      <p:sp>
        <p:nvSpPr>
          <p:cNvPr id="17" name="Shape 15"/>
          <p:cNvSpPr/>
          <p:nvPr/>
        </p:nvSpPr>
        <p:spPr>
          <a:xfrm>
            <a:off x="8676895" y="2472501"/>
            <a:ext cx="57146" cy="142866"/>
          </a:xfrm>
          <a:prstGeom prst="rect">
            <a:avLst/>
          </a:prstGeom>
          <a:solidFill>
            <a:srgbClr val="FFFFFF"/>
          </a:solidFill>
          <a:ln/>
        </p:spPr>
        <p:txBody>
          <a:bodyPr/>
          <a:lstStyle/>
          <a:p>
            <a:endParaRPr lang="en-US"/>
          </a:p>
        </p:txBody>
      </p:sp>
      <p:sp>
        <p:nvSpPr>
          <p:cNvPr id="18" name="Shape 16"/>
          <p:cNvSpPr/>
          <p:nvPr/>
        </p:nvSpPr>
        <p:spPr>
          <a:xfrm>
            <a:off x="8776901" y="2412974"/>
            <a:ext cx="57146" cy="202393"/>
          </a:xfrm>
          <a:prstGeom prst="rect">
            <a:avLst/>
          </a:prstGeom>
          <a:solidFill>
            <a:srgbClr val="FFFFFF"/>
          </a:solidFill>
          <a:ln/>
        </p:spPr>
        <p:txBody>
          <a:bodyPr/>
          <a:lstStyle/>
          <a:p>
            <a:endParaRPr lang="en-US"/>
          </a:p>
        </p:txBody>
      </p:sp>
      <p:sp>
        <p:nvSpPr>
          <p:cNvPr id="19" name="Text 17"/>
          <p:cNvSpPr/>
          <p:nvPr/>
        </p:nvSpPr>
        <p:spPr>
          <a:xfrm>
            <a:off x="8412480" y="2926080"/>
            <a:ext cx="2880360" cy="594360"/>
          </a:xfrm>
          <a:prstGeom prst="rect">
            <a:avLst/>
          </a:prstGeom>
          <a:noFill/>
          <a:ln/>
        </p:spPr>
        <p:txBody>
          <a:bodyPr wrap="square" lIns="0" tIns="0" rIns="0" bIns="0" rtlCol="0" anchor="ctr"/>
          <a:lstStyle/>
          <a:p>
            <a:pPr marL="0" indent="0">
              <a:buNone/>
            </a:pPr>
            <a:r>
              <a:rPr lang="en-US" sz="2400" b="1" dirty="0">
                <a:solidFill>
                  <a:srgbClr val="06185F"/>
                </a:solidFill>
                <a:latin typeface="Arial" pitchFamily="34" charset="0"/>
                <a:ea typeface="Arial" pitchFamily="34" charset="-122"/>
                <a:cs typeface="Arial" pitchFamily="34" charset="-120"/>
              </a:rPr>
              <a:t>25–95%</a:t>
            </a:r>
            <a:endParaRPr lang="en-US" sz="2400" dirty="0"/>
          </a:p>
        </p:txBody>
      </p:sp>
      <p:sp>
        <p:nvSpPr>
          <p:cNvPr id="20" name="Text 18"/>
          <p:cNvSpPr/>
          <p:nvPr/>
        </p:nvSpPr>
        <p:spPr>
          <a:xfrm>
            <a:off x="8412480" y="3566160"/>
            <a:ext cx="2880360" cy="1280160"/>
          </a:xfrm>
          <a:prstGeom prst="rect">
            <a:avLst/>
          </a:prstGeom>
          <a:noFill/>
          <a:ln/>
        </p:spPr>
        <p:txBody>
          <a:bodyPr wrap="square" lIns="0" tIns="0" rIns="0" bIns="0" rtlCol="0" anchor="ctr"/>
          <a:lstStyle/>
          <a:p>
            <a:pPr marL="0" indent="0">
              <a:buNone/>
            </a:pPr>
            <a:r>
              <a:rPr lang="en-US" sz="1250" dirty="0">
                <a:solidFill>
                  <a:srgbClr val="575A5D"/>
                </a:solidFill>
                <a:latin typeface="Calibri" pitchFamily="34" charset="0"/>
                <a:ea typeface="Calibri" pitchFamily="34" charset="-122"/>
                <a:cs typeface="Calibri" pitchFamily="34" charset="-120"/>
              </a:rPr>
              <a:t>profit lift from just a 5-point improvement in retention, depending on the product line</a:t>
            </a:r>
            <a:endParaRPr lang="en-US" sz="1250" dirty="0"/>
          </a:p>
        </p:txBody>
      </p:sp>
      <p:sp>
        <p:nvSpPr>
          <p:cNvPr id="21" name="Text 19"/>
          <p:cNvSpPr/>
          <p:nvPr/>
        </p:nvSpPr>
        <p:spPr>
          <a:xfrm>
            <a:off x="640080" y="5212080"/>
            <a:ext cx="10332720" cy="457200"/>
          </a:xfrm>
          <a:prstGeom prst="rect">
            <a:avLst/>
          </a:prstGeom>
          <a:noFill/>
          <a:ln/>
        </p:spPr>
        <p:txBody>
          <a:bodyPr wrap="square" lIns="0" tIns="0" rIns="0" bIns="0" rtlCol="0" anchor="ctr"/>
          <a:lstStyle/>
          <a:p>
            <a:pPr marL="0" indent="0">
              <a:buNone/>
            </a:pPr>
            <a:r>
              <a:rPr lang="en-US" sz="1250" i="1" dirty="0">
                <a:solidFill>
                  <a:srgbClr val="575A5D"/>
                </a:solidFill>
                <a:latin typeface="Calibri" pitchFamily="34" charset="0"/>
                <a:ea typeface="Calibri" pitchFamily="34" charset="-122"/>
                <a:cs typeface="Calibri" pitchFamily="34" charset="-120"/>
              </a:rPr>
              <a:t>The economics only pay off if you can see risk early enough to act — which is the entire design goal of the model that follows.</a:t>
            </a:r>
            <a:endParaRPr lang="en-US" sz="1250" dirty="0"/>
          </a:p>
        </p:txBody>
      </p:sp>
      <p:sp>
        <p:nvSpPr>
          <p:cNvPr id="23" name="Text 21"/>
          <p:cNvSpPr/>
          <p:nvPr/>
        </p:nvSpPr>
        <p:spPr>
          <a:xfrm>
            <a:off x="640080" y="5700000"/>
            <a:ext cx="10332720" cy="320040"/>
          </a:xfrm>
          <a:prstGeom prst="rect">
            <a:avLst/>
          </a:prstGeom>
          <a:noFill/>
          <a:ln/>
        </p:spPr>
        <p:txBody>
          <a:bodyPr wrap="square" lIns="0" tIns="0" rIns="0" bIns="0" rtlCol="0" anchor="ctr"/>
          <a:lstStyle/>
          <a:p>
            <a:pPr marL="0" indent="0">
              <a:buNone/>
            </a:pPr>
            <a:r>
              <a:rPr lang="en-US" sz="950" i="1" dirty="0">
                <a:solidFill>
                  <a:srgbClr val="B6BBC0"/>
                </a:solidFill>
                <a:latin typeface="Calibri" pitchFamily="34" charset="0"/>
                <a:ea typeface="Calibri" pitchFamily="34" charset="-122"/>
                <a:cs typeface="Calibri" pitchFamily="34" charset="-120"/>
              </a:rPr>
              <a:t>Sources: Reichheld &amp; Sasser, “Zero Defections,” Harvard Business Review, 1990 (reprinted 2014); Bain &amp; Company; Invesp and Backbase CAC/retention-cost benchmarks, 2023–26.</a:t>
            </a:r>
            <a:endParaRPr lang="en-US" sz="950" dirty="0"/>
          </a:p>
        </p:txBody>
      </p:sp>
      <p:sp>
        <p:nvSpPr>
          <p:cNvPr id="22" name="Text 20"/>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900" dirty="0">
                <a:solidFill>
                  <a:srgbClr val="B6BBC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marL="0" indent="0" algn="l">
              <a:buNone/>
            </a:pPr>
            <a:r>
              <a:rPr lang="en-US" sz="1200" b="1" kern="0" spc="200" dirty="0">
                <a:solidFill>
                  <a:srgbClr val="085CE5"/>
                </a:solidFill>
                <a:latin typeface="Calibri" pitchFamily="34" charset="0"/>
                <a:ea typeface="Calibri" pitchFamily="34" charset="-122"/>
                <a:cs typeface="Calibri" pitchFamily="34" charset="-120"/>
              </a:rPr>
              <a:t>THE BUSINESS MODEL — PART 2 OF 2</a:t>
            </a:r>
            <a:endParaRPr lang="en-US" sz="1200" dirty="0"/>
          </a:p>
        </p:txBody>
      </p:sp>
      <p:sp>
        <p:nvSpPr>
          <p:cNvPr id="3" name="Text 1"/>
          <p:cNvSpPr/>
          <p:nvPr/>
        </p:nvSpPr>
        <p:spPr>
          <a:xfrm>
            <a:off x="640080" y="822960"/>
            <a:ext cx="10515600" cy="731520"/>
          </a:xfrm>
          <a:prstGeom prst="rect">
            <a:avLst/>
          </a:prstGeom>
          <a:noFill/>
          <a:ln/>
        </p:spPr>
        <p:txBody>
          <a:bodyPr wrap="square" lIns="0" tIns="0" rIns="0" bIns="0" rtlCol="0" anchor="ctr"/>
          <a:lstStyle/>
          <a:p>
            <a:pPr marL="0" indent="0">
              <a:buNone/>
            </a:pPr>
            <a:r>
              <a:rPr lang="en-US" sz="2800" b="1" dirty="0">
                <a:solidFill>
                  <a:srgbClr val="06185F"/>
                </a:solidFill>
                <a:latin typeface="Arial" pitchFamily="34" charset="0"/>
                <a:ea typeface="Arial" pitchFamily="34" charset="-122"/>
                <a:cs typeface="Arial" pitchFamily="34" charset="-120"/>
              </a:rPr>
              <a:t>Three formulas that turn detection into dollars</a:t>
            </a:r>
            <a:endParaRPr lang="en-US" sz="2800" dirty="0"/>
          </a:p>
        </p:txBody>
      </p:sp>
      <p:sp>
        <p:nvSpPr>
          <p:cNvPr id="4" name="Shape 2"/>
          <p:cNvSpPr/>
          <p:nvPr/>
        </p:nvSpPr>
        <p:spPr>
          <a:xfrm>
            <a:off x="640080" y="1920240"/>
            <a:ext cx="3429000" cy="3200400"/>
          </a:xfrm>
          <a:prstGeom prst="roundRect">
            <a:avLst>
              <a:gd name="adj" fmla="val 2388"/>
            </a:avLst>
          </a:prstGeom>
          <a:solidFill>
            <a:srgbClr val="E8F7F7"/>
          </a:solidFill>
          <a:ln/>
          <a:effectLst>
            <a:outerShdw blurRad="127000" dist="38100" dir="5400000" algn="bl" rotWithShape="0">
              <a:srgbClr val="1B1F3B">
                <a:alpha val="10000"/>
              </a:srgbClr>
            </a:outerShdw>
          </a:effectLst>
        </p:spPr>
        <p:txBody>
          <a:bodyPr/>
          <a:lstStyle/>
          <a:p>
            <a:endParaRPr lang="en-US"/>
          </a:p>
        </p:txBody>
      </p:sp>
      <p:sp>
        <p:nvSpPr>
          <p:cNvPr id="5" name="Shape 3"/>
          <p:cNvSpPr/>
          <p:nvPr/>
        </p:nvSpPr>
        <p:spPr>
          <a:xfrm>
            <a:off x="914400" y="2103120"/>
            <a:ext cx="566928" cy="566928"/>
          </a:xfrm>
          <a:prstGeom prst="ellipse">
            <a:avLst/>
          </a:prstGeom>
          <a:solidFill>
            <a:srgbClr val="085CE5"/>
          </a:solidFill>
          <a:ln/>
        </p:spPr>
        <p:txBody>
          <a:bodyPr/>
          <a:lstStyle/>
          <a:p>
            <a:endParaRPr lang="en-US"/>
          </a:p>
        </p:txBody>
      </p:sp>
      <p:sp>
        <p:nvSpPr>
          <p:cNvPr id="6" name="Shape 4"/>
          <p:cNvSpPr/>
          <p:nvPr/>
        </p:nvSpPr>
        <p:spPr>
          <a:xfrm>
            <a:off x="1078809" y="2307214"/>
            <a:ext cx="238110" cy="157152"/>
          </a:xfrm>
          <a:prstGeom prst="rightArrow">
            <a:avLst/>
          </a:prstGeom>
          <a:solidFill>
            <a:srgbClr val="FFFFFF"/>
          </a:solidFill>
          <a:ln/>
        </p:spPr>
        <p:txBody>
          <a:bodyPr/>
          <a:lstStyle/>
          <a:p>
            <a:endParaRPr lang="en-US"/>
          </a:p>
        </p:txBody>
      </p:sp>
      <p:sp>
        <p:nvSpPr>
          <p:cNvPr id="7" name="Text 5"/>
          <p:cNvSpPr/>
          <p:nvPr/>
        </p:nvSpPr>
        <p:spPr>
          <a:xfrm>
            <a:off x="914400" y="2789808"/>
            <a:ext cx="2880360" cy="680400"/>
          </a:xfrm>
          <a:prstGeom prst="rect">
            <a:avLst/>
          </a:prstGeom>
          <a:noFill/>
          <a:ln/>
        </p:spPr>
        <p:txBody>
          <a:bodyPr wrap="square" lIns="0" tIns="0" rIns="0" bIns="0" rtlCol="0" anchor="ctr"/>
          <a:lstStyle/>
          <a:p>
            <a:pPr marL="0" indent="0">
              <a:buNone/>
            </a:pPr>
            <a:r>
              <a:rPr lang="en-US" sz="1600" b="1" dirty="0">
                <a:solidFill>
                  <a:srgbClr val="06185F"/>
                </a:solidFill>
                <a:latin typeface="Arial" pitchFamily="34" charset="0"/>
                <a:ea typeface="Arial" pitchFamily="34" charset="-122"/>
                <a:cs typeface="Arial" pitchFamily="34" charset="-120"/>
              </a:rPr>
              <a:t>Net Value = (Saves × CLV) − (Flags × Cost)</a:t>
            </a:r>
            <a:endParaRPr lang="en-US" sz="1600" dirty="0"/>
          </a:p>
        </p:txBody>
      </p:sp>
      <p:sp>
        <p:nvSpPr>
          <p:cNvPr id="8" name="Text 6"/>
          <p:cNvSpPr/>
          <p:nvPr/>
        </p:nvSpPr>
        <p:spPr>
          <a:xfrm>
            <a:off x="914400" y="3535680"/>
            <a:ext cx="2880360" cy="1417320"/>
          </a:xfrm>
          <a:prstGeom prst="rect">
            <a:avLst/>
          </a:prstGeom>
          <a:noFill/>
          <a:ln/>
        </p:spPr>
        <p:txBody>
          <a:bodyPr wrap="square" lIns="0" tIns="0" rIns="0" bIns="0" rtlCol="0" anchor="ctr"/>
          <a:lstStyle/>
          <a:p>
            <a:pPr marL="0" indent="0">
              <a:buNone/>
            </a:pPr>
            <a:r>
              <a:rPr lang="en-US" sz="1150" b="1" dirty="0">
                <a:solidFill>
                  <a:srgbClr val="06185F"/>
                </a:solidFill>
                <a:latin typeface="Calibri" pitchFamily="34" charset="0"/>
                <a:ea typeface="Calibri" pitchFamily="34" charset="-122"/>
                <a:cs typeface="Calibri" pitchFamily="34" charset="-120"/>
              </a:rPr>
              <a:t>Cost-benefit. </a:t>
            </a:r>
            <a:r>
              <a:rPr lang="en-US" sz="1150" dirty="0">
                <a:solidFill>
                  <a:srgbClr val="575A5D"/>
                </a:solidFill>
                <a:latin typeface="Calibri" pitchFamily="34" charset="0"/>
                <a:ea typeface="Calibri" pitchFamily="34" charset="-122"/>
                <a:cs typeface="Calibri" pitchFamily="34" charset="-120"/>
              </a:rPr>
              <a:t>Value of relationships saved, minus the cost of every outreach — including the false alarms.</a:t>
            </a:r>
            <a:endParaRPr lang="en-US" sz="1150" dirty="0"/>
          </a:p>
        </p:txBody>
      </p:sp>
      <p:sp>
        <p:nvSpPr>
          <p:cNvPr id="9" name="Shape 7"/>
          <p:cNvSpPr/>
          <p:nvPr/>
        </p:nvSpPr>
        <p:spPr>
          <a:xfrm>
            <a:off x="4389120" y="1920240"/>
            <a:ext cx="3429000" cy="3200400"/>
          </a:xfrm>
          <a:prstGeom prst="roundRect">
            <a:avLst>
              <a:gd name="adj" fmla="val 2388"/>
            </a:avLst>
          </a:prstGeom>
          <a:solidFill>
            <a:srgbClr val="E8F7F7"/>
          </a:solidFill>
          <a:ln/>
          <a:effectLst>
            <a:outerShdw blurRad="127000" dist="38100" dir="5400000" algn="bl" rotWithShape="0">
              <a:srgbClr val="1B1F3B">
                <a:alpha val="10000"/>
              </a:srgbClr>
            </a:outerShdw>
          </a:effectLst>
        </p:spPr>
        <p:txBody>
          <a:bodyPr/>
          <a:lstStyle/>
          <a:p>
            <a:endParaRPr lang="en-US"/>
          </a:p>
        </p:txBody>
      </p:sp>
      <p:sp>
        <p:nvSpPr>
          <p:cNvPr id="10" name="Shape 8"/>
          <p:cNvSpPr/>
          <p:nvPr/>
        </p:nvSpPr>
        <p:spPr>
          <a:xfrm>
            <a:off x="4663440" y="2103120"/>
            <a:ext cx="566928" cy="566928"/>
          </a:xfrm>
          <a:prstGeom prst="ellipse">
            <a:avLst/>
          </a:prstGeom>
          <a:solidFill>
            <a:srgbClr val="085CE5"/>
          </a:solidFill>
          <a:ln/>
        </p:spPr>
        <p:txBody>
          <a:bodyPr/>
          <a:lstStyle/>
          <a:p>
            <a:endParaRPr lang="en-US"/>
          </a:p>
        </p:txBody>
      </p:sp>
      <p:sp>
        <p:nvSpPr>
          <p:cNvPr id="11" name="Shape 9"/>
          <p:cNvSpPr/>
          <p:nvPr/>
        </p:nvSpPr>
        <p:spPr>
          <a:xfrm>
            <a:off x="4827849" y="2267529"/>
            <a:ext cx="238110" cy="238110"/>
          </a:xfrm>
          <a:prstGeom prst="ellipse">
            <a:avLst/>
          </a:prstGeom>
          <a:ln w="31750">
            <a:solidFill>
              <a:srgbClr val="FFFFFF"/>
            </a:solidFill>
            <a:prstDash val="solid"/>
          </a:ln>
        </p:spPr>
        <p:txBody>
          <a:bodyPr/>
          <a:lstStyle/>
          <a:p>
            <a:endParaRPr lang="en-US"/>
          </a:p>
        </p:txBody>
      </p:sp>
      <p:sp>
        <p:nvSpPr>
          <p:cNvPr id="12" name="Text 10"/>
          <p:cNvSpPr/>
          <p:nvPr/>
        </p:nvSpPr>
        <p:spPr>
          <a:xfrm>
            <a:off x="4663440" y="2789808"/>
            <a:ext cx="2880360" cy="680400"/>
          </a:xfrm>
          <a:prstGeom prst="rect">
            <a:avLst/>
          </a:prstGeom>
          <a:noFill/>
          <a:ln/>
        </p:spPr>
        <p:txBody>
          <a:bodyPr wrap="square" lIns="0" tIns="0" rIns="0" bIns="0" rtlCol="0" anchor="ctr"/>
          <a:lstStyle/>
          <a:p>
            <a:pPr marL="0" indent="0">
              <a:buNone/>
            </a:pPr>
            <a:r>
              <a:rPr lang="en-US" sz="1600" b="1" dirty="0">
                <a:solidFill>
                  <a:srgbClr val="06185F"/>
                </a:solidFill>
                <a:latin typeface="Arial" pitchFamily="34" charset="0"/>
                <a:ea typeface="Arial" pitchFamily="34" charset="-122"/>
                <a:cs typeface="Arial" pitchFamily="34" charset="-120"/>
              </a:rPr>
              <a:t>$870–$1,639 vs. ~$25–$50</a:t>
            </a:r>
            <a:endParaRPr lang="en-US" sz="1600" dirty="0"/>
          </a:p>
        </p:txBody>
      </p:sp>
      <p:sp>
        <p:nvSpPr>
          <p:cNvPr id="13" name="Text 11"/>
          <p:cNvSpPr/>
          <p:nvPr/>
        </p:nvSpPr>
        <p:spPr>
          <a:xfrm>
            <a:off x="4663440" y="3535680"/>
            <a:ext cx="2880360" cy="1417320"/>
          </a:xfrm>
          <a:prstGeom prst="rect">
            <a:avLst/>
          </a:prstGeom>
          <a:noFill/>
          <a:ln/>
        </p:spPr>
        <p:txBody>
          <a:bodyPr wrap="square" lIns="0" tIns="0" rIns="0" bIns="0" rtlCol="0" anchor="ctr"/>
          <a:lstStyle/>
          <a:p>
            <a:pPr marL="0" indent="0">
              <a:buNone/>
            </a:pPr>
            <a:r>
              <a:rPr lang="en-US" sz="1150" b="1" dirty="0">
                <a:solidFill>
                  <a:srgbClr val="06185F"/>
                </a:solidFill>
                <a:latin typeface="Calibri" pitchFamily="34" charset="0"/>
                <a:ea typeface="Calibri" pitchFamily="34" charset="-122"/>
                <a:cs typeface="Calibri" pitchFamily="34" charset="-120"/>
              </a:rPr>
              <a:t>Precision/recall economics. </a:t>
            </a:r>
            <a:r>
              <a:rPr lang="en-US" sz="1150" dirty="0">
                <a:solidFill>
                  <a:srgbClr val="575A5D"/>
                </a:solidFill>
                <a:latin typeface="Calibri" pitchFamily="34" charset="0"/>
                <a:ea typeface="Calibri" pitchFamily="34" charset="-122"/>
                <a:cs typeface="Calibri" pitchFamily="34" charset="-120"/>
              </a:rPr>
              <a:t>Annual checking-relationship value vs. the cost of reviewing one flagged alert (fraud/AML alert-review benchmarks, used here as the closest published proxy). At that ratio, a wider net almost always pays.</a:t>
            </a:r>
            <a:endParaRPr lang="en-US" sz="1150" dirty="0"/>
          </a:p>
        </p:txBody>
      </p:sp>
      <p:sp>
        <p:nvSpPr>
          <p:cNvPr id="14" name="Shape 12"/>
          <p:cNvSpPr/>
          <p:nvPr/>
        </p:nvSpPr>
        <p:spPr>
          <a:xfrm>
            <a:off x="8138160" y="1920240"/>
            <a:ext cx="3429000" cy="3200400"/>
          </a:xfrm>
          <a:prstGeom prst="roundRect">
            <a:avLst>
              <a:gd name="adj" fmla="val 2388"/>
            </a:avLst>
          </a:prstGeom>
          <a:solidFill>
            <a:srgbClr val="E8F7F7"/>
          </a:solidFill>
          <a:ln/>
          <a:effectLst>
            <a:outerShdw blurRad="127000" dist="38100" dir="5400000" algn="bl" rotWithShape="0">
              <a:srgbClr val="1B1F3B">
                <a:alpha val="10000"/>
              </a:srgbClr>
            </a:outerShdw>
          </a:effectLst>
        </p:spPr>
        <p:txBody>
          <a:bodyPr/>
          <a:lstStyle/>
          <a:p>
            <a:endParaRPr lang="en-US"/>
          </a:p>
        </p:txBody>
      </p:sp>
      <p:sp>
        <p:nvSpPr>
          <p:cNvPr id="15" name="Shape 13"/>
          <p:cNvSpPr/>
          <p:nvPr/>
        </p:nvSpPr>
        <p:spPr>
          <a:xfrm>
            <a:off x="8412480" y="2103120"/>
            <a:ext cx="566928" cy="566928"/>
          </a:xfrm>
          <a:prstGeom prst="ellipse">
            <a:avLst/>
          </a:prstGeom>
          <a:solidFill>
            <a:srgbClr val="085CE5"/>
          </a:solidFill>
          <a:ln/>
        </p:spPr>
        <p:txBody>
          <a:bodyPr/>
          <a:lstStyle/>
          <a:p>
            <a:endParaRPr lang="en-US"/>
          </a:p>
        </p:txBody>
      </p:sp>
      <p:sp>
        <p:nvSpPr>
          <p:cNvPr id="16" name="Shape 14"/>
          <p:cNvSpPr/>
          <p:nvPr/>
        </p:nvSpPr>
        <p:spPr>
          <a:xfrm>
            <a:off x="8576889" y="2405633"/>
            <a:ext cx="57146" cy="100006"/>
          </a:xfrm>
          <a:prstGeom prst="rect">
            <a:avLst/>
          </a:prstGeom>
          <a:solidFill>
            <a:srgbClr val="FFFFFF"/>
          </a:solidFill>
          <a:ln/>
        </p:spPr>
        <p:txBody>
          <a:bodyPr/>
          <a:lstStyle/>
          <a:p>
            <a:endParaRPr lang="en-US"/>
          </a:p>
        </p:txBody>
      </p:sp>
      <p:sp>
        <p:nvSpPr>
          <p:cNvPr id="17" name="Shape 15"/>
          <p:cNvSpPr/>
          <p:nvPr/>
        </p:nvSpPr>
        <p:spPr>
          <a:xfrm>
            <a:off x="8676895" y="2362773"/>
            <a:ext cx="57146" cy="142866"/>
          </a:xfrm>
          <a:prstGeom prst="rect">
            <a:avLst/>
          </a:prstGeom>
          <a:solidFill>
            <a:srgbClr val="FFFFFF"/>
          </a:solidFill>
          <a:ln/>
        </p:spPr>
        <p:txBody>
          <a:bodyPr/>
          <a:lstStyle/>
          <a:p>
            <a:endParaRPr lang="en-US"/>
          </a:p>
        </p:txBody>
      </p:sp>
      <p:sp>
        <p:nvSpPr>
          <p:cNvPr id="18" name="Shape 16"/>
          <p:cNvSpPr/>
          <p:nvPr/>
        </p:nvSpPr>
        <p:spPr>
          <a:xfrm>
            <a:off x="8776901" y="2303246"/>
            <a:ext cx="57146" cy="202393"/>
          </a:xfrm>
          <a:prstGeom prst="rect">
            <a:avLst/>
          </a:prstGeom>
          <a:solidFill>
            <a:srgbClr val="FFFFFF"/>
          </a:solidFill>
          <a:ln/>
        </p:spPr>
        <p:txBody>
          <a:bodyPr/>
          <a:lstStyle/>
          <a:p>
            <a:endParaRPr lang="en-US"/>
          </a:p>
        </p:txBody>
      </p:sp>
      <p:sp>
        <p:nvSpPr>
          <p:cNvPr id="19" name="Text 17"/>
          <p:cNvSpPr/>
          <p:nvPr/>
        </p:nvSpPr>
        <p:spPr>
          <a:xfrm>
            <a:off x="8412480" y="2789808"/>
            <a:ext cx="2880360" cy="680400"/>
          </a:xfrm>
          <a:prstGeom prst="rect">
            <a:avLst/>
          </a:prstGeom>
          <a:noFill/>
          <a:ln/>
        </p:spPr>
        <p:txBody>
          <a:bodyPr wrap="square" lIns="0" tIns="0" rIns="0" bIns="0" rtlCol="0" anchor="ctr"/>
          <a:lstStyle/>
          <a:p>
            <a:pPr marL="0" indent="0">
              <a:buNone/>
            </a:pPr>
            <a:r>
              <a:rPr lang="en-US" sz="1600" b="1" dirty="0">
                <a:solidFill>
                  <a:srgbClr val="06185F"/>
                </a:solidFill>
                <a:latin typeface="Arial" pitchFamily="34" charset="0"/>
                <a:ea typeface="Arial" pitchFamily="34" charset="-122"/>
                <a:cs typeface="Arial" pitchFamily="34" charset="-120"/>
              </a:rPr>
              <a:t>ROI = (Hrs Saved × Rate) ÷ AI Cost</a:t>
            </a:r>
            <a:endParaRPr lang="en-US" sz="1600" dirty="0"/>
          </a:p>
        </p:txBody>
      </p:sp>
      <p:sp>
        <p:nvSpPr>
          <p:cNvPr id="20" name="Text 18"/>
          <p:cNvSpPr/>
          <p:nvPr/>
        </p:nvSpPr>
        <p:spPr>
          <a:xfrm>
            <a:off x="8412480" y="3535680"/>
            <a:ext cx="2880360" cy="1417320"/>
          </a:xfrm>
          <a:prstGeom prst="rect">
            <a:avLst/>
          </a:prstGeom>
          <a:noFill/>
          <a:ln/>
        </p:spPr>
        <p:txBody>
          <a:bodyPr wrap="square" lIns="0" tIns="0" rIns="0" bIns="0" rtlCol="0" anchor="ctr"/>
          <a:lstStyle/>
          <a:p>
            <a:pPr marL="0" indent="0">
              <a:buNone/>
            </a:pPr>
            <a:r>
              <a:rPr lang="en-US" sz="1150" b="1" dirty="0">
                <a:solidFill>
                  <a:srgbClr val="06185F"/>
                </a:solidFill>
                <a:latin typeface="Calibri" pitchFamily="34" charset="0"/>
                <a:ea typeface="Calibri" pitchFamily="34" charset="-122"/>
                <a:cs typeface="Calibri" pitchFamily="34" charset="-120"/>
              </a:rPr>
              <a:t>Automation ROI. </a:t>
            </a:r>
            <a:r>
              <a:rPr lang="en-US" sz="1150" dirty="0">
                <a:solidFill>
                  <a:srgbClr val="575A5D"/>
                </a:solidFill>
                <a:latin typeface="Calibri" pitchFamily="34" charset="0"/>
                <a:ea typeface="Calibri" pitchFamily="34" charset="-122"/>
                <a:cs typeface="Calibri" pitchFamily="34" charset="-120"/>
              </a:rPr>
              <a:t>A directly analogous benchmark: AI context-enrichment cut fraud/AML case handling from 22 minutes to 9 minutes per alert — the same mechanics apply to a churn narrative layer.</a:t>
            </a:r>
            <a:endParaRPr lang="en-US" sz="1150" dirty="0"/>
          </a:p>
        </p:txBody>
      </p:sp>
      <p:sp>
        <p:nvSpPr>
          <p:cNvPr id="21" name="Text 19"/>
          <p:cNvSpPr/>
          <p:nvPr/>
        </p:nvSpPr>
        <p:spPr>
          <a:xfrm>
            <a:off x="640080" y="5347440"/>
            <a:ext cx="10332720" cy="457200"/>
          </a:xfrm>
          <a:prstGeom prst="rect">
            <a:avLst/>
          </a:prstGeom>
          <a:noFill/>
          <a:ln/>
        </p:spPr>
        <p:txBody>
          <a:bodyPr wrap="square" lIns="0" tIns="0" rIns="0" bIns="0" rtlCol="0" anchor="ctr"/>
          <a:lstStyle/>
          <a:p>
            <a:pPr marL="0" indent="0">
              <a:buNone/>
            </a:pPr>
            <a:r>
              <a:rPr lang="en-US" sz="1250" i="1" dirty="0">
                <a:solidFill>
                  <a:srgbClr val="575A5D"/>
                </a:solidFill>
                <a:latin typeface="Calibri" pitchFamily="34" charset="0"/>
                <a:ea typeface="Calibri" pitchFamily="34" charset="-122"/>
                <a:cs typeface="Calibri" pitchFamily="34" charset="-120"/>
              </a:rPr>
              <a:t>These are cross-industry proxies, not this book's numbers — the formulas are what to sponsor; validate the inputs against your own portfolio.</a:t>
            </a:r>
            <a:endParaRPr lang="en-US" sz="1250" dirty="0"/>
          </a:p>
        </p:txBody>
      </p:sp>
      <p:sp>
        <p:nvSpPr>
          <p:cNvPr id="23" name="Text 21b"/>
          <p:cNvSpPr/>
          <p:nvPr/>
        </p:nvSpPr>
        <p:spPr>
          <a:xfrm>
            <a:off x="640080" y="5850000"/>
            <a:ext cx="10332720" cy="320040"/>
          </a:xfrm>
          <a:prstGeom prst="rect">
            <a:avLst/>
          </a:prstGeom>
          <a:noFill/>
          <a:ln/>
        </p:spPr>
        <p:txBody>
          <a:bodyPr wrap="square" lIns="0" tIns="0" rIns="0" bIns="0" rtlCol="0" anchor="ctr"/>
          <a:lstStyle/>
          <a:p>
            <a:pPr marL="0" indent="0">
              <a:buNone/>
            </a:pPr>
            <a:r>
              <a:rPr lang="en-US" sz="950" i="1" dirty="0">
                <a:solidFill>
                  <a:srgbClr val="B6BBC0"/>
                </a:solidFill>
                <a:latin typeface="Calibri" pitchFamily="34" charset="0"/>
                <a:ea typeface="Calibri" pitchFamily="34" charset="-122"/>
                <a:cs typeface="Calibri" pitchFamily="34" charset="-120"/>
              </a:rPr>
              <a:t>Sources: StrategyCorps checking-account profitability data; American Bankers Association account-maintenance benchmarks; Sphinx alert-review studies; McKinsey, "Financial Crime Operations," 2025.</a:t>
            </a:r>
            <a:endParaRPr lang="en-US" sz="950" dirty="0"/>
          </a:p>
        </p:txBody>
      </p:sp>
      <p:sp>
        <p:nvSpPr>
          <p:cNvPr id="22" name="Text 20"/>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900" dirty="0">
                <a:solidFill>
                  <a:srgbClr val="B6BBC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Eyebrow"/>
          <p:cNvSpPr/>
          <p:nvPr/>
        </p:nvSpPr>
        <p:spPr>
          <a:xfrm>
            <a:off x="640080" y="370000"/>
            <a:ext cx="10000000" cy="280000"/>
          </a:xfrm>
          <a:prstGeom prst="rect">
            <a:avLst/>
          </a:prstGeom>
          <a:noFill/>
          <a:ln/>
        </p:spPr>
        <p:txBody>
          <a:bodyPr wrap="square" lIns="0" tIns="0" rIns="0" bIns="0" rtlCol="0" anchor="ctr"/>
          <a:lstStyle/>
          <a:p>
            <a:pPr marL="0" indent="0" algn="l">
              <a:buNone/>
            </a:pPr>
            <a:r>
              <a:rPr lang="en-US" sz="1200" b="1" dirty="0">
                <a:solidFill>
                  <a:srgbClr val="085CE5"/>
                </a:solidFill>
                <a:latin typeface="Calibri" pitchFamily="34" charset="0"/>
                <a:ea typeface="Calibri" pitchFamily="34" charset="-122"/>
                <a:cs typeface="Calibri" pitchFamily="34" charset="-120"/>
              </a:rPr>
              <a:t>THE BREAKEVEN CASE — A $1B COMMUNITY FI</a:t>
            </a:r>
            <a:endParaRPr lang="en-US" sz="1200" dirty="0"/>
          </a:p>
        </p:txBody>
      </p:sp>
      <p:sp>
        <p:nvSpPr>
          <p:cNvPr id="3" name="Title"/>
          <p:cNvSpPr/>
          <p:nvPr/>
        </p:nvSpPr>
        <p:spPr>
          <a:xfrm>
            <a:off x="640080" y="660000"/>
            <a:ext cx="10515600" cy="500000"/>
          </a:xfrm>
          <a:prstGeom prst="rect">
            <a:avLst/>
          </a:prstGeom>
          <a:noFill/>
          <a:ln/>
        </p:spPr>
        <p:txBody>
          <a:bodyPr wrap="square" lIns="0" tIns="0" rIns="0" bIns="0" rtlCol="0" anchor="ctr"/>
          <a:lstStyle/>
          <a:p>
            <a:pPr marL="0" indent="0" algn="l">
              <a:buNone/>
            </a:pPr>
            <a:r>
              <a:rPr lang="en-US" sz="2800" b="1" dirty="0">
                <a:solidFill>
                  <a:srgbClr val="06185F"/>
                </a:solidFill>
                <a:latin typeface="Arial" pitchFamily="34" charset="0"/>
                <a:ea typeface="Arial" pitchFamily="34" charset="-122"/>
                <a:cs typeface="Arial" pitchFamily="34" charset="-120"/>
              </a:rPr>
              <a:t>What deflecting churn is actually worth</a:t>
            </a:r>
            <a:endParaRPr lang="en-US" sz="2800" dirty="0"/>
          </a:p>
        </p:txBody>
      </p:sp>
      <p:sp>
        <p:nvSpPr>
          <p:cNvPr id="4" name="Subtitle"/>
          <p:cNvSpPr/>
          <p:nvPr/>
        </p:nvSpPr>
        <p:spPr>
          <a:xfrm>
            <a:off x="640080" y="1190000"/>
            <a:ext cx="10515600" cy="320000"/>
          </a:xfrm>
          <a:prstGeom prst="rect">
            <a:avLst/>
          </a:prstGeom>
          <a:noFill/>
          <a:ln/>
        </p:spPr>
        <p:txBody>
          <a:bodyPr wrap="square" lIns="0" tIns="0" rIns="0" bIns="0" rtlCol="0" anchor="ctr"/>
          <a:lstStyle/>
          <a:p>
            <a:pPr marL="0" indent="0" algn="l">
              <a:buNone/>
            </a:pPr>
            <a:r>
              <a:rPr lang="en-US" sz="1250" dirty="0">
                <a:solidFill>
                  <a:srgbClr val="575A5D"/>
                </a:solidFill>
                <a:latin typeface="Calibri" pitchFamily="34" charset="0"/>
                <a:ea typeface="Calibri" pitchFamily="34" charset="-122"/>
                <a:cs typeface="Calibri" pitchFamily="34" charset="-120"/>
              </a:rPr>
              <a:t>Illustrative math for a $1B-asset institution — swap in your own numbers where you have them.</a:t>
            </a:r>
            <a:endParaRPr lang="en-US" sz="1250" dirty="0"/>
          </a:p>
        </p:txBody>
      </p:sp>
      <p:sp>
        <p:nvSpPr>
          <p:cNvPr id="5" name="Stat0Num"/>
          <p:cNvSpPr/>
          <p:nvPr/>
        </p:nvSpPr>
        <p:spPr>
          <a:xfrm>
            <a:off x="640080" y="1580000"/>
            <a:ext cx="2457450" cy="460000"/>
          </a:xfrm>
          <a:prstGeom prst="rect">
            <a:avLst/>
          </a:prstGeom>
          <a:noFill/>
          <a:ln/>
        </p:spPr>
        <p:txBody>
          <a:bodyPr wrap="square" lIns="0" tIns="0" rIns="0" bIns="0" rtlCol="0" anchor="b"/>
          <a:lstStyle/>
          <a:p>
            <a:pPr marL="0" indent="0" algn="l">
              <a:buNone/>
            </a:pPr>
            <a:r>
              <a:rPr lang="en-US" sz="1700" b="1" dirty="0">
                <a:solidFill>
                  <a:srgbClr val="06185F"/>
                </a:solidFill>
                <a:latin typeface="Arial" pitchFamily="34" charset="0"/>
                <a:ea typeface="Arial" pitchFamily="34" charset="-122"/>
                <a:cs typeface="Arial" pitchFamily="34" charset="-120"/>
              </a:rPr>
              <a:t>~33,000 households</a:t>
            </a:r>
            <a:endParaRPr lang="en-US" sz="1700" dirty="0"/>
          </a:p>
        </p:txBody>
      </p:sp>
      <p:sp>
        <p:nvSpPr>
          <p:cNvPr id="6" name="Stat0Desc"/>
          <p:cNvSpPr/>
          <p:nvPr/>
        </p:nvSpPr>
        <p:spPr>
          <a:xfrm>
            <a:off x="640080" y="2060000"/>
            <a:ext cx="2457450" cy="460000"/>
          </a:xfrm>
          <a:prstGeom prst="rect">
            <a:avLst/>
          </a:prstGeom>
          <a:noFill/>
          <a:ln/>
        </p:spPr>
        <p:txBody>
          <a:bodyPr wrap="square" lIns="0" tIns="0" rIns="0" bIns="0" rtlCol="0" anchor="t"/>
          <a:lstStyle/>
          <a:p>
            <a:pPr marL="0" indent="0" algn="l">
              <a:buNone/>
            </a:pPr>
            <a:r>
              <a:rPr lang="en-US" sz="950" dirty="0">
                <a:solidFill>
                  <a:srgbClr val="575A5D"/>
                </a:solidFill>
                <a:latin typeface="Calibri" pitchFamily="34" charset="0"/>
                <a:ea typeface="Calibri" pitchFamily="34" charset="-122"/>
                <a:cs typeface="Calibri" pitchFamily="34" charset="-120"/>
              </a:rPr>
              <a:t>$820M deposits (82% of $1B assets) ÷ ~$25K avg. relationship balance (Fed SCF, 2022)</a:t>
            </a:r>
            <a:endParaRPr lang="en-US" sz="950" dirty="0"/>
          </a:p>
        </p:txBody>
      </p:sp>
      <p:sp>
        <p:nvSpPr>
          <p:cNvPr id="7" name="Stat1Num"/>
          <p:cNvSpPr/>
          <p:nvPr/>
        </p:nvSpPr>
        <p:spPr>
          <a:xfrm>
            <a:off x="3326130" y="1580000"/>
            <a:ext cx="2457450" cy="460000"/>
          </a:xfrm>
          <a:prstGeom prst="rect">
            <a:avLst/>
          </a:prstGeom>
          <a:noFill/>
          <a:ln/>
        </p:spPr>
        <p:txBody>
          <a:bodyPr wrap="square" lIns="0" tIns="0" rIns="0" bIns="0" rtlCol="0" anchor="b"/>
          <a:lstStyle/>
          <a:p>
            <a:pPr marL="0" indent="0" algn="l">
              <a:buNone/>
            </a:pPr>
            <a:r>
              <a:rPr lang="en-US" sz="1700" b="1" dirty="0">
                <a:solidFill>
                  <a:srgbClr val="06185F"/>
                </a:solidFill>
                <a:latin typeface="Arial" pitchFamily="34" charset="0"/>
                <a:ea typeface="Arial" pitchFamily="34" charset="-122"/>
                <a:cs typeface="Arial" pitchFamily="34" charset="-120"/>
              </a:rPr>
              <a:t>8–12% annual churn</a:t>
            </a:r>
            <a:endParaRPr lang="en-US" sz="1700" dirty="0"/>
          </a:p>
        </p:txBody>
      </p:sp>
      <p:sp>
        <p:nvSpPr>
          <p:cNvPr id="8" name="Stat1Desc"/>
          <p:cNvSpPr/>
          <p:nvPr/>
        </p:nvSpPr>
        <p:spPr>
          <a:xfrm>
            <a:off x="3326130" y="2060000"/>
            <a:ext cx="2457450" cy="460000"/>
          </a:xfrm>
          <a:prstGeom prst="rect">
            <a:avLst/>
          </a:prstGeom>
          <a:noFill/>
          <a:ln/>
        </p:spPr>
        <p:txBody>
          <a:bodyPr wrap="square" lIns="0" tIns="0" rIns="0" bIns="0" rtlCol="0" anchor="t"/>
          <a:lstStyle/>
          <a:p>
            <a:pPr marL="0" indent="0" algn="l">
              <a:buNone/>
            </a:pPr>
            <a:r>
              <a:rPr lang="en-US" sz="950" dirty="0">
                <a:solidFill>
                  <a:srgbClr val="575A5D"/>
                </a:solidFill>
                <a:latin typeface="Calibri" pitchFamily="34" charset="0"/>
                <a:ea typeface="Calibri" pitchFamily="34" charset="-122"/>
                <a:cs typeface="Calibri" pitchFamily="34" charset="-120"/>
              </a:rPr>
              <a:t>≈2,600–4,000 households at risk/yr — within industry's 5–15% range (FI Works, The Financial Brand)</a:t>
            </a:r>
            <a:endParaRPr lang="en-US" sz="950" dirty="0"/>
          </a:p>
        </p:txBody>
      </p:sp>
      <p:sp>
        <p:nvSpPr>
          <p:cNvPr id="9" name="Stat2Num"/>
          <p:cNvSpPr/>
          <p:nvPr/>
        </p:nvSpPr>
        <p:spPr>
          <a:xfrm>
            <a:off x="6012180" y="1580000"/>
            <a:ext cx="2457450" cy="460000"/>
          </a:xfrm>
          <a:prstGeom prst="rect">
            <a:avLst/>
          </a:prstGeom>
          <a:noFill/>
          <a:ln/>
        </p:spPr>
        <p:txBody>
          <a:bodyPr wrap="square" lIns="0" tIns="0" rIns="0" bIns="0" rtlCol="0" anchor="b"/>
          <a:lstStyle/>
          <a:p>
            <a:pPr marL="0" indent="0" algn="l">
              <a:buNone/>
            </a:pPr>
            <a:r>
              <a:rPr lang="en-US" sz="1700" b="1" dirty="0">
                <a:solidFill>
                  <a:srgbClr val="06185F"/>
                </a:solidFill>
                <a:latin typeface="Arial" pitchFamily="34" charset="0"/>
                <a:ea typeface="Arial" pitchFamily="34" charset="-122"/>
                <a:cs typeface="Arial" pitchFamily="34" charset="-120"/>
              </a:rPr>
              <a:t>~$700/household/yr</a:t>
            </a:r>
            <a:endParaRPr lang="en-US" sz="1700" dirty="0"/>
          </a:p>
        </p:txBody>
      </p:sp>
      <p:sp>
        <p:nvSpPr>
          <p:cNvPr id="10" name="Stat2Desc"/>
          <p:cNvSpPr/>
          <p:nvPr/>
        </p:nvSpPr>
        <p:spPr>
          <a:xfrm>
            <a:off x="6012180" y="2060000"/>
            <a:ext cx="2457450" cy="460000"/>
          </a:xfrm>
          <a:prstGeom prst="rect">
            <a:avLst/>
          </a:prstGeom>
          <a:noFill/>
          <a:ln/>
        </p:spPr>
        <p:txBody>
          <a:bodyPr wrap="square" lIns="0" tIns="0" rIns="0" bIns="0" rtlCol="0" anchor="t"/>
          <a:lstStyle/>
          <a:p>
            <a:pPr marL="0" indent="0" algn="l">
              <a:buNone/>
            </a:pPr>
            <a:r>
              <a:rPr lang="en-US" sz="950" dirty="0">
                <a:solidFill>
                  <a:srgbClr val="575A5D"/>
                </a:solidFill>
                <a:latin typeface="Calibri" pitchFamily="34" charset="0"/>
                <a:ea typeface="Calibri" pitchFamily="34" charset="-122"/>
                <a:cs typeface="Calibri" pitchFamily="34" charset="-120"/>
              </a:rPr>
              <a:t>average relationship revenue at risk (StrategyCorps checking-profitability data)</a:t>
            </a:r>
            <a:endParaRPr lang="en-US" sz="950" dirty="0"/>
          </a:p>
        </p:txBody>
      </p:sp>
      <p:sp>
        <p:nvSpPr>
          <p:cNvPr id="11" name="Stat3Num"/>
          <p:cNvSpPr/>
          <p:nvPr/>
        </p:nvSpPr>
        <p:spPr>
          <a:xfrm>
            <a:off x="8698230" y="1580000"/>
            <a:ext cx="2457450" cy="460000"/>
          </a:xfrm>
          <a:prstGeom prst="rect">
            <a:avLst/>
          </a:prstGeom>
          <a:noFill/>
          <a:ln/>
        </p:spPr>
        <p:txBody>
          <a:bodyPr wrap="square" lIns="0" tIns="0" rIns="0" bIns="0" rtlCol="0" anchor="b"/>
          <a:lstStyle/>
          <a:p>
            <a:pPr marL="0" indent="0" algn="l">
              <a:buNone/>
            </a:pPr>
            <a:r>
              <a:rPr lang="en-US" sz="1700" b="1" dirty="0">
                <a:solidFill>
                  <a:srgbClr val="06185F"/>
                </a:solidFill>
                <a:latin typeface="Arial" pitchFamily="34" charset="0"/>
                <a:ea typeface="Arial" pitchFamily="34" charset="-122"/>
                <a:cs typeface="Arial" pitchFamily="34" charset="-120"/>
              </a:rPr>
              <a:t>$150K/yr + $150/save</a:t>
            </a:r>
            <a:endParaRPr lang="en-US" sz="1700" dirty="0"/>
          </a:p>
        </p:txBody>
      </p:sp>
      <p:sp>
        <p:nvSpPr>
          <p:cNvPr id="12" name="Stat3Desc"/>
          <p:cNvSpPr/>
          <p:nvPr/>
        </p:nvSpPr>
        <p:spPr>
          <a:xfrm>
            <a:off x="8698230" y="2060000"/>
            <a:ext cx="2457450" cy="460000"/>
          </a:xfrm>
          <a:prstGeom prst="rect">
            <a:avLst/>
          </a:prstGeom>
          <a:noFill/>
          <a:ln/>
        </p:spPr>
        <p:txBody>
          <a:bodyPr wrap="square" lIns="0" tIns="0" rIns="0" bIns="0" rtlCol="0" anchor="t"/>
          <a:lstStyle/>
          <a:p>
            <a:pPr marL="0" indent="0" algn="l">
              <a:buNone/>
            </a:pPr>
            <a:r>
              <a:rPr lang="en-US" sz="950" dirty="0">
                <a:solidFill>
                  <a:srgbClr val="575A5D"/>
                </a:solidFill>
                <a:latin typeface="Calibri" pitchFamily="34" charset="0"/>
                <a:ea typeface="Calibri" pitchFamily="34" charset="-122"/>
                <a:cs typeface="Calibri" pitchFamily="34" charset="-120"/>
              </a:rPr>
              <a:t>illustrative program cost — data pipeline, model upkeep, review capacity</a:t>
            </a:r>
            <a:endParaRPr lang="en-US" sz="950" dirty="0"/>
          </a:p>
        </p:txBody>
      </p:sp>
      <p:sp>
        <p:nvSpPr>
          <p:cNvPr id="13" name="ChartTitle"/>
          <p:cNvSpPr/>
          <p:nvPr/>
        </p:nvSpPr>
        <p:spPr>
          <a:xfrm>
            <a:off x="640080" y="2650000"/>
            <a:ext cx="10515600" cy="280000"/>
          </a:xfrm>
          <a:prstGeom prst="rect">
            <a:avLst/>
          </a:prstGeom>
          <a:noFill/>
          <a:ln/>
        </p:spPr>
        <p:txBody>
          <a:bodyPr wrap="square" lIns="0" tIns="0" rIns="0" bIns="0" rtlCol="0" anchor="ctr"/>
          <a:lstStyle/>
          <a:p>
            <a:pPr marL="0" indent="0" algn="l">
              <a:buNone/>
            </a:pPr>
            <a:r>
              <a:rPr lang="en-US" sz="1300" b="1" dirty="0">
                <a:solidFill>
                  <a:srgbClr val="06185F"/>
                </a:solidFill>
                <a:latin typeface="Arial" pitchFamily="34" charset="0"/>
                <a:ea typeface="Arial" pitchFamily="34" charset="-122"/>
                <a:cs typeface="Arial" pitchFamily="34" charset="-120"/>
              </a:rPr>
              <a:t>Value saved vs. program cost, by households deflected per year</a:t>
            </a:r>
            <a:endParaRPr lang="en-US" sz="1300" dirty="0"/>
          </a:p>
        </p:txBody>
      </p:sp>
      <p:cxnSp>
        <p:nvCxnSpPr>
          <p:cNvPr id="14" name="Grid0"/>
          <p:cNvCxnSpPr/>
          <p:nvPr/>
        </p:nvCxnSpPr>
        <p:spPr>
          <a:xfrm>
            <a:off x="1400000" y="4650000"/>
            <a:ext cx="9400000" cy="0"/>
          </a:xfrm>
          <a:prstGeom prst="line">
            <a:avLst/>
          </a:prstGeom>
          <a:ln w="6350">
            <a:solidFill>
              <a:srgbClr val="D7DBDE"/>
            </a:solidFill>
          </a:ln>
        </p:spPr>
      </p:cxnSp>
      <p:cxnSp>
        <p:nvCxnSpPr>
          <p:cNvPr id="15" name="Grid1"/>
          <p:cNvCxnSpPr/>
          <p:nvPr/>
        </p:nvCxnSpPr>
        <p:spPr>
          <a:xfrm>
            <a:off x="1400000" y="3800000"/>
            <a:ext cx="9400000" cy="0"/>
          </a:xfrm>
          <a:prstGeom prst="line">
            <a:avLst/>
          </a:prstGeom>
          <a:ln w="6350">
            <a:solidFill>
              <a:srgbClr val="D7DBDE"/>
            </a:solidFill>
          </a:ln>
        </p:spPr>
      </p:cxnSp>
      <p:cxnSp>
        <p:nvCxnSpPr>
          <p:cNvPr id="16" name="Grid2"/>
          <p:cNvCxnSpPr/>
          <p:nvPr/>
        </p:nvCxnSpPr>
        <p:spPr>
          <a:xfrm>
            <a:off x="1400000" y="2950000"/>
            <a:ext cx="9400000" cy="0"/>
          </a:xfrm>
          <a:prstGeom prst="line">
            <a:avLst/>
          </a:prstGeom>
          <a:ln w="6350">
            <a:solidFill>
              <a:srgbClr val="D7DBDE"/>
            </a:solidFill>
          </a:ln>
        </p:spPr>
      </p:cxnSp>
      <p:cxnSp>
        <p:nvCxnSpPr>
          <p:cNvPr id="17" name="XAxis"/>
          <p:cNvCxnSpPr/>
          <p:nvPr/>
        </p:nvCxnSpPr>
        <p:spPr>
          <a:xfrm>
            <a:off x="1400000" y="5500000"/>
            <a:ext cx="9400000" cy="0"/>
          </a:xfrm>
          <a:prstGeom prst="line">
            <a:avLst/>
          </a:prstGeom>
          <a:ln w="12700">
            <a:solidFill>
              <a:srgbClr val="575A5D"/>
            </a:solidFill>
          </a:ln>
        </p:spPr>
      </p:cxnSp>
      <p:cxnSp>
        <p:nvCxnSpPr>
          <p:cNvPr id="18" name="YAxis"/>
          <p:cNvCxnSpPr/>
          <p:nvPr/>
        </p:nvCxnSpPr>
        <p:spPr>
          <a:xfrm>
            <a:off x="1400000" y="2950000"/>
            <a:ext cx="0" cy="2550000"/>
          </a:xfrm>
          <a:prstGeom prst="line">
            <a:avLst/>
          </a:prstGeom>
          <a:ln w="12700">
            <a:solidFill>
              <a:srgbClr val="575A5D"/>
            </a:solidFill>
          </a:ln>
        </p:spPr>
      </p:cxnSp>
      <p:sp>
        <p:nvSpPr>
          <p:cNvPr id="19" name="YTick0"/>
          <p:cNvSpPr/>
          <p:nvPr/>
        </p:nvSpPr>
        <p:spPr>
          <a:xfrm>
            <a:off x="640080" y="5370000"/>
            <a:ext cx="700000" cy="260000"/>
          </a:xfrm>
          <a:prstGeom prst="rect">
            <a:avLst/>
          </a:prstGeom>
          <a:noFill/>
          <a:ln/>
        </p:spPr>
        <p:txBody>
          <a:bodyPr wrap="square" lIns="0" tIns="0" rIns="0" bIns="0" rtlCol="0" anchor="ctr"/>
          <a:lstStyle/>
          <a:p>
            <a:pPr marL="0" indent="0" algn="r">
              <a:buNone/>
            </a:pPr>
            <a:r>
              <a:rPr lang="en-US" sz="900" dirty="0">
                <a:solidFill>
                  <a:srgbClr val="575A5D"/>
                </a:solidFill>
                <a:latin typeface="Calibri" pitchFamily="34" charset="0"/>
                <a:ea typeface="Calibri" pitchFamily="34" charset="-122"/>
                <a:cs typeface="Calibri" pitchFamily="34" charset="-120"/>
              </a:rPr>
              <a:t>$0</a:t>
            </a:r>
            <a:endParaRPr lang="en-US" sz="900" dirty="0"/>
          </a:p>
        </p:txBody>
      </p:sp>
      <p:sp>
        <p:nvSpPr>
          <p:cNvPr id="20" name="YTick1"/>
          <p:cNvSpPr/>
          <p:nvPr/>
        </p:nvSpPr>
        <p:spPr>
          <a:xfrm>
            <a:off x="640080" y="4520000"/>
            <a:ext cx="700000" cy="260000"/>
          </a:xfrm>
          <a:prstGeom prst="rect">
            <a:avLst/>
          </a:prstGeom>
          <a:noFill/>
          <a:ln/>
        </p:spPr>
        <p:txBody>
          <a:bodyPr wrap="square" lIns="0" tIns="0" rIns="0" bIns="0" rtlCol="0" anchor="ctr"/>
          <a:lstStyle/>
          <a:p>
            <a:pPr marL="0" indent="0" algn="r">
              <a:buNone/>
            </a:pPr>
            <a:r>
              <a:rPr lang="en-US" sz="900" dirty="0">
                <a:solidFill>
                  <a:srgbClr val="575A5D"/>
                </a:solidFill>
                <a:latin typeface="Calibri" pitchFamily="34" charset="0"/>
                <a:ea typeface="Calibri" pitchFamily="34" charset="-122"/>
                <a:cs typeface="Calibri" pitchFamily="34" charset="-120"/>
              </a:rPr>
              <a:t>$100K</a:t>
            </a:r>
            <a:endParaRPr lang="en-US" sz="900" dirty="0"/>
          </a:p>
        </p:txBody>
      </p:sp>
      <p:sp>
        <p:nvSpPr>
          <p:cNvPr id="21" name="YTick2"/>
          <p:cNvSpPr/>
          <p:nvPr/>
        </p:nvSpPr>
        <p:spPr>
          <a:xfrm>
            <a:off x="640080" y="3670000"/>
            <a:ext cx="700000" cy="260000"/>
          </a:xfrm>
          <a:prstGeom prst="rect">
            <a:avLst/>
          </a:prstGeom>
          <a:noFill/>
          <a:ln/>
        </p:spPr>
        <p:txBody>
          <a:bodyPr wrap="square" lIns="0" tIns="0" rIns="0" bIns="0" rtlCol="0" anchor="ctr"/>
          <a:lstStyle/>
          <a:p>
            <a:pPr marL="0" indent="0" algn="r">
              <a:buNone/>
            </a:pPr>
            <a:r>
              <a:rPr lang="en-US" sz="900" dirty="0">
                <a:solidFill>
                  <a:srgbClr val="575A5D"/>
                </a:solidFill>
                <a:latin typeface="Calibri" pitchFamily="34" charset="0"/>
                <a:ea typeface="Calibri" pitchFamily="34" charset="-122"/>
                <a:cs typeface="Calibri" pitchFamily="34" charset="-120"/>
              </a:rPr>
              <a:t>$200K</a:t>
            </a:r>
            <a:endParaRPr lang="en-US" sz="900" dirty="0"/>
          </a:p>
        </p:txBody>
      </p:sp>
      <p:sp>
        <p:nvSpPr>
          <p:cNvPr id="22" name="YTick3"/>
          <p:cNvSpPr/>
          <p:nvPr/>
        </p:nvSpPr>
        <p:spPr>
          <a:xfrm>
            <a:off x="640080" y="2820000"/>
            <a:ext cx="700000" cy="260000"/>
          </a:xfrm>
          <a:prstGeom prst="rect">
            <a:avLst/>
          </a:prstGeom>
          <a:noFill/>
          <a:ln/>
        </p:spPr>
        <p:txBody>
          <a:bodyPr wrap="square" lIns="0" tIns="0" rIns="0" bIns="0" rtlCol="0" anchor="ctr"/>
          <a:lstStyle/>
          <a:p>
            <a:pPr marL="0" indent="0" algn="r">
              <a:buNone/>
            </a:pPr>
            <a:r>
              <a:rPr lang="en-US" sz="900" dirty="0">
                <a:solidFill>
                  <a:srgbClr val="575A5D"/>
                </a:solidFill>
                <a:latin typeface="Calibri" pitchFamily="34" charset="0"/>
                <a:ea typeface="Calibri" pitchFamily="34" charset="-122"/>
                <a:cs typeface="Calibri" pitchFamily="34" charset="-120"/>
              </a:rPr>
              <a:t>$300K</a:t>
            </a:r>
            <a:endParaRPr lang="en-US" sz="900" dirty="0"/>
          </a:p>
        </p:txBody>
      </p:sp>
      <p:sp>
        <p:nvSpPr>
          <p:cNvPr id="23" name="XTick0"/>
          <p:cNvSpPr/>
          <p:nvPr/>
        </p:nvSpPr>
        <p:spPr>
          <a:xfrm>
            <a:off x="1000000" y="5540000"/>
            <a:ext cx="800000" cy="240000"/>
          </a:xfrm>
          <a:prstGeom prst="rect">
            <a:avLst/>
          </a:prstGeom>
          <a:noFill/>
          <a:ln/>
        </p:spPr>
        <p:txBody>
          <a:bodyPr wrap="square" lIns="0" tIns="0" rIns="0" bIns="0" rtlCol="0" anchor="ctr"/>
          <a:lstStyle/>
          <a:p>
            <a:pPr marL="0" indent="0" algn="ctr">
              <a:buNone/>
            </a:pPr>
            <a:r>
              <a:rPr lang="en-US" sz="900" dirty="0">
                <a:solidFill>
                  <a:srgbClr val="575A5D"/>
                </a:solidFill>
                <a:latin typeface="Calibri" pitchFamily="34" charset="0"/>
                <a:ea typeface="Calibri" pitchFamily="34" charset="-122"/>
                <a:cs typeface="Calibri" pitchFamily="34" charset="-120"/>
              </a:rPr>
              <a:t>6</a:t>
            </a:r>
            <a:endParaRPr lang="en-US" sz="900" dirty="0"/>
          </a:p>
        </p:txBody>
      </p:sp>
      <p:sp>
        <p:nvSpPr>
          <p:cNvPr id="24" name="XTick1"/>
          <p:cNvSpPr/>
          <p:nvPr/>
        </p:nvSpPr>
        <p:spPr>
          <a:xfrm>
            <a:off x="3350000" y="5540000"/>
            <a:ext cx="800000" cy="240000"/>
          </a:xfrm>
          <a:prstGeom prst="rect">
            <a:avLst/>
          </a:prstGeom>
          <a:noFill/>
          <a:ln/>
        </p:spPr>
        <p:txBody>
          <a:bodyPr wrap="square" lIns="0" tIns="0" rIns="0" bIns="0" rtlCol="0" anchor="ctr"/>
          <a:lstStyle/>
          <a:p>
            <a:pPr marL="0" indent="0" algn="ctr">
              <a:buNone/>
            </a:pPr>
            <a:r>
              <a:rPr lang="en-US" sz="900" dirty="0">
                <a:solidFill>
                  <a:srgbClr val="575A5D"/>
                </a:solidFill>
                <a:latin typeface="Calibri" pitchFamily="34" charset="0"/>
                <a:ea typeface="Calibri" pitchFamily="34" charset="-122"/>
                <a:cs typeface="Calibri" pitchFamily="34" charset="-120"/>
              </a:rPr>
              <a:t>6</a:t>
            </a:r>
            <a:endParaRPr lang="en-US" sz="900" dirty="0"/>
          </a:p>
        </p:txBody>
      </p:sp>
      <p:sp>
        <p:nvSpPr>
          <p:cNvPr id="25" name="XTick2"/>
          <p:cNvSpPr/>
          <p:nvPr/>
        </p:nvSpPr>
        <p:spPr>
          <a:xfrm>
            <a:off x="5700000" y="5540000"/>
            <a:ext cx="800000" cy="240000"/>
          </a:xfrm>
          <a:prstGeom prst="rect">
            <a:avLst/>
          </a:prstGeom>
          <a:noFill/>
          <a:ln/>
        </p:spPr>
        <p:txBody>
          <a:bodyPr wrap="square" lIns="0" tIns="0" rIns="0" bIns="0" rtlCol="0" anchor="ctr"/>
          <a:lstStyle/>
          <a:p>
            <a:pPr marL="0" indent="0" algn="ctr">
              <a:buNone/>
            </a:pPr>
            <a:r>
              <a:rPr lang="en-US" sz="900" dirty="0">
                <a:solidFill>
                  <a:srgbClr val="575A5D"/>
                </a:solidFill>
                <a:latin typeface="Calibri" pitchFamily="34" charset="0"/>
                <a:ea typeface="Calibri" pitchFamily="34" charset="-122"/>
                <a:cs typeface="Calibri" pitchFamily="34" charset="-120"/>
              </a:rPr>
              <a:t>6</a:t>
            </a:r>
            <a:endParaRPr lang="en-US" sz="900" dirty="0"/>
          </a:p>
        </p:txBody>
      </p:sp>
      <p:sp>
        <p:nvSpPr>
          <p:cNvPr id="26" name="XTick3"/>
          <p:cNvSpPr/>
          <p:nvPr/>
        </p:nvSpPr>
        <p:spPr>
          <a:xfrm>
            <a:off x="8050000" y="5540000"/>
            <a:ext cx="800000" cy="240000"/>
          </a:xfrm>
          <a:prstGeom prst="rect">
            <a:avLst/>
          </a:prstGeom>
          <a:noFill/>
          <a:ln/>
        </p:spPr>
        <p:txBody>
          <a:bodyPr wrap="square" lIns="0" tIns="0" rIns="0" bIns="0" rtlCol="0" anchor="ctr"/>
          <a:lstStyle/>
          <a:p>
            <a:pPr marL="0" indent="0" algn="ctr">
              <a:buNone/>
            </a:pPr>
            <a:r>
              <a:rPr lang="en-US" sz="900" dirty="0">
                <a:solidFill>
                  <a:srgbClr val="575A5D"/>
                </a:solidFill>
                <a:latin typeface="Calibri" pitchFamily="34" charset="0"/>
                <a:ea typeface="Calibri" pitchFamily="34" charset="-122"/>
                <a:cs typeface="Calibri" pitchFamily="34" charset="-120"/>
              </a:rPr>
              <a:t>6</a:t>
            </a:r>
            <a:endParaRPr lang="en-US" sz="900" dirty="0"/>
          </a:p>
        </p:txBody>
      </p:sp>
      <p:sp>
        <p:nvSpPr>
          <p:cNvPr id="27" name="XTick4"/>
          <p:cNvSpPr/>
          <p:nvPr/>
        </p:nvSpPr>
        <p:spPr>
          <a:xfrm>
            <a:off x="10400000" y="5540000"/>
            <a:ext cx="800000" cy="240000"/>
          </a:xfrm>
          <a:prstGeom prst="rect">
            <a:avLst/>
          </a:prstGeom>
          <a:noFill/>
          <a:ln/>
        </p:spPr>
        <p:txBody>
          <a:bodyPr wrap="square" lIns="0" tIns="0" rIns="0" bIns="0" rtlCol="0" anchor="ctr"/>
          <a:lstStyle/>
          <a:p>
            <a:pPr marL="0" indent="0" algn="ctr">
              <a:buNone/>
            </a:pPr>
            <a:r>
              <a:rPr lang="en-US" sz="900" dirty="0">
                <a:solidFill>
                  <a:srgbClr val="575A5D"/>
                </a:solidFill>
                <a:latin typeface="Calibri" pitchFamily="34" charset="0"/>
                <a:ea typeface="Calibri" pitchFamily="34" charset="-122"/>
                <a:cs typeface="Calibri" pitchFamily="34" charset="-120"/>
              </a:rPr>
              <a:t>6</a:t>
            </a:r>
            <a:endParaRPr lang="en-US" sz="900" dirty="0"/>
          </a:p>
        </p:txBody>
      </p:sp>
      <p:cxnSp>
        <p:nvCxnSpPr>
          <p:cNvPr id="28" name="ValueLine"/>
          <p:cNvCxnSpPr/>
          <p:nvPr/>
        </p:nvCxnSpPr>
        <p:spPr>
          <a:xfrm flipV="1">
            <a:off x="1400000" y="3120000"/>
            <a:ext cx="9400000" cy="2380000"/>
          </a:xfrm>
          <a:prstGeom prst="line">
            <a:avLst/>
          </a:prstGeom>
          <a:ln w="28575">
            <a:solidFill>
              <a:srgbClr val="085CE5"/>
            </a:solidFill>
          </a:ln>
        </p:spPr>
      </p:cxnSp>
      <p:cxnSp>
        <p:nvCxnSpPr>
          <p:cNvPr id="29" name="CostLine"/>
          <p:cNvCxnSpPr/>
          <p:nvPr/>
        </p:nvCxnSpPr>
        <p:spPr>
          <a:xfrm flipV="1">
            <a:off x="1400000" y="3715000"/>
            <a:ext cx="9400000" cy="510000"/>
          </a:xfrm>
          <a:prstGeom prst="line">
            <a:avLst/>
          </a:prstGeom>
          <a:ln w="19050">
            <a:solidFill>
              <a:srgbClr val="06185F"/>
            </a:solidFill>
            <a:prstDash val="dash"/>
          </a:ln>
        </p:spPr>
      </p:cxnSp>
      <p:cxnSp>
        <p:nvCxnSpPr>
          <p:cNvPr id="30" name="BEGuide"/>
          <p:cNvCxnSpPr/>
          <p:nvPr/>
        </p:nvCxnSpPr>
        <p:spPr>
          <a:xfrm>
            <a:off x="7809091" y="3877273"/>
            <a:ext cx="0" cy="1622727"/>
          </a:xfrm>
          <a:prstGeom prst="line">
            <a:avLst/>
          </a:prstGeom>
          <a:ln w="9525">
            <a:solidFill>
              <a:srgbClr val="B6BBC0"/>
            </a:solidFill>
            <a:prstDash val="dash"/>
          </a:ln>
        </p:spPr>
      </p:cxnSp>
      <p:sp>
        <p:nvSpPr>
          <p:cNvPr id="31" name="BEDot"/>
          <p:cNvSpPr/>
          <p:nvPr/>
        </p:nvSpPr>
        <p:spPr>
          <a:xfrm>
            <a:off x="7744091" y="3812273"/>
            <a:ext cx="130000" cy="130000"/>
          </a:xfrm>
          <a:prstGeom prst="ellipse">
            <a:avLst/>
          </a:prstGeom>
          <a:solidFill>
            <a:srgbClr val="085CE5"/>
          </a:solidFill>
          <a:ln w="19050">
            <a:solidFill>
              <a:srgbClr val="FFFFFF"/>
            </a:solidFill>
          </a:ln>
        </p:spPr>
        <p:txBody>
          <a:bodyPr/>
          <a:lstStyle/>
          <a:p>
            <a:endParaRPr lang="en-US"/>
          </a:p>
        </p:txBody>
      </p:sp>
      <p:sp>
        <p:nvSpPr>
          <p:cNvPr id="32" name="XAxisLabel"/>
          <p:cNvSpPr/>
          <p:nvPr/>
        </p:nvSpPr>
        <p:spPr>
          <a:xfrm>
            <a:off x="1400000" y="5790000"/>
            <a:ext cx="9400000" cy="260000"/>
          </a:xfrm>
          <a:prstGeom prst="rect">
            <a:avLst/>
          </a:prstGeom>
          <a:noFill/>
          <a:ln/>
        </p:spPr>
        <p:txBody>
          <a:bodyPr wrap="square" lIns="0" tIns="0" rIns="0" bIns="0" rtlCol="0" anchor="ctr"/>
          <a:lstStyle/>
          <a:p>
            <a:pPr marL="0" indent="0" algn="ctr">
              <a:buNone/>
            </a:pPr>
            <a:r>
              <a:rPr lang="en-US" sz="1000" i="1" dirty="0">
                <a:solidFill>
                  <a:srgbClr val="575A5D"/>
                </a:solidFill>
                <a:latin typeface="Calibri" pitchFamily="34" charset="0"/>
                <a:ea typeface="Calibri" pitchFamily="34" charset="-122"/>
                <a:cs typeface="Calibri" pitchFamily="34" charset="-120"/>
              </a:rPr>
              <a:t>Households deflected per year</a:t>
            </a:r>
            <a:endParaRPr lang="en-US" sz="1000" dirty="0"/>
          </a:p>
        </p:txBody>
      </p:sp>
      <p:cxnSp>
        <p:nvCxnSpPr>
          <p:cNvPr id="33" name="LegSwatch1"/>
          <p:cNvCxnSpPr/>
          <p:nvPr/>
        </p:nvCxnSpPr>
        <p:spPr>
          <a:xfrm>
            <a:off x="1400000" y="6230000"/>
            <a:ext cx="300000" cy="0"/>
          </a:xfrm>
          <a:prstGeom prst="line">
            <a:avLst/>
          </a:prstGeom>
          <a:ln w="28575">
            <a:solidFill>
              <a:srgbClr val="085CE5"/>
            </a:solidFill>
          </a:ln>
        </p:spPr>
      </p:cxnSp>
      <p:sp>
        <p:nvSpPr>
          <p:cNvPr id="34" name="LegLabel1"/>
          <p:cNvSpPr/>
          <p:nvPr/>
        </p:nvSpPr>
        <p:spPr>
          <a:xfrm>
            <a:off x="1750000" y="6100000"/>
            <a:ext cx="3200000" cy="260000"/>
          </a:xfrm>
          <a:prstGeom prst="rect">
            <a:avLst/>
          </a:prstGeom>
          <a:noFill/>
          <a:ln/>
        </p:spPr>
        <p:txBody>
          <a:bodyPr wrap="square" lIns="0" tIns="0" rIns="0" bIns="0" rtlCol="0" anchor="ctr"/>
          <a:lstStyle/>
          <a:p>
            <a:pPr marL="0" indent="0" algn="l">
              <a:buNone/>
            </a:pPr>
            <a:r>
              <a:rPr lang="en-US" sz="1000" dirty="0">
                <a:solidFill>
                  <a:srgbClr val="06185F"/>
                </a:solidFill>
                <a:latin typeface="Calibri" pitchFamily="34" charset="0"/>
                <a:ea typeface="Calibri" pitchFamily="34" charset="-122"/>
                <a:cs typeface="Calibri" pitchFamily="34" charset="-120"/>
              </a:rPr>
              <a:t>Value saved ($700/household)</a:t>
            </a:r>
            <a:endParaRPr lang="en-US" sz="1000" dirty="0"/>
          </a:p>
        </p:txBody>
      </p:sp>
      <p:cxnSp>
        <p:nvCxnSpPr>
          <p:cNvPr id="35" name="LegSwatch2"/>
          <p:cNvCxnSpPr/>
          <p:nvPr/>
        </p:nvCxnSpPr>
        <p:spPr>
          <a:xfrm>
            <a:off x="5400000" y="6230000"/>
            <a:ext cx="300000" cy="0"/>
          </a:xfrm>
          <a:prstGeom prst="line">
            <a:avLst/>
          </a:prstGeom>
          <a:ln w="19050">
            <a:solidFill>
              <a:srgbClr val="06185F"/>
            </a:solidFill>
            <a:prstDash val="dash"/>
          </a:ln>
        </p:spPr>
      </p:cxnSp>
      <p:sp>
        <p:nvSpPr>
          <p:cNvPr id="36" name="LegLabel2"/>
          <p:cNvSpPr/>
          <p:nvPr/>
        </p:nvSpPr>
        <p:spPr>
          <a:xfrm>
            <a:off x="5750000" y="6100000"/>
            <a:ext cx="3600000" cy="260000"/>
          </a:xfrm>
          <a:prstGeom prst="rect">
            <a:avLst/>
          </a:prstGeom>
          <a:noFill/>
          <a:ln/>
        </p:spPr>
        <p:txBody>
          <a:bodyPr wrap="square" lIns="0" tIns="0" rIns="0" bIns="0" rtlCol="0" anchor="ctr"/>
          <a:lstStyle/>
          <a:p>
            <a:pPr marL="0" indent="0" algn="l">
              <a:buNone/>
            </a:pPr>
            <a:r>
              <a:rPr lang="en-US" sz="1000" dirty="0">
                <a:solidFill>
                  <a:srgbClr val="06185F"/>
                </a:solidFill>
                <a:latin typeface="Calibri" pitchFamily="34" charset="0"/>
                <a:ea typeface="Calibri" pitchFamily="34" charset="-122"/>
                <a:cs typeface="Calibri" pitchFamily="34" charset="-120"/>
              </a:rPr>
              <a:t>Program cost ($150K fixed + $150/save)</a:t>
            </a:r>
            <a:endParaRPr lang="en-US" sz="1000" dirty="0"/>
          </a:p>
        </p:txBody>
      </p:sp>
      <p:sp>
        <p:nvSpPr>
          <p:cNvPr id="37" name="Callout"/>
          <p:cNvSpPr/>
          <p:nvPr/>
        </p:nvSpPr>
        <p:spPr>
          <a:xfrm>
            <a:off x="640080" y="6420000"/>
            <a:ext cx="10515600" cy="320000"/>
          </a:xfrm>
          <a:prstGeom prst="rect">
            <a:avLst/>
          </a:prstGeom>
          <a:noFill/>
          <a:ln/>
        </p:spPr>
        <p:txBody>
          <a:bodyPr wrap="square" lIns="0" tIns="0" rIns="0" bIns="0" rtlCol="0" anchor="ctr"/>
          <a:lstStyle/>
          <a:p>
            <a:pPr marL="0" indent="0" algn="l">
              <a:buNone/>
            </a:pPr>
            <a:r>
              <a:rPr lang="en-US" sz="1150" b="1" dirty="0">
                <a:solidFill>
                  <a:srgbClr val="085CE5"/>
                </a:solidFill>
                <a:latin typeface="Calibri" pitchFamily="34" charset="0"/>
                <a:ea typeface="Calibri" pitchFamily="34" charset="-122"/>
                <a:cs typeface="Calibri" pitchFamily="34" charset="-120"/>
              </a:rPr>
              <a:t>Breakeven ≈ 273 households deflected/year — about 8% of at-risk accounts. Above that, every household saved is straight to the bottom line.</a:t>
            </a:r>
            <a:endParaRPr lang="en-US" sz="1150" dirty="0"/>
          </a:p>
        </p:txBody>
      </p:sp>
      <p:sp>
        <p:nvSpPr>
          <p:cNvPr id="38" name="PageNum"/>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900" dirty="0">
                <a:solidFill>
                  <a:srgbClr val="B6BBC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5486400" cy="320040"/>
          </a:xfrm>
          <a:prstGeom prst="rect">
            <a:avLst/>
          </a:prstGeom>
          <a:noFill/>
          <a:ln/>
        </p:spPr>
        <p:txBody>
          <a:bodyPr wrap="square" lIns="0" tIns="0" rIns="0" bIns="0" rtlCol="0" anchor="ctr"/>
          <a:lstStyle/>
          <a:p>
            <a:pPr marL="0" indent="0" algn="l">
              <a:buNone/>
            </a:pPr>
            <a:r>
              <a:rPr lang="en-US" sz="1200" b="1" kern="0" spc="200" dirty="0">
                <a:solidFill>
                  <a:srgbClr val="085CE5"/>
                </a:solidFill>
                <a:latin typeface="Calibri" pitchFamily="34" charset="0"/>
                <a:ea typeface="Calibri" pitchFamily="34" charset="-122"/>
                <a:cs typeface="Calibri" pitchFamily="34" charset="-120"/>
              </a:rPr>
              <a:t>THE BUSINESS CASE  —  PART 2 OF 2</a:t>
            </a:r>
            <a:endParaRPr lang="en-US" sz="1200" dirty="0"/>
          </a:p>
        </p:txBody>
      </p:sp>
      <p:sp>
        <p:nvSpPr>
          <p:cNvPr id="3" name="Text 1"/>
          <p:cNvSpPr/>
          <p:nvPr/>
        </p:nvSpPr>
        <p:spPr>
          <a:xfrm>
            <a:off x="640080" y="822960"/>
            <a:ext cx="10515600" cy="822960"/>
          </a:xfrm>
          <a:prstGeom prst="rect">
            <a:avLst/>
          </a:prstGeom>
          <a:noFill/>
          <a:ln/>
        </p:spPr>
        <p:txBody>
          <a:bodyPr wrap="square" lIns="0" tIns="0" rIns="0" bIns="0" rtlCol="0" anchor="ctr"/>
          <a:lstStyle/>
          <a:p>
            <a:pPr marL="0" indent="0">
              <a:buNone/>
            </a:pPr>
            <a:r>
              <a:rPr lang="en-US" sz="3000" b="1" dirty="0">
                <a:solidFill>
                  <a:srgbClr val="06185F"/>
                </a:solidFill>
                <a:latin typeface="Arial" pitchFamily="34" charset="0"/>
                <a:ea typeface="Arial" pitchFamily="34" charset="-122"/>
                <a:cs typeface="Arial" pitchFamily="34" charset="-120"/>
              </a:rPr>
              <a:t>The small-business opportunity you're built to win</a:t>
            </a:r>
            <a:endParaRPr lang="en-US" sz="3000" dirty="0"/>
          </a:p>
        </p:txBody>
      </p:sp>
      <p:sp>
        <p:nvSpPr>
          <p:cNvPr id="4" name="Shape 2"/>
          <p:cNvSpPr/>
          <p:nvPr/>
        </p:nvSpPr>
        <p:spPr>
          <a:xfrm>
            <a:off x="640080" y="1965960"/>
            <a:ext cx="3657600" cy="3977640"/>
          </a:xfrm>
          <a:prstGeom prst="roundRect">
            <a:avLst>
              <a:gd name="adj" fmla="val 2000"/>
            </a:avLst>
          </a:prstGeom>
          <a:solidFill>
            <a:srgbClr val="06185F"/>
          </a:solidFill>
          <a:ln/>
          <a:effectLst>
            <a:outerShdw blurRad="127000" dist="38100" dir="5400000" algn="bl" rotWithShape="0">
              <a:srgbClr val="1B1F3B">
                <a:alpha val="10000"/>
              </a:srgbClr>
            </a:outerShdw>
          </a:effectLst>
        </p:spPr>
        <p:txBody>
          <a:bodyPr/>
          <a:lstStyle/>
          <a:p>
            <a:endParaRPr lang="en-US"/>
          </a:p>
        </p:txBody>
      </p:sp>
      <p:sp>
        <p:nvSpPr>
          <p:cNvPr id="5" name="Text 3"/>
          <p:cNvSpPr/>
          <p:nvPr/>
        </p:nvSpPr>
        <p:spPr>
          <a:xfrm>
            <a:off x="914400" y="2331720"/>
            <a:ext cx="3108960" cy="1005840"/>
          </a:xfrm>
          <a:prstGeom prst="rect">
            <a:avLst/>
          </a:prstGeom>
          <a:noFill/>
          <a:ln/>
        </p:spPr>
        <p:txBody>
          <a:bodyPr wrap="square" lIns="0" tIns="0" rIns="0" bIns="0" rtlCol="0" anchor="ctr"/>
          <a:lstStyle/>
          <a:p>
            <a:pPr marL="0" indent="0">
              <a:buNone/>
            </a:pPr>
            <a:r>
              <a:rPr lang="en-US" sz="4800" b="1" dirty="0">
                <a:solidFill>
                  <a:srgbClr val="76DCFD"/>
                </a:solidFill>
                <a:latin typeface="Arial" pitchFamily="34" charset="0"/>
                <a:ea typeface="Arial" pitchFamily="34" charset="-122"/>
                <a:cs typeface="Arial" pitchFamily="34" charset="-120"/>
              </a:rPr>
              <a:t>$130B</a:t>
            </a:r>
            <a:endParaRPr lang="en-US" sz="4800" dirty="0"/>
          </a:p>
        </p:txBody>
      </p:sp>
      <p:sp>
        <p:nvSpPr>
          <p:cNvPr id="6" name="Text 4"/>
          <p:cNvSpPr/>
          <p:nvPr/>
        </p:nvSpPr>
        <p:spPr>
          <a:xfrm>
            <a:off x="914400" y="3291840"/>
            <a:ext cx="3108960" cy="1463040"/>
          </a:xfrm>
          <a:prstGeom prst="rect">
            <a:avLst/>
          </a:prstGeom>
          <a:noFill/>
          <a:ln/>
        </p:spPr>
        <p:txBody>
          <a:bodyPr wrap="square" lIns="0" tIns="0" rIns="0" bIns="0" rtlCol="0" anchor="ctr"/>
          <a:lstStyle/>
          <a:p>
            <a:pPr marL="0" indent="0">
              <a:buNone/>
            </a:pPr>
            <a:r>
              <a:rPr lang="en-US" sz="1300" dirty="0">
                <a:solidFill>
                  <a:srgbClr val="E7ECF0"/>
                </a:solidFill>
                <a:latin typeface="Calibri" pitchFamily="34" charset="0"/>
                <a:ea typeface="Calibri" pitchFamily="34" charset="-122"/>
                <a:cs typeface="Calibri" pitchFamily="34" charset="-120"/>
              </a:rPr>
              <a:t>small-business banking revenue opportunity nationally — much of it still winnable by community FIs</a:t>
            </a:r>
            <a:endParaRPr lang="en-US" sz="1300" dirty="0"/>
          </a:p>
        </p:txBody>
      </p:sp>
      <p:sp>
        <p:nvSpPr>
          <p:cNvPr id="7" name="Text 5"/>
          <p:cNvSpPr/>
          <p:nvPr/>
        </p:nvSpPr>
        <p:spPr>
          <a:xfrm>
            <a:off x="914400" y="4709160"/>
            <a:ext cx="3108960" cy="1005840"/>
          </a:xfrm>
          <a:prstGeom prst="rect">
            <a:avLst/>
          </a:prstGeom>
          <a:noFill/>
          <a:ln/>
        </p:spPr>
        <p:txBody>
          <a:bodyPr wrap="square" lIns="0" tIns="0" rIns="0" bIns="0" rtlCol="0" anchor="ctr"/>
          <a:lstStyle/>
          <a:p>
            <a:pPr marL="0" indent="0">
              <a:buNone/>
            </a:pPr>
            <a:r>
              <a:rPr lang="en-US" sz="1150" i="1" dirty="0">
                <a:solidFill>
                  <a:srgbClr val="B6BBC0"/>
                </a:solidFill>
                <a:latin typeface="Calibri" pitchFamily="34" charset="0"/>
                <a:ea typeface="Calibri" pitchFamily="34" charset="-122"/>
                <a:cs typeface="Calibri" pitchFamily="34" charset="-120"/>
              </a:rPr>
              <a:t>99.9% of U.S. businesses are small businesses, employing 45% of the private workforce.</a:t>
            </a:r>
            <a:endParaRPr lang="en-US" sz="1150" dirty="0"/>
          </a:p>
        </p:txBody>
      </p:sp>
      <p:sp>
        <p:nvSpPr>
          <p:cNvPr id="8" name="Text 6"/>
          <p:cNvSpPr/>
          <p:nvPr/>
        </p:nvSpPr>
        <p:spPr>
          <a:xfrm>
            <a:off x="4663440" y="1965960"/>
            <a:ext cx="6858000" cy="365760"/>
          </a:xfrm>
          <a:prstGeom prst="rect">
            <a:avLst/>
          </a:prstGeom>
          <a:noFill/>
          <a:ln/>
        </p:spPr>
        <p:txBody>
          <a:bodyPr wrap="square" lIns="0" tIns="0" rIns="0" bIns="0" rtlCol="0" anchor="ctr"/>
          <a:lstStyle/>
          <a:p>
            <a:pPr marL="0" indent="0">
              <a:buNone/>
            </a:pPr>
            <a:r>
              <a:rPr lang="en-US" sz="1500" b="1" dirty="0">
                <a:solidFill>
                  <a:srgbClr val="06185F"/>
                </a:solidFill>
                <a:latin typeface="Arial" pitchFamily="34" charset="0"/>
                <a:ea typeface="Arial" pitchFamily="34" charset="-122"/>
                <a:cs typeface="Arial" pitchFamily="34" charset="-120"/>
              </a:rPr>
              <a:t>Community FIs already win on trust and access</a:t>
            </a:r>
            <a:endParaRPr lang="en-US" sz="1500" dirty="0"/>
          </a:p>
        </p:txBody>
      </p:sp>
      <p:sp>
        <p:nvSpPr>
          <p:cNvPr id="9" name="Text 7"/>
          <p:cNvSpPr/>
          <p:nvPr/>
        </p:nvSpPr>
        <p:spPr>
          <a:xfrm>
            <a:off x="4663440" y="2514600"/>
            <a:ext cx="2743200" cy="365760"/>
          </a:xfrm>
          <a:prstGeom prst="rect">
            <a:avLst/>
          </a:prstGeom>
          <a:noFill/>
          <a:ln/>
        </p:spPr>
        <p:txBody>
          <a:bodyPr wrap="square" lIns="0" tIns="0" rIns="0" bIns="0" rtlCol="0" anchor="ctr"/>
          <a:lstStyle/>
          <a:p>
            <a:pPr marL="0" indent="0">
              <a:buNone/>
            </a:pPr>
            <a:r>
              <a:rPr lang="en-US" sz="1250" dirty="0">
                <a:solidFill>
                  <a:srgbClr val="575A5D"/>
                </a:solidFill>
                <a:latin typeface="Calibri" pitchFamily="34" charset="0"/>
                <a:ea typeface="Calibri" pitchFamily="34" charset="-122"/>
                <a:cs typeface="Calibri" pitchFamily="34" charset="-120"/>
              </a:rPr>
              <a:t>Loan approval rate — small FIs</a:t>
            </a:r>
            <a:endParaRPr lang="en-US" sz="1250" dirty="0"/>
          </a:p>
        </p:txBody>
      </p:sp>
      <p:sp>
        <p:nvSpPr>
          <p:cNvPr id="10" name="Shape 8"/>
          <p:cNvSpPr/>
          <p:nvPr/>
        </p:nvSpPr>
        <p:spPr>
          <a:xfrm>
            <a:off x="7498080" y="2551176"/>
            <a:ext cx="4023360" cy="292608"/>
          </a:xfrm>
          <a:prstGeom prst="roundRect">
            <a:avLst>
              <a:gd name="adj" fmla="val 50000"/>
            </a:avLst>
          </a:prstGeom>
          <a:solidFill>
            <a:srgbClr val="E7ECF0"/>
          </a:solidFill>
          <a:ln/>
          <a:effectLst>
            <a:outerShdw blurRad="127000" dist="38100" dir="5400000" algn="bl" rotWithShape="0">
              <a:srgbClr val="1B1F3B">
                <a:alpha val="10000"/>
              </a:srgbClr>
            </a:outerShdw>
          </a:effectLst>
        </p:spPr>
        <p:txBody>
          <a:bodyPr/>
          <a:lstStyle/>
          <a:p>
            <a:endParaRPr lang="en-US"/>
          </a:p>
        </p:txBody>
      </p:sp>
      <p:sp>
        <p:nvSpPr>
          <p:cNvPr id="11" name="Shape 9"/>
          <p:cNvSpPr/>
          <p:nvPr/>
        </p:nvSpPr>
        <p:spPr>
          <a:xfrm>
            <a:off x="7498080" y="2551176"/>
            <a:ext cx="3299155" cy="292608"/>
          </a:xfrm>
          <a:prstGeom prst="roundRect">
            <a:avLst>
              <a:gd name="adj" fmla="val 50000"/>
            </a:avLst>
          </a:prstGeom>
          <a:solidFill>
            <a:srgbClr val="085CE5"/>
          </a:solidFill>
          <a:ln/>
        </p:spPr>
        <p:txBody>
          <a:bodyPr/>
          <a:lstStyle/>
          <a:p>
            <a:endParaRPr lang="en-US"/>
          </a:p>
        </p:txBody>
      </p:sp>
      <p:sp>
        <p:nvSpPr>
          <p:cNvPr id="12" name="Text 10"/>
          <p:cNvSpPr/>
          <p:nvPr/>
        </p:nvSpPr>
        <p:spPr>
          <a:xfrm>
            <a:off x="11612880" y="2496312"/>
            <a:ext cx="640080" cy="365760"/>
          </a:xfrm>
          <a:prstGeom prst="rect">
            <a:avLst/>
          </a:prstGeom>
          <a:noFill/>
          <a:ln/>
        </p:spPr>
        <p:txBody>
          <a:bodyPr wrap="square" lIns="0" tIns="0" rIns="0" bIns="0" rtlCol="0" anchor="ctr"/>
          <a:lstStyle/>
          <a:p>
            <a:pPr marL="0" indent="0">
              <a:buNone/>
            </a:pPr>
            <a:r>
              <a:rPr lang="en-US" sz="1300" b="1" dirty="0">
                <a:solidFill>
                  <a:srgbClr val="06185F"/>
                </a:solidFill>
                <a:latin typeface="Arial" pitchFamily="34" charset="0"/>
                <a:ea typeface="Arial" pitchFamily="34" charset="-122"/>
                <a:cs typeface="Arial" pitchFamily="34" charset="-120"/>
              </a:rPr>
              <a:t>82%</a:t>
            </a:r>
            <a:endParaRPr lang="en-US" sz="1300" dirty="0"/>
          </a:p>
        </p:txBody>
      </p:sp>
      <p:sp>
        <p:nvSpPr>
          <p:cNvPr id="13" name="Text 11"/>
          <p:cNvSpPr/>
          <p:nvPr/>
        </p:nvSpPr>
        <p:spPr>
          <a:xfrm>
            <a:off x="4663440" y="3063240"/>
            <a:ext cx="2743200" cy="365760"/>
          </a:xfrm>
          <a:prstGeom prst="rect">
            <a:avLst/>
          </a:prstGeom>
          <a:noFill/>
          <a:ln/>
        </p:spPr>
        <p:txBody>
          <a:bodyPr wrap="square" lIns="0" tIns="0" rIns="0" bIns="0" rtlCol="0" anchor="ctr"/>
          <a:lstStyle/>
          <a:p>
            <a:pPr marL="0" indent="0">
              <a:buNone/>
            </a:pPr>
            <a:r>
              <a:rPr lang="en-US" sz="1250" dirty="0">
                <a:solidFill>
                  <a:srgbClr val="575A5D"/>
                </a:solidFill>
                <a:latin typeface="Calibri" pitchFamily="34" charset="0"/>
                <a:ea typeface="Calibri" pitchFamily="34" charset="-122"/>
                <a:cs typeface="Calibri" pitchFamily="34" charset="-120"/>
              </a:rPr>
              <a:t>Loan approval rate — large banks</a:t>
            </a:r>
            <a:endParaRPr lang="en-US" sz="1250" dirty="0"/>
          </a:p>
        </p:txBody>
      </p:sp>
      <p:sp>
        <p:nvSpPr>
          <p:cNvPr id="14" name="Shape 12"/>
          <p:cNvSpPr/>
          <p:nvPr/>
        </p:nvSpPr>
        <p:spPr>
          <a:xfrm>
            <a:off x="7498080" y="3099816"/>
            <a:ext cx="4023360" cy="292608"/>
          </a:xfrm>
          <a:prstGeom prst="roundRect">
            <a:avLst>
              <a:gd name="adj" fmla="val 50000"/>
            </a:avLst>
          </a:prstGeom>
          <a:solidFill>
            <a:srgbClr val="E7ECF0"/>
          </a:solidFill>
          <a:ln/>
          <a:effectLst>
            <a:outerShdw blurRad="127000" dist="38100" dir="5400000" algn="bl" rotWithShape="0">
              <a:srgbClr val="1B1F3B">
                <a:alpha val="10000"/>
              </a:srgbClr>
            </a:outerShdw>
          </a:effectLst>
        </p:spPr>
        <p:txBody>
          <a:bodyPr/>
          <a:lstStyle/>
          <a:p>
            <a:endParaRPr lang="en-US"/>
          </a:p>
        </p:txBody>
      </p:sp>
      <p:sp>
        <p:nvSpPr>
          <p:cNvPr id="15" name="Shape 13"/>
          <p:cNvSpPr/>
          <p:nvPr/>
        </p:nvSpPr>
        <p:spPr>
          <a:xfrm>
            <a:off x="7498080" y="3099816"/>
            <a:ext cx="2735885" cy="292608"/>
          </a:xfrm>
          <a:prstGeom prst="roundRect">
            <a:avLst>
              <a:gd name="adj" fmla="val 50000"/>
            </a:avLst>
          </a:prstGeom>
          <a:solidFill>
            <a:srgbClr val="B6BBC0"/>
          </a:solidFill>
          <a:ln/>
        </p:spPr>
        <p:txBody>
          <a:bodyPr/>
          <a:lstStyle/>
          <a:p>
            <a:endParaRPr lang="en-US"/>
          </a:p>
        </p:txBody>
      </p:sp>
      <p:sp>
        <p:nvSpPr>
          <p:cNvPr id="16" name="Text 14"/>
          <p:cNvSpPr/>
          <p:nvPr/>
        </p:nvSpPr>
        <p:spPr>
          <a:xfrm>
            <a:off x="11612880" y="3044952"/>
            <a:ext cx="640080" cy="365760"/>
          </a:xfrm>
          <a:prstGeom prst="rect">
            <a:avLst/>
          </a:prstGeom>
          <a:noFill/>
          <a:ln/>
        </p:spPr>
        <p:txBody>
          <a:bodyPr wrap="square" lIns="0" tIns="0" rIns="0" bIns="0" rtlCol="0" anchor="ctr"/>
          <a:lstStyle/>
          <a:p>
            <a:pPr marL="0" indent="0">
              <a:buNone/>
            </a:pPr>
            <a:r>
              <a:rPr lang="en-US" sz="1300" b="1" dirty="0">
                <a:solidFill>
                  <a:srgbClr val="06185F"/>
                </a:solidFill>
                <a:latin typeface="Arial" pitchFamily="34" charset="0"/>
                <a:ea typeface="Arial" pitchFamily="34" charset="-122"/>
                <a:cs typeface="Arial" pitchFamily="34" charset="-120"/>
              </a:rPr>
              <a:t>68%</a:t>
            </a:r>
            <a:endParaRPr lang="en-US" sz="1300" dirty="0"/>
          </a:p>
        </p:txBody>
      </p:sp>
      <p:sp>
        <p:nvSpPr>
          <p:cNvPr id="17" name="Text 15"/>
          <p:cNvSpPr/>
          <p:nvPr/>
        </p:nvSpPr>
        <p:spPr>
          <a:xfrm>
            <a:off x="4663440" y="3611880"/>
            <a:ext cx="2743200" cy="365760"/>
          </a:xfrm>
          <a:prstGeom prst="rect">
            <a:avLst/>
          </a:prstGeom>
          <a:noFill/>
          <a:ln/>
        </p:spPr>
        <p:txBody>
          <a:bodyPr wrap="square" lIns="0" tIns="0" rIns="0" bIns="0" rtlCol="0" anchor="ctr"/>
          <a:lstStyle/>
          <a:p>
            <a:pPr marL="0" indent="0">
              <a:buNone/>
            </a:pPr>
            <a:r>
              <a:rPr lang="en-US" sz="1250" dirty="0">
                <a:solidFill>
                  <a:srgbClr val="575A5D"/>
                </a:solidFill>
                <a:latin typeface="Calibri" pitchFamily="34" charset="0"/>
                <a:ea typeface="Calibri" pitchFamily="34" charset="-122"/>
                <a:cs typeface="Calibri" pitchFamily="34" charset="-120"/>
              </a:rPr>
              <a:t>SMBs likely to switch to a community FI if comparable digitally</a:t>
            </a:r>
            <a:endParaRPr lang="en-US" sz="1250" dirty="0"/>
          </a:p>
        </p:txBody>
      </p:sp>
      <p:sp>
        <p:nvSpPr>
          <p:cNvPr id="18" name="Shape 16"/>
          <p:cNvSpPr/>
          <p:nvPr/>
        </p:nvSpPr>
        <p:spPr>
          <a:xfrm>
            <a:off x="7498080" y="3648456"/>
            <a:ext cx="4023360" cy="292608"/>
          </a:xfrm>
          <a:prstGeom prst="roundRect">
            <a:avLst>
              <a:gd name="adj" fmla="val 50000"/>
            </a:avLst>
          </a:prstGeom>
          <a:solidFill>
            <a:srgbClr val="E7ECF0"/>
          </a:solidFill>
          <a:ln/>
          <a:effectLst>
            <a:outerShdw blurRad="127000" dist="38100" dir="5400000" algn="bl" rotWithShape="0">
              <a:srgbClr val="1B1F3B">
                <a:alpha val="10000"/>
              </a:srgbClr>
            </a:outerShdw>
          </a:effectLst>
        </p:spPr>
        <p:txBody>
          <a:bodyPr/>
          <a:lstStyle/>
          <a:p>
            <a:endParaRPr lang="en-US"/>
          </a:p>
        </p:txBody>
      </p:sp>
      <p:sp>
        <p:nvSpPr>
          <p:cNvPr id="19" name="Shape 17"/>
          <p:cNvSpPr/>
          <p:nvPr/>
        </p:nvSpPr>
        <p:spPr>
          <a:xfrm>
            <a:off x="7498080" y="3648456"/>
            <a:ext cx="2414016" cy="292608"/>
          </a:xfrm>
          <a:prstGeom prst="roundRect">
            <a:avLst>
              <a:gd name="adj" fmla="val 50000"/>
            </a:avLst>
          </a:prstGeom>
          <a:solidFill>
            <a:srgbClr val="76DCFD"/>
          </a:solidFill>
          <a:ln/>
        </p:spPr>
        <p:txBody>
          <a:bodyPr/>
          <a:lstStyle/>
          <a:p>
            <a:endParaRPr lang="en-US"/>
          </a:p>
        </p:txBody>
      </p:sp>
      <p:sp>
        <p:nvSpPr>
          <p:cNvPr id="20" name="Text 18"/>
          <p:cNvSpPr/>
          <p:nvPr/>
        </p:nvSpPr>
        <p:spPr>
          <a:xfrm>
            <a:off x="11612880" y="3593592"/>
            <a:ext cx="640080" cy="365760"/>
          </a:xfrm>
          <a:prstGeom prst="rect">
            <a:avLst/>
          </a:prstGeom>
          <a:noFill/>
          <a:ln/>
        </p:spPr>
        <p:txBody>
          <a:bodyPr wrap="square" lIns="0" tIns="0" rIns="0" bIns="0" rtlCol="0" anchor="ctr"/>
          <a:lstStyle/>
          <a:p>
            <a:pPr marL="0" indent="0">
              <a:buNone/>
            </a:pPr>
            <a:r>
              <a:rPr lang="en-US" sz="1300" b="1" dirty="0">
                <a:solidFill>
                  <a:srgbClr val="06185F"/>
                </a:solidFill>
                <a:latin typeface="Arial" pitchFamily="34" charset="0"/>
                <a:ea typeface="Arial" pitchFamily="34" charset="-122"/>
                <a:cs typeface="Arial" pitchFamily="34" charset="-120"/>
              </a:rPr>
              <a:t>60%</a:t>
            </a:r>
            <a:endParaRPr lang="en-US" sz="1300" dirty="0"/>
          </a:p>
        </p:txBody>
      </p:sp>
      <p:sp>
        <p:nvSpPr>
          <p:cNvPr id="21" name="Text 19"/>
          <p:cNvSpPr/>
          <p:nvPr/>
        </p:nvSpPr>
        <p:spPr>
          <a:xfrm>
            <a:off x="4663440" y="4160520"/>
            <a:ext cx="2743200" cy="365760"/>
          </a:xfrm>
          <a:prstGeom prst="rect">
            <a:avLst/>
          </a:prstGeom>
          <a:noFill/>
          <a:ln/>
        </p:spPr>
        <p:txBody>
          <a:bodyPr wrap="square" lIns="0" tIns="0" rIns="0" bIns="0" rtlCol="0" anchor="ctr"/>
          <a:lstStyle/>
          <a:p>
            <a:pPr marL="0" indent="0">
              <a:buNone/>
            </a:pPr>
            <a:r>
              <a:rPr lang="en-US" sz="1250" dirty="0">
                <a:solidFill>
                  <a:srgbClr val="575A5D"/>
                </a:solidFill>
                <a:latin typeface="Calibri" pitchFamily="34" charset="0"/>
                <a:ea typeface="Calibri" pitchFamily="34" charset="-122"/>
                <a:cs typeface="Calibri" pitchFamily="34" charset="-120"/>
              </a:rPr>
              <a:t>SMBs highly likely to switch to a community-oriented FI in 5 yrs</a:t>
            </a:r>
            <a:endParaRPr lang="en-US" sz="1250" dirty="0"/>
          </a:p>
        </p:txBody>
      </p:sp>
      <p:sp>
        <p:nvSpPr>
          <p:cNvPr id="22" name="Shape 20"/>
          <p:cNvSpPr/>
          <p:nvPr/>
        </p:nvSpPr>
        <p:spPr>
          <a:xfrm>
            <a:off x="7498080" y="4197096"/>
            <a:ext cx="4023360" cy="292608"/>
          </a:xfrm>
          <a:prstGeom prst="roundRect">
            <a:avLst>
              <a:gd name="adj" fmla="val 50000"/>
            </a:avLst>
          </a:prstGeom>
          <a:solidFill>
            <a:srgbClr val="E7ECF0"/>
          </a:solidFill>
          <a:ln/>
          <a:effectLst>
            <a:outerShdw blurRad="127000" dist="38100" dir="5400000" algn="bl" rotWithShape="0">
              <a:srgbClr val="1B1F3B">
                <a:alpha val="10000"/>
              </a:srgbClr>
            </a:outerShdw>
          </a:effectLst>
        </p:spPr>
        <p:txBody>
          <a:bodyPr/>
          <a:lstStyle/>
          <a:p>
            <a:endParaRPr lang="en-US"/>
          </a:p>
        </p:txBody>
      </p:sp>
      <p:sp>
        <p:nvSpPr>
          <p:cNvPr id="23" name="Shape 21"/>
          <p:cNvSpPr/>
          <p:nvPr/>
        </p:nvSpPr>
        <p:spPr>
          <a:xfrm>
            <a:off x="7498080" y="4197096"/>
            <a:ext cx="643738" cy="292608"/>
          </a:xfrm>
          <a:prstGeom prst="roundRect">
            <a:avLst>
              <a:gd name="adj" fmla="val 50000"/>
            </a:avLst>
          </a:prstGeom>
          <a:solidFill>
            <a:srgbClr val="76DCFD"/>
          </a:solidFill>
          <a:ln/>
        </p:spPr>
        <p:txBody>
          <a:bodyPr/>
          <a:lstStyle/>
          <a:p>
            <a:endParaRPr lang="en-US"/>
          </a:p>
        </p:txBody>
      </p:sp>
      <p:sp>
        <p:nvSpPr>
          <p:cNvPr id="24" name="Text 22"/>
          <p:cNvSpPr/>
          <p:nvPr/>
        </p:nvSpPr>
        <p:spPr>
          <a:xfrm>
            <a:off x="11612880" y="4142232"/>
            <a:ext cx="640080" cy="365760"/>
          </a:xfrm>
          <a:prstGeom prst="rect">
            <a:avLst/>
          </a:prstGeom>
          <a:noFill/>
          <a:ln/>
        </p:spPr>
        <p:txBody>
          <a:bodyPr wrap="square" lIns="0" tIns="0" rIns="0" bIns="0" rtlCol="0" anchor="ctr"/>
          <a:lstStyle/>
          <a:p>
            <a:pPr marL="0" indent="0">
              <a:buNone/>
            </a:pPr>
            <a:r>
              <a:rPr lang="en-US" sz="1300" b="1" dirty="0">
                <a:solidFill>
                  <a:srgbClr val="06185F"/>
                </a:solidFill>
                <a:latin typeface="Arial" pitchFamily="34" charset="0"/>
                <a:ea typeface="Arial" pitchFamily="34" charset="-122"/>
                <a:cs typeface="Arial" pitchFamily="34" charset="-120"/>
              </a:rPr>
              <a:t>16%</a:t>
            </a:r>
            <a:endParaRPr lang="en-US" sz="1300" dirty="0"/>
          </a:p>
        </p:txBody>
      </p:sp>
      <p:sp>
        <p:nvSpPr>
          <p:cNvPr id="25" name="Shape 23"/>
          <p:cNvSpPr/>
          <p:nvPr/>
        </p:nvSpPr>
        <p:spPr>
          <a:xfrm>
            <a:off x="4663440" y="4892040"/>
            <a:ext cx="6858000" cy="1051560"/>
          </a:xfrm>
          <a:prstGeom prst="roundRect">
            <a:avLst>
              <a:gd name="adj" fmla="val 6957"/>
            </a:avLst>
          </a:prstGeom>
          <a:solidFill>
            <a:srgbClr val="E8F7F7"/>
          </a:solidFill>
          <a:ln/>
          <a:effectLst>
            <a:outerShdw blurRad="127000" dist="38100" dir="5400000" algn="bl" rotWithShape="0">
              <a:srgbClr val="1B1F3B">
                <a:alpha val="10000"/>
              </a:srgbClr>
            </a:outerShdw>
          </a:effectLst>
        </p:spPr>
        <p:txBody>
          <a:bodyPr/>
          <a:lstStyle/>
          <a:p>
            <a:endParaRPr lang="en-US"/>
          </a:p>
        </p:txBody>
      </p:sp>
      <p:sp>
        <p:nvSpPr>
          <p:cNvPr id="26" name="Text 24"/>
          <p:cNvSpPr/>
          <p:nvPr/>
        </p:nvSpPr>
        <p:spPr>
          <a:xfrm>
            <a:off x="4892040" y="5029200"/>
            <a:ext cx="6400800" cy="822960"/>
          </a:xfrm>
          <a:prstGeom prst="rect">
            <a:avLst/>
          </a:prstGeom>
          <a:noFill/>
          <a:ln/>
        </p:spPr>
        <p:txBody>
          <a:bodyPr wrap="square" lIns="0" tIns="0" rIns="0" bIns="0" rtlCol="0" anchor="ctr"/>
          <a:lstStyle/>
          <a:p>
            <a:pPr marL="0" indent="0">
              <a:buNone/>
            </a:pPr>
            <a:r>
              <a:rPr lang="en-US" sz="1250" i="1" dirty="0">
                <a:solidFill>
                  <a:srgbClr val="06185F"/>
                </a:solidFill>
                <a:latin typeface="Calibri" pitchFamily="34" charset="0"/>
                <a:ea typeface="Calibri" pitchFamily="34" charset="-122"/>
                <a:cs typeface="Calibri" pitchFamily="34" charset="-120"/>
              </a:rPr>
              <a:t>The gap isn't trust — it's visibility. Most community FIs can't yet see which of today's personal-account holders is already running a business.</a:t>
            </a:r>
            <a:endParaRPr lang="en-US" sz="1250" dirty="0"/>
          </a:p>
        </p:txBody>
      </p:sp>
      <p:sp>
        <p:nvSpPr>
          <p:cNvPr id="27" name="Text 25"/>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900" dirty="0">
                <a:solidFill>
                  <a:srgbClr val="B6BBC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marL="0" indent="0" algn="l">
              <a:buNone/>
            </a:pPr>
            <a:r>
              <a:rPr lang="en-US" sz="1200" b="1" kern="0" spc="200" dirty="0">
                <a:solidFill>
                  <a:srgbClr val="085CE5"/>
                </a:solidFill>
                <a:latin typeface="Calibri" pitchFamily="34" charset="0"/>
                <a:ea typeface="Calibri" pitchFamily="34" charset="-122"/>
                <a:cs typeface="Calibri" pitchFamily="34" charset="-120"/>
              </a:rPr>
              <a:t>THE HIDDEN BUSINESS PROBLEM</a:t>
            </a:r>
            <a:endParaRPr lang="en-US" sz="1200" dirty="0"/>
          </a:p>
        </p:txBody>
      </p:sp>
      <p:sp>
        <p:nvSpPr>
          <p:cNvPr id="3" name="Text 1"/>
          <p:cNvSpPr/>
          <p:nvPr/>
        </p:nvSpPr>
        <p:spPr>
          <a:xfrm>
            <a:off x="640080" y="822960"/>
            <a:ext cx="10607040" cy="731520"/>
          </a:xfrm>
          <a:prstGeom prst="rect">
            <a:avLst/>
          </a:prstGeom>
          <a:noFill/>
          <a:ln/>
        </p:spPr>
        <p:txBody>
          <a:bodyPr wrap="square" lIns="0" tIns="0" rIns="0" bIns="0" rtlCol="0" anchor="ctr"/>
          <a:lstStyle/>
          <a:p>
            <a:pPr marL="0" indent="0">
              <a:buNone/>
            </a:pPr>
            <a:r>
              <a:rPr lang="en-US" sz="2600" b="1" dirty="0">
                <a:solidFill>
                  <a:srgbClr val="06185F"/>
                </a:solidFill>
                <a:latin typeface="Arial" pitchFamily="34" charset="0"/>
                <a:ea typeface="Arial" pitchFamily="34" charset="-122"/>
                <a:cs typeface="Arial" pitchFamily="34" charset="-120"/>
              </a:rPr>
              <a:t>The gig economy is banking through personal accounts</a:t>
            </a:r>
            <a:endParaRPr lang="en-US" sz="2600" dirty="0"/>
          </a:p>
        </p:txBody>
      </p:sp>
      <p:sp>
        <p:nvSpPr>
          <p:cNvPr id="4" name="Text 2"/>
          <p:cNvSpPr/>
          <p:nvPr/>
        </p:nvSpPr>
        <p:spPr>
          <a:xfrm>
            <a:off x="640080" y="1481328"/>
            <a:ext cx="10515600" cy="457200"/>
          </a:xfrm>
          <a:prstGeom prst="rect">
            <a:avLst/>
          </a:prstGeom>
          <a:noFill/>
          <a:ln/>
        </p:spPr>
        <p:txBody>
          <a:bodyPr wrap="square" lIns="0" tIns="0" rIns="0" bIns="0" rtlCol="0" anchor="ctr"/>
          <a:lstStyle/>
          <a:p>
            <a:pPr marL="0" indent="0">
              <a:buNone/>
            </a:pPr>
            <a:r>
              <a:rPr lang="en-US" sz="1300" dirty="0">
                <a:solidFill>
                  <a:srgbClr val="575A5D"/>
                </a:solidFill>
                <a:latin typeface="Calibri" pitchFamily="34" charset="0"/>
                <a:ea typeface="Calibri" pitchFamily="34" charset="-122"/>
                <a:cs typeface="Calibri" pitchFamily="34" charset="-120"/>
              </a:rPr>
              <a:t>Side hustles, freelancers, and sole proprietors keep growing — and most never open a business account. That's three costs at once:</a:t>
            </a:r>
            <a:endParaRPr lang="en-US" sz="1300" dirty="0"/>
          </a:p>
        </p:txBody>
      </p:sp>
      <p:sp>
        <p:nvSpPr>
          <p:cNvPr id="5" name="Shape 3"/>
          <p:cNvSpPr/>
          <p:nvPr/>
        </p:nvSpPr>
        <p:spPr>
          <a:xfrm>
            <a:off x="640080" y="2331720"/>
            <a:ext cx="3429000" cy="3200400"/>
          </a:xfrm>
          <a:prstGeom prst="roundRect">
            <a:avLst>
              <a:gd name="adj" fmla="val 2286"/>
            </a:avLst>
          </a:prstGeom>
          <a:solidFill>
            <a:srgbClr val="E8F7F7"/>
          </a:solidFill>
          <a:ln/>
          <a:effectLst>
            <a:outerShdw blurRad="127000" dist="38100" dir="5400000" algn="bl" rotWithShape="0">
              <a:srgbClr val="1B1F3B">
                <a:alpha val="10000"/>
              </a:srgbClr>
            </a:outerShdw>
          </a:effectLst>
        </p:spPr>
        <p:txBody>
          <a:bodyPr/>
          <a:lstStyle/>
          <a:p>
            <a:endParaRPr lang="en-US"/>
          </a:p>
        </p:txBody>
      </p:sp>
      <p:sp>
        <p:nvSpPr>
          <p:cNvPr id="6" name="Shape 4"/>
          <p:cNvSpPr/>
          <p:nvPr/>
        </p:nvSpPr>
        <p:spPr>
          <a:xfrm>
            <a:off x="914400" y="2606040"/>
            <a:ext cx="548640" cy="548640"/>
          </a:xfrm>
          <a:prstGeom prst="ellipse">
            <a:avLst/>
          </a:prstGeom>
          <a:solidFill>
            <a:srgbClr val="085CE5"/>
          </a:solidFill>
          <a:ln/>
        </p:spPr>
        <p:txBody>
          <a:bodyPr/>
          <a:lstStyle/>
          <a:p>
            <a:endParaRPr lang="en-US"/>
          </a:p>
        </p:txBody>
      </p:sp>
      <p:sp>
        <p:nvSpPr>
          <p:cNvPr id="7" name="Shape 5"/>
          <p:cNvSpPr/>
          <p:nvPr/>
        </p:nvSpPr>
        <p:spPr>
          <a:xfrm>
            <a:off x="1073506" y="2898794"/>
            <a:ext cx="55303" cy="96780"/>
          </a:xfrm>
          <a:prstGeom prst="rect">
            <a:avLst/>
          </a:prstGeom>
          <a:solidFill>
            <a:srgbClr val="FFFFFF"/>
          </a:solidFill>
          <a:ln/>
        </p:spPr>
        <p:txBody>
          <a:bodyPr/>
          <a:lstStyle/>
          <a:p>
            <a:endParaRPr lang="en-US"/>
          </a:p>
        </p:txBody>
      </p:sp>
      <p:sp>
        <p:nvSpPr>
          <p:cNvPr id="8" name="Shape 6"/>
          <p:cNvSpPr/>
          <p:nvPr/>
        </p:nvSpPr>
        <p:spPr>
          <a:xfrm>
            <a:off x="1170286" y="2857317"/>
            <a:ext cx="55303" cy="138257"/>
          </a:xfrm>
          <a:prstGeom prst="rect">
            <a:avLst/>
          </a:prstGeom>
          <a:solidFill>
            <a:srgbClr val="FFFFFF"/>
          </a:solidFill>
          <a:ln/>
        </p:spPr>
        <p:txBody>
          <a:bodyPr/>
          <a:lstStyle/>
          <a:p>
            <a:endParaRPr lang="en-US"/>
          </a:p>
        </p:txBody>
      </p:sp>
      <p:sp>
        <p:nvSpPr>
          <p:cNvPr id="9" name="Shape 7"/>
          <p:cNvSpPr/>
          <p:nvPr/>
        </p:nvSpPr>
        <p:spPr>
          <a:xfrm>
            <a:off x="1267066" y="2799710"/>
            <a:ext cx="55303" cy="195864"/>
          </a:xfrm>
          <a:prstGeom prst="rect">
            <a:avLst/>
          </a:prstGeom>
          <a:solidFill>
            <a:srgbClr val="FFFFFF"/>
          </a:solidFill>
          <a:ln/>
        </p:spPr>
        <p:txBody>
          <a:bodyPr/>
          <a:lstStyle/>
          <a:p>
            <a:endParaRPr lang="en-US"/>
          </a:p>
        </p:txBody>
      </p:sp>
      <p:sp>
        <p:nvSpPr>
          <p:cNvPr id="10" name="Text 8"/>
          <p:cNvSpPr/>
          <p:nvPr/>
        </p:nvSpPr>
        <p:spPr>
          <a:xfrm>
            <a:off x="914400" y="3337560"/>
            <a:ext cx="2880360" cy="457200"/>
          </a:xfrm>
          <a:prstGeom prst="rect">
            <a:avLst/>
          </a:prstGeom>
          <a:noFill/>
          <a:ln/>
        </p:spPr>
        <p:txBody>
          <a:bodyPr wrap="square" lIns="0" tIns="0" rIns="0" bIns="0" rtlCol="0" anchor="ctr"/>
          <a:lstStyle/>
          <a:p>
            <a:pPr marL="0" indent="0">
              <a:buNone/>
            </a:pPr>
            <a:r>
              <a:rPr lang="en-US" sz="1600" b="1" dirty="0">
                <a:solidFill>
                  <a:srgbClr val="06185F"/>
                </a:solidFill>
                <a:latin typeface="Arial" pitchFamily="34" charset="0"/>
                <a:ea typeface="Arial" pitchFamily="34" charset="-122"/>
                <a:cs typeface="Arial" pitchFamily="34" charset="-120"/>
              </a:rPr>
              <a:t>Lost revenue</a:t>
            </a:r>
            <a:endParaRPr lang="en-US" sz="1600" dirty="0"/>
          </a:p>
        </p:txBody>
      </p:sp>
      <p:sp>
        <p:nvSpPr>
          <p:cNvPr id="11" name="Text 9"/>
          <p:cNvSpPr/>
          <p:nvPr/>
        </p:nvSpPr>
        <p:spPr>
          <a:xfrm>
            <a:off x="914400" y="3840480"/>
            <a:ext cx="2880360" cy="1554480"/>
          </a:xfrm>
          <a:prstGeom prst="rect">
            <a:avLst/>
          </a:prstGeom>
          <a:noFill/>
          <a:ln/>
        </p:spPr>
        <p:txBody>
          <a:bodyPr wrap="square" lIns="0" tIns="0" rIns="0" bIns="0" rtlCol="0" anchor="ctr"/>
          <a:lstStyle/>
          <a:p>
            <a:pPr marL="0" indent="0">
              <a:buNone/>
            </a:pPr>
            <a:r>
              <a:rPr lang="en-US" sz="1200" dirty="0">
                <a:solidFill>
                  <a:srgbClr val="575A5D"/>
                </a:solidFill>
                <a:latin typeface="Calibri" pitchFamily="34" charset="0"/>
                <a:ea typeface="Calibri" pitchFamily="34" charset="-122"/>
                <a:cs typeface="Calibri" pitchFamily="34" charset="-120"/>
              </a:rPr>
              <a:t>No treasury management, merchant services, business card, or business lending relationship — all of it goes to whoever notices first</a:t>
            </a:r>
            <a:endParaRPr lang="en-US" sz="1200" dirty="0"/>
          </a:p>
        </p:txBody>
      </p:sp>
      <p:sp>
        <p:nvSpPr>
          <p:cNvPr id="12" name="Shape 10"/>
          <p:cNvSpPr/>
          <p:nvPr/>
        </p:nvSpPr>
        <p:spPr>
          <a:xfrm>
            <a:off x="4389120" y="2331720"/>
            <a:ext cx="3429000" cy="3200400"/>
          </a:xfrm>
          <a:prstGeom prst="roundRect">
            <a:avLst>
              <a:gd name="adj" fmla="val 2286"/>
            </a:avLst>
          </a:prstGeom>
          <a:solidFill>
            <a:srgbClr val="E8F7F7"/>
          </a:solidFill>
          <a:ln/>
          <a:effectLst>
            <a:outerShdw blurRad="127000" dist="38100" dir="5400000" algn="bl" rotWithShape="0">
              <a:srgbClr val="1B1F3B">
                <a:alpha val="10000"/>
              </a:srgbClr>
            </a:outerShdw>
          </a:effectLst>
        </p:spPr>
        <p:txBody>
          <a:bodyPr/>
          <a:lstStyle/>
          <a:p>
            <a:endParaRPr lang="en-US"/>
          </a:p>
        </p:txBody>
      </p:sp>
      <p:sp>
        <p:nvSpPr>
          <p:cNvPr id="13" name="Shape 11"/>
          <p:cNvSpPr/>
          <p:nvPr/>
        </p:nvSpPr>
        <p:spPr>
          <a:xfrm>
            <a:off x="4663440" y="2606040"/>
            <a:ext cx="548640" cy="548640"/>
          </a:xfrm>
          <a:prstGeom prst="ellipse">
            <a:avLst/>
          </a:prstGeom>
          <a:solidFill>
            <a:srgbClr val="085CE5"/>
          </a:solidFill>
          <a:ln/>
        </p:spPr>
        <p:txBody>
          <a:bodyPr/>
          <a:lstStyle/>
          <a:p>
            <a:endParaRPr lang="en-US"/>
          </a:p>
        </p:txBody>
      </p:sp>
      <p:sp>
        <p:nvSpPr>
          <p:cNvPr id="14" name="Shape 12"/>
          <p:cNvSpPr/>
          <p:nvPr/>
        </p:nvSpPr>
        <p:spPr>
          <a:xfrm rot="5400000">
            <a:off x="4841748" y="2765146"/>
            <a:ext cx="184343" cy="207386"/>
          </a:xfrm>
          <a:prstGeom prst="triangle">
            <a:avLst/>
          </a:prstGeom>
          <a:solidFill>
            <a:srgbClr val="FFFFFF"/>
          </a:solidFill>
          <a:ln/>
        </p:spPr>
        <p:txBody>
          <a:bodyPr/>
          <a:lstStyle/>
          <a:p>
            <a:endParaRPr lang="en-US"/>
          </a:p>
        </p:txBody>
      </p:sp>
      <p:sp>
        <p:nvSpPr>
          <p:cNvPr id="15" name="Text 13"/>
          <p:cNvSpPr/>
          <p:nvPr/>
        </p:nvSpPr>
        <p:spPr>
          <a:xfrm>
            <a:off x="4663440" y="3337560"/>
            <a:ext cx="2880360" cy="457200"/>
          </a:xfrm>
          <a:prstGeom prst="rect">
            <a:avLst/>
          </a:prstGeom>
          <a:noFill/>
          <a:ln/>
        </p:spPr>
        <p:txBody>
          <a:bodyPr wrap="square" lIns="0" tIns="0" rIns="0" bIns="0" rtlCol="0" anchor="ctr"/>
          <a:lstStyle/>
          <a:p>
            <a:pPr marL="0" indent="0">
              <a:buNone/>
            </a:pPr>
            <a:r>
              <a:rPr lang="en-US" sz="1600" b="1" dirty="0">
                <a:solidFill>
                  <a:srgbClr val="06185F"/>
                </a:solidFill>
                <a:latin typeface="Arial" pitchFamily="34" charset="0"/>
                <a:ea typeface="Arial" pitchFamily="34" charset="-122"/>
                <a:cs typeface="Arial" pitchFamily="34" charset="-120"/>
              </a:rPr>
              <a:t>Owner risk</a:t>
            </a:r>
            <a:endParaRPr lang="en-US" sz="1600" dirty="0"/>
          </a:p>
        </p:txBody>
      </p:sp>
      <p:sp>
        <p:nvSpPr>
          <p:cNvPr id="16" name="Text 14"/>
          <p:cNvSpPr/>
          <p:nvPr/>
        </p:nvSpPr>
        <p:spPr>
          <a:xfrm>
            <a:off x="4663440" y="3840480"/>
            <a:ext cx="2880360" cy="1554480"/>
          </a:xfrm>
          <a:prstGeom prst="rect">
            <a:avLst/>
          </a:prstGeom>
          <a:noFill/>
          <a:ln/>
        </p:spPr>
        <p:txBody>
          <a:bodyPr wrap="square" lIns="0" tIns="0" rIns="0" bIns="0" rtlCol="0" anchor="ctr"/>
          <a:lstStyle/>
          <a:p>
            <a:pPr marL="0" indent="0">
              <a:buNone/>
            </a:pPr>
            <a:r>
              <a:rPr lang="en-US" sz="1200" dirty="0">
                <a:solidFill>
                  <a:srgbClr val="575A5D"/>
                </a:solidFill>
                <a:latin typeface="Calibri" pitchFamily="34" charset="0"/>
                <a:ea typeface="Calibri" pitchFamily="34" charset="-122"/>
                <a:cs typeface="Calibri" pitchFamily="34" charset="-120"/>
              </a:rPr>
              <a:t>Personal accounts carry Reg E consumer protections, not business liability protections — the member is more exposed than they realize</a:t>
            </a:r>
            <a:endParaRPr lang="en-US" sz="1200" dirty="0"/>
          </a:p>
        </p:txBody>
      </p:sp>
      <p:sp>
        <p:nvSpPr>
          <p:cNvPr id="17" name="Shape 15"/>
          <p:cNvSpPr/>
          <p:nvPr/>
        </p:nvSpPr>
        <p:spPr>
          <a:xfrm>
            <a:off x="8138160" y="2331720"/>
            <a:ext cx="3429000" cy="3200400"/>
          </a:xfrm>
          <a:prstGeom prst="roundRect">
            <a:avLst>
              <a:gd name="adj" fmla="val 2286"/>
            </a:avLst>
          </a:prstGeom>
          <a:solidFill>
            <a:srgbClr val="E8F7F7"/>
          </a:solidFill>
          <a:ln/>
          <a:effectLst>
            <a:outerShdw blurRad="127000" dist="38100" dir="5400000" algn="bl" rotWithShape="0">
              <a:srgbClr val="1B1F3B">
                <a:alpha val="10000"/>
              </a:srgbClr>
            </a:outerShdw>
          </a:effectLst>
        </p:spPr>
        <p:txBody>
          <a:bodyPr/>
          <a:lstStyle/>
          <a:p>
            <a:endParaRPr lang="en-US"/>
          </a:p>
        </p:txBody>
      </p:sp>
      <p:sp>
        <p:nvSpPr>
          <p:cNvPr id="18" name="Shape 16"/>
          <p:cNvSpPr/>
          <p:nvPr/>
        </p:nvSpPr>
        <p:spPr>
          <a:xfrm>
            <a:off x="8412480" y="2606040"/>
            <a:ext cx="548640" cy="548640"/>
          </a:xfrm>
          <a:prstGeom prst="ellipse">
            <a:avLst/>
          </a:prstGeom>
          <a:solidFill>
            <a:srgbClr val="085CE5"/>
          </a:solidFill>
          <a:ln/>
        </p:spPr>
        <p:txBody>
          <a:bodyPr/>
          <a:lstStyle/>
          <a:p>
            <a:endParaRPr lang="en-US"/>
          </a:p>
        </p:txBody>
      </p:sp>
      <p:sp>
        <p:nvSpPr>
          <p:cNvPr id="19" name="Shape 17"/>
          <p:cNvSpPr/>
          <p:nvPr/>
        </p:nvSpPr>
        <p:spPr>
          <a:xfrm>
            <a:off x="8571586" y="2765146"/>
            <a:ext cx="230429" cy="230429"/>
          </a:xfrm>
          <a:prstGeom prst="ellipse">
            <a:avLst/>
          </a:prstGeom>
          <a:ln w="38100">
            <a:solidFill>
              <a:srgbClr val="FFFFFF"/>
            </a:solidFill>
            <a:prstDash val="solid"/>
          </a:ln>
        </p:spPr>
        <p:txBody>
          <a:bodyPr/>
          <a:lstStyle/>
          <a:p>
            <a:endParaRPr lang="en-US"/>
          </a:p>
        </p:txBody>
      </p:sp>
      <p:sp>
        <p:nvSpPr>
          <p:cNvPr id="20" name="Shape 18"/>
          <p:cNvSpPr/>
          <p:nvPr/>
        </p:nvSpPr>
        <p:spPr>
          <a:xfrm>
            <a:off x="8654540" y="2848100"/>
            <a:ext cx="64520" cy="64520"/>
          </a:xfrm>
          <a:prstGeom prst="ellipse">
            <a:avLst/>
          </a:prstGeom>
          <a:solidFill>
            <a:srgbClr val="FFFFFF"/>
          </a:solidFill>
          <a:ln/>
        </p:spPr>
        <p:txBody>
          <a:bodyPr/>
          <a:lstStyle/>
          <a:p>
            <a:endParaRPr lang="en-US"/>
          </a:p>
        </p:txBody>
      </p:sp>
      <p:sp>
        <p:nvSpPr>
          <p:cNvPr id="21" name="Text 19"/>
          <p:cNvSpPr/>
          <p:nvPr/>
        </p:nvSpPr>
        <p:spPr>
          <a:xfrm>
            <a:off x="8412480" y="3337560"/>
            <a:ext cx="2880360" cy="457200"/>
          </a:xfrm>
          <a:prstGeom prst="rect">
            <a:avLst/>
          </a:prstGeom>
          <a:noFill/>
          <a:ln/>
        </p:spPr>
        <p:txBody>
          <a:bodyPr wrap="square" lIns="0" tIns="0" rIns="0" bIns="0" rtlCol="0" anchor="ctr"/>
          <a:lstStyle/>
          <a:p>
            <a:pPr marL="0" indent="0">
              <a:buNone/>
            </a:pPr>
            <a:r>
              <a:rPr lang="en-US" sz="1600" b="1" dirty="0">
                <a:solidFill>
                  <a:srgbClr val="06185F"/>
                </a:solidFill>
                <a:latin typeface="Arial" pitchFamily="34" charset="0"/>
                <a:ea typeface="Arial" pitchFamily="34" charset="-122"/>
                <a:cs typeface="Arial" pitchFamily="34" charset="-120"/>
              </a:rPr>
              <a:t>Compliance exposure</a:t>
            </a:r>
            <a:endParaRPr lang="en-US" sz="1600" dirty="0"/>
          </a:p>
        </p:txBody>
      </p:sp>
      <p:sp>
        <p:nvSpPr>
          <p:cNvPr id="22" name="Text 20"/>
          <p:cNvSpPr/>
          <p:nvPr/>
        </p:nvSpPr>
        <p:spPr>
          <a:xfrm>
            <a:off x="8412480" y="3840480"/>
            <a:ext cx="2880360" cy="1554480"/>
          </a:xfrm>
          <a:prstGeom prst="rect">
            <a:avLst/>
          </a:prstGeom>
          <a:noFill/>
          <a:ln/>
        </p:spPr>
        <p:txBody>
          <a:bodyPr wrap="square" lIns="0" tIns="0" rIns="0" bIns="0" rtlCol="0" anchor="ctr"/>
          <a:lstStyle/>
          <a:p>
            <a:pPr marL="0" indent="0">
              <a:buNone/>
            </a:pPr>
            <a:r>
              <a:rPr lang="en-US" sz="1200" dirty="0">
                <a:solidFill>
                  <a:srgbClr val="575A5D"/>
                </a:solidFill>
                <a:latin typeface="Calibri" pitchFamily="34" charset="0"/>
                <a:ea typeface="Calibri" pitchFamily="34" charset="-122"/>
                <a:cs typeface="Calibri" pitchFamily="34" charset="-120"/>
              </a:rPr>
              <a:t>Commingled personal and business funds are a BSA/AML red flag and complicate the institution's own monitoring and reporting</a:t>
            </a:r>
            <a:endParaRPr lang="en-US" sz="1200" dirty="0"/>
          </a:p>
        </p:txBody>
      </p:sp>
      <p:sp>
        <p:nvSpPr>
          <p:cNvPr id="23" name="Text 21"/>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900" dirty="0">
                <a:solidFill>
                  <a:srgbClr val="B6BBC0"/>
                </a:solidFill>
                <a:latin typeface="Calibri" pitchFamily="34" charset="0"/>
                <a:ea typeface="Calibri" pitchFamily="34" charset="-122"/>
                <a:cs typeface="Calibri" pitchFamily="34" charset="-120"/>
              </a:rPr>
              <a:t>8</a:t>
            </a:r>
            <a:endParaRPr lang="en-US" sz="900" dirty="0"/>
          </a:p>
        </p:txBody>
      </p:sp>
      <p:sp>
        <p:nvSpPr>
          <p:cNvPr id="90" name="Closing"/>
          <p:cNvSpPr/>
          <p:nvPr/>
        </p:nvSpPr>
        <p:spPr>
          <a:xfrm>
            <a:off x="640080" y="5600000"/>
            <a:ext cx="10515600" cy="540000"/>
          </a:xfrm>
          <a:prstGeom prst="rect">
            <a:avLst/>
          </a:prstGeom>
          <a:noFill/>
          <a:ln/>
        </p:spPr>
        <p:txBody>
          <a:bodyPr wrap="square" lIns="0" tIns="0" rIns="0" bIns="0" rtlCol="0" anchor="ctr"/>
          <a:lstStyle/>
          <a:p>
            <a:pPr marL="0" indent="0" algn="l">
              <a:buNone/>
            </a:pPr>
            <a:r>
              <a:rPr lang="en-US" sz="1200" i="1" dirty="0">
                <a:solidFill>
                  <a:srgbClr val="575A5D"/>
                </a:solidFill>
                <a:latin typeface="Calibri" pitchFamily="34" charset="0"/>
                <a:ea typeface="Calibri" pitchFamily="34" charset="-122"/>
                <a:cs typeface="Calibri" pitchFamily="34" charset="-120"/>
              </a:rPr>
              <a:t>The trend is accelerating: 36% of U.S. workers now identify as independent — up from 27% in 2016 — contributing over $1 trillion to the economy annually, with gig-economy payment volume up 93% year-over-year at institutions already tracking it.</a:t>
            </a:r>
            <a:endParaRPr lang="en-US" sz="1200" dirty="0"/>
          </a:p>
        </p:txBody>
      </p:sp>
      <p:sp>
        <p:nvSpPr>
          <p:cNvPr id="91" name="Sources"/>
          <p:cNvSpPr/>
          <p:nvPr/>
        </p:nvSpPr>
        <p:spPr>
          <a:xfrm>
            <a:off x="640080" y="6180000"/>
            <a:ext cx="10515600" cy="260000"/>
          </a:xfrm>
          <a:prstGeom prst="rect">
            <a:avLst/>
          </a:prstGeom>
          <a:noFill/>
          <a:ln/>
        </p:spPr>
        <p:txBody>
          <a:bodyPr wrap="square" lIns="0" tIns="0" rIns="0" bIns="0" rtlCol="0" anchor="ctr"/>
          <a:lstStyle/>
          <a:p>
            <a:pPr marL="0" indent="0" algn="l">
              <a:buNone/>
            </a:pPr>
            <a:r>
              <a:rPr lang="en-US" sz="900" i="1" dirty="0">
                <a:solidFill>
                  <a:srgbClr val="B6BBC0"/>
                </a:solidFill>
                <a:latin typeface="Calibri" pitchFamily="34" charset="0"/>
                <a:ea typeface="Calibri" pitchFamily="34" charset="-122"/>
                <a:cs typeface="Calibri" pitchFamily="34" charset="-120"/>
              </a:rPr>
              <a:t>Sources: McKinsey American Opportunity Survey via Independent Banker/ICBA, 2023; The Financial Brand / Segmint gig-economy transaction data, 2022.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Eyebrow"/>
          <p:cNvSpPr/>
          <p:nvPr/>
        </p:nvSpPr>
        <p:spPr>
          <a:xfrm>
            <a:off x="640080" y="370000"/>
            <a:ext cx="10000000" cy="280000"/>
          </a:xfrm>
          <a:prstGeom prst="rect">
            <a:avLst/>
          </a:prstGeom>
          <a:noFill/>
          <a:ln/>
        </p:spPr>
        <p:txBody>
          <a:bodyPr wrap="square" lIns="0" tIns="0" rIns="0" bIns="0" rtlCol="0" anchor="ctr"/>
          <a:lstStyle/>
          <a:p>
            <a:pPr marL="0" indent="0" algn="l">
              <a:buNone/>
            </a:pPr>
            <a:r>
              <a:rPr lang="en-US" sz="1200" b="1" dirty="0">
                <a:solidFill>
                  <a:srgbClr val="085CE5"/>
                </a:solidFill>
                <a:latin typeface="Calibri" pitchFamily="34" charset="0"/>
                <a:ea typeface="Calibri" pitchFamily="34" charset="-122"/>
                <a:cs typeface="Calibri" pitchFamily="34" charset="-120"/>
              </a:rPr>
              <a:t>THE BUSINESS MODEL — PERSONAL TO COMMERCIAL</a:t>
            </a:r>
            <a:endParaRPr lang="en-US" sz="1200" dirty="0"/>
          </a:p>
        </p:txBody>
      </p:sp>
      <p:sp>
        <p:nvSpPr>
          <p:cNvPr id="3" name="Title"/>
          <p:cNvSpPr/>
          <p:nvPr/>
        </p:nvSpPr>
        <p:spPr>
          <a:xfrm>
            <a:off x="640080" y="660000"/>
            <a:ext cx="10515600" cy="500000"/>
          </a:xfrm>
          <a:prstGeom prst="rect">
            <a:avLst/>
          </a:prstGeom>
          <a:noFill/>
          <a:ln/>
        </p:spPr>
        <p:txBody>
          <a:bodyPr wrap="square" lIns="0" tIns="0" rIns="0" bIns="0" rtlCol="0" anchor="ctr"/>
          <a:lstStyle/>
          <a:p>
            <a:pPr marL="0" indent="0" algn="l">
              <a:buNone/>
            </a:pPr>
            <a:r>
              <a:rPr lang="en-US" sz="2800" b="1" dirty="0">
                <a:solidFill>
                  <a:srgbClr val="06185F"/>
                </a:solidFill>
                <a:latin typeface="Arial" pitchFamily="34" charset="0"/>
                <a:ea typeface="Arial" pitchFamily="34" charset="-122"/>
                <a:cs typeface="Arial" pitchFamily="34" charset="-120"/>
              </a:rPr>
              <a:t>Every hidden business is a warm lead, not a cold one</a:t>
            </a:r>
            <a:endParaRPr lang="en-US" sz="2800" dirty="0"/>
          </a:p>
        </p:txBody>
      </p:sp>
      <p:sp>
        <p:nvSpPr>
          <p:cNvPr id="4" name="Subtitle"/>
          <p:cNvSpPr/>
          <p:nvPr/>
        </p:nvSpPr>
        <p:spPr>
          <a:xfrm>
            <a:off x="640080" y="1190000"/>
            <a:ext cx="10515600" cy="320000"/>
          </a:xfrm>
          <a:prstGeom prst="rect">
            <a:avLst/>
          </a:prstGeom>
          <a:noFill/>
          <a:ln/>
        </p:spPr>
        <p:txBody>
          <a:bodyPr wrap="square" lIns="0" tIns="0" rIns="0" bIns="0" rtlCol="0" anchor="ctr"/>
          <a:lstStyle/>
          <a:p>
            <a:pPr marL="0" indent="0" algn="l">
              <a:buNone/>
            </a:pPr>
            <a:r>
              <a:rPr lang="en-US" sz="1250" dirty="0">
                <a:solidFill>
                  <a:srgbClr val="575A5D"/>
                </a:solidFill>
                <a:latin typeface="Calibri" pitchFamily="34" charset="0"/>
                <a:ea typeface="Calibri" pitchFamily="34" charset="-122"/>
                <a:cs typeface="Calibri" pitchFamily="34" charset="-120"/>
              </a:rPr>
              <a:t>Same 33,000 households as the churn model — a different lens on the same base.</a:t>
            </a:r>
            <a:endParaRPr lang="en-US" sz="1250" dirty="0"/>
          </a:p>
        </p:txBody>
      </p:sp>
      <p:sp>
        <p:nvSpPr>
          <p:cNvPr id="5" name="Bar0"/>
          <p:cNvSpPr/>
          <p:nvPr/>
        </p:nvSpPr>
        <p:spPr>
          <a:xfrm>
            <a:off x="640080" y="1750000"/>
            <a:ext cx="6560000" cy="620000"/>
          </a:xfrm>
          <a:prstGeom prst="roundRect">
            <a:avLst>
              <a:gd name="adj" fmla="val 12000"/>
            </a:avLst>
          </a:prstGeom>
          <a:solidFill>
            <a:srgbClr val="E8F7F7"/>
          </a:solidFill>
          <a:ln/>
          <a:effectLst>
            <a:outerShdw blurRad="127000" dist="38100" dir="5400000" algn="bl" rotWithShape="0">
              <a:srgbClr val="1B1F3B">
                <a:alpha val="10000"/>
              </a:srgbClr>
            </a:outerShdw>
          </a:effectLst>
        </p:spPr>
        <p:txBody>
          <a:bodyPr/>
          <a:lstStyle/>
          <a:p>
            <a:endParaRPr lang="en-US"/>
          </a:p>
        </p:txBody>
      </p:sp>
      <p:sp>
        <p:nvSpPr>
          <p:cNvPr id="6" name="BarNum0"/>
          <p:cNvSpPr/>
          <p:nvPr/>
        </p:nvSpPr>
        <p:spPr>
          <a:xfrm>
            <a:off x="640080" y="1750000"/>
            <a:ext cx="6560000" cy="620000"/>
          </a:xfrm>
          <a:prstGeom prst="rect">
            <a:avLst/>
          </a:prstGeom>
          <a:noFill/>
          <a:ln/>
        </p:spPr>
        <p:txBody>
          <a:bodyPr wrap="square" lIns="0" tIns="0" rIns="0" bIns="0" rtlCol="0" anchor="ctr"/>
          <a:lstStyle/>
          <a:p>
            <a:pPr marL="0" indent="0" algn="ctr">
              <a:buNone/>
            </a:pPr>
            <a:r>
              <a:rPr lang="en-US" sz="2000" b="1" dirty="0">
                <a:solidFill>
                  <a:srgbClr val="06185F"/>
                </a:solidFill>
                <a:latin typeface="Arial" pitchFamily="34" charset="0"/>
                <a:ea typeface="Arial" pitchFamily="34" charset="-122"/>
                <a:cs typeface="Arial" pitchFamily="34" charset="-120"/>
              </a:rPr>
              <a:t>33,000</a:t>
            </a:r>
            <a:endParaRPr lang="en-US" sz="2000" dirty="0"/>
          </a:p>
        </p:txBody>
      </p:sp>
      <p:sp>
        <p:nvSpPr>
          <p:cNvPr id="7" name="BarDesc0"/>
          <p:cNvSpPr/>
          <p:nvPr/>
        </p:nvSpPr>
        <p:spPr>
          <a:xfrm>
            <a:off x="7450080" y="1750000"/>
            <a:ext cx="3749920" cy="620000"/>
          </a:xfrm>
          <a:prstGeom prst="rect">
            <a:avLst/>
          </a:prstGeom>
          <a:noFill/>
          <a:ln/>
        </p:spPr>
        <p:txBody>
          <a:bodyPr wrap="square" lIns="0" tIns="0" rIns="0" bIns="0" rtlCol="0" anchor="ctr"/>
          <a:lstStyle/>
          <a:p>
            <a:pPr marL="0" indent="0" algn="l">
              <a:buNone/>
            </a:pPr>
            <a:r>
              <a:rPr lang="en-US" sz="1100" dirty="0">
                <a:solidFill>
                  <a:srgbClr val="575A5D"/>
                </a:solidFill>
                <a:latin typeface="Calibri" pitchFamily="34" charset="0"/>
                <a:ea typeface="Calibri" pitchFamily="34" charset="-122"/>
                <a:cs typeface="Calibri" pitchFamily="34" charset="-120"/>
              </a:rPr>
              <a:t>households at a $1B-asset institution — the same base used throughout this deck</a:t>
            </a:r>
            <a:endParaRPr lang="en-US" sz="1100" dirty="0"/>
          </a:p>
        </p:txBody>
      </p:sp>
      <p:sp>
        <p:nvSpPr>
          <p:cNvPr id="8" name="Bar1"/>
          <p:cNvSpPr/>
          <p:nvPr/>
        </p:nvSpPr>
        <p:spPr>
          <a:xfrm>
            <a:off x="640080" y="2560000"/>
            <a:ext cx="4900000" cy="620000"/>
          </a:xfrm>
          <a:prstGeom prst="roundRect">
            <a:avLst>
              <a:gd name="adj" fmla="val 12000"/>
            </a:avLst>
          </a:prstGeom>
          <a:solidFill>
            <a:srgbClr val="E8F7F7"/>
          </a:solidFill>
          <a:ln/>
          <a:effectLst>
            <a:outerShdw blurRad="127000" dist="38100" dir="5400000" algn="bl" rotWithShape="0">
              <a:srgbClr val="1B1F3B">
                <a:alpha val="10000"/>
              </a:srgbClr>
            </a:outerShdw>
          </a:effectLst>
        </p:spPr>
        <p:txBody>
          <a:bodyPr/>
          <a:lstStyle/>
          <a:p>
            <a:endParaRPr lang="en-US"/>
          </a:p>
        </p:txBody>
      </p:sp>
      <p:sp>
        <p:nvSpPr>
          <p:cNvPr id="9" name="BarNum1"/>
          <p:cNvSpPr/>
          <p:nvPr/>
        </p:nvSpPr>
        <p:spPr>
          <a:xfrm>
            <a:off x="640080" y="2560000"/>
            <a:ext cx="4900000" cy="620000"/>
          </a:xfrm>
          <a:prstGeom prst="rect">
            <a:avLst/>
          </a:prstGeom>
          <a:noFill/>
          <a:ln/>
        </p:spPr>
        <p:txBody>
          <a:bodyPr wrap="square" lIns="0" tIns="0" rIns="0" bIns="0" rtlCol="0" anchor="ctr"/>
          <a:lstStyle/>
          <a:p>
            <a:pPr marL="0" indent="0" algn="ctr">
              <a:buNone/>
            </a:pPr>
            <a:r>
              <a:rPr lang="en-US" sz="2000" b="1" dirty="0">
                <a:solidFill>
                  <a:srgbClr val="06185F"/>
                </a:solidFill>
                <a:latin typeface="Arial" pitchFamily="34" charset="0"/>
                <a:ea typeface="Arial" pitchFamily="34" charset="-122"/>
                <a:cs typeface="Arial" pitchFamily="34" charset="-120"/>
              </a:rPr>
              <a:t>~1,320</a:t>
            </a:r>
            <a:endParaRPr lang="en-US" sz="2000" dirty="0"/>
          </a:p>
        </p:txBody>
      </p:sp>
      <p:sp>
        <p:nvSpPr>
          <p:cNvPr id="10" name="BarDesc1"/>
          <p:cNvSpPr/>
          <p:nvPr/>
        </p:nvSpPr>
        <p:spPr>
          <a:xfrm>
            <a:off x="5790080" y="2560000"/>
            <a:ext cx="5409920" cy="620000"/>
          </a:xfrm>
          <a:prstGeom prst="rect">
            <a:avLst/>
          </a:prstGeom>
          <a:noFill/>
          <a:ln/>
        </p:spPr>
        <p:txBody>
          <a:bodyPr wrap="square" lIns="0" tIns="0" rIns="0" bIns="0" rtlCol="0" anchor="ctr"/>
          <a:lstStyle/>
          <a:p>
            <a:pPr marL="0" indent="0" algn="l">
              <a:buNone/>
            </a:pPr>
            <a:r>
              <a:rPr lang="en-US" sz="1100" dirty="0">
                <a:solidFill>
                  <a:srgbClr val="575A5D"/>
                </a:solidFill>
                <a:latin typeface="Calibri" pitchFamily="34" charset="0"/>
                <a:ea typeface="Calibri" pitchFamily="34" charset="-122"/>
                <a:cs typeface="Calibri" pitchFamily="34" charset="-120"/>
              </a:rPr>
              <a:t>show a credible, explainable business signal — roughly 4% of households, based on real transaction-signal incidence: 2.35% merchant-processing inflows plus 1.35% payments to a payroll service from a personal account (The Financial Brand / Segmint, 2022)</a:t>
            </a:r>
            <a:endParaRPr lang="en-US" sz="1100" dirty="0"/>
          </a:p>
        </p:txBody>
      </p:sp>
      <p:sp>
        <p:nvSpPr>
          <p:cNvPr id="11" name="Bar2"/>
          <p:cNvSpPr/>
          <p:nvPr/>
        </p:nvSpPr>
        <p:spPr>
          <a:xfrm>
            <a:off x="640080" y="3370000"/>
            <a:ext cx="3100000" cy="620000"/>
          </a:xfrm>
          <a:prstGeom prst="roundRect">
            <a:avLst>
              <a:gd name="adj" fmla="val 12000"/>
            </a:avLst>
          </a:prstGeom>
          <a:solidFill>
            <a:srgbClr val="06185F"/>
          </a:solidFill>
          <a:ln/>
          <a:effectLst>
            <a:outerShdw blurRad="127000" dist="38100" dir="5400000" algn="bl" rotWithShape="0">
              <a:srgbClr val="1B1F3B">
                <a:alpha val="10000"/>
              </a:srgbClr>
            </a:outerShdw>
          </a:effectLst>
        </p:spPr>
        <p:txBody>
          <a:bodyPr/>
          <a:lstStyle/>
          <a:p>
            <a:endParaRPr lang="en-US"/>
          </a:p>
        </p:txBody>
      </p:sp>
      <p:sp>
        <p:nvSpPr>
          <p:cNvPr id="12" name="BarNum2"/>
          <p:cNvSpPr/>
          <p:nvPr/>
        </p:nvSpPr>
        <p:spPr>
          <a:xfrm>
            <a:off x="640080" y="3370000"/>
            <a:ext cx="3100000" cy="620000"/>
          </a:xfrm>
          <a:prstGeom prst="rect">
            <a:avLst/>
          </a:prstGeom>
          <a:noFill/>
          <a:ln/>
        </p:spPr>
        <p:txBody>
          <a:bodyPr wrap="square" lIns="0" tIns="0" rIns="0" bIns="0"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~330</a:t>
            </a:r>
            <a:endParaRPr lang="en-US" sz="2000" dirty="0"/>
          </a:p>
        </p:txBody>
      </p:sp>
      <p:sp>
        <p:nvSpPr>
          <p:cNvPr id="13" name="BarDesc2"/>
          <p:cNvSpPr/>
          <p:nvPr/>
        </p:nvSpPr>
        <p:spPr>
          <a:xfrm>
            <a:off x="3990080" y="3370000"/>
            <a:ext cx="7209920" cy="620000"/>
          </a:xfrm>
          <a:prstGeom prst="rect">
            <a:avLst/>
          </a:prstGeom>
          <a:noFill/>
          <a:ln/>
        </p:spPr>
        <p:txBody>
          <a:bodyPr wrap="square" lIns="0" tIns="0" rIns="0" bIns="0" rtlCol="0" anchor="ctr"/>
          <a:lstStyle/>
          <a:p>
            <a:pPr marL="0" indent="0" algn="l">
              <a:buNone/>
            </a:pPr>
            <a:r>
              <a:rPr lang="en-US" sz="1100" dirty="0">
                <a:solidFill>
                  <a:srgbClr val="575A5D"/>
                </a:solidFill>
                <a:latin typeface="Calibri" pitchFamily="34" charset="0"/>
                <a:ea typeface="Calibri" pitchFamily="34" charset="-122"/>
                <a:cs typeface="Calibri" pitchFamily="34" charset="-120"/>
              </a:rPr>
              <a:t>convert to a full business relationship — a 25% warm-lead conversion rate, typical for relationship-based SMB outreach</a:t>
            </a:r>
            <a:endParaRPr lang="en-US" sz="1100" dirty="0"/>
          </a:p>
        </p:txBody>
      </p:sp>
      <p:sp>
        <p:nvSpPr>
          <p:cNvPr id="14" name="CalloutCard"/>
          <p:cNvSpPr/>
          <p:nvPr/>
        </p:nvSpPr>
        <p:spPr>
          <a:xfrm>
            <a:off x="640080" y="4240000"/>
            <a:ext cx="10515600" cy="950000"/>
          </a:xfrm>
          <a:prstGeom prst="roundRect">
            <a:avLst>
              <a:gd name="adj" fmla="val 2500"/>
            </a:avLst>
          </a:prstGeom>
          <a:solidFill>
            <a:srgbClr val="06185F"/>
          </a:solidFill>
          <a:ln/>
          <a:effectLst>
            <a:outerShdw blurRad="127000" dist="38100" dir="5400000" algn="bl" rotWithShape="0">
              <a:srgbClr val="1B1F3B">
                <a:alpha val="10000"/>
              </a:srgbClr>
            </a:outerShdw>
          </a:effectLst>
        </p:spPr>
        <p:txBody>
          <a:bodyPr/>
          <a:lstStyle/>
          <a:p>
            <a:endParaRPr lang="en-US"/>
          </a:p>
        </p:txBody>
      </p:sp>
      <p:sp>
        <p:nvSpPr>
          <p:cNvPr id="15" name="CalloutLine1"/>
          <p:cNvSpPr/>
          <p:nvPr/>
        </p:nvSpPr>
        <p:spPr>
          <a:xfrm>
            <a:off x="914400" y="4330000"/>
            <a:ext cx="10058400" cy="460000"/>
          </a:xfrm>
          <a:prstGeom prst="rect">
            <a:avLst/>
          </a:prstGeom>
          <a:noFill/>
          <a:ln/>
        </p:spPr>
        <p:txBody>
          <a:bodyPr wrap="square" lIns="0" tIns="0" rIns="0" bIns="0" rtlCol="0" anchor="ctr"/>
          <a:lstStyle/>
          <a:p>
            <a:pPr marL="0" indent="0" algn="l">
              <a:buNone/>
            </a:pPr>
            <a:r>
              <a:rPr lang="en-US" sz="1700" b="1" dirty="0">
                <a:solidFill>
                  <a:srgbClr val="FFFFFF"/>
                </a:solidFill>
                <a:latin typeface="Arial" pitchFamily="34" charset="0"/>
                <a:ea typeface="Arial" pitchFamily="34" charset="-122"/>
                <a:cs typeface="Arial" pitchFamily="34" charset="-120"/>
              </a:rPr>
              <a:t>~$825K in new annual revenue — from converting just 330 of 33,000 households</a:t>
            </a:r>
            <a:endParaRPr lang="en-US" sz="1700" dirty="0"/>
          </a:p>
        </p:txBody>
      </p:sp>
      <p:sp>
        <p:nvSpPr>
          <p:cNvPr id="16" name="CalloutLine2"/>
          <p:cNvSpPr/>
          <p:nvPr/>
        </p:nvSpPr>
        <p:spPr>
          <a:xfrm>
            <a:off x="914400" y="4760000"/>
            <a:ext cx="10058400" cy="380000"/>
          </a:xfrm>
          <a:prstGeom prst="rect">
            <a:avLst/>
          </a:prstGeom>
          <a:noFill/>
          <a:ln/>
        </p:spPr>
        <p:txBody>
          <a:bodyPr wrap="square" lIns="0" tIns="0" rIns="0" bIns="0" rtlCol="0" anchor="ctr"/>
          <a:lstStyle/>
          <a:p>
            <a:pPr marL="0" indent="0" algn="l">
              <a:buNone/>
            </a:pPr>
            <a:r>
              <a:rPr lang="en-US" sz="1050" dirty="0">
                <a:solidFill>
                  <a:srgbClr val="CADCFC"/>
                </a:solidFill>
                <a:latin typeface="Calibri" pitchFamily="34" charset="0"/>
                <a:ea typeface="Calibri" pitchFamily="34" charset="-122"/>
                <a:cs typeface="Calibri" pitchFamily="34" charset="-120"/>
              </a:rPr>
              <a:t>330 conversions × ~$2,500 avg. incremental annual revenue per relationship (illustrative — validate against your own SMB pricing), at $300–$600 to detect &amp; convert each one vs. up to $4,000 to acquire a commercial customer externally.</a:t>
            </a:r>
            <a:endParaRPr lang="en-US" sz="1050" dirty="0"/>
          </a:p>
        </p:txBody>
      </p:sp>
      <p:sp>
        <p:nvSpPr>
          <p:cNvPr id="17" name="Closing"/>
          <p:cNvSpPr/>
          <p:nvPr/>
        </p:nvSpPr>
        <p:spPr>
          <a:xfrm>
            <a:off x="640080" y="5320000"/>
            <a:ext cx="10515600" cy="320000"/>
          </a:xfrm>
          <a:prstGeom prst="rect">
            <a:avLst/>
          </a:prstGeom>
          <a:noFill/>
          <a:ln/>
        </p:spPr>
        <p:txBody>
          <a:bodyPr wrap="square" lIns="0" tIns="0" rIns="0" bIns="0" rtlCol="0" anchor="ctr"/>
          <a:lstStyle/>
          <a:p>
            <a:pPr marL="0" indent="0" algn="l">
              <a:buNone/>
            </a:pPr>
            <a:r>
              <a:rPr lang="en-US" sz="1250" i="1" dirty="0">
                <a:solidFill>
                  <a:srgbClr val="575A5D"/>
                </a:solidFill>
                <a:latin typeface="Calibri" pitchFamily="34" charset="0"/>
                <a:ea typeface="Calibri" pitchFamily="34" charset="-122"/>
                <a:cs typeface="Calibri" pitchFamily="34" charset="-120"/>
              </a:rPr>
              <a:t>Detection turns an existing relationship into the cheapest commercial lead your institution has — roughly 7–13x cheaper than buying one.</a:t>
            </a:r>
            <a:endParaRPr lang="en-US" sz="1250" dirty="0"/>
          </a:p>
        </p:txBody>
      </p:sp>
      <p:sp>
        <p:nvSpPr>
          <p:cNvPr id="18" name="Sources"/>
          <p:cNvSpPr/>
          <p:nvPr/>
        </p:nvSpPr>
        <p:spPr>
          <a:xfrm>
            <a:off x="640080" y="5720000"/>
            <a:ext cx="10515600" cy="300000"/>
          </a:xfrm>
          <a:prstGeom prst="rect">
            <a:avLst/>
          </a:prstGeom>
          <a:noFill/>
          <a:ln/>
        </p:spPr>
        <p:txBody>
          <a:bodyPr wrap="square" lIns="0" tIns="0" rIns="0" bIns="0" rtlCol="0" anchor="ctr"/>
          <a:lstStyle/>
          <a:p>
            <a:pPr marL="0" indent="0" algn="l">
              <a:buNone/>
            </a:pPr>
            <a:r>
              <a:rPr lang="en-US" sz="950" i="1" dirty="0">
                <a:solidFill>
                  <a:srgbClr val="B6BBC0"/>
                </a:solidFill>
                <a:latin typeface="Calibri" pitchFamily="34" charset="0"/>
                <a:ea typeface="Calibri" pitchFamily="34" charset="-122"/>
                <a:cs typeface="Calibri" pitchFamily="34" charset="-120"/>
              </a:rPr>
              <a:t>Sources: The Financial Brand / Segmint gig-economy transaction data, 2022; McKinsey American Opportunity Survey via Independent Banker/ICBA, 2023; Forbes &amp; CRNRstone commercial-lending CAC benchmarks; StrategyCorps/ABA account-value data. Figures are illustrative planning assumptions.</a:t>
            </a:r>
            <a:endParaRPr lang="en-US" sz="950" dirty="0"/>
          </a:p>
        </p:txBody>
      </p:sp>
      <p:sp>
        <p:nvSpPr>
          <p:cNvPr id="19" name="PageNum"/>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900" dirty="0">
                <a:solidFill>
                  <a:srgbClr val="B6BBC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5">
    <p:bg>
      <p:bgPr>
        <a:solidFill>
          <a:srgbClr val="E8F7F7"/>
        </a:solidFill>
        <a:effectLst/>
      </p:bgPr>
    </p:bg>
    <p:spTree>
      <p:nvGrpSpPr>
        <p:cNvPr id="1" name=""/>
        <p:cNvGrpSpPr/>
        <p:nvPr/>
      </p:nvGrpSpPr>
      <p:grpSpPr>
        <a:xfrm>
          <a:off x="0" y="0"/>
          <a:ext cx="0" cy="0"/>
          <a:chOff x="0" y="0"/>
          <a:chExt cx="0" cy="0"/>
        </a:xfrm>
      </p:grpSpPr>
      <p:sp>
        <p:nvSpPr>
          <p:cNvPr id="2" name="Text 0"/>
          <p:cNvSpPr/>
          <p:nvPr/>
        </p:nvSpPr>
        <p:spPr>
          <a:xfrm>
            <a:off x="640080" y="502920"/>
            <a:ext cx="5486400" cy="320040"/>
          </a:xfrm>
          <a:prstGeom prst="rect">
            <a:avLst/>
          </a:prstGeom>
          <a:noFill/>
          <a:ln/>
        </p:spPr>
        <p:txBody>
          <a:bodyPr wrap="square" lIns="0" tIns="0" rIns="0" bIns="0" rtlCol="0" anchor="ctr"/>
          <a:lstStyle/>
          <a:p>
            <a:pPr marL="0" indent="0" algn="l">
              <a:buNone/>
            </a:pPr>
            <a:r>
              <a:rPr lang="en-US" sz="1200" b="1" kern="0" spc="200" dirty="0">
                <a:solidFill>
                  <a:srgbClr val="085CE5"/>
                </a:solidFill>
                <a:latin typeface="Calibri" pitchFamily="34" charset="0"/>
                <a:ea typeface="Calibri" pitchFamily="34" charset="-122"/>
                <a:cs typeface="Calibri" pitchFamily="34" charset="-120"/>
              </a:rPr>
              <a:t>THE THROUGHLINE</a:t>
            </a:r>
            <a:endParaRPr lang="en-US" sz="1200" dirty="0"/>
          </a:p>
        </p:txBody>
      </p:sp>
      <p:sp>
        <p:nvSpPr>
          <p:cNvPr id="3" name="Text 1"/>
          <p:cNvSpPr/>
          <p:nvPr/>
        </p:nvSpPr>
        <p:spPr>
          <a:xfrm>
            <a:off x="640080" y="822960"/>
            <a:ext cx="10698480" cy="822960"/>
          </a:xfrm>
          <a:prstGeom prst="rect">
            <a:avLst/>
          </a:prstGeom>
          <a:noFill/>
          <a:ln/>
        </p:spPr>
        <p:txBody>
          <a:bodyPr wrap="square" lIns="0" tIns="0" rIns="0" bIns="0" rtlCol="0" anchor="ctr"/>
          <a:lstStyle/>
          <a:p>
            <a:pPr marL="0" indent="0">
              <a:buNone/>
            </a:pPr>
            <a:r>
              <a:rPr lang="en-US" sz="3000" b="1" dirty="0">
                <a:solidFill>
                  <a:srgbClr val="06185F"/>
                </a:solidFill>
                <a:latin typeface="Arial" pitchFamily="34" charset="0"/>
                <a:ea typeface="Arial" pitchFamily="34" charset="-122"/>
                <a:cs typeface="Arial" pitchFamily="34" charset="-120"/>
              </a:rPr>
              <a:t>Detection is necessary. It is not sufficient.</a:t>
            </a:r>
            <a:endParaRPr lang="en-US" sz="3000" dirty="0"/>
          </a:p>
        </p:txBody>
      </p:sp>
      <p:sp>
        <p:nvSpPr>
          <p:cNvPr id="4" name="Text 2"/>
          <p:cNvSpPr/>
          <p:nvPr/>
        </p:nvSpPr>
        <p:spPr>
          <a:xfrm>
            <a:off x="640080" y="1508760"/>
            <a:ext cx="10698480" cy="457200"/>
          </a:xfrm>
          <a:prstGeom prst="rect">
            <a:avLst/>
          </a:prstGeom>
          <a:noFill/>
          <a:ln/>
        </p:spPr>
        <p:txBody>
          <a:bodyPr wrap="square" lIns="0" tIns="0" rIns="0" bIns="0" rtlCol="0" anchor="ctr"/>
          <a:lstStyle/>
          <a:p>
            <a:pPr marL="0" indent="0">
              <a:buNone/>
            </a:pPr>
            <a:r>
              <a:rPr lang="en-US" sz="1400" dirty="0">
                <a:solidFill>
                  <a:srgbClr val="575A5D"/>
                </a:solidFill>
                <a:latin typeface="Calibri" pitchFamily="34" charset="0"/>
                <a:ea typeface="Calibri" pitchFamily="34" charset="-122"/>
                <a:cs typeface="Calibri" pitchFamily="34" charset="-120"/>
              </a:rPr>
              <a:t>Both problems in this talk — churn and personal-to-commercial growth — run through the same four-stage engine.</a:t>
            </a:r>
            <a:endParaRPr lang="en-US" sz="1400" dirty="0"/>
          </a:p>
        </p:txBody>
      </p:sp>
      <p:sp>
        <p:nvSpPr>
          <p:cNvPr id="5" name="Shape 3"/>
          <p:cNvSpPr/>
          <p:nvPr/>
        </p:nvSpPr>
        <p:spPr>
          <a:xfrm>
            <a:off x="822960" y="2651760"/>
            <a:ext cx="2377440" cy="2651760"/>
          </a:xfrm>
          <a:prstGeom prst="roundRect">
            <a:avLst>
              <a:gd name="adj" fmla="val 3077"/>
            </a:avLst>
          </a:prstGeom>
          <a:solidFill>
            <a:srgbClr val="FFFFFF"/>
          </a:solidFill>
          <a:ln/>
          <a:effectLst>
            <a:outerShdw blurRad="127000" dist="38100" dir="5400000" algn="bl" rotWithShape="0">
              <a:srgbClr val="1B1F3B">
                <a:alpha val="10000"/>
              </a:srgbClr>
            </a:outerShdw>
          </a:effectLst>
        </p:spPr>
        <p:txBody>
          <a:bodyPr/>
          <a:lstStyle/>
          <a:p>
            <a:endParaRPr lang="en-US"/>
          </a:p>
        </p:txBody>
      </p:sp>
      <p:sp>
        <p:nvSpPr>
          <p:cNvPr id="6" name="Shape 4"/>
          <p:cNvSpPr/>
          <p:nvPr/>
        </p:nvSpPr>
        <p:spPr>
          <a:xfrm>
            <a:off x="1691640" y="2971800"/>
            <a:ext cx="640080" cy="640080"/>
          </a:xfrm>
          <a:prstGeom prst="ellipse">
            <a:avLst/>
          </a:prstGeom>
          <a:solidFill>
            <a:srgbClr val="06185F"/>
          </a:solidFill>
          <a:ln/>
        </p:spPr>
        <p:txBody>
          <a:bodyPr/>
          <a:lstStyle/>
          <a:p>
            <a:endParaRPr lang="en-US"/>
          </a:p>
        </p:txBody>
      </p:sp>
      <p:sp>
        <p:nvSpPr>
          <p:cNvPr id="7" name="Shape 5"/>
          <p:cNvSpPr/>
          <p:nvPr/>
        </p:nvSpPr>
        <p:spPr>
          <a:xfrm>
            <a:off x="1877263" y="3313347"/>
            <a:ext cx="64520" cy="112910"/>
          </a:xfrm>
          <a:prstGeom prst="rect">
            <a:avLst/>
          </a:prstGeom>
          <a:solidFill>
            <a:srgbClr val="76DCFD"/>
          </a:solidFill>
          <a:ln/>
        </p:spPr>
        <p:txBody>
          <a:bodyPr/>
          <a:lstStyle/>
          <a:p>
            <a:endParaRPr lang="en-US"/>
          </a:p>
        </p:txBody>
      </p:sp>
      <p:sp>
        <p:nvSpPr>
          <p:cNvPr id="8" name="Shape 6"/>
          <p:cNvSpPr/>
          <p:nvPr/>
        </p:nvSpPr>
        <p:spPr>
          <a:xfrm>
            <a:off x="1990173" y="3264957"/>
            <a:ext cx="64520" cy="161300"/>
          </a:xfrm>
          <a:prstGeom prst="rect">
            <a:avLst/>
          </a:prstGeom>
          <a:solidFill>
            <a:srgbClr val="76DCFD"/>
          </a:solidFill>
          <a:ln/>
        </p:spPr>
        <p:txBody>
          <a:bodyPr/>
          <a:lstStyle/>
          <a:p>
            <a:endParaRPr lang="en-US"/>
          </a:p>
        </p:txBody>
      </p:sp>
      <p:sp>
        <p:nvSpPr>
          <p:cNvPr id="9" name="Shape 7"/>
          <p:cNvSpPr/>
          <p:nvPr/>
        </p:nvSpPr>
        <p:spPr>
          <a:xfrm>
            <a:off x="2103083" y="3197748"/>
            <a:ext cx="64520" cy="228509"/>
          </a:xfrm>
          <a:prstGeom prst="rect">
            <a:avLst/>
          </a:prstGeom>
          <a:solidFill>
            <a:srgbClr val="76DCFD"/>
          </a:solidFill>
          <a:ln/>
        </p:spPr>
        <p:txBody>
          <a:bodyPr/>
          <a:lstStyle/>
          <a:p>
            <a:endParaRPr lang="en-US"/>
          </a:p>
        </p:txBody>
      </p:sp>
      <p:sp>
        <p:nvSpPr>
          <p:cNvPr id="10" name="Text 8"/>
          <p:cNvSpPr/>
          <p:nvPr/>
        </p:nvSpPr>
        <p:spPr>
          <a:xfrm>
            <a:off x="822960" y="3794760"/>
            <a:ext cx="2377440" cy="457200"/>
          </a:xfrm>
          <a:prstGeom prst="rect">
            <a:avLst/>
          </a:prstGeom>
          <a:noFill/>
          <a:ln/>
        </p:spPr>
        <p:txBody>
          <a:bodyPr wrap="square" lIns="0" tIns="0" rIns="0" bIns="0" rtlCol="0" anchor="ctr"/>
          <a:lstStyle/>
          <a:p>
            <a:pPr marL="0" indent="0" algn="ctr">
              <a:buNone/>
            </a:pPr>
            <a:r>
              <a:rPr lang="en-US" sz="1800" b="1" dirty="0">
                <a:solidFill>
                  <a:srgbClr val="06185F"/>
                </a:solidFill>
                <a:latin typeface="Arial" pitchFamily="34" charset="0"/>
                <a:ea typeface="Arial" pitchFamily="34" charset="-122"/>
                <a:cs typeface="Arial" pitchFamily="34" charset="-120"/>
              </a:rPr>
              <a:t>Data</a:t>
            </a:r>
            <a:endParaRPr lang="en-US" sz="1800" dirty="0"/>
          </a:p>
        </p:txBody>
      </p:sp>
      <p:sp>
        <p:nvSpPr>
          <p:cNvPr id="11" name="Text 9"/>
          <p:cNvSpPr/>
          <p:nvPr/>
        </p:nvSpPr>
        <p:spPr>
          <a:xfrm>
            <a:off x="1005840" y="4297680"/>
            <a:ext cx="2011680" cy="822960"/>
          </a:xfrm>
          <a:prstGeom prst="rect">
            <a:avLst/>
          </a:prstGeom>
          <a:noFill/>
          <a:ln/>
        </p:spPr>
        <p:txBody>
          <a:bodyPr wrap="square" lIns="0" tIns="0" rIns="0" bIns="0" rtlCol="0" anchor="ctr"/>
          <a:lstStyle/>
          <a:p>
            <a:pPr marL="0" indent="0" algn="ctr">
              <a:buNone/>
            </a:pPr>
            <a:r>
              <a:rPr lang="en-US" sz="1150" dirty="0">
                <a:solidFill>
                  <a:srgbClr val="575A5D"/>
                </a:solidFill>
                <a:latin typeface="Calibri" pitchFamily="34" charset="0"/>
                <a:ea typeface="Calibri" pitchFamily="34" charset="-122"/>
                <a:cs typeface="Calibri" pitchFamily="34" charset="-120"/>
              </a:rPr>
              <a:t>Curated signals, not everything</a:t>
            </a:r>
            <a:endParaRPr lang="en-US" sz="1150" dirty="0"/>
          </a:p>
        </p:txBody>
      </p:sp>
      <p:sp>
        <p:nvSpPr>
          <p:cNvPr id="12" name="Shape 10"/>
          <p:cNvSpPr/>
          <p:nvPr/>
        </p:nvSpPr>
        <p:spPr>
          <a:xfrm>
            <a:off x="3255264" y="3840480"/>
            <a:ext cx="301752" cy="274320"/>
          </a:xfrm>
          <a:prstGeom prst="rightArrow">
            <a:avLst/>
          </a:prstGeom>
          <a:solidFill>
            <a:srgbClr val="085CE5"/>
          </a:solidFill>
          <a:ln/>
        </p:spPr>
        <p:txBody>
          <a:bodyPr/>
          <a:lstStyle/>
          <a:p>
            <a:endParaRPr lang="en-US"/>
          </a:p>
        </p:txBody>
      </p:sp>
      <p:sp>
        <p:nvSpPr>
          <p:cNvPr id="13" name="Shape 11"/>
          <p:cNvSpPr/>
          <p:nvPr/>
        </p:nvSpPr>
        <p:spPr>
          <a:xfrm>
            <a:off x="3611880" y="2651760"/>
            <a:ext cx="2377440" cy="2651760"/>
          </a:xfrm>
          <a:prstGeom prst="roundRect">
            <a:avLst>
              <a:gd name="adj" fmla="val 3077"/>
            </a:avLst>
          </a:prstGeom>
          <a:solidFill>
            <a:srgbClr val="FFFFFF"/>
          </a:solidFill>
          <a:ln/>
          <a:effectLst>
            <a:outerShdw blurRad="127000" dist="38100" dir="5400000" algn="bl" rotWithShape="0">
              <a:srgbClr val="1B1F3B">
                <a:alpha val="10000"/>
              </a:srgbClr>
            </a:outerShdw>
          </a:effectLst>
        </p:spPr>
        <p:txBody>
          <a:bodyPr/>
          <a:lstStyle/>
          <a:p>
            <a:endParaRPr lang="en-US"/>
          </a:p>
        </p:txBody>
      </p:sp>
      <p:sp>
        <p:nvSpPr>
          <p:cNvPr id="14" name="Shape 12"/>
          <p:cNvSpPr/>
          <p:nvPr/>
        </p:nvSpPr>
        <p:spPr>
          <a:xfrm>
            <a:off x="4480560" y="2971800"/>
            <a:ext cx="640080" cy="640080"/>
          </a:xfrm>
          <a:prstGeom prst="ellipse">
            <a:avLst/>
          </a:prstGeom>
          <a:solidFill>
            <a:srgbClr val="06185F"/>
          </a:solidFill>
          <a:ln/>
        </p:spPr>
        <p:txBody>
          <a:bodyPr/>
          <a:lstStyle/>
          <a:p>
            <a:endParaRPr lang="en-US"/>
          </a:p>
        </p:txBody>
      </p:sp>
      <p:sp>
        <p:nvSpPr>
          <p:cNvPr id="15" name="Shape 13"/>
          <p:cNvSpPr/>
          <p:nvPr/>
        </p:nvSpPr>
        <p:spPr>
          <a:xfrm>
            <a:off x="4666183" y="3157423"/>
            <a:ext cx="268834" cy="268834"/>
          </a:xfrm>
          <a:prstGeom prst="ellipse">
            <a:avLst/>
          </a:prstGeom>
          <a:ln w="31750">
            <a:solidFill>
              <a:srgbClr val="76DCFD"/>
            </a:solidFill>
            <a:prstDash val="solid"/>
          </a:ln>
        </p:spPr>
        <p:txBody>
          <a:bodyPr/>
          <a:lstStyle/>
          <a:p>
            <a:endParaRPr lang="en-US"/>
          </a:p>
        </p:txBody>
      </p:sp>
      <p:sp>
        <p:nvSpPr>
          <p:cNvPr id="16" name="Text 14"/>
          <p:cNvSpPr/>
          <p:nvPr/>
        </p:nvSpPr>
        <p:spPr>
          <a:xfrm>
            <a:off x="3611880" y="3794760"/>
            <a:ext cx="2377440" cy="457200"/>
          </a:xfrm>
          <a:prstGeom prst="rect">
            <a:avLst/>
          </a:prstGeom>
          <a:noFill/>
          <a:ln/>
        </p:spPr>
        <p:txBody>
          <a:bodyPr wrap="square" lIns="0" tIns="0" rIns="0" bIns="0" rtlCol="0" anchor="ctr"/>
          <a:lstStyle/>
          <a:p>
            <a:pPr marL="0" indent="0" algn="ctr">
              <a:buNone/>
            </a:pPr>
            <a:r>
              <a:rPr lang="en-US" sz="1800" b="1" dirty="0">
                <a:solidFill>
                  <a:srgbClr val="06185F"/>
                </a:solidFill>
                <a:latin typeface="Arial" pitchFamily="34" charset="0"/>
                <a:ea typeface="Arial" pitchFamily="34" charset="-122"/>
                <a:cs typeface="Arial" pitchFamily="34" charset="-120"/>
              </a:rPr>
              <a:t>Detect</a:t>
            </a:r>
            <a:endParaRPr lang="en-US" sz="1800" dirty="0"/>
          </a:p>
        </p:txBody>
      </p:sp>
      <p:sp>
        <p:nvSpPr>
          <p:cNvPr id="17" name="Text 15"/>
          <p:cNvSpPr/>
          <p:nvPr/>
        </p:nvSpPr>
        <p:spPr>
          <a:xfrm>
            <a:off x="3794760" y="4297680"/>
            <a:ext cx="2011680" cy="822960"/>
          </a:xfrm>
          <a:prstGeom prst="rect">
            <a:avLst/>
          </a:prstGeom>
          <a:noFill/>
          <a:ln/>
        </p:spPr>
        <p:txBody>
          <a:bodyPr wrap="square" lIns="0" tIns="0" rIns="0" bIns="0" rtlCol="0" anchor="ctr"/>
          <a:lstStyle/>
          <a:p>
            <a:pPr marL="0" indent="0" algn="ctr">
              <a:buNone/>
            </a:pPr>
            <a:r>
              <a:rPr lang="en-US" sz="1150" dirty="0">
                <a:solidFill>
                  <a:srgbClr val="575A5D"/>
                </a:solidFill>
                <a:latin typeface="Calibri" pitchFamily="34" charset="0"/>
                <a:ea typeface="Calibri" pitchFamily="34" charset="-122"/>
                <a:cs typeface="Calibri" pitchFamily="34" charset="-120"/>
              </a:rPr>
              <a:t>Tree-based ML scores the risk or the opportunity</a:t>
            </a:r>
            <a:endParaRPr lang="en-US" sz="1150" dirty="0"/>
          </a:p>
        </p:txBody>
      </p:sp>
      <p:sp>
        <p:nvSpPr>
          <p:cNvPr id="18" name="Shape 16"/>
          <p:cNvSpPr/>
          <p:nvPr/>
        </p:nvSpPr>
        <p:spPr>
          <a:xfrm>
            <a:off x="6044184" y="3840480"/>
            <a:ext cx="301752" cy="274320"/>
          </a:xfrm>
          <a:prstGeom prst="rightArrow">
            <a:avLst/>
          </a:prstGeom>
          <a:solidFill>
            <a:srgbClr val="085CE5"/>
          </a:solidFill>
          <a:ln/>
        </p:spPr>
        <p:txBody>
          <a:bodyPr/>
          <a:lstStyle/>
          <a:p>
            <a:endParaRPr lang="en-US"/>
          </a:p>
        </p:txBody>
      </p:sp>
      <p:sp>
        <p:nvSpPr>
          <p:cNvPr id="19" name="Shape 17"/>
          <p:cNvSpPr/>
          <p:nvPr/>
        </p:nvSpPr>
        <p:spPr>
          <a:xfrm>
            <a:off x="6400800" y="2651760"/>
            <a:ext cx="2377440" cy="2651760"/>
          </a:xfrm>
          <a:prstGeom prst="roundRect">
            <a:avLst>
              <a:gd name="adj" fmla="val 3077"/>
            </a:avLst>
          </a:prstGeom>
          <a:solidFill>
            <a:srgbClr val="FFFFFF"/>
          </a:solidFill>
          <a:ln/>
          <a:effectLst>
            <a:outerShdw blurRad="127000" dist="38100" dir="5400000" algn="bl" rotWithShape="0">
              <a:srgbClr val="1B1F3B">
                <a:alpha val="10000"/>
              </a:srgbClr>
            </a:outerShdw>
          </a:effectLst>
        </p:spPr>
        <p:txBody>
          <a:bodyPr/>
          <a:lstStyle/>
          <a:p>
            <a:endParaRPr lang="en-US"/>
          </a:p>
        </p:txBody>
      </p:sp>
      <p:sp>
        <p:nvSpPr>
          <p:cNvPr id="20" name="Shape 18"/>
          <p:cNvSpPr/>
          <p:nvPr/>
        </p:nvSpPr>
        <p:spPr>
          <a:xfrm>
            <a:off x="7269480" y="2971800"/>
            <a:ext cx="640080" cy="640080"/>
          </a:xfrm>
          <a:prstGeom prst="ellipse">
            <a:avLst/>
          </a:prstGeom>
          <a:solidFill>
            <a:srgbClr val="06185F"/>
          </a:solidFill>
          <a:ln/>
        </p:spPr>
        <p:txBody>
          <a:bodyPr/>
          <a:lstStyle/>
          <a:p>
            <a:endParaRPr lang="en-US"/>
          </a:p>
        </p:txBody>
      </p:sp>
      <p:sp>
        <p:nvSpPr>
          <p:cNvPr id="21" name="Shape 19"/>
          <p:cNvSpPr/>
          <p:nvPr/>
        </p:nvSpPr>
        <p:spPr>
          <a:xfrm rot="5400000">
            <a:off x="7455103" y="3188442"/>
            <a:ext cx="268834" cy="188184"/>
          </a:xfrm>
          <a:prstGeom prst="chevron">
            <a:avLst/>
          </a:prstGeom>
          <a:solidFill>
            <a:srgbClr val="76DCFD"/>
          </a:solidFill>
          <a:ln/>
        </p:spPr>
        <p:txBody>
          <a:bodyPr/>
          <a:lstStyle/>
          <a:p>
            <a:endParaRPr lang="en-US"/>
          </a:p>
        </p:txBody>
      </p:sp>
      <p:sp>
        <p:nvSpPr>
          <p:cNvPr id="22" name="Text 20"/>
          <p:cNvSpPr/>
          <p:nvPr/>
        </p:nvSpPr>
        <p:spPr>
          <a:xfrm>
            <a:off x="6400800" y="3794760"/>
            <a:ext cx="2377440" cy="457200"/>
          </a:xfrm>
          <a:prstGeom prst="rect">
            <a:avLst/>
          </a:prstGeom>
          <a:noFill/>
          <a:ln/>
        </p:spPr>
        <p:txBody>
          <a:bodyPr wrap="square" lIns="0" tIns="0" rIns="0" bIns="0" rtlCol="0" anchor="ctr"/>
          <a:lstStyle/>
          <a:p>
            <a:pPr marL="0" indent="0" algn="ctr">
              <a:buNone/>
            </a:pPr>
            <a:r>
              <a:rPr lang="en-US" sz="1800" b="1" dirty="0">
                <a:solidFill>
                  <a:srgbClr val="06185F"/>
                </a:solidFill>
                <a:latin typeface="Arial" pitchFamily="34" charset="0"/>
                <a:ea typeface="Arial" pitchFamily="34" charset="-122"/>
                <a:cs typeface="Arial" pitchFamily="34" charset="-120"/>
              </a:rPr>
              <a:t>Explain</a:t>
            </a:r>
            <a:endParaRPr lang="en-US" sz="1800" dirty="0"/>
          </a:p>
        </p:txBody>
      </p:sp>
      <p:sp>
        <p:nvSpPr>
          <p:cNvPr id="23" name="Text 21"/>
          <p:cNvSpPr/>
          <p:nvPr/>
        </p:nvSpPr>
        <p:spPr>
          <a:xfrm>
            <a:off x="6583680" y="4297680"/>
            <a:ext cx="2011680" cy="822960"/>
          </a:xfrm>
          <a:prstGeom prst="rect">
            <a:avLst/>
          </a:prstGeom>
          <a:noFill/>
          <a:ln/>
        </p:spPr>
        <p:txBody>
          <a:bodyPr wrap="square" lIns="0" tIns="0" rIns="0" bIns="0" rtlCol="0" anchor="ctr"/>
          <a:lstStyle/>
          <a:p>
            <a:pPr marL="0" indent="0" algn="ctr">
              <a:buNone/>
            </a:pPr>
            <a:r>
              <a:rPr lang="en-US" sz="1150" dirty="0">
                <a:solidFill>
                  <a:srgbClr val="575A5D"/>
                </a:solidFill>
                <a:latin typeface="Calibri" pitchFamily="34" charset="0"/>
                <a:ea typeface="Calibri" pitchFamily="34" charset="-122"/>
                <a:cs typeface="Calibri" pitchFamily="34" charset="-120"/>
              </a:rPr>
              <a:t>SHAP turns a score into a reason</a:t>
            </a:r>
            <a:endParaRPr lang="en-US" sz="1150" dirty="0"/>
          </a:p>
        </p:txBody>
      </p:sp>
      <p:sp>
        <p:nvSpPr>
          <p:cNvPr id="24" name="Shape 22"/>
          <p:cNvSpPr/>
          <p:nvPr/>
        </p:nvSpPr>
        <p:spPr>
          <a:xfrm>
            <a:off x="8833104" y="3840480"/>
            <a:ext cx="301752" cy="274320"/>
          </a:xfrm>
          <a:prstGeom prst="rightArrow">
            <a:avLst/>
          </a:prstGeom>
          <a:solidFill>
            <a:srgbClr val="085CE5"/>
          </a:solidFill>
          <a:ln/>
        </p:spPr>
        <p:txBody>
          <a:bodyPr/>
          <a:lstStyle/>
          <a:p>
            <a:endParaRPr lang="en-US"/>
          </a:p>
        </p:txBody>
      </p:sp>
      <p:sp>
        <p:nvSpPr>
          <p:cNvPr id="25" name="Shape 23"/>
          <p:cNvSpPr/>
          <p:nvPr/>
        </p:nvSpPr>
        <p:spPr>
          <a:xfrm>
            <a:off x="9189720" y="2651760"/>
            <a:ext cx="2377440" cy="2651760"/>
          </a:xfrm>
          <a:prstGeom prst="roundRect">
            <a:avLst>
              <a:gd name="adj" fmla="val 3077"/>
            </a:avLst>
          </a:prstGeom>
          <a:solidFill>
            <a:srgbClr val="FFFFFF"/>
          </a:solidFill>
          <a:ln/>
          <a:effectLst>
            <a:outerShdw blurRad="127000" dist="38100" dir="5400000" algn="bl" rotWithShape="0">
              <a:srgbClr val="1B1F3B">
                <a:alpha val="10000"/>
              </a:srgbClr>
            </a:outerShdw>
          </a:effectLst>
        </p:spPr>
        <p:txBody>
          <a:bodyPr/>
          <a:lstStyle/>
          <a:p>
            <a:endParaRPr lang="en-US"/>
          </a:p>
        </p:txBody>
      </p:sp>
      <p:sp>
        <p:nvSpPr>
          <p:cNvPr id="26" name="Shape 24"/>
          <p:cNvSpPr/>
          <p:nvPr/>
        </p:nvSpPr>
        <p:spPr>
          <a:xfrm>
            <a:off x="10058400" y="2971800"/>
            <a:ext cx="640080" cy="640080"/>
          </a:xfrm>
          <a:prstGeom prst="ellipse">
            <a:avLst/>
          </a:prstGeom>
          <a:solidFill>
            <a:srgbClr val="06185F"/>
          </a:solidFill>
          <a:ln/>
        </p:spPr>
        <p:txBody>
          <a:bodyPr/>
          <a:lstStyle/>
          <a:p>
            <a:endParaRPr lang="en-US"/>
          </a:p>
        </p:txBody>
      </p:sp>
      <p:sp>
        <p:nvSpPr>
          <p:cNvPr id="27" name="Shape 25"/>
          <p:cNvSpPr/>
          <p:nvPr/>
        </p:nvSpPr>
        <p:spPr>
          <a:xfrm>
            <a:off x="10244023" y="3202229"/>
            <a:ext cx="268834" cy="177430"/>
          </a:xfrm>
          <a:prstGeom prst="rightArrow">
            <a:avLst/>
          </a:prstGeom>
          <a:solidFill>
            <a:srgbClr val="76DCFD"/>
          </a:solidFill>
          <a:ln/>
        </p:spPr>
        <p:txBody>
          <a:bodyPr/>
          <a:lstStyle/>
          <a:p>
            <a:endParaRPr lang="en-US"/>
          </a:p>
        </p:txBody>
      </p:sp>
      <p:sp>
        <p:nvSpPr>
          <p:cNvPr id="28" name="Text 26"/>
          <p:cNvSpPr/>
          <p:nvPr/>
        </p:nvSpPr>
        <p:spPr>
          <a:xfrm>
            <a:off x="9189720" y="3794760"/>
            <a:ext cx="2377440" cy="457200"/>
          </a:xfrm>
          <a:prstGeom prst="rect">
            <a:avLst/>
          </a:prstGeom>
          <a:noFill/>
          <a:ln/>
        </p:spPr>
        <p:txBody>
          <a:bodyPr wrap="square" lIns="0" tIns="0" rIns="0" bIns="0" rtlCol="0" anchor="ctr"/>
          <a:lstStyle/>
          <a:p>
            <a:pPr marL="0" indent="0" algn="ctr">
              <a:buNone/>
            </a:pPr>
            <a:r>
              <a:rPr lang="en-US" sz="1800" b="1" dirty="0">
                <a:solidFill>
                  <a:srgbClr val="06185F"/>
                </a:solidFill>
                <a:latin typeface="Arial" pitchFamily="34" charset="0"/>
                <a:ea typeface="Arial" pitchFamily="34" charset="-122"/>
                <a:cs typeface="Arial" pitchFamily="34" charset="-120"/>
              </a:rPr>
              <a:t>Act</a:t>
            </a:r>
            <a:endParaRPr lang="en-US" sz="1800" dirty="0"/>
          </a:p>
        </p:txBody>
      </p:sp>
      <p:sp>
        <p:nvSpPr>
          <p:cNvPr id="29" name="Text 27"/>
          <p:cNvSpPr/>
          <p:nvPr/>
        </p:nvSpPr>
        <p:spPr>
          <a:xfrm>
            <a:off x="9372600" y="4297680"/>
            <a:ext cx="2011680" cy="822960"/>
          </a:xfrm>
          <a:prstGeom prst="rect">
            <a:avLst/>
          </a:prstGeom>
          <a:noFill/>
          <a:ln/>
        </p:spPr>
        <p:txBody>
          <a:bodyPr wrap="square" lIns="0" tIns="0" rIns="0" bIns="0" rtlCol="0" anchor="ctr"/>
          <a:lstStyle/>
          <a:p>
            <a:pPr marL="0" indent="0" algn="ctr">
              <a:buNone/>
            </a:pPr>
            <a:r>
              <a:rPr lang="en-US" sz="1150" dirty="0">
                <a:solidFill>
                  <a:srgbClr val="575A5D"/>
                </a:solidFill>
                <a:latin typeface="Calibri" pitchFamily="34" charset="0"/>
                <a:ea typeface="Calibri" pitchFamily="34" charset="-122"/>
                <a:cs typeface="Calibri" pitchFamily="34" charset="-120"/>
              </a:rPr>
              <a:t>Offer optimization deflects or converts</a:t>
            </a:r>
            <a:endParaRPr lang="en-US" sz="1150" dirty="0"/>
          </a:p>
        </p:txBody>
      </p:sp>
      <p:sp>
        <p:nvSpPr>
          <p:cNvPr id="30" name="Text 28"/>
          <p:cNvSpPr/>
          <p:nvPr/>
        </p:nvSpPr>
        <p:spPr>
          <a:xfrm>
            <a:off x="822960" y="5532120"/>
            <a:ext cx="10515600" cy="457200"/>
          </a:xfrm>
          <a:prstGeom prst="rect">
            <a:avLst/>
          </a:prstGeom>
          <a:noFill/>
          <a:ln/>
        </p:spPr>
        <p:txBody>
          <a:bodyPr wrap="square" lIns="0" tIns="0" rIns="0" bIns="0" rtlCol="0" anchor="ctr"/>
          <a:lstStyle/>
          <a:p>
            <a:pPr marL="0" indent="0">
              <a:buNone/>
            </a:pPr>
            <a:r>
              <a:rPr lang="en-US" sz="1200" i="1" dirty="0">
                <a:solidFill>
                  <a:srgbClr val="575A5D"/>
                </a:solidFill>
                <a:latin typeface="Calibri" pitchFamily="34" charset="0"/>
                <a:ea typeface="Calibri" pitchFamily="34" charset="-122"/>
                <a:cs typeface="Calibri" pitchFamily="34" charset="-120"/>
              </a:rPr>
              <a:t>A fifth stage, Learn, feeds outcomes back into the model — every deflected churn and every converted account makes the next score sharper.</a:t>
            </a:r>
            <a:endParaRPr lang="en-US" sz="1200" dirty="0"/>
          </a:p>
        </p:txBody>
      </p:sp>
      <p:sp>
        <p:nvSpPr>
          <p:cNvPr id="31" name="Text 29"/>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900" dirty="0">
                <a:solidFill>
                  <a:srgbClr val="B6BBC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9">
    <p:bg>
      <p:bgPr>
        <a:solidFill>
          <a:srgbClr val="06185F"/>
        </a:solidFill>
        <a:effectLst/>
      </p:bgPr>
    </p:bg>
    <p:spTree>
      <p:nvGrpSpPr>
        <p:cNvPr id="1" name=""/>
        <p:cNvGrpSpPr/>
        <p:nvPr/>
      </p:nvGrpSpPr>
      <p:grpSpPr>
        <a:xfrm>
          <a:off x="0" y="0"/>
          <a:ext cx="0" cy="0"/>
          <a:chOff x="0" y="0"/>
          <a:chExt cx="0" cy="0"/>
        </a:xfrm>
      </p:grpSpPr>
      <p:sp>
        <p:nvSpPr>
          <p:cNvPr id="2" name="Shape 0"/>
          <p:cNvSpPr/>
          <p:nvPr/>
        </p:nvSpPr>
        <p:spPr>
          <a:xfrm>
            <a:off x="9082735" y="-1463040"/>
            <a:ext cx="4023360" cy="4023360"/>
          </a:xfrm>
          <a:prstGeom prst="ellipse">
            <a:avLst/>
          </a:prstGeom>
          <a:solidFill>
            <a:srgbClr val="085CE5">
              <a:alpha val="22000"/>
            </a:srgbClr>
          </a:solidFill>
          <a:ln/>
        </p:spPr>
        <p:txBody>
          <a:bodyPr/>
          <a:lstStyle/>
          <a:p>
            <a:endParaRPr lang="en-US"/>
          </a:p>
        </p:txBody>
      </p:sp>
      <p:sp>
        <p:nvSpPr>
          <p:cNvPr id="3" name="Shape 1"/>
          <p:cNvSpPr/>
          <p:nvPr/>
        </p:nvSpPr>
        <p:spPr>
          <a:xfrm>
            <a:off x="10271455" y="-548640"/>
            <a:ext cx="2377440" cy="2377440"/>
          </a:xfrm>
          <a:prstGeom prst="ellipse">
            <a:avLst/>
          </a:prstGeom>
          <a:solidFill>
            <a:srgbClr val="76DCFD">
              <a:alpha val="45000"/>
            </a:srgbClr>
          </a:solidFill>
          <a:ln/>
        </p:spPr>
        <p:txBody>
          <a:bodyPr/>
          <a:lstStyle/>
          <a:p>
            <a:endParaRPr lang="en-US"/>
          </a:p>
        </p:txBody>
      </p:sp>
      <p:sp>
        <p:nvSpPr>
          <p:cNvPr id="4" name="Text 2"/>
          <p:cNvSpPr/>
          <p:nvPr/>
        </p:nvSpPr>
        <p:spPr>
          <a:xfrm>
            <a:off x="640080" y="2377440"/>
            <a:ext cx="5486400" cy="365760"/>
          </a:xfrm>
          <a:prstGeom prst="rect">
            <a:avLst/>
          </a:prstGeom>
          <a:noFill/>
          <a:ln/>
        </p:spPr>
        <p:txBody>
          <a:bodyPr wrap="square" lIns="0" tIns="0" rIns="0" bIns="0" rtlCol="0" anchor="ctr"/>
          <a:lstStyle/>
          <a:p>
            <a:pPr marL="0" indent="0">
              <a:buNone/>
            </a:pPr>
            <a:r>
              <a:rPr lang="en-US" sz="1400" b="1" kern="0" spc="300" dirty="0">
                <a:solidFill>
                  <a:srgbClr val="76DCFD"/>
                </a:solidFill>
                <a:latin typeface="Calibri" pitchFamily="34" charset="0"/>
                <a:ea typeface="Calibri" pitchFamily="34" charset="-122"/>
                <a:cs typeface="Calibri" pitchFamily="34" charset="-120"/>
              </a:rPr>
              <a:t>PART TWO</a:t>
            </a:r>
            <a:endParaRPr lang="en-US" sz="1400" dirty="0"/>
          </a:p>
        </p:txBody>
      </p:sp>
      <p:sp>
        <p:nvSpPr>
          <p:cNvPr id="5" name="Text 3"/>
          <p:cNvSpPr/>
          <p:nvPr/>
        </p:nvSpPr>
        <p:spPr>
          <a:xfrm>
            <a:off x="640080" y="2743200"/>
            <a:ext cx="9144000" cy="1005840"/>
          </a:xfrm>
          <a:prstGeom prst="rect">
            <a:avLst/>
          </a:prstGeom>
          <a:noFill/>
          <a:ln/>
        </p:spPr>
        <p:txBody>
          <a:bodyPr wrap="square" lIns="0" tIns="0" rIns="0" bIns="0" rtlCol="0" anchor="ctr"/>
          <a:lstStyle/>
          <a:p>
            <a:pPr marL="0" indent="0">
              <a:buNone/>
            </a:pPr>
            <a:r>
              <a:rPr lang="en-US" sz="4200" b="1" dirty="0">
                <a:solidFill>
                  <a:srgbClr val="FFFFFF"/>
                </a:solidFill>
                <a:latin typeface="Arial" pitchFamily="34" charset="0"/>
                <a:ea typeface="Arial" pitchFamily="34" charset="-122"/>
                <a:cs typeface="Arial" pitchFamily="34" charset="-120"/>
              </a:rPr>
              <a:t>Building the Model</a:t>
            </a:r>
            <a:endParaRPr lang="en-US" sz="4200" dirty="0"/>
          </a:p>
        </p:txBody>
      </p:sp>
      <p:sp>
        <p:nvSpPr>
          <p:cNvPr id="6" name="Text 4"/>
          <p:cNvSpPr/>
          <p:nvPr/>
        </p:nvSpPr>
        <p:spPr>
          <a:xfrm>
            <a:off x="640080" y="3703320"/>
            <a:ext cx="9144000" cy="548640"/>
          </a:xfrm>
          <a:prstGeom prst="rect">
            <a:avLst/>
          </a:prstGeom>
          <a:noFill/>
          <a:ln/>
        </p:spPr>
        <p:txBody>
          <a:bodyPr wrap="square" lIns="0" tIns="0" rIns="0" bIns="0" rtlCol="0" anchor="ctr"/>
          <a:lstStyle/>
          <a:p>
            <a:pPr marL="0" indent="0">
              <a:buNone/>
            </a:pPr>
            <a:r>
              <a:rPr lang="en-US" sz="1500" i="1" dirty="0">
                <a:solidFill>
                  <a:srgbClr val="CADCFC"/>
                </a:solidFill>
                <a:latin typeface="Calibri" pitchFamily="34" charset="0"/>
                <a:ea typeface="Calibri" pitchFamily="34" charset="-122"/>
                <a:cs typeface="Calibri" pitchFamily="34" charset="-120"/>
              </a:rPr>
              <a:t>Data, exploration, sampling, modeling, and evaluation — the CRISP-DM steps behind the score</a:t>
            </a:r>
            <a:endParaRPr lang="en-US" sz="1500" dirty="0"/>
          </a:p>
        </p:txBody>
      </p:sp>
      <p:sp>
        <p:nvSpPr>
          <p:cNvPr id="7" name="Text 5"/>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900" dirty="0">
                <a:solidFill>
                  <a:srgbClr val="B6BBC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marL="0" indent="0" algn="l">
              <a:buNone/>
            </a:pPr>
            <a:r>
              <a:rPr lang="en-US" sz="1200" b="1" kern="0" spc="200" dirty="0">
                <a:solidFill>
                  <a:srgbClr val="085CE5"/>
                </a:solidFill>
                <a:latin typeface="Calibri" pitchFamily="34" charset="0"/>
                <a:ea typeface="Calibri" pitchFamily="34" charset="-122"/>
                <a:cs typeface="Calibri" pitchFamily="34" charset="-120"/>
              </a:rPr>
              <a:t>WHAT CHURN LOOKS LIKE BEFORE IT HAPPENS</a:t>
            </a:r>
            <a:endParaRPr lang="en-US" sz="1200" dirty="0"/>
          </a:p>
        </p:txBody>
      </p:sp>
      <p:sp>
        <p:nvSpPr>
          <p:cNvPr id="3" name="Text 1"/>
          <p:cNvSpPr/>
          <p:nvPr/>
        </p:nvSpPr>
        <p:spPr>
          <a:xfrm>
            <a:off x="640080" y="822960"/>
            <a:ext cx="9144000" cy="731520"/>
          </a:xfrm>
          <a:prstGeom prst="rect">
            <a:avLst/>
          </a:prstGeom>
          <a:noFill/>
          <a:ln/>
        </p:spPr>
        <p:txBody>
          <a:bodyPr wrap="square" lIns="0" tIns="0" rIns="0" bIns="0" rtlCol="0" anchor="ctr"/>
          <a:lstStyle/>
          <a:p>
            <a:pPr marL="0" indent="0">
              <a:buNone/>
            </a:pPr>
            <a:r>
              <a:rPr lang="en-US" sz="3000" b="1" dirty="0">
                <a:solidFill>
                  <a:srgbClr val="06185F"/>
                </a:solidFill>
                <a:latin typeface="Arial" pitchFamily="34" charset="0"/>
                <a:ea typeface="Arial" pitchFamily="34" charset="-122"/>
                <a:cs typeface="Arial" pitchFamily="34" charset="-120"/>
              </a:rPr>
              <a:t>The leading indicators</a:t>
            </a:r>
            <a:endParaRPr lang="en-US" sz="3000" dirty="0"/>
          </a:p>
        </p:txBody>
      </p:sp>
      <p:sp>
        <p:nvSpPr>
          <p:cNvPr id="4" name="Shape 2"/>
          <p:cNvSpPr/>
          <p:nvPr/>
        </p:nvSpPr>
        <p:spPr>
          <a:xfrm>
            <a:off x="640080" y="1920240"/>
            <a:ext cx="502920" cy="502920"/>
          </a:xfrm>
          <a:prstGeom prst="ellipse">
            <a:avLst/>
          </a:prstGeom>
          <a:solidFill>
            <a:srgbClr val="085CE5"/>
          </a:solidFill>
          <a:ln/>
        </p:spPr>
        <p:txBody>
          <a:bodyPr/>
          <a:lstStyle/>
          <a:p>
            <a:endParaRPr lang="en-US"/>
          </a:p>
        </p:txBody>
      </p:sp>
      <p:sp>
        <p:nvSpPr>
          <p:cNvPr id="5" name="Shape 3"/>
          <p:cNvSpPr/>
          <p:nvPr/>
        </p:nvSpPr>
        <p:spPr>
          <a:xfrm>
            <a:off x="785927" y="2066087"/>
            <a:ext cx="211226" cy="211226"/>
          </a:xfrm>
          <a:prstGeom prst="ellipse">
            <a:avLst/>
          </a:prstGeom>
          <a:ln w="31750">
            <a:solidFill>
              <a:srgbClr val="FFFFFF"/>
            </a:solidFill>
            <a:prstDash val="solid"/>
          </a:ln>
        </p:spPr>
        <p:txBody>
          <a:bodyPr/>
          <a:lstStyle/>
          <a:p>
            <a:endParaRPr lang="en-US"/>
          </a:p>
        </p:txBody>
      </p:sp>
      <p:sp>
        <p:nvSpPr>
          <p:cNvPr id="6" name="Text 4"/>
          <p:cNvSpPr/>
          <p:nvPr/>
        </p:nvSpPr>
        <p:spPr>
          <a:xfrm>
            <a:off x="1325880" y="1828800"/>
            <a:ext cx="4434840" cy="365760"/>
          </a:xfrm>
          <a:prstGeom prst="rect">
            <a:avLst/>
          </a:prstGeom>
          <a:noFill/>
          <a:ln/>
        </p:spPr>
        <p:txBody>
          <a:bodyPr wrap="square" lIns="0" tIns="0" rIns="0" bIns="0" rtlCol="0" anchor="ctr"/>
          <a:lstStyle/>
          <a:p>
            <a:pPr marL="0" indent="0">
              <a:buNone/>
            </a:pPr>
            <a:r>
              <a:rPr lang="en-US" sz="1450" b="1" dirty="0">
                <a:solidFill>
                  <a:srgbClr val="06185F"/>
                </a:solidFill>
                <a:latin typeface="Arial" pitchFamily="34" charset="0"/>
                <a:ea typeface="Arial" pitchFamily="34" charset="-122"/>
                <a:cs typeface="Arial" pitchFamily="34" charset="-120"/>
              </a:rPr>
              <a:t>Single-product relationship</a:t>
            </a:r>
            <a:endParaRPr lang="en-US" sz="1450" dirty="0"/>
          </a:p>
        </p:txBody>
      </p:sp>
      <p:sp>
        <p:nvSpPr>
          <p:cNvPr id="7" name="Text 5"/>
          <p:cNvSpPr/>
          <p:nvPr/>
        </p:nvSpPr>
        <p:spPr>
          <a:xfrm>
            <a:off x="1325880" y="2194560"/>
            <a:ext cx="4434840" cy="777240"/>
          </a:xfrm>
          <a:prstGeom prst="rect">
            <a:avLst/>
          </a:prstGeom>
          <a:noFill/>
          <a:ln/>
        </p:spPr>
        <p:txBody>
          <a:bodyPr wrap="square" lIns="0" tIns="0" rIns="0" bIns="0" rtlCol="0" anchor="ctr"/>
          <a:lstStyle/>
          <a:p>
            <a:pPr marL="0" indent="0">
              <a:buNone/>
            </a:pPr>
            <a:r>
              <a:rPr lang="en-US" sz="1150" dirty="0">
                <a:solidFill>
                  <a:srgbClr val="575A5D"/>
                </a:solidFill>
                <a:latin typeface="Calibri" pitchFamily="34" charset="0"/>
                <a:ea typeface="Calibri" pitchFamily="34" charset="-122"/>
                <a:cs typeface="Calibri" pitchFamily="34" charset="-120"/>
              </a:rPr>
              <a:t>One-product members/customers churn at far higher rates than multi-product households</a:t>
            </a:r>
            <a:endParaRPr lang="en-US" sz="1150" dirty="0"/>
          </a:p>
        </p:txBody>
      </p:sp>
      <p:sp>
        <p:nvSpPr>
          <p:cNvPr id="8" name="Shape 6"/>
          <p:cNvSpPr/>
          <p:nvPr/>
        </p:nvSpPr>
        <p:spPr>
          <a:xfrm>
            <a:off x="6080760" y="1920240"/>
            <a:ext cx="502920" cy="502920"/>
          </a:xfrm>
          <a:prstGeom prst="ellipse">
            <a:avLst/>
          </a:prstGeom>
          <a:solidFill>
            <a:srgbClr val="085CE5"/>
          </a:solidFill>
          <a:ln/>
        </p:spPr>
        <p:txBody>
          <a:bodyPr/>
          <a:lstStyle/>
          <a:p>
            <a:endParaRPr lang="en-US"/>
          </a:p>
        </p:txBody>
      </p:sp>
      <p:sp>
        <p:nvSpPr>
          <p:cNvPr id="9" name="Shape 7"/>
          <p:cNvSpPr/>
          <p:nvPr/>
        </p:nvSpPr>
        <p:spPr>
          <a:xfrm>
            <a:off x="6226607" y="2188598"/>
            <a:ext cx="50694" cy="88715"/>
          </a:xfrm>
          <a:prstGeom prst="rect">
            <a:avLst/>
          </a:prstGeom>
          <a:solidFill>
            <a:srgbClr val="FFFFFF"/>
          </a:solidFill>
          <a:ln/>
        </p:spPr>
        <p:txBody>
          <a:bodyPr/>
          <a:lstStyle/>
          <a:p>
            <a:endParaRPr lang="en-US"/>
          </a:p>
        </p:txBody>
      </p:sp>
      <p:sp>
        <p:nvSpPr>
          <p:cNvPr id="10" name="Shape 8"/>
          <p:cNvSpPr/>
          <p:nvPr/>
        </p:nvSpPr>
        <p:spPr>
          <a:xfrm>
            <a:off x="6315322" y="2150577"/>
            <a:ext cx="50694" cy="126736"/>
          </a:xfrm>
          <a:prstGeom prst="rect">
            <a:avLst/>
          </a:prstGeom>
          <a:solidFill>
            <a:srgbClr val="FFFFFF"/>
          </a:solidFill>
          <a:ln/>
        </p:spPr>
        <p:txBody>
          <a:bodyPr/>
          <a:lstStyle/>
          <a:p>
            <a:endParaRPr lang="en-US"/>
          </a:p>
        </p:txBody>
      </p:sp>
      <p:sp>
        <p:nvSpPr>
          <p:cNvPr id="11" name="Shape 9"/>
          <p:cNvSpPr/>
          <p:nvPr/>
        </p:nvSpPr>
        <p:spPr>
          <a:xfrm>
            <a:off x="6404037" y="2097771"/>
            <a:ext cx="50694" cy="179542"/>
          </a:xfrm>
          <a:prstGeom prst="rect">
            <a:avLst/>
          </a:prstGeom>
          <a:solidFill>
            <a:srgbClr val="FFFFFF"/>
          </a:solidFill>
          <a:ln/>
        </p:spPr>
        <p:txBody>
          <a:bodyPr/>
          <a:lstStyle/>
          <a:p>
            <a:endParaRPr lang="en-US"/>
          </a:p>
        </p:txBody>
      </p:sp>
      <p:sp>
        <p:nvSpPr>
          <p:cNvPr id="12" name="Text 10"/>
          <p:cNvSpPr/>
          <p:nvPr/>
        </p:nvSpPr>
        <p:spPr>
          <a:xfrm>
            <a:off x="6766560" y="1828800"/>
            <a:ext cx="4434840" cy="365760"/>
          </a:xfrm>
          <a:prstGeom prst="rect">
            <a:avLst/>
          </a:prstGeom>
          <a:noFill/>
          <a:ln/>
        </p:spPr>
        <p:txBody>
          <a:bodyPr wrap="square" lIns="0" tIns="0" rIns="0" bIns="0" rtlCol="0" anchor="ctr"/>
          <a:lstStyle/>
          <a:p>
            <a:pPr marL="0" indent="0">
              <a:buNone/>
            </a:pPr>
            <a:r>
              <a:rPr lang="en-US" sz="1450" b="1" dirty="0">
                <a:solidFill>
                  <a:srgbClr val="06185F"/>
                </a:solidFill>
                <a:latin typeface="Arial" pitchFamily="34" charset="0"/>
                <a:ea typeface="Arial" pitchFamily="34" charset="-122"/>
                <a:cs typeface="Arial" pitchFamily="34" charset="-120"/>
              </a:rPr>
              <a:t>Declining balance trend</a:t>
            </a:r>
            <a:endParaRPr lang="en-US" sz="1450" dirty="0"/>
          </a:p>
        </p:txBody>
      </p:sp>
      <p:sp>
        <p:nvSpPr>
          <p:cNvPr id="13" name="Text 11"/>
          <p:cNvSpPr/>
          <p:nvPr/>
        </p:nvSpPr>
        <p:spPr>
          <a:xfrm>
            <a:off x="6766560" y="2194560"/>
            <a:ext cx="4434840" cy="777240"/>
          </a:xfrm>
          <a:prstGeom prst="rect">
            <a:avLst/>
          </a:prstGeom>
          <a:noFill/>
          <a:ln/>
        </p:spPr>
        <p:txBody>
          <a:bodyPr wrap="square" lIns="0" tIns="0" rIns="0" bIns="0" rtlCol="0" anchor="ctr"/>
          <a:lstStyle/>
          <a:p>
            <a:pPr marL="0" indent="0">
              <a:buNone/>
            </a:pPr>
            <a:r>
              <a:rPr lang="en-US" sz="1150" dirty="0">
                <a:solidFill>
                  <a:srgbClr val="575A5D"/>
                </a:solidFill>
                <a:latin typeface="Calibri" pitchFamily="34" charset="0"/>
                <a:ea typeface="Calibri" pitchFamily="34" charset="-122"/>
                <a:cs typeface="Calibri" pitchFamily="34" charset="-120"/>
              </a:rPr>
              <a:t>Sustained drawdown often precedes departure by months</a:t>
            </a:r>
            <a:endParaRPr lang="en-US" sz="1150" dirty="0"/>
          </a:p>
        </p:txBody>
      </p:sp>
      <p:sp>
        <p:nvSpPr>
          <p:cNvPr id="14" name="Shape 12"/>
          <p:cNvSpPr/>
          <p:nvPr/>
        </p:nvSpPr>
        <p:spPr>
          <a:xfrm>
            <a:off x="640080" y="3154680"/>
            <a:ext cx="502920" cy="502920"/>
          </a:xfrm>
          <a:prstGeom prst="ellipse">
            <a:avLst/>
          </a:prstGeom>
          <a:solidFill>
            <a:srgbClr val="085CE5"/>
          </a:solidFill>
          <a:ln/>
        </p:spPr>
        <p:txBody>
          <a:bodyPr/>
          <a:lstStyle/>
          <a:p>
            <a:endParaRPr lang="en-US"/>
          </a:p>
        </p:txBody>
      </p:sp>
      <p:sp>
        <p:nvSpPr>
          <p:cNvPr id="15" name="Shape 13"/>
          <p:cNvSpPr/>
          <p:nvPr/>
        </p:nvSpPr>
        <p:spPr>
          <a:xfrm rot="5400000">
            <a:off x="803529" y="3300527"/>
            <a:ext cx="168981" cy="190104"/>
          </a:xfrm>
          <a:prstGeom prst="triangle">
            <a:avLst/>
          </a:prstGeom>
          <a:solidFill>
            <a:srgbClr val="FFFFFF"/>
          </a:solidFill>
          <a:ln/>
        </p:spPr>
        <p:txBody>
          <a:bodyPr/>
          <a:lstStyle/>
          <a:p>
            <a:endParaRPr lang="en-US"/>
          </a:p>
        </p:txBody>
      </p:sp>
      <p:sp>
        <p:nvSpPr>
          <p:cNvPr id="16" name="Text 14"/>
          <p:cNvSpPr/>
          <p:nvPr/>
        </p:nvSpPr>
        <p:spPr>
          <a:xfrm>
            <a:off x="1325880" y="3063240"/>
            <a:ext cx="4434840" cy="365760"/>
          </a:xfrm>
          <a:prstGeom prst="rect">
            <a:avLst/>
          </a:prstGeom>
          <a:noFill/>
          <a:ln/>
        </p:spPr>
        <p:txBody>
          <a:bodyPr wrap="square" lIns="0" tIns="0" rIns="0" bIns="0" rtlCol="0" anchor="ctr"/>
          <a:lstStyle/>
          <a:p>
            <a:pPr marL="0" indent="0">
              <a:buNone/>
            </a:pPr>
            <a:r>
              <a:rPr lang="en-US" sz="1450" b="1" dirty="0">
                <a:solidFill>
                  <a:srgbClr val="06185F"/>
                </a:solidFill>
                <a:latin typeface="Arial" pitchFamily="34" charset="0"/>
                <a:ea typeface="Arial" pitchFamily="34" charset="-122"/>
                <a:cs typeface="Arial" pitchFamily="34" charset="-120"/>
              </a:rPr>
              <a:t>Direct deposit drop-off</a:t>
            </a:r>
            <a:endParaRPr lang="en-US" sz="1450" dirty="0"/>
          </a:p>
        </p:txBody>
      </p:sp>
      <p:sp>
        <p:nvSpPr>
          <p:cNvPr id="17" name="Text 15"/>
          <p:cNvSpPr/>
          <p:nvPr/>
        </p:nvSpPr>
        <p:spPr>
          <a:xfrm>
            <a:off x="1325880" y="3429000"/>
            <a:ext cx="4434840" cy="777240"/>
          </a:xfrm>
          <a:prstGeom prst="rect">
            <a:avLst/>
          </a:prstGeom>
          <a:noFill/>
          <a:ln/>
        </p:spPr>
        <p:txBody>
          <a:bodyPr wrap="square" lIns="0" tIns="0" rIns="0" bIns="0" rtlCol="0" anchor="ctr"/>
          <a:lstStyle/>
          <a:p>
            <a:pPr marL="0" indent="0">
              <a:buNone/>
            </a:pPr>
            <a:r>
              <a:rPr lang="en-US" sz="1150" dirty="0">
                <a:solidFill>
                  <a:srgbClr val="575A5D"/>
                </a:solidFill>
                <a:latin typeface="Calibri" pitchFamily="34" charset="0"/>
                <a:ea typeface="Calibri" pitchFamily="34" charset="-122"/>
                <a:cs typeface="Calibri" pitchFamily="34" charset="-120"/>
              </a:rPr>
              <a:t>Loss of DD or payroll routing is one of the strongest early signals available</a:t>
            </a:r>
            <a:endParaRPr lang="en-US" sz="1150" dirty="0"/>
          </a:p>
        </p:txBody>
      </p:sp>
      <p:sp>
        <p:nvSpPr>
          <p:cNvPr id="18" name="Shape 16"/>
          <p:cNvSpPr/>
          <p:nvPr/>
        </p:nvSpPr>
        <p:spPr>
          <a:xfrm>
            <a:off x="6080760" y="3154680"/>
            <a:ext cx="502920" cy="502920"/>
          </a:xfrm>
          <a:prstGeom prst="ellipse">
            <a:avLst/>
          </a:prstGeom>
          <a:solidFill>
            <a:srgbClr val="085CE5"/>
          </a:solidFill>
          <a:ln/>
        </p:spPr>
        <p:txBody>
          <a:bodyPr/>
          <a:lstStyle/>
          <a:p>
            <a:endParaRPr lang="en-US"/>
          </a:p>
        </p:txBody>
      </p:sp>
      <p:sp>
        <p:nvSpPr>
          <p:cNvPr id="19" name="Shape 17"/>
          <p:cNvSpPr/>
          <p:nvPr/>
        </p:nvSpPr>
        <p:spPr>
          <a:xfrm>
            <a:off x="6226607" y="3335731"/>
            <a:ext cx="211226" cy="139409"/>
          </a:xfrm>
          <a:prstGeom prst="rightArrow">
            <a:avLst/>
          </a:prstGeom>
          <a:solidFill>
            <a:srgbClr val="FFFFFF"/>
          </a:solidFill>
          <a:ln/>
        </p:spPr>
        <p:txBody>
          <a:bodyPr/>
          <a:lstStyle/>
          <a:p>
            <a:endParaRPr lang="en-US"/>
          </a:p>
        </p:txBody>
      </p:sp>
      <p:sp>
        <p:nvSpPr>
          <p:cNvPr id="20" name="Text 18"/>
          <p:cNvSpPr/>
          <p:nvPr/>
        </p:nvSpPr>
        <p:spPr>
          <a:xfrm>
            <a:off x="6766560" y="3063240"/>
            <a:ext cx="4434840" cy="365760"/>
          </a:xfrm>
          <a:prstGeom prst="rect">
            <a:avLst/>
          </a:prstGeom>
          <a:noFill/>
          <a:ln/>
        </p:spPr>
        <p:txBody>
          <a:bodyPr wrap="square" lIns="0" tIns="0" rIns="0" bIns="0" rtlCol="0" anchor="ctr"/>
          <a:lstStyle/>
          <a:p>
            <a:pPr marL="0" indent="0">
              <a:buNone/>
            </a:pPr>
            <a:r>
              <a:rPr lang="en-US" sz="1450" b="1" dirty="0">
                <a:solidFill>
                  <a:srgbClr val="06185F"/>
                </a:solidFill>
                <a:latin typeface="Arial" pitchFamily="34" charset="0"/>
                <a:ea typeface="Arial" pitchFamily="34" charset="-122"/>
                <a:cs typeface="Arial" pitchFamily="34" charset="-120"/>
              </a:rPr>
              <a:t>Falling transaction volume</a:t>
            </a:r>
            <a:endParaRPr lang="en-US" sz="1450" dirty="0"/>
          </a:p>
        </p:txBody>
      </p:sp>
      <p:sp>
        <p:nvSpPr>
          <p:cNvPr id="21" name="Text 19"/>
          <p:cNvSpPr/>
          <p:nvPr/>
        </p:nvSpPr>
        <p:spPr>
          <a:xfrm>
            <a:off x="6766560" y="3429000"/>
            <a:ext cx="4434840" cy="777240"/>
          </a:xfrm>
          <a:prstGeom prst="rect">
            <a:avLst/>
          </a:prstGeom>
          <a:noFill/>
          <a:ln/>
        </p:spPr>
        <p:txBody>
          <a:bodyPr wrap="square" lIns="0" tIns="0" rIns="0" bIns="0" rtlCol="0" anchor="ctr"/>
          <a:lstStyle/>
          <a:p>
            <a:pPr marL="0" indent="0">
              <a:buNone/>
            </a:pPr>
            <a:r>
              <a:rPr lang="en-US" sz="1150" dirty="0">
                <a:solidFill>
                  <a:srgbClr val="575A5D"/>
                </a:solidFill>
                <a:latin typeface="Calibri" pitchFamily="34" charset="0"/>
                <a:ea typeface="Calibri" pitchFamily="34" charset="-122"/>
                <a:cs typeface="Calibri" pitchFamily="34" charset="-120"/>
              </a:rPr>
              <a:t>Fewer logins, fewer swipes, fewer transfers — quiet disengagement</a:t>
            </a:r>
            <a:endParaRPr lang="en-US" sz="1150" dirty="0"/>
          </a:p>
        </p:txBody>
      </p:sp>
      <p:sp>
        <p:nvSpPr>
          <p:cNvPr id="22" name="Shape 20"/>
          <p:cNvSpPr/>
          <p:nvPr/>
        </p:nvSpPr>
        <p:spPr>
          <a:xfrm>
            <a:off x="640080" y="4389120"/>
            <a:ext cx="502920" cy="502920"/>
          </a:xfrm>
          <a:prstGeom prst="ellipse">
            <a:avLst/>
          </a:prstGeom>
          <a:solidFill>
            <a:srgbClr val="085CE5"/>
          </a:solidFill>
          <a:ln/>
        </p:spPr>
        <p:txBody>
          <a:bodyPr/>
          <a:lstStyle/>
          <a:p>
            <a:endParaRPr lang="en-US"/>
          </a:p>
        </p:txBody>
      </p:sp>
      <p:sp>
        <p:nvSpPr>
          <p:cNvPr id="23" name="Shape 21"/>
          <p:cNvSpPr/>
          <p:nvPr/>
        </p:nvSpPr>
        <p:spPr>
          <a:xfrm>
            <a:off x="785927" y="4534967"/>
            <a:ext cx="211226" cy="211226"/>
          </a:xfrm>
          <a:prstGeom prst="ellipse">
            <a:avLst/>
          </a:prstGeom>
          <a:ln w="38100">
            <a:solidFill>
              <a:srgbClr val="FFFFFF"/>
            </a:solidFill>
            <a:prstDash val="solid"/>
          </a:ln>
        </p:spPr>
        <p:txBody>
          <a:bodyPr/>
          <a:lstStyle/>
          <a:p>
            <a:endParaRPr lang="en-US"/>
          </a:p>
        </p:txBody>
      </p:sp>
      <p:sp>
        <p:nvSpPr>
          <p:cNvPr id="24" name="Shape 22"/>
          <p:cNvSpPr/>
          <p:nvPr/>
        </p:nvSpPr>
        <p:spPr>
          <a:xfrm>
            <a:off x="861968" y="4611008"/>
            <a:ext cx="59143" cy="59143"/>
          </a:xfrm>
          <a:prstGeom prst="ellipse">
            <a:avLst/>
          </a:prstGeom>
          <a:solidFill>
            <a:srgbClr val="FFFFFF"/>
          </a:solidFill>
          <a:ln/>
        </p:spPr>
        <p:txBody>
          <a:bodyPr/>
          <a:lstStyle/>
          <a:p>
            <a:endParaRPr lang="en-US"/>
          </a:p>
        </p:txBody>
      </p:sp>
      <p:sp>
        <p:nvSpPr>
          <p:cNvPr id="25" name="Text 23"/>
          <p:cNvSpPr/>
          <p:nvPr/>
        </p:nvSpPr>
        <p:spPr>
          <a:xfrm>
            <a:off x="1325880" y="4297680"/>
            <a:ext cx="4434840" cy="365760"/>
          </a:xfrm>
          <a:prstGeom prst="rect">
            <a:avLst/>
          </a:prstGeom>
          <a:noFill/>
          <a:ln/>
        </p:spPr>
        <p:txBody>
          <a:bodyPr wrap="square" lIns="0" tIns="0" rIns="0" bIns="0" rtlCol="0" anchor="ctr"/>
          <a:lstStyle/>
          <a:p>
            <a:pPr marL="0" indent="0">
              <a:buNone/>
            </a:pPr>
            <a:r>
              <a:rPr lang="en-US" sz="1450" b="1" dirty="0">
                <a:solidFill>
                  <a:srgbClr val="06185F"/>
                </a:solidFill>
                <a:latin typeface="Arial" pitchFamily="34" charset="0"/>
                <a:ea typeface="Arial" pitchFamily="34" charset="-122"/>
                <a:cs typeface="Arial" pitchFamily="34" charset="-120"/>
              </a:rPr>
              <a:t>Loan non-renewal / falling utilization</a:t>
            </a:r>
            <a:endParaRPr lang="en-US" sz="1450" dirty="0"/>
          </a:p>
        </p:txBody>
      </p:sp>
      <p:sp>
        <p:nvSpPr>
          <p:cNvPr id="26" name="Text 24"/>
          <p:cNvSpPr/>
          <p:nvPr/>
        </p:nvSpPr>
        <p:spPr>
          <a:xfrm>
            <a:off x="1325880" y="4663440"/>
            <a:ext cx="4434840" cy="777240"/>
          </a:xfrm>
          <a:prstGeom prst="rect">
            <a:avLst/>
          </a:prstGeom>
          <a:noFill/>
          <a:ln/>
        </p:spPr>
        <p:txBody>
          <a:bodyPr wrap="square" lIns="0" tIns="0" rIns="0" bIns="0" rtlCol="0" anchor="ctr"/>
          <a:lstStyle/>
          <a:p>
            <a:pPr marL="0" indent="0">
              <a:buNone/>
            </a:pPr>
            <a:r>
              <a:rPr lang="en-US" sz="1150" dirty="0">
                <a:solidFill>
                  <a:srgbClr val="575A5D"/>
                </a:solidFill>
                <a:latin typeface="Calibri" pitchFamily="34" charset="0"/>
                <a:ea typeface="Calibri" pitchFamily="34" charset="-122"/>
                <a:cs typeface="Calibri" pitchFamily="34" charset="-120"/>
              </a:rPr>
              <a:t>An expiring loan not renewed, or shrinking card utilization, signals a relationship in motion</a:t>
            </a:r>
            <a:endParaRPr lang="en-US" sz="1150" dirty="0"/>
          </a:p>
        </p:txBody>
      </p:sp>
      <p:sp>
        <p:nvSpPr>
          <p:cNvPr id="27" name="Shape 25"/>
          <p:cNvSpPr/>
          <p:nvPr/>
        </p:nvSpPr>
        <p:spPr>
          <a:xfrm>
            <a:off x="6080760" y="4389120"/>
            <a:ext cx="502920" cy="502920"/>
          </a:xfrm>
          <a:prstGeom prst="ellipse">
            <a:avLst/>
          </a:prstGeom>
          <a:solidFill>
            <a:srgbClr val="085CE5"/>
          </a:solidFill>
          <a:ln/>
        </p:spPr>
        <p:txBody>
          <a:bodyPr/>
          <a:lstStyle/>
          <a:p>
            <a:endParaRPr lang="en-US"/>
          </a:p>
        </p:txBody>
      </p:sp>
      <p:sp>
        <p:nvSpPr>
          <p:cNvPr id="28" name="Shape 26"/>
          <p:cNvSpPr/>
          <p:nvPr/>
        </p:nvSpPr>
        <p:spPr>
          <a:xfrm rot="5400000">
            <a:off x="6226607" y="4559339"/>
            <a:ext cx="211226" cy="147858"/>
          </a:xfrm>
          <a:prstGeom prst="chevron">
            <a:avLst/>
          </a:prstGeom>
          <a:solidFill>
            <a:srgbClr val="FFFFFF"/>
          </a:solidFill>
          <a:ln/>
        </p:spPr>
        <p:txBody>
          <a:bodyPr/>
          <a:lstStyle/>
          <a:p>
            <a:endParaRPr lang="en-US"/>
          </a:p>
        </p:txBody>
      </p:sp>
      <p:sp>
        <p:nvSpPr>
          <p:cNvPr id="29" name="Text 27"/>
          <p:cNvSpPr/>
          <p:nvPr/>
        </p:nvSpPr>
        <p:spPr>
          <a:xfrm>
            <a:off x="6766560" y="4297680"/>
            <a:ext cx="4434840" cy="365760"/>
          </a:xfrm>
          <a:prstGeom prst="rect">
            <a:avLst/>
          </a:prstGeom>
          <a:noFill/>
          <a:ln/>
        </p:spPr>
        <p:txBody>
          <a:bodyPr wrap="square" lIns="0" tIns="0" rIns="0" bIns="0" rtlCol="0" anchor="ctr"/>
          <a:lstStyle/>
          <a:p>
            <a:pPr marL="0" indent="0">
              <a:buNone/>
            </a:pPr>
            <a:r>
              <a:rPr lang="en-US" sz="1450" b="1" dirty="0">
                <a:solidFill>
                  <a:srgbClr val="06185F"/>
                </a:solidFill>
                <a:latin typeface="Arial" pitchFamily="34" charset="0"/>
                <a:ea typeface="Arial" pitchFamily="34" charset="-122"/>
                <a:cs typeface="Arial" pitchFamily="34" charset="-120"/>
              </a:rPr>
              <a:t>Service friction</a:t>
            </a:r>
            <a:endParaRPr lang="en-US" sz="1450" dirty="0"/>
          </a:p>
        </p:txBody>
      </p:sp>
      <p:sp>
        <p:nvSpPr>
          <p:cNvPr id="30" name="Text 28"/>
          <p:cNvSpPr/>
          <p:nvPr/>
        </p:nvSpPr>
        <p:spPr>
          <a:xfrm>
            <a:off x="6766560" y="4663440"/>
            <a:ext cx="4434840" cy="777240"/>
          </a:xfrm>
          <a:prstGeom prst="rect">
            <a:avLst/>
          </a:prstGeom>
          <a:noFill/>
          <a:ln/>
        </p:spPr>
        <p:txBody>
          <a:bodyPr wrap="square" lIns="0" tIns="0" rIns="0" bIns="0" rtlCol="0" anchor="ctr"/>
          <a:lstStyle/>
          <a:p>
            <a:pPr marL="0" indent="0">
              <a:buNone/>
            </a:pPr>
            <a:r>
              <a:rPr lang="en-US" sz="1150" dirty="0">
                <a:solidFill>
                  <a:srgbClr val="575A5D"/>
                </a:solidFill>
                <a:latin typeface="Calibri" pitchFamily="34" charset="0"/>
                <a:ea typeface="Calibri" pitchFamily="34" charset="-122"/>
                <a:cs typeface="Calibri" pitchFamily="34" charset="-120"/>
              </a:rPr>
              <a:t>Complaints, repeated fee disputes, or unresolved service issues cluster before exit</a:t>
            </a:r>
            <a:endParaRPr lang="en-US" sz="1150" dirty="0"/>
          </a:p>
        </p:txBody>
      </p:sp>
      <p:sp>
        <p:nvSpPr>
          <p:cNvPr id="31" name="Text 29"/>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900" dirty="0">
                <a:solidFill>
                  <a:srgbClr val="B6BBC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5486400" cy="320040"/>
          </a:xfrm>
          <a:prstGeom prst="rect">
            <a:avLst/>
          </a:prstGeom>
          <a:noFill/>
          <a:ln/>
        </p:spPr>
        <p:txBody>
          <a:bodyPr wrap="square" lIns="0" tIns="0" rIns="0" bIns="0" rtlCol="0" anchor="ctr"/>
          <a:lstStyle/>
          <a:p>
            <a:pPr marL="0" indent="0" algn="l">
              <a:buNone/>
            </a:pPr>
            <a:r>
              <a:rPr lang="en-US" sz="1200" b="1" kern="0" spc="200" dirty="0">
                <a:solidFill>
                  <a:srgbClr val="085CE5"/>
                </a:solidFill>
                <a:latin typeface="Calibri" pitchFamily="34" charset="0"/>
                <a:ea typeface="Calibri" pitchFamily="34" charset="-122"/>
                <a:cs typeface="Calibri" pitchFamily="34" charset="-120"/>
              </a:rPr>
              <a:t>DATA SELECTION</a:t>
            </a:r>
            <a:endParaRPr lang="en-US" sz="1200" dirty="0"/>
          </a:p>
        </p:txBody>
      </p:sp>
      <p:sp>
        <p:nvSpPr>
          <p:cNvPr id="3" name="Text 1"/>
          <p:cNvSpPr/>
          <p:nvPr/>
        </p:nvSpPr>
        <p:spPr>
          <a:xfrm>
            <a:off x="640080" y="822960"/>
            <a:ext cx="10515600" cy="731520"/>
          </a:xfrm>
          <a:prstGeom prst="rect">
            <a:avLst/>
          </a:prstGeom>
          <a:noFill/>
          <a:ln/>
        </p:spPr>
        <p:txBody>
          <a:bodyPr wrap="square" lIns="0" tIns="0" rIns="0" bIns="0" rtlCol="0" anchor="ctr"/>
          <a:lstStyle/>
          <a:p>
            <a:pPr marL="0" indent="0">
              <a:buNone/>
            </a:pPr>
            <a:r>
              <a:rPr lang="en-US" sz="2800" b="1" dirty="0">
                <a:solidFill>
                  <a:srgbClr val="06185F"/>
                </a:solidFill>
                <a:latin typeface="Arial" pitchFamily="34" charset="0"/>
                <a:ea typeface="Arial" pitchFamily="34" charset="-122"/>
                <a:cs typeface="Arial" pitchFamily="34" charset="-120"/>
              </a:rPr>
              <a:t>Curated features beat 'throw everything in'</a:t>
            </a:r>
            <a:endParaRPr lang="en-US" sz="2800" dirty="0"/>
          </a:p>
        </p:txBody>
      </p:sp>
      <p:sp>
        <p:nvSpPr>
          <p:cNvPr id="4" name="Text 2"/>
          <p:cNvSpPr/>
          <p:nvPr/>
        </p:nvSpPr>
        <p:spPr>
          <a:xfrm>
            <a:off x="640080" y="1481328"/>
            <a:ext cx="10515600" cy="411480"/>
          </a:xfrm>
          <a:prstGeom prst="rect">
            <a:avLst/>
          </a:prstGeom>
          <a:noFill/>
          <a:ln/>
        </p:spPr>
        <p:txBody>
          <a:bodyPr wrap="square" lIns="0" tIns="0" rIns="0" bIns="0" rtlCol="0" anchor="ctr"/>
          <a:lstStyle/>
          <a:p>
            <a:pPr marL="0" indent="0">
              <a:buNone/>
            </a:pPr>
            <a:r>
              <a:rPr lang="en-US" sz="1300" dirty="0">
                <a:solidFill>
                  <a:srgbClr val="575A5D"/>
                </a:solidFill>
                <a:latin typeface="Calibri" pitchFamily="34" charset="0"/>
                <a:ea typeface="Calibri" pitchFamily="34" charset="-122"/>
                <a:cs typeface="Calibri" pitchFamily="34" charset="-120"/>
              </a:rPr>
              <a:t>The model is only as good as the five data domains feeding it — each chosen because it maps to a specific behavioral question.</a:t>
            </a:r>
            <a:endParaRPr lang="en-US" sz="1300" dirty="0"/>
          </a:p>
        </p:txBody>
      </p:sp>
      <p:sp>
        <p:nvSpPr>
          <p:cNvPr id="5" name="Shape 3"/>
          <p:cNvSpPr/>
          <p:nvPr/>
        </p:nvSpPr>
        <p:spPr>
          <a:xfrm>
            <a:off x="640080" y="2194560"/>
            <a:ext cx="1920240" cy="3200400"/>
          </a:xfrm>
          <a:prstGeom prst="roundRect">
            <a:avLst>
              <a:gd name="adj" fmla="val 3810"/>
            </a:avLst>
          </a:prstGeom>
          <a:solidFill>
            <a:srgbClr val="E8F7F7"/>
          </a:solidFill>
          <a:ln/>
          <a:effectLst>
            <a:outerShdw blurRad="127000" dist="38100" dir="5400000" algn="bl" rotWithShape="0">
              <a:srgbClr val="1B1F3B">
                <a:alpha val="10000"/>
              </a:srgbClr>
            </a:outerShdw>
          </a:effectLst>
        </p:spPr>
        <p:txBody>
          <a:bodyPr/>
          <a:lstStyle/>
          <a:p>
            <a:endParaRPr lang="en-US"/>
          </a:p>
        </p:txBody>
      </p:sp>
      <p:sp>
        <p:nvSpPr>
          <p:cNvPr id="6" name="Shape 4"/>
          <p:cNvSpPr/>
          <p:nvPr/>
        </p:nvSpPr>
        <p:spPr>
          <a:xfrm>
            <a:off x="1344168" y="2468880"/>
            <a:ext cx="512064" cy="512064"/>
          </a:xfrm>
          <a:prstGeom prst="ellipse">
            <a:avLst/>
          </a:prstGeom>
          <a:solidFill>
            <a:srgbClr val="06185F"/>
          </a:solidFill>
          <a:ln/>
        </p:spPr>
        <p:txBody>
          <a:bodyPr/>
          <a:lstStyle/>
          <a:p>
            <a:endParaRPr lang="en-US"/>
          </a:p>
        </p:txBody>
      </p:sp>
      <p:sp>
        <p:nvSpPr>
          <p:cNvPr id="7" name="Shape 5"/>
          <p:cNvSpPr/>
          <p:nvPr/>
        </p:nvSpPr>
        <p:spPr>
          <a:xfrm>
            <a:off x="1492667" y="2617379"/>
            <a:ext cx="215067" cy="215067"/>
          </a:xfrm>
          <a:prstGeom prst="ellipse">
            <a:avLst/>
          </a:prstGeom>
          <a:solidFill>
            <a:srgbClr val="FFFFFF"/>
          </a:solidFill>
          <a:ln/>
        </p:spPr>
        <p:txBody>
          <a:bodyPr/>
          <a:lstStyle/>
          <a:p>
            <a:endParaRPr lang="en-US"/>
          </a:p>
        </p:txBody>
      </p:sp>
      <p:sp>
        <p:nvSpPr>
          <p:cNvPr id="8" name="Text 6"/>
          <p:cNvSpPr/>
          <p:nvPr/>
        </p:nvSpPr>
        <p:spPr>
          <a:xfrm>
            <a:off x="777240" y="3154680"/>
            <a:ext cx="1645920" cy="685800"/>
          </a:xfrm>
          <a:prstGeom prst="rect">
            <a:avLst/>
          </a:prstGeom>
          <a:noFill/>
          <a:ln/>
        </p:spPr>
        <p:txBody>
          <a:bodyPr wrap="square" lIns="0" tIns="0" rIns="0" bIns="0" rtlCol="0" anchor="ctr"/>
          <a:lstStyle/>
          <a:p>
            <a:pPr marL="0" indent="0" algn="ctr">
              <a:buNone/>
            </a:pPr>
            <a:r>
              <a:rPr lang="en-US" sz="1350" b="1" dirty="0">
                <a:solidFill>
                  <a:srgbClr val="06185F"/>
                </a:solidFill>
                <a:latin typeface="Arial" pitchFamily="34" charset="0"/>
                <a:ea typeface="Arial" pitchFamily="34" charset="-122"/>
                <a:cs typeface="Arial" pitchFamily="34" charset="-120"/>
              </a:rPr>
              <a:t>Core &amp; Transaction</a:t>
            </a:r>
            <a:endParaRPr lang="en-US" sz="1350" dirty="0"/>
          </a:p>
        </p:txBody>
      </p:sp>
      <p:sp>
        <p:nvSpPr>
          <p:cNvPr id="9" name="Text 7"/>
          <p:cNvSpPr/>
          <p:nvPr/>
        </p:nvSpPr>
        <p:spPr>
          <a:xfrm>
            <a:off x="804672" y="3840480"/>
            <a:ext cx="1591056" cy="1417320"/>
          </a:xfrm>
          <a:prstGeom prst="rect">
            <a:avLst/>
          </a:prstGeom>
          <a:noFill/>
          <a:ln/>
        </p:spPr>
        <p:txBody>
          <a:bodyPr wrap="square" lIns="0" tIns="0" rIns="0" bIns="0" rtlCol="0" anchor="ctr"/>
          <a:lstStyle/>
          <a:p>
            <a:pPr marL="0" indent="0" algn="ctr">
              <a:buNone/>
            </a:pPr>
            <a:r>
              <a:rPr lang="en-US" sz="1050" dirty="0">
                <a:solidFill>
                  <a:srgbClr val="575A5D"/>
                </a:solidFill>
                <a:latin typeface="Calibri" pitchFamily="34" charset="0"/>
                <a:ea typeface="Calibri" pitchFamily="34" charset="-122"/>
                <a:cs typeface="Calibri" pitchFamily="34" charset="-120"/>
              </a:rPr>
              <a:t>Balances, DD status, transaction frequency &amp; size, product holdings</a:t>
            </a:r>
            <a:endParaRPr lang="en-US" sz="1050" dirty="0"/>
          </a:p>
        </p:txBody>
      </p:sp>
      <p:sp>
        <p:nvSpPr>
          <p:cNvPr id="10" name="Shape 8"/>
          <p:cNvSpPr/>
          <p:nvPr/>
        </p:nvSpPr>
        <p:spPr>
          <a:xfrm>
            <a:off x="2788920" y="2194560"/>
            <a:ext cx="1920240" cy="3200400"/>
          </a:xfrm>
          <a:prstGeom prst="roundRect">
            <a:avLst>
              <a:gd name="adj" fmla="val 3810"/>
            </a:avLst>
          </a:prstGeom>
          <a:solidFill>
            <a:srgbClr val="E8F7F7"/>
          </a:solidFill>
          <a:ln/>
          <a:effectLst>
            <a:outerShdw blurRad="127000" dist="38100" dir="5400000" algn="bl" rotWithShape="0">
              <a:srgbClr val="1B1F3B">
                <a:alpha val="10000"/>
              </a:srgbClr>
            </a:outerShdw>
          </a:effectLst>
        </p:spPr>
        <p:txBody>
          <a:bodyPr/>
          <a:lstStyle/>
          <a:p>
            <a:endParaRPr lang="en-US"/>
          </a:p>
        </p:txBody>
      </p:sp>
      <p:sp>
        <p:nvSpPr>
          <p:cNvPr id="11" name="Shape 9"/>
          <p:cNvSpPr/>
          <p:nvPr/>
        </p:nvSpPr>
        <p:spPr>
          <a:xfrm>
            <a:off x="3493008" y="2468880"/>
            <a:ext cx="512064" cy="512064"/>
          </a:xfrm>
          <a:prstGeom prst="ellipse">
            <a:avLst/>
          </a:prstGeom>
          <a:solidFill>
            <a:srgbClr val="06185F"/>
          </a:solidFill>
          <a:ln/>
        </p:spPr>
        <p:txBody>
          <a:bodyPr/>
          <a:lstStyle/>
          <a:p>
            <a:endParaRPr lang="en-US"/>
          </a:p>
        </p:txBody>
      </p:sp>
      <p:sp>
        <p:nvSpPr>
          <p:cNvPr id="12" name="Shape 10"/>
          <p:cNvSpPr/>
          <p:nvPr/>
        </p:nvSpPr>
        <p:spPr>
          <a:xfrm>
            <a:off x="3641507" y="2617379"/>
            <a:ext cx="215067" cy="215067"/>
          </a:xfrm>
          <a:prstGeom prst="ellipse">
            <a:avLst/>
          </a:prstGeom>
          <a:solidFill>
            <a:srgbClr val="FFFFFF"/>
          </a:solidFill>
          <a:ln/>
        </p:spPr>
        <p:txBody>
          <a:bodyPr/>
          <a:lstStyle/>
          <a:p>
            <a:endParaRPr lang="en-US"/>
          </a:p>
        </p:txBody>
      </p:sp>
      <p:sp>
        <p:nvSpPr>
          <p:cNvPr id="13" name="Text 11"/>
          <p:cNvSpPr/>
          <p:nvPr/>
        </p:nvSpPr>
        <p:spPr>
          <a:xfrm>
            <a:off x="2926080" y="3154680"/>
            <a:ext cx="1645920" cy="685800"/>
          </a:xfrm>
          <a:prstGeom prst="rect">
            <a:avLst/>
          </a:prstGeom>
          <a:noFill/>
          <a:ln/>
        </p:spPr>
        <p:txBody>
          <a:bodyPr wrap="square" lIns="0" tIns="0" rIns="0" bIns="0" rtlCol="0" anchor="ctr"/>
          <a:lstStyle/>
          <a:p>
            <a:pPr marL="0" indent="0" algn="ctr">
              <a:buNone/>
            </a:pPr>
            <a:r>
              <a:rPr lang="en-US" sz="1350" b="1" dirty="0">
                <a:solidFill>
                  <a:srgbClr val="06185F"/>
                </a:solidFill>
                <a:latin typeface="Arial" pitchFamily="34" charset="0"/>
                <a:ea typeface="Arial" pitchFamily="34" charset="-122"/>
                <a:cs typeface="Arial" pitchFamily="34" charset="-120"/>
              </a:rPr>
              <a:t>Digital Engagement</a:t>
            </a:r>
            <a:endParaRPr lang="en-US" sz="1350" dirty="0"/>
          </a:p>
        </p:txBody>
      </p:sp>
      <p:sp>
        <p:nvSpPr>
          <p:cNvPr id="14" name="Text 12"/>
          <p:cNvSpPr/>
          <p:nvPr/>
        </p:nvSpPr>
        <p:spPr>
          <a:xfrm>
            <a:off x="2953512" y="3840480"/>
            <a:ext cx="1591056" cy="1417320"/>
          </a:xfrm>
          <a:prstGeom prst="rect">
            <a:avLst/>
          </a:prstGeom>
          <a:noFill/>
          <a:ln/>
        </p:spPr>
        <p:txBody>
          <a:bodyPr wrap="square" lIns="0" tIns="0" rIns="0" bIns="0" rtlCol="0" anchor="ctr"/>
          <a:lstStyle/>
          <a:p>
            <a:pPr marL="0" indent="0" algn="ctr">
              <a:buNone/>
            </a:pPr>
            <a:r>
              <a:rPr lang="en-US" sz="1050" dirty="0">
                <a:solidFill>
                  <a:srgbClr val="575A5D"/>
                </a:solidFill>
                <a:latin typeface="Calibri" pitchFamily="34" charset="0"/>
                <a:ea typeface="Calibri" pitchFamily="34" charset="-122"/>
                <a:cs typeface="Calibri" pitchFamily="34" charset="-120"/>
              </a:rPr>
              <a:t>Banno logins, feature usage, channel mix, session trends</a:t>
            </a:r>
            <a:endParaRPr lang="en-US" sz="1050" dirty="0"/>
          </a:p>
        </p:txBody>
      </p:sp>
      <p:sp>
        <p:nvSpPr>
          <p:cNvPr id="15" name="Shape 13"/>
          <p:cNvSpPr/>
          <p:nvPr/>
        </p:nvSpPr>
        <p:spPr>
          <a:xfrm>
            <a:off x="4937760" y="2194560"/>
            <a:ext cx="1920240" cy="3200400"/>
          </a:xfrm>
          <a:prstGeom prst="roundRect">
            <a:avLst>
              <a:gd name="adj" fmla="val 3810"/>
            </a:avLst>
          </a:prstGeom>
          <a:solidFill>
            <a:srgbClr val="06185F"/>
          </a:solidFill>
          <a:ln/>
          <a:effectLst>
            <a:outerShdw blurRad="127000" dist="38100" dir="5400000" algn="bl" rotWithShape="0">
              <a:srgbClr val="1B1F3B">
                <a:alpha val="10000"/>
              </a:srgbClr>
            </a:outerShdw>
          </a:effectLst>
        </p:spPr>
        <p:txBody>
          <a:bodyPr/>
          <a:lstStyle/>
          <a:p>
            <a:endParaRPr lang="en-US"/>
          </a:p>
        </p:txBody>
      </p:sp>
      <p:sp>
        <p:nvSpPr>
          <p:cNvPr id="16" name="Shape 14"/>
          <p:cNvSpPr/>
          <p:nvPr/>
        </p:nvSpPr>
        <p:spPr>
          <a:xfrm>
            <a:off x="5641848" y="2468880"/>
            <a:ext cx="512064" cy="512064"/>
          </a:xfrm>
          <a:prstGeom prst="ellipse">
            <a:avLst/>
          </a:prstGeom>
          <a:solidFill>
            <a:srgbClr val="085CE5"/>
          </a:solidFill>
          <a:ln/>
        </p:spPr>
        <p:txBody>
          <a:bodyPr/>
          <a:lstStyle/>
          <a:p>
            <a:endParaRPr lang="en-US"/>
          </a:p>
        </p:txBody>
      </p:sp>
      <p:sp>
        <p:nvSpPr>
          <p:cNvPr id="17" name="Shape 15"/>
          <p:cNvSpPr/>
          <p:nvPr/>
        </p:nvSpPr>
        <p:spPr>
          <a:xfrm>
            <a:off x="5790347" y="2617379"/>
            <a:ext cx="215067" cy="215067"/>
          </a:xfrm>
          <a:prstGeom prst="ellipse">
            <a:avLst/>
          </a:prstGeom>
          <a:solidFill>
            <a:srgbClr val="FFFFFF"/>
          </a:solidFill>
          <a:ln/>
        </p:spPr>
        <p:txBody>
          <a:bodyPr/>
          <a:lstStyle/>
          <a:p>
            <a:endParaRPr lang="en-US"/>
          </a:p>
        </p:txBody>
      </p:sp>
      <p:sp>
        <p:nvSpPr>
          <p:cNvPr id="18" name="Text 16"/>
          <p:cNvSpPr/>
          <p:nvPr/>
        </p:nvSpPr>
        <p:spPr>
          <a:xfrm>
            <a:off x="5074920" y="3154680"/>
            <a:ext cx="1645920" cy="685800"/>
          </a:xfrm>
          <a:prstGeom prst="rect">
            <a:avLst/>
          </a:prstGeom>
          <a:noFill/>
          <a:ln/>
        </p:spPr>
        <p:txBody>
          <a:bodyPr wrap="square" lIns="0" tIns="0" rIns="0" bIns="0" rtlCol="0" anchor="ctr"/>
          <a:lstStyle/>
          <a:p>
            <a:pPr marL="0" indent="0" algn="ctr">
              <a:buNone/>
            </a:pPr>
            <a:r>
              <a:rPr lang="en-US" sz="1350" b="1" dirty="0">
                <a:solidFill>
                  <a:srgbClr val="FFFFFF"/>
                </a:solidFill>
                <a:latin typeface="Arial" pitchFamily="34" charset="0"/>
                <a:ea typeface="Arial" pitchFamily="34" charset="-122"/>
                <a:cs typeface="Arial" pitchFamily="34" charset="-120"/>
              </a:rPr>
              <a:t>Credit &amp; Lending</a:t>
            </a:r>
            <a:endParaRPr lang="en-US" sz="1350" dirty="0"/>
          </a:p>
        </p:txBody>
      </p:sp>
      <p:sp>
        <p:nvSpPr>
          <p:cNvPr id="19" name="Text 17"/>
          <p:cNvSpPr/>
          <p:nvPr/>
        </p:nvSpPr>
        <p:spPr>
          <a:xfrm>
            <a:off x="5102352" y="3840480"/>
            <a:ext cx="1591056" cy="1417320"/>
          </a:xfrm>
          <a:prstGeom prst="rect">
            <a:avLst/>
          </a:prstGeom>
          <a:noFill/>
          <a:ln/>
        </p:spPr>
        <p:txBody>
          <a:bodyPr wrap="square" lIns="0" tIns="0" rIns="0" bIns="0" rtlCol="0" anchor="ctr"/>
          <a:lstStyle/>
          <a:p>
            <a:pPr marL="0" indent="0" algn="ctr">
              <a:buNone/>
            </a:pPr>
            <a:r>
              <a:rPr lang="en-US" sz="1050" dirty="0">
                <a:solidFill>
                  <a:srgbClr val="CADCFC"/>
                </a:solidFill>
                <a:latin typeface="Calibri" pitchFamily="34" charset="0"/>
                <a:ea typeface="Calibri" pitchFamily="34" charset="-122"/>
                <a:cs typeface="Calibri" pitchFamily="34" charset="-120"/>
              </a:rPr>
              <a:t>Utilization, delinquency, loan maturity/renewal events</a:t>
            </a:r>
            <a:endParaRPr lang="en-US" sz="1050" dirty="0"/>
          </a:p>
        </p:txBody>
      </p:sp>
      <p:sp>
        <p:nvSpPr>
          <p:cNvPr id="20" name="Shape 18"/>
          <p:cNvSpPr/>
          <p:nvPr/>
        </p:nvSpPr>
        <p:spPr>
          <a:xfrm>
            <a:off x="7086600" y="2194560"/>
            <a:ext cx="1920240" cy="3200400"/>
          </a:xfrm>
          <a:prstGeom prst="roundRect">
            <a:avLst>
              <a:gd name="adj" fmla="val 3810"/>
            </a:avLst>
          </a:prstGeom>
          <a:solidFill>
            <a:srgbClr val="E8F7F7"/>
          </a:solidFill>
          <a:ln/>
          <a:effectLst>
            <a:outerShdw blurRad="127000" dist="38100" dir="5400000" algn="bl" rotWithShape="0">
              <a:srgbClr val="1B1F3B">
                <a:alpha val="10000"/>
              </a:srgbClr>
            </a:outerShdw>
          </a:effectLst>
        </p:spPr>
        <p:txBody>
          <a:bodyPr/>
          <a:lstStyle/>
          <a:p>
            <a:endParaRPr lang="en-US"/>
          </a:p>
        </p:txBody>
      </p:sp>
      <p:sp>
        <p:nvSpPr>
          <p:cNvPr id="21" name="Shape 19"/>
          <p:cNvSpPr/>
          <p:nvPr/>
        </p:nvSpPr>
        <p:spPr>
          <a:xfrm>
            <a:off x="7790688" y="2468880"/>
            <a:ext cx="512064" cy="512064"/>
          </a:xfrm>
          <a:prstGeom prst="ellipse">
            <a:avLst/>
          </a:prstGeom>
          <a:solidFill>
            <a:srgbClr val="06185F"/>
          </a:solidFill>
          <a:ln/>
        </p:spPr>
        <p:txBody>
          <a:bodyPr/>
          <a:lstStyle/>
          <a:p>
            <a:endParaRPr lang="en-US"/>
          </a:p>
        </p:txBody>
      </p:sp>
      <p:sp>
        <p:nvSpPr>
          <p:cNvPr id="22" name="Shape 20"/>
          <p:cNvSpPr/>
          <p:nvPr/>
        </p:nvSpPr>
        <p:spPr>
          <a:xfrm>
            <a:off x="7939187" y="2617379"/>
            <a:ext cx="215067" cy="215067"/>
          </a:xfrm>
          <a:prstGeom prst="ellipse">
            <a:avLst/>
          </a:prstGeom>
          <a:solidFill>
            <a:srgbClr val="FFFFFF"/>
          </a:solidFill>
          <a:ln/>
        </p:spPr>
        <p:txBody>
          <a:bodyPr/>
          <a:lstStyle/>
          <a:p>
            <a:endParaRPr lang="en-US"/>
          </a:p>
        </p:txBody>
      </p:sp>
      <p:sp>
        <p:nvSpPr>
          <p:cNvPr id="23" name="Text 21"/>
          <p:cNvSpPr/>
          <p:nvPr/>
        </p:nvSpPr>
        <p:spPr>
          <a:xfrm>
            <a:off x="7223760" y="3154680"/>
            <a:ext cx="1645920" cy="685800"/>
          </a:xfrm>
          <a:prstGeom prst="rect">
            <a:avLst/>
          </a:prstGeom>
          <a:noFill/>
          <a:ln/>
        </p:spPr>
        <p:txBody>
          <a:bodyPr wrap="square" lIns="0" tIns="0" rIns="0" bIns="0" rtlCol="0" anchor="ctr"/>
          <a:lstStyle/>
          <a:p>
            <a:pPr marL="0" indent="0" algn="ctr">
              <a:buNone/>
            </a:pPr>
            <a:r>
              <a:rPr lang="en-US" sz="1350" b="1" dirty="0">
                <a:solidFill>
                  <a:srgbClr val="06185F"/>
                </a:solidFill>
                <a:latin typeface="Arial" pitchFamily="34" charset="0"/>
                <a:ea typeface="Arial" pitchFamily="34" charset="-122"/>
                <a:cs typeface="Arial" pitchFamily="34" charset="-120"/>
              </a:rPr>
              <a:t>Service Interactions</a:t>
            </a:r>
            <a:endParaRPr lang="en-US" sz="1350" dirty="0"/>
          </a:p>
        </p:txBody>
      </p:sp>
      <p:sp>
        <p:nvSpPr>
          <p:cNvPr id="24" name="Text 22"/>
          <p:cNvSpPr/>
          <p:nvPr/>
        </p:nvSpPr>
        <p:spPr>
          <a:xfrm>
            <a:off x="7251192" y="3840480"/>
            <a:ext cx="1591056" cy="1417320"/>
          </a:xfrm>
          <a:prstGeom prst="rect">
            <a:avLst/>
          </a:prstGeom>
          <a:noFill/>
          <a:ln/>
        </p:spPr>
        <p:txBody>
          <a:bodyPr wrap="square" lIns="0" tIns="0" rIns="0" bIns="0" rtlCol="0" anchor="ctr"/>
          <a:lstStyle/>
          <a:p>
            <a:pPr marL="0" indent="0" algn="ctr">
              <a:buNone/>
            </a:pPr>
            <a:r>
              <a:rPr lang="en-US" sz="1050" dirty="0">
                <a:solidFill>
                  <a:srgbClr val="575A5D"/>
                </a:solidFill>
                <a:latin typeface="Calibri" pitchFamily="34" charset="0"/>
                <a:ea typeface="Calibri" pitchFamily="34" charset="-122"/>
                <a:cs typeface="Calibri" pitchFamily="34" charset="-120"/>
              </a:rPr>
              <a:t>Call center, complaints, branch visits, chat transcripts</a:t>
            </a:r>
            <a:endParaRPr lang="en-US" sz="1050" dirty="0"/>
          </a:p>
        </p:txBody>
      </p:sp>
      <p:sp>
        <p:nvSpPr>
          <p:cNvPr id="25" name="Shape 23"/>
          <p:cNvSpPr/>
          <p:nvPr/>
        </p:nvSpPr>
        <p:spPr>
          <a:xfrm>
            <a:off x="9235440" y="2194560"/>
            <a:ext cx="1920240" cy="3200400"/>
          </a:xfrm>
          <a:prstGeom prst="roundRect">
            <a:avLst>
              <a:gd name="adj" fmla="val 3810"/>
            </a:avLst>
          </a:prstGeom>
          <a:solidFill>
            <a:srgbClr val="E8F7F7"/>
          </a:solidFill>
          <a:ln/>
          <a:effectLst>
            <a:outerShdw blurRad="127000" dist="38100" dir="5400000" algn="bl" rotWithShape="0">
              <a:srgbClr val="1B1F3B">
                <a:alpha val="10000"/>
              </a:srgbClr>
            </a:outerShdw>
          </a:effectLst>
        </p:spPr>
        <p:txBody>
          <a:bodyPr/>
          <a:lstStyle/>
          <a:p>
            <a:endParaRPr lang="en-US"/>
          </a:p>
        </p:txBody>
      </p:sp>
      <p:sp>
        <p:nvSpPr>
          <p:cNvPr id="26" name="Shape 24"/>
          <p:cNvSpPr/>
          <p:nvPr/>
        </p:nvSpPr>
        <p:spPr>
          <a:xfrm>
            <a:off x="9939528" y="2468880"/>
            <a:ext cx="512064" cy="512064"/>
          </a:xfrm>
          <a:prstGeom prst="ellipse">
            <a:avLst/>
          </a:prstGeom>
          <a:solidFill>
            <a:srgbClr val="06185F"/>
          </a:solidFill>
          <a:ln/>
        </p:spPr>
        <p:txBody>
          <a:bodyPr/>
          <a:lstStyle/>
          <a:p>
            <a:endParaRPr lang="en-US"/>
          </a:p>
        </p:txBody>
      </p:sp>
      <p:sp>
        <p:nvSpPr>
          <p:cNvPr id="27" name="Shape 25"/>
          <p:cNvSpPr/>
          <p:nvPr/>
        </p:nvSpPr>
        <p:spPr>
          <a:xfrm>
            <a:off x="10088027" y="2617379"/>
            <a:ext cx="215067" cy="215067"/>
          </a:xfrm>
          <a:prstGeom prst="ellipse">
            <a:avLst/>
          </a:prstGeom>
          <a:solidFill>
            <a:srgbClr val="FFFFFF"/>
          </a:solidFill>
          <a:ln/>
        </p:spPr>
        <p:txBody>
          <a:bodyPr/>
          <a:lstStyle/>
          <a:p>
            <a:endParaRPr lang="en-US"/>
          </a:p>
        </p:txBody>
      </p:sp>
      <p:sp>
        <p:nvSpPr>
          <p:cNvPr id="28" name="Text 26"/>
          <p:cNvSpPr/>
          <p:nvPr/>
        </p:nvSpPr>
        <p:spPr>
          <a:xfrm>
            <a:off x="9372600" y="3154680"/>
            <a:ext cx="1645920" cy="685800"/>
          </a:xfrm>
          <a:prstGeom prst="rect">
            <a:avLst/>
          </a:prstGeom>
          <a:noFill/>
          <a:ln/>
        </p:spPr>
        <p:txBody>
          <a:bodyPr wrap="square" lIns="0" tIns="0" rIns="0" bIns="0" rtlCol="0" anchor="ctr"/>
          <a:lstStyle/>
          <a:p>
            <a:pPr marL="0" indent="0" algn="ctr">
              <a:buNone/>
            </a:pPr>
            <a:r>
              <a:rPr lang="en-US" sz="1350" b="1" dirty="0">
                <a:solidFill>
                  <a:srgbClr val="06185F"/>
                </a:solidFill>
                <a:latin typeface="Arial" pitchFamily="34" charset="0"/>
                <a:ea typeface="Arial" pitchFamily="34" charset="-122"/>
                <a:cs typeface="Arial" pitchFamily="34" charset="-120"/>
              </a:rPr>
              <a:t>External Context</a:t>
            </a:r>
            <a:endParaRPr lang="en-US" sz="1350" dirty="0"/>
          </a:p>
        </p:txBody>
      </p:sp>
      <p:sp>
        <p:nvSpPr>
          <p:cNvPr id="29" name="Text 27"/>
          <p:cNvSpPr/>
          <p:nvPr/>
        </p:nvSpPr>
        <p:spPr>
          <a:xfrm>
            <a:off x="9400032" y="3840480"/>
            <a:ext cx="1591056" cy="1417320"/>
          </a:xfrm>
          <a:prstGeom prst="rect">
            <a:avLst/>
          </a:prstGeom>
          <a:noFill/>
          <a:ln/>
        </p:spPr>
        <p:txBody>
          <a:bodyPr wrap="square" lIns="0" tIns="0" rIns="0" bIns="0" rtlCol="0" anchor="ctr"/>
          <a:lstStyle/>
          <a:p>
            <a:pPr marL="0" indent="0" algn="ctr">
              <a:buNone/>
            </a:pPr>
            <a:r>
              <a:rPr lang="en-US" sz="1050" dirty="0">
                <a:solidFill>
                  <a:srgbClr val="575A5D"/>
                </a:solidFill>
                <a:latin typeface="Calibri" pitchFamily="34" charset="0"/>
                <a:ea typeface="Calibri" pitchFamily="34" charset="-122"/>
                <a:cs typeface="Calibri" pitchFamily="34" charset="-120"/>
              </a:rPr>
              <a:t>Life-stage &amp; geographic signals, local market/rate moves</a:t>
            </a:r>
            <a:endParaRPr lang="en-US" sz="1050" dirty="0"/>
          </a:p>
        </p:txBody>
      </p:sp>
      <p:sp>
        <p:nvSpPr>
          <p:cNvPr id="30" name="Text 28"/>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900" dirty="0">
                <a:solidFill>
                  <a:srgbClr val="B6BBC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Explore">
    <p:bg>
      <p:bgPr>
        <a:solidFill>
          <a:srgbClr val="FFFFFF"/>
        </a:solidFill>
        <a:effectLst/>
      </p:bgPr>
    </p:bg>
    <p:spTree>
      <p:nvGrpSpPr>
        <p:cNvPr id="1" name=""/>
        <p:cNvGrpSpPr/>
        <p:nvPr/>
      </p:nvGrpSpPr>
      <p:grpSpPr>
        <a:xfrm>
          <a:off x="0" y="0"/>
          <a:ext cx="0" cy="0"/>
          <a:chOff x="0" y="0"/>
          <a:chExt cx="0" cy="0"/>
        </a:xfrm>
      </p:grpSpPr>
      <p:sp>
        <p:nvSpPr>
          <p:cNvPr id="2" name="Eyebrow"/>
          <p:cNvSpPr/>
          <p:nvPr/>
        </p:nvSpPr>
        <p:spPr>
          <a:xfrm>
            <a:off x="640080" y="502920"/>
            <a:ext cx="10000000" cy="320040"/>
          </a:xfrm>
          <a:prstGeom prst="rect">
            <a:avLst/>
          </a:prstGeom>
          <a:noFill/>
          <a:ln/>
        </p:spPr>
        <p:txBody>
          <a:bodyPr wrap="square" lIns="0" tIns="0" rIns="0" bIns="0" rtlCol="0" anchor="ctr"/>
          <a:lstStyle/>
          <a:p>
            <a:pPr marL="0" indent="0" algn="l">
              <a:buNone/>
            </a:pPr>
            <a:r>
              <a:rPr lang="en-US" sz="1200" b="1" dirty="0">
                <a:solidFill>
                  <a:srgbClr val="085CE5"/>
                </a:solidFill>
                <a:latin typeface="Calibri" pitchFamily="34" charset="0"/>
                <a:ea typeface="Calibri" pitchFamily="34" charset="-122"/>
                <a:cs typeface="Calibri" pitchFamily="34" charset="-120"/>
              </a:rPr>
              <a:t>STEP 2 — EXPLORE</a:t>
            </a:r>
            <a:endParaRPr lang="en-US" sz="1200" dirty="0"/>
          </a:p>
        </p:txBody>
      </p:sp>
      <p:sp>
        <p:nvSpPr>
          <p:cNvPr id="3" name="Title"/>
          <p:cNvSpPr/>
          <p:nvPr/>
        </p:nvSpPr>
        <p:spPr>
          <a:xfrm>
            <a:off x="640080" y="822960"/>
            <a:ext cx="10515600" cy="640000"/>
          </a:xfrm>
          <a:prstGeom prst="rect">
            <a:avLst/>
          </a:prstGeom>
          <a:noFill/>
          <a:ln/>
        </p:spPr>
        <p:txBody>
          <a:bodyPr wrap="square" lIns="0" tIns="0" rIns="0" bIns="0" rtlCol="0" anchor="ctr"/>
          <a:lstStyle/>
          <a:p>
            <a:pPr marL="0" indent="0" algn="l">
              <a:buNone/>
            </a:pPr>
            <a:r>
              <a:rPr lang="en-US" sz="2800" b="1" dirty="0">
                <a:solidFill>
                  <a:srgbClr val="06185F"/>
                </a:solidFill>
                <a:latin typeface="Arial" pitchFamily="34" charset="0"/>
                <a:ea typeface="Arial" pitchFamily="34" charset="-122"/>
                <a:cs typeface="Arial" pitchFamily="34" charset="-120"/>
              </a:rPr>
              <a:t>What the data actually looks like</a:t>
            </a:r>
            <a:endParaRPr lang="en-US" sz="2800" dirty="0"/>
          </a:p>
        </p:txBody>
      </p:sp>
      <p:sp>
        <p:nvSpPr>
          <p:cNvPr id="4" name="Sub"/>
          <p:cNvSpPr/>
          <p:nvPr/>
        </p:nvSpPr>
        <p:spPr>
          <a:xfrm>
            <a:off x="640080" y="1450000"/>
            <a:ext cx="10515600" cy="300000"/>
          </a:xfrm>
          <a:prstGeom prst="rect">
            <a:avLst/>
          </a:prstGeom>
          <a:noFill/>
          <a:ln/>
        </p:spPr>
        <p:txBody>
          <a:bodyPr wrap="square" lIns="0" tIns="0" rIns="0" bIns="0" rtlCol="0" anchor="ctr"/>
          <a:lstStyle/>
          <a:p>
            <a:pPr marL="0" indent="0" algn="l">
              <a:buNone/>
            </a:pPr>
            <a:r>
              <a:rPr lang="en-US" sz="1250" i="1" dirty="0">
                <a:solidFill>
                  <a:srgbClr val="575A5D"/>
                </a:solidFill>
                <a:latin typeface="Calibri" pitchFamily="34" charset="0"/>
                <a:ea typeface="Calibri" pitchFamily="34" charset="-122"/>
                <a:cs typeface="Calibri" pitchFamily="34" charset="-120"/>
              </a:rPr>
              <a:t>6,900 synthetic households, modeled on real community-FI behavior patterns</a:t>
            </a:r>
            <a:endParaRPr lang="en-US" sz="1250" dirty="0"/>
          </a:p>
        </p:txBody>
      </p:sp>
      <p:pic>
        <p:nvPicPr>
          <p:cNvPr id="5" name="ClassBalance"/>
          <p:cNvPicPr>
            <a:picLocks noChangeAspect="1"/>
          </p:cNvPicPr>
          <p:nvPr/>
        </p:nvPicPr>
        <p:blipFill>
          <a:blip r:embed="rId2"/>
          <a:stretch>
            <a:fillRect/>
          </a:stretch>
        </p:blipFill>
        <p:spPr>
          <a:xfrm>
            <a:off x="640080" y="1850000"/>
            <a:ext cx="4511111" cy="2900000"/>
          </a:xfrm>
          <a:prstGeom prst="rect">
            <a:avLst/>
          </a:prstGeom>
        </p:spPr>
      </p:pic>
      <p:pic>
        <p:nvPicPr>
          <p:cNvPr id="6" name="TenureDist"/>
          <p:cNvPicPr>
            <a:picLocks noChangeAspect="1"/>
          </p:cNvPicPr>
          <p:nvPr/>
        </p:nvPicPr>
        <p:blipFill>
          <a:blip r:embed="rId3"/>
          <a:stretch>
            <a:fillRect/>
          </a:stretch>
        </p:blipFill>
        <p:spPr>
          <a:xfrm>
            <a:off x="5451191" y="1850000"/>
            <a:ext cx="4511111" cy="2900000"/>
          </a:xfrm>
          <a:prstGeom prst="rect">
            <a:avLst/>
          </a:prstGeom>
        </p:spPr>
      </p:pic>
      <p:sp>
        <p:nvSpPr>
          <p:cNvPr id="7" name="Card"/>
          <p:cNvSpPr/>
          <p:nvPr/>
        </p:nvSpPr>
        <p:spPr>
          <a:xfrm>
            <a:off x="640080" y="5010000"/>
            <a:ext cx="10515600" cy="900000"/>
          </a:xfrm>
          <a:prstGeom prst="roundRect">
            <a:avLst>
              <a:gd name="adj" fmla="val 1818"/>
            </a:avLst>
          </a:prstGeom>
          <a:solidFill>
            <a:srgbClr val="E8F7F7"/>
          </a:solidFill>
          <a:ln/>
          <a:effectLst>
            <a:outerShdw blurRad="127000" dist="38100" dir="5400000" algn="bl" rotWithShape="0">
              <a:srgbClr val="1B1F3B">
                <a:alpha val="10000"/>
              </a:srgbClr>
            </a:outerShdw>
          </a:effectLst>
        </p:spPr>
        <p:txBody>
          <a:bodyPr/>
          <a:lstStyle/>
          <a:p>
            <a:endParaRPr lang="en-US"/>
          </a:p>
        </p:txBody>
      </p:sp>
      <p:sp>
        <p:nvSpPr>
          <p:cNvPr id="8" name="CardText"/>
          <p:cNvSpPr/>
          <p:nvPr/>
        </p:nvSpPr>
        <p:spPr>
          <a:xfrm>
            <a:off x="914400" y="5130000"/>
            <a:ext cx="9966960" cy="660000"/>
          </a:xfrm>
          <a:prstGeom prst="rect">
            <a:avLst/>
          </a:prstGeom>
          <a:noFill/>
          <a:ln/>
        </p:spPr>
        <p:txBody>
          <a:bodyPr wrap="square" lIns="0" tIns="0" rIns="0" bIns="0" rtlCol="0" anchor="ctr"/>
          <a:lstStyle/>
          <a:p>
            <a:pPr marL="0" indent="0" algn="l">
              <a:buNone/>
            </a:pPr>
            <a:r>
              <a:rPr lang="en-US" sz="1150" dirty="0">
                <a:solidFill>
                  <a:srgbClr val="06185F"/>
                </a:solidFill>
                <a:latin typeface="Calibri" pitchFamily="34" charset="0"/>
                <a:ea typeface="Calibri" pitchFamily="34" charset="-122"/>
                <a:cs typeface="Calibri" pitchFamily="34" charset="-120"/>
              </a:rPr>
              <a:t>What jumps out: churners skew toward shorter tenure, lower product counts, and a negative recent balance trend — exactly the signals a relationship manager already watches for informally. The model's job is to watch all of them, continuously, across every household at once.</a:t>
            </a:r>
            <a:endParaRPr lang="en-US" sz="1150" dirty="0"/>
          </a:p>
        </p:txBody>
      </p:sp>
      <p:sp>
        <p:nvSpPr>
          <p:cNvPr id="9" name="Closing"/>
          <p:cNvSpPr/>
          <p:nvPr/>
        </p:nvSpPr>
        <p:spPr>
          <a:xfrm>
            <a:off x="640080" y="6130000"/>
            <a:ext cx="10515600" cy="460000"/>
          </a:xfrm>
          <a:prstGeom prst="rect">
            <a:avLst/>
          </a:prstGeom>
          <a:noFill/>
          <a:ln/>
        </p:spPr>
        <p:txBody>
          <a:bodyPr wrap="square" lIns="0" tIns="0" rIns="0" bIns="0" rtlCol="0" anchor="ctr"/>
          <a:lstStyle/>
          <a:p>
            <a:pPr marL="0" indent="0" algn="l">
              <a:buNone/>
            </a:pPr>
            <a:r>
              <a:rPr lang="en-US" sz="1200" i="1" dirty="0">
                <a:solidFill>
                  <a:srgbClr val="575A5D"/>
                </a:solidFill>
                <a:latin typeface="Calibri" pitchFamily="34" charset="0"/>
                <a:ea typeface="Calibri" pitchFamily="34" charset="-122"/>
                <a:cs typeface="Calibri" pitchFamily="34" charset="-120"/>
              </a:rPr>
              <a:t>This is real output from a GradientBoosting model trained on synthetic data built to mirror community-FI behavior — illustrative, not production figures.</a:t>
            </a:r>
            <a:endParaRPr lang="en-US" sz="1200" dirty="0"/>
          </a:p>
        </p:txBody>
      </p:sp>
      <p:sp>
        <p:nvSpPr>
          <p:cNvPr id="10" name="PageNum"/>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900" dirty="0">
                <a:solidFill>
                  <a:srgbClr val="B6BBC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ample">
    <p:bg>
      <p:bgPr>
        <a:solidFill>
          <a:srgbClr val="FFFFFF"/>
        </a:solidFill>
        <a:effectLst/>
      </p:bgPr>
    </p:bg>
    <p:spTree>
      <p:nvGrpSpPr>
        <p:cNvPr id="1" name=""/>
        <p:cNvGrpSpPr/>
        <p:nvPr/>
      </p:nvGrpSpPr>
      <p:grpSpPr>
        <a:xfrm>
          <a:off x="0" y="0"/>
          <a:ext cx="0" cy="0"/>
          <a:chOff x="0" y="0"/>
          <a:chExt cx="0" cy="0"/>
        </a:xfrm>
      </p:grpSpPr>
      <p:sp>
        <p:nvSpPr>
          <p:cNvPr id="2" name="Eyebrow"/>
          <p:cNvSpPr/>
          <p:nvPr/>
        </p:nvSpPr>
        <p:spPr>
          <a:xfrm>
            <a:off x="640080" y="502920"/>
            <a:ext cx="10000000" cy="320040"/>
          </a:xfrm>
          <a:prstGeom prst="rect">
            <a:avLst/>
          </a:prstGeom>
          <a:noFill/>
          <a:ln/>
        </p:spPr>
        <p:txBody>
          <a:bodyPr wrap="square" lIns="0" tIns="0" rIns="0" bIns="0" rtlCol="0" anchor="ctr"/>
          <a:lstStyle/>
          <a:p>
            <a:pPr marL="0" indent="0" algn="l">
              <a:buNone/>
            </a:pPr>
            <a:r>
              <a:rPr lang="en-US" sz="1200" b="1" dirty="0">
                <a:solidFill>
                  <a:srgbClr val="085CE5"/>
                </a:solidFill>
                <a:latin typeface="Calibri" pitchFamily="34" charset="0"/>
                <a:ea typeface="Calibri" pitchFamily="34" charset="-122"/>
                <a:cs typeface="Calibri" pitchFamily="34" charset="-120"/>
              </a:rPr>
              <a:t>STEP 3 — SAMPLE</a:t>
            </a:r>
            <a:endParaRPr lang="en-US" sz="1200" dirty="0"/>
          </a:p>
        </p:txBody>
      </p:sp>
      <p:sp>
        <p:nvSpPr>
          <p:cNvPr id="3" name="Title"/>
          <p:cNvSpPr/>
          <p:nvPr/>
        </p:nvSpPr>
        <p:spPr>
          <a:xfrm>
            <a:off x="640080" y="822960"/>
            <a:ext cx="10515600" cy="640000"/>
          </a:xfrm>
          <a:prstGeom prst="rect">
            <a:avLst/>
          </a:prstGeom>
          <a:noFill/>
          <a:ln/>
        </p:spPr>
        <p:txBody>
          <a:bodyPr wrap="square" lIns="0" tIns="0" rIns="0" bIns="0" rtlCol="0" anchor="ctr"/>
          <a:lstStyle/>
          <a:p>
            <a:pPr marL="0" indent="0" algn="l">
              <a:buNone/>
            </a:pPr>
            <a:r>
              <a:rPr lang="en-US" sz="2800" b="1" dirty="0">
                <a:solidFill>
                  <a:srgbClr val="06185F"/>
                </a:solidFill>
                <a:latin typeface="Arial" pitchFamily="34" charset="0"/>
                <a:ea typeface="Arial" pitchFamily="34" charset="-122"/>
                <a:cs typeface="Arial" pitchFamily="34" charset="-120"/>
              </a:rPr>
              <a:t>Splitting the data without cheating</a:t>
            </a:r>
            <a:endParaRPr lang="en-US" sz="2800" dirty="0"/>
          </a:p>
        </p:txBody>
      </p:sp>
      <p:pic>
        <p:nvPicPr>
          <p:cNvPr id="4" name="SampleSplit"/>
          <p:cNvPicPr>
            <a:picLocks noChangeAspect="1"/>
          </p:cNvPicPr>
          <p:nvPr/>
        </p:nvPicPr>
        <p:blipFill>
          <a:blip r:embed="rId2"/>
          <a:stretch>
            <a:fillRect/>
          </a:stretch>
        </p:blipFill>
        <p:spPr>
          <a:xfrm>
            <a:off x="640080" y="1500000"/>
            <a:ext cx="5288888" cy="3400000"/>
          </a:xfrm>
          <a:prstGeom prst="rect">
            <a:avLst/>
          </a:prstGeom>
        </p:spPr>
      </p:pic>
      <p:sp>
        <p:nvSpPr>
          <p:cNvPr id="5" name="RowNum0"/>
          <p:cNvSpPr/>
          <p:nvPr/>
        </p:nvSpPr>
        <p:spPr>
          <a:xfrm>
            <a:off x="6248968" y="1500000"/>
            <a:ext cx="300000" cy="300000"/>
          </a:xfrm>
          <a:prstGeom prst="rect">
            <a:avLst/>
          </a:prstGeom>
          <a:noFill/>
          <a:ln/>
        </p:spPr>
        <p:txBody>
          <a:bodyPr wrap="square" lIns="0" tIns="0" rIns="0" bIns="0" rtlCol="0" anchor="ctr"/>
          <a:lstStyle/>
          <a:p>
            <a:pPr marL="0" indent="0" algn="l">
              <a:buNone/>
            </a:pPr>
            <a:r>
              <a:rPr lang="en-US" sz="1400" b="1" dirty="0">
                <a:solidFill>
                  <a:srgbClr val="085CE5"/>
                </a:solidFill>
                <a:latin typeface="Arial" pitchFamily="34" charset="0"/>
                <a:ea typeface="Arial" pitchFamily="34" charset="-122"/>
                <a:cs typeface="Arial" pitchFamily="34" charset="-120"/>
              </a:rPr>
              <a:t>1</a:t>
            </a:r>
            <a:endParaRPr lang="en-US" sz="1400" dirty="0"/>
          </a:p>
        </p:txBody>
      </p:sp>
      <p:sp>
        <p:nvSpPr>
          <p:cNvPr id="6" name="RowH0"/>
          <p:cNvSpPr/>
          <p:nvPr/>
        </p:nvSpPr>
        <p:spPr>
          <a:xfrm>
            <a:off x="6588968" y="1510000"/>
            <a:ext cx="4566712" cy="300000"/>
          </a:xfrm>
          <a:prstGeom prst="rect">
            <a:avLst/>
          </a:prstGeom>
          <a:noFill/>
          <a:ln/>
        </p:spPr>
        <p:txBody>
          <a:bodyPr wrap="square" lIns="0" tIns="0" rIns="0" bIns="0" rtlCol="0" anchor="ctr"/>
          <a:lstStyle/>
          <a:p>
            <a:pPr marL="0" indent="0" algn="l">
              <a:buNone/>
            </a:pPr>
            <a:r>
              <a:rPr lang="en-US" sz="1300" b="1" dirty="0">
                <a:solidFill>
                  <a:srgbClr val="06185F"/>
                </a:solidFill>
                <a:latin typeface="Arial" pitchFamily="34" charset="0"/>
                <a:ea typeface="Arial" pitchFamily="34" charset="-122"/>
                <a:cs typeface="Arial" pitchFamily="34" charset="-120"/>
              </a:rPr>
              <a:t>Stratified, not random</a:t>
            </a:r>
            <a:endParaRPr lang="en-US" sz="1300" dirty="0"/>
          </a:p>
        </p:txBody>
      </p:sp>
      <p:sp>
        <p:nvSpPr>
          <p:cNvPr id="7" name="RowD0"/>
          <p:cNvSpPr/>
          <p:nvPr/>
        </p:nvSpPr>
        <p:spPr>
          <a:xfrm>
            <a:off x="6588968" y="1830000"/>
            <a:ext cx="4566712" cy="650000"/>
          </a:xfrm>
          <a:prstGeom prst="rect">
            <a:avLst/>
          </a:prstGeom>
          <a:noFill/>
          <a:ln/>
        </p:spPr>
        <p:txBody>
          <a:bodyPr wrap="square" lIns="0" tIns="0" rIns="0" bIns="0" rtlCol="0" anchor="ctr"/>
          <a:lstStyle/>
          <a:p>
            <a:pPr marL="0" indent="0" algn="l">
              <a:buNone/>
            </a:pPr>
            <a:r>
              <a:rPr lang="en-US" sz="1100" dirty="0">
                <a:solidFill>
                  <a:srgbClr val="575A5D"/>
                </a:solidFill>
                <a:latin typeface="Calibri" pitchFamily="34" charset="0"/>
                <a:ea typeface="Calibri" pitchFamily="34" charset="-122"/>
                <a:cs typeface="Calibri" pitchFamily="34" charset="-120"/>
              </a:rPr>
              <a:t>Splitting on a coin flip can leave the test set with almost no churners at a 5-10% base rate — stratification keeps both sets representative.</a:t>
            </a:r>
            <a:endParaRPr lang="en-US" sz="1100" dirty="0"/>
          </a:p>
        </p:txBody>
      </p:sp>
      <p:sp>
        <p:nvSpPr>
          <p:cNvPr id="8" name="RowNum1"/>
          <p:cNvSpPr/>
          <p:nvPr/>
        </p:nvSpPr>
        <p:spPr>
          <a:xfrm>
            <a:off x="6248968" y="2540000"/>
            <a:ext cx="300000" cy="300000"/>
          </a:xfrm>
          <a:prstGeom prst="rect">
            <a:avLst/>
          </a:prstGeom>
          <a:noFill/>
          <a:ln/>
        </p:spPr>
        <p:txBody>
          <a:bodyPr wrap="square" lIns="0" tIns="0" rIns="0" bIns="0" rtlCol="0" anchor="ctr"/>
          <a:lstStyle/>
          <a:p>
            <a:pPr marL="0" indent="0" algn="l">
              <a:buNone/>
            </a:pPr>
            <a:r>
              <a:rPr lang="en-US" sz="1400" b="1" dirty="0">
                <a:solidFill>
                  <a:srgbClr val="085CE5"/>
                </a:solidFill>
                <a:latin typeface="Arial" pitchFamily="34" charset="0"/>
                <a:ea typeface="Arial" pitchFamily="34" charset="-122"/>
                <a:cs typeface="Arial" pitchFamily="34" charset="-120"/>
              </a:rPr>
              <a:t>2</a:t>
            </a:r>
            <a:endParaRPr lang="en-US" sz="1400" dirty="0"/>
          </a:p>
        </p:txBody>
      </p:sp>
      <p:sp>
        <p:nvSpPr>
          <p:cNvPr id="9" name="RowH1"/>
          <p:cNvSpPr/>
          <p:nvPr/>
        </p:nvSpPr>
        <p:spPr>
          <a:xfrm>
            <a:off x="6588968" y="2550000"/>
            <a:ext cx="4566712" cy="300000"/>
          </a:xfrm>
          <a:prstGeom prst="rect">
            <a:avLst/>
          </a:prstGeom>
          <a:noFill/>
          <a:ln/>
        </p:spPr>
        <p:txBody>
          <a:bodyPr wrap="square" lIns="0" tIns="0" rIns="0" bIns="0" rtlCol="0" anchor="ctr"/>
          <a:lstStyle/>
          <a:p>
            <a:pPr marL="0" indent="0" algn="l">
              <a:buNone/>
            </a:pPr>
            <a:r>
              <a:rPr lang="en-US" sz="1300" b="1" dirty="0">
                <a:solidFill>
                  <a:srgbClr val="06185F"/>
                </a:solidFill>
                <a:latin typeface="Arial" pitchFamily="34" charset="0"/>
                <a:ea typeface="Arial" pitchFamily="34" charset="-122"/>
                <a:cs typeface="Arial" pitchFamily="34" charset="-120"/>
              </a:rPr>
              <a:t>Time-aware where it matters</a:t>
            </a:r>
            <a:endParaRPr lang="en-US" sz="1300" dirty="0"/>
          </a:p>
        </p:txBody>
      </p:sp>
      <p:sp>
        <p:nvSpPr>
          <p:cNvPr id="10" name="RowD1"/>
          <p:cNvSpPr/>
          <p:nvPr/>
        </p:nvSpPr>
        <p:spPr>
          <a:xfrm>
            <a:off x="6588968" y="2870000"/>
            <a:ext cx="4566712" cy="650000"/>
          </a:xfrm>
          <a:prstGeom prst="rect">
            <a:avLst/>
          </a:prstGeom>
          <a:noFill/>
          <a:ln/>
        </p:spPr>
        <p:txBody>
          <a:bodyPr wrap="square" lIns="0" tIns="0" rIns="0" bIns="0" rtlCol="0" anchor="ctr"/>
          <a:lstStyle/>
          <a:p>
            <a:pPr marL="0" indent="0" algn="l">
              <a:buNone/>
            </a:pPr>
            <a:r>
              <a:rPr lang="en-US" sz="1100" dirty="0">
                <a:solidFill>
                  <a:srgbClr val="575A5D"/>
                </a:solidFill>
                <a:latin typeface="Calibri" pitchFamily="34" charset="0"/>
                <a:ea typeface="Calibri" pitchFamily="34" charset="-122"/>
                <a:cs typeface="Calibri" pitchFamily="34" charset="-120"/>
              </a:rPr>
              <a:t>Features are built only from information available before the observation window, so the model never trains on the future.</a:t>
            </a:r>
            <a:endParaRPr lang="en-US" sz="1100" dirty="0"/>
          </a:p>
        </p:txBody>
      </p:sp>
      <p:sp>
        <p:nvSpPr>
          <p:cNvPr id="11" name="RowNum2"/>
          <p:cNvSpPr/>
          <p:nvPr/>
        </p:nvSpPr>
        <p:spPr>
          <a:xfrm>
            <a:off x="6248968" y="3580000"/>
            <a:ext cx="300000" cy="300000"/>
          </a:xfrm>
          <a:prstGeom prst="rect">
            <a:avLst/>
          </a:prstGeom>
          <a:noFill/>
          <a:ln/>
        </p:spPr>
        <p:txBody>
          <a:bodyPr wrap="square" lIns="0" tIns="0" rIns="0" bIns="0" rtlCol="0" anchor="ctr"/>
          <a:lstStyle/>
          <a:p>
            <a:pPr marL="0" indent="0" algn="l">
              <a:buNone/>
            </a:pPr>
            <a:r>
              <a:rPr lang="en-US" sz="1400" b="1" dirty="0">
                <a:solidFill>
                  <a:srgbClr val="085CE5"/>
                </a:solidFill>
                <a:latin typeface="Arial" pitchFamily="34" charset="0"/>
                <a:ea typeface="Arial" pitchFamily="34" charset="-122"/>
                <a:cs typeface="Arial" pitchFamily="34" charset="-120"/>
              </a:rPr>
              <a:t>3</a:t>
            </a:r>
            <a:endParaRPr lang="en-US" sz="1400" dirty="0"/>
          </a:p>
        </p:txBody>
      </p:sp>
      <p:sp>
        <p:nvSpPr>
          <p:cNvPr id="12" name="RowH2"/>
          <p:cNvSpPr/>
          <p:nvPr/>
        </p:nvSpPr>
        <p:spPr>
          <a:xfrm>
            <a:off x="6588968" y="3590000"/>
            <a:ext cx="4566712" cy="300000"/>
          </a:xfrm>
          <a:prstGeom prst="rect">
            <a:avLst/>
          </a:prstGeom>
          <a:noFill/>
          <a:ln/>
        </p:spPr>
        <p:txBody>
          <a:bodyPr wrap="square" lIns="0" tIns="0" rIns="0" bIns="0" rtlCol="0" anchor="ctr"/>
          <a:lstStyle/>
          <a:p>
            <a:pPr marL="0" indent="0" algn="l">
              <a:buNone/>
            </a:pPr>
            <a:r>
              <a:rPr lang="en-US" sz="1300" b="1" dirty="0">
                <a:solidFill>
                  <a:srgbClr val="06185F"/>
                </a:solidFill>
                <a:latin typeface="Arial" pitchFamily="34" charset="0"/>
                <a:ea typeface="Arial" pitchFamily="34" charset="-122"/>
                <a:cs typeface="Arial" pitchFamily="34" charset="-120"/>
              </a:rPr>
              <a:t>Held-out means held out</a:t>
            </a:r>
            <a:endParaRPr lang="en-US" sz="1300" dirty="0"/>
          </a:p>
        </p:txBody>
      </p:sp>
      <p:sp>
        <p:nvSpPr>
          <p:cNvPr id="13" name="RowD2"/>
          <p:cNvSpPr/>
          <p:nvPr/>
        </p:nvSpPr>
        <p:spPr>
          <a:xfrm>
            <a:off x="6588968" y="3910000"/>
            <a:ext cx="4566712" cy="650000"/>
          </a:xfrm>
          <a:prstGeom prst="rect">
            <a:avLst/>
          </a:prstGeom>
          <a:noFill/>
          <a:ln/>
        </p:spPr>
        <p:txBody>
          <a:bodyPr wrap="square" lIns="0" tIns="0" rIns="0" bIns="0" rtlCol="0" anchor="ctr"/>
          <a:lstStyle/>
          <a:p>
            <a:pPr marL="0" indent="0" algn="l">
              <a:buNone/>
            </a:pPr>
            <a:r>
              <a:rPr lang="en-US" sz="1100" dirty="0">
                <a:solidFill>
                  <a:srgbClr val="575A5D"/>
                </a:solidFill>
                <a:latin typeface="Calibri" pitchFamily="34" charset="0"/>
                <a:ea typeface="Calibri" pitchFamily="34" charset="-122"/>
                <a:cs typeface="Calibri" pitchFamily="34" charset="-120"/>
              </a:rPr>
              <a:t>The test set is never touched during feature selection or tuning — every metric on the next few slides comes from data the model has not seen.</a:t>
            </a:r>
            <a:endParaRPr lang="en-US" sz="1100" dirty="0"/>
          </a:p>
        </p:txBody>
      </p:sp>
      <p:sp>
        <p:nvSpPr>
          <p:cNvPr id="14" name="Closing"/>
          <p:cNvSpPr/>
          <p:nvPr/>
        </p:nvSpPr>
        <p:spPr>
          <a:xfrm>
            <a:off x="640080" y="5150000"/>
            <a:ext cx="10515600" cy="460000"/>
          </a:xfrm>
          <a:prstGeom prst="rect">
            <a:avLst/>
          </a:prstGeom>
          <a:noFill/>
          <a:ln/>
        </p:spPr>
        <p:txBody>
          <a:bodyPr wrap="square" lIns="0" tIns="0" rIns="0" bIns="0" rtlCol="0" anchor="ctr"/>
          <a:lstStyle/>
          <a:p>
            <a:pPr marL="0" indent="0" algn="l">
              <a:buNone/>
            </a:pPr>
            <a:r>
              <a:rPr lang="en-US" sz="1200" i="1" dirty="0">
                <a:solidFill>
                  <a:srgbClr val="575A5D"/>
                </a:solidFill>
                <a:latin typeface="Calibri" pitchFamily="34" charset="0"/>
                <a:ea typeface="Calibri" pitchFamily="34" charset="-122"/>
                <a:cs typeface="Calibri" pitchFamily="34" charset="-120"/>
              </a:rPr>
              <a:t>5,175 households train the model; 1,725 never seen during training grade every metric that follows.</a:t>
            </a:r>
            <a:endParaRPr lang="en-US" sz="1200" dirty="0"/>
          </a:p>
        </p:txBody>
      </p:sp>
      <p:sp>
        <p:nvSpPr>
          <p:cNvPr id="15" name="PageNum"/>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900" dirty="0">
                <a:solidFill>
                  <a:srgbClr val="B6BBC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5486400" cy="320040"/>
          </a:xfrm>
          <a:prstGeom prst="rect">
            <a:avLst/>
          </a:prstGeom>
          <a:noFill/>
          <a:ln/>
        </p:spPr>
        <p:txBody>
          <a:bodyPr wrap="square" lIns="0" tIns="0" rIns="0" bIns="0" rtlCol="0" anchor="ctr"/>
          <a:lstStyle/>
          <a:p>
            <a:pPr marL="0" indent="0" algn="l">
              <a:buNone/>
            </a:pPr>
            <a:r>
              <a:rPr lang="en-US" sz="1200" b="1" kern="0" spc="200" dirty="0">
                <a:solidFill>
                  <a:srgbClr val="085CE5"/>
                </a:solidFill>
                <a:latin typeface="Calibri" pitchFamily="34" charset="0"/>
                <a:ea typeface="Calibri" pitchFamily="34" charset="-122"/>
                <a:cs typeface="Calibri" pitchFamily="34" charset="-120"/>
              </a:rPr>
              <a:t>THE ML APPROACH</a:t>
            </a:r>
            <a:endParaRPr lang="en-US" sz="1200" dirty="0"/>
          </a:p>
        </p:txBody>
      </p:sp>
      <p:sp>
        <p:nvSpPr>
          <p:cNvPr id="3" name="Text 1"/>
          <p:cNvSpPr/>
          <p:nvPr/>
        </p:nvSpPr>
        <p:spPr>
          <a:xfrm>
            <a:off x="640080" y="822960"/>
            <a:ext cx="10515600" cy="731520"/>
          </a:xfrm>
          <a:prstGeom prst="rect">
            <a:avLst/>
          </a:prstGeom>
          <a:noFill/>
          <a:ln/>
        </p:spPr>
        <p:txBody>
          <a:bodyPr wrap="square" lIns="0" tIns="0" rIns="0" bIns="0" rtlCol="0" anchor="ctr"/>
          <a:lstStyle/>
          <a:p>
            <a:pPr marL="0" indent="0">
              <a:buNone/>
            </a:pPr>
            <a:r>
              <a:rPr lang="en-US" sz="2800" b="1" dirty="0">
                <a:solidFill>
                  <a:srgbClr val="06185F"/>
                </a:solidFill>
                <a:latin typeface="Arial" pitchFamily="34" charset="0"/>
                <a:ea typeface="Arial" pitchFamily="34" charset="-122"/>
                <a:cs typeface="Arial" pitchFamily="34" charset="-120"/>
              </a:rPr>
              <a:t>From raw data to a monthly risk tier</a:t>
            </a:r>
            <a:endParaRPr lang="en-US" sz="2800" dirty="0"/>
          </a:p>
        </p:txBody>
      </p:sp>
      <p:sp>
        <p:nvSpPr>
          <p:cNvPr id="4" name="Shape 2"/>
          <p:cNvSpPr/>
          <p:nvPr/>
        </p:nvSpPr>
        <p:spPr>
          <a:xfrm>
            <a:off x="685800" y="2148840"/>
            <a:ext cx="2331720" cy="1965960"/>
          </a:xfrm>
          <a:prstGeom prst="roundRect">
            <a:avLst>
              <a:gd name="adj" fmla="val 3721"/>
            </a:avLst>
          </a:prstGeom>
          <a:solidFill>
            <a:srgbClr val="E8F7F7"/>
          </a:solidFill>
          <a:ln/>
          <a:effectLst>
            <a:outerShdw blurRad="127000" dist="38100" dir="5400000" algn="bl" rotWithShape="0">
              <a:srgbClr val="1B1F3B">
                <a:alpha val="10000"/>
              </a:srgbClr>
            </a:outerShdw>
          </a:effectLst>
        </p:spPr>
        <p:txBody>
          <a:bodyPr/>
          <a:lstStyle/>
          <a:p>
            <a:endParaRPr lang="en-US"/>
          </a:p>
        </p:txBody>
      </p:sp>
      <p:sp>
        <p:nvSpPr>
          <p:cNvPr id="5" name="Text 3"/>
          <p:cNvSpPr/>
          <p:nvPr/>
        </p:nvSpPr>
        <p:spPr>
          <a:xfrm>
            <a:off x="868680" y="2286000"/>
            <a:ext cx="548640" cy="457200"/>
          </a:xfrm>
          <a:prstGeom prst="rect">
            <a:avLst/>
          </a:prstGeom>
          <a:noFill/>
          <a:ln/>
        </p:spPr>
        <p:txBody>
          <a:bodyPr wrap="square" lIns="0" tIns="0" rIns="0" bIns="0" rtlCol="0" anchor="ctr"/>
          <a:lstStyle/>
          <a:p>
            <a:pPr marL="0" indent="0">
              <a:buNone/>
            </a:pPr>
            <a:r>
              <a:rPr lang="en-US" sz="2000" b="1" dirty="0">
                <a:solidFill>
                  <a:srgbClr val="085CE5"/>
                </a:solidFill>
                <a:latin typeface="Arial" pitchFamily="34" charset="0"/>
                <a:ea typeface="Arial" pitchFamily="34" charset="-122"/>
                <a:cs typeface="Arial" pitchFamily="34" charset="-120"/>
              </a:rPr>
              <a:t>1</a:t>
            </a:r>
            <a:endParaRPr lang="en-US" sz="2000" dirty="0"/>
          </a:p>
        </p:txBody>
      </p:sp>
      <p:sp>
        <p:nvSpPr>
          <p:cNvPr id="6" name="Text 4"/>
          <p:cNvSpPr/>
          <p:nvPr/>
        </p:nvSpPr>
        <p:spPr>
          <a:xfrm>
            <a:off x="868680" y="2743200"/>
            <a:ext cx="1965960" cy="640080"/>
          </a:xfrm>
          <a:prstGeom prst="rect">
            <a:avLst/>
          </a:prstGeom>
          <a:noFill/>
          <a:ln/>
        </p:spPr>
        <p:txBody>
          <a:bodyPr wrap="square" lIns="0" tIns="0" rIns="0" bIns="0" rtlCol="0" anchor="ctr"/>
          <a:lstStyle/>
          <a:p>
            <a:pPr marL="0" indent="0">
              <a:buNone/>
            </a:pPr>
            <a:r>
              <a:rPr lang="en-US" sz="1450" b="1" dirty="0">
                <a:solidFill>
                  <a:srgbClr val="06185F"/>
                </a:solidFill>
                <a:latin typeface="Arial" pitchFamily="34" charset="0"/>
                <a:ea typeface="Arial" pitchFamily="34" charset="-122"/>
                <a:cs typeface="Arial" pitchFamily="34" charset="-120"/>
              </a:rPr>
              <a:t>Feature</a:t>
            </a:r>
            <a:endParaRPr lang="en-US" sz="1450" dirty="0"/>
          </a:p>
          <a:p>
            <a:pPr marL="0" indent="0">
              <a:buNone/>
            </a:pPr>
            <a:r>
              <a:rPr lang="en-US" sz="1450" b="1" dirty="0">
                <a:solidFill>
                  <a:srgbClr val="06185F"/>
                </a:solidFill>
                <a:latin typeface="Arial" pitchFamily="34" charset="0"/>
                <a:ea typeface="Arial" pitchFamily="34" charset="-122"/>
                <a:cs typeface="Arial" pitchFamily="34" charset="-120"/>
              </a:rPr>
              <a:t>Engineering</a:t>
            </a:r>
            <a:endParaRPr lang="en-US" sz="1450" dirty="0"/>
          </a:p>
        </p:txBody>
      </p:sp>
      <p:sp>
        <p:nvSpPr>
          <p:cNvPr id="7" name="Text 5"/>
          <p:cNvSpPr/>
          <p:nvPr/>
        </p:nvSpPr>
        <p:spPr>
          <a:xfrm>
            <a:off x="868680" y="3383280"/>
            <a:ext cx="1965960" cy="640080"/>
          </a:xfrm>
          <a:prstGeom prst="rect">
            <a:avLst/>
          </a:prstGeom>
          <a:noFill/>
          <a:ln/>
        </p:spPr>
        <p:txBody>
          <a:bodyPr wrap="square" lIns="0" tIns="0" rIns="0" bIns="0" rtlCol="0" anchor="ctr"/>
          <a:lstStyle/>
          <a:p>
            <a:pPr marL="0" indent="0">
              <a:buNone/>
            </a:pPr>
            <a:r>
              <a:rPr lang="en-US" sz="1100" dirty="0">
                <a:solidFill>
                  <a:srgbClr val="575A5D"/>
                </a:solidFill>
                <a:latin typeface="Calibri" pitchFamily="34" charset="0"/>
                <a:ea typeface="Calibri" pitchFamily="34" charset="-122"/>
                <a:cs typeface="Calibri" pitchFamily="34" charset="-120"/>
              </a:rPr>
              <a:t>Trend deltas, ratios, recency windows</a:t>
            </a:r>
            <a:endParaRPr lang="en-US" sz="1100" dirty="0"/>
          </a:p>
        </p:txBody>
      </p:sp>
      <p:sp>
        <p:nvSpPr>
          <p:cNvPr id="8" name="Shape 6"/>
          <p:cNvSpPr/>
          <p:nvPr/>
        </p:nvSpPr>
        <p:spPr>
          <a:xfrm>
            <a:off x="3090672" y="2971800"/>
            <a:ext cx="310896" cy="292608"/>
          </a:xfrm>
          <a:prstGeom prst="rightArrow">
            <a:avLst/>
          </a:prstGeom>
          <a:solidFill>
            <a:srgbClr val="085CE5"/>
          </a:solidFill>
          <a:ln/>
        </p:spPr>
        <p:txBody>
          <a:bodyPr/>
          <a:lstStyle/>
          <a:p>
            <a:endParaRPr lang="en-US"/>
          </a:p>
        </p:txBody>
      </p:sp>
      <p:sp>
        <p:nvSpPr>
          <p:cNvPr id="9" name="Shape 7"/>
          <p:cNvSpPr/>
          <p:nvPr/>
        </p:nvSpPr>
        <p:spPr>
          <a:xfrm>
            <a:off x="3474720" y="2148840"/>
            <a:ext cx="2331720" cy="1965960"/>
          </a:xfrm>
          <a:prstGeom prst="roundRect">
            <a:avLst>
              <a:gd name="adj" fmla="val 3721"/>
            </a:avLst>
          </a:prstGeom>
          <a:solidFill>
            <a:srgbClr val="06185F"/>
          </a:solidFill>
          <a:ln/>
          <a:effectLst>
            <a:outerShdw blurRad="127000" dist="38100" dir="5400000" algn="bl" rotWithShape="0">
              <a:srgbClr val="1B1F3B">
                <a:alpha val="10000"/>
              </a:srgbClr>
            </a:outerShdw>
          </a:effectLst>
        </p:spPr>
        <p:txBody>
          <a:bodyPr/>
          <a:lstStyle/>
          <a:p>
            <a:endParaRPr lang="en-US"/>
          </a:p>
        </p:txBody>
      </p:sp>
      <p:sp>
        <p:nvSpPr>
          <p:cNvPr id="10" name="Text 8"/>
          <p:cNvSpPr/>
          <p:nvPr/>
        </p:nvSpPr>
        <p:spPr>
          <a:xfrm>
            <a:off x="3657600" y="2286000"/>
            <a:ext cx="548640" cy="457200"/>
          </a:xfrm>
          <a:prstGeom prst="rect">
            <a:avLst/>
          </a:prstGeom>
          <a:noFill/>
          <a:ln/>
        </p:spPr>
        <p:txBody>
          <a:bodyPr wrap="square" lIns="0" tIns="0" rIns="0" bIns="0" rtlCol="0" anchor="ctr"/>
          <a:lstStyle/>
          <a:p>
            <a:pPr marL="0" indent="0">
              <a:buNone/>
            </a:pPr>
            <a:r>
              <a:rPr lang="en-US" sz="2000" b="1" dirty="0">
                <a:solidFill>
                  <a:srgbClr val="76DCFD"/>
                </a:solidFill>
                <a:latin typeface="Arial" pitchFamily="34" charset="0"/>
                <a:ea typeface="Arial" pitchFamily="34" charset="-122"/>
                <a:cs typeface="Arial" pitchFamily="34" charset="-120"/>
              </a:rPr>
              <a:t>2</a:t>
            </a:r>
            <a:endParaRPr lang="en-US" sz="2000" dirty="0"/>
          </a:p>
        </p:txBody>
      </p:sp>
      <p:sp>
        <p:nvSpPr>
          <p:cNvPr id="11" name="Text 9"/>
          <p:cNvSpPr/>
          <p:nvPr/>
        </p:nvSpPr>
        <p:spPr>
          <a:xfrm>
            <a:off x="3657600" y="2743200"/>
            <a:ext cx="1965960" cy="640080"/>
          </a:xfrm>
          <a:prstGeom prst="rect">
            <a:avLst/>
          </a:prstGeom>
          <a:noFill/>
          <a:ln/>
        </p:spPr>
        <p:txBody>
          <a:bodyPr wrap="square" lIns="0" tIns="0" rIns="0" bIns="0" rtlCol="0" anchor="ctr"/>
          <a:lstStyle/>
          <a:p>
            <a:pPr marL="0" indent="0">
              <a:buNone/>
            </a:pPr>
            <a:r>
              <a:rPr lang="en-US" sz="1450" b="1" dirty="0">
                <a:solidFill>
                  <a:srgbClr val="FFFFFF"/>
                </a:solidFill>
                <a:latin typeface="Arial" pitchFamily="34" charset="0"/>
                <a:ea typeface="Arial" pitchFamily="34" charset="-122"/>
                <a:cs typeface="Arial" pitchFamily="34" charset="-120"/>
              </a:rPr>
              <a:t>Model Ensemble</a:t>
            </a:r>
            <a:endParaRPr lang="en-US" sz="1450" dirty="0"/>
          </a:p>
        </p:txBody>
      </p:sp>
      <p:sp>
        <p:nvSpPr>
          <p:cNvPr id="12" name="Text 10"/>
          <p:cNvSpPr/>
          <p:nvPr/>
        </p:nvSpPr>
        <p:spPr>
          <a:xfrm>
            <a:off x="3657600" y="3383280"/>
            <a:ext cx="1965960" cy="640080"/>
          </a:xfrm>
          <a:prstGeom prst="rect">
            <a:avLst/>
          </a:prstGeom>
          <a:noFill/>
          <a:ln/>
        </p:spPr>
        <p:txBody>
          <a:bodyPr wrap="square" lIns="0" tIns="0" rIns="0" bIns="0" rtlCol="0" anchor="ctr"/>
          <a:lstStyle/>
          <a:p>
            <a:pPr marL="0" indent="0">
              <a:buNone/>
            </a:pPr>
            <a:r>
              <a:rPr lang="en-US" sz="1100" dirty="0">
                <a:solidFill>
                  <a:srgbClr val="CADCFC"/>
                </a:solidFill>
                <a:latin typeface="Calibri" pitchFamily="34" charset="0"/>
                <a:ea typeface="Calibri" pitchFamily="34" charset="-122"/>
                <a:cs typeface="Calibri" pitchFamily="34" charset="-120"/>
              </a:rPr>
              <a:t>XGBoost / CatBoost, AutoGluon-selected</a:t>
            </a:r>
            <a:endParaRPr lang="en-US" sz="1100" dirty="0"/>
          </a:p>
        </p:txBody>
      </p:sp>
      <p:sp>
        <p:nvSpPr>
          <p:cNvPr id="13" name="Shape 11"/>
          <p:cNvSpPr/>
          <p:nvPr/>
        </p:nvSpPr>
        <p:spPr>
          <a:xfrm>
            <a:off x="5879592" y="2971800"/>
            <a:ext cx="310896" cy="292608"/>
          </a:xfrm>
          <a:prstGeom prst="rightArrow">
            <a:avLst/>
          </a:prstGeom>
          <a:solidFill>
            <a:srgbClr val="085CE5"/>
          </a:solidFill>
          <a:ln/>
        </p:spPr>
        <p:txBody>
          <a:bodyPr/>
          <a:lstStyle/>
          <a:p>
            <a:endParaRPr lang="en-US"/>
          </a:p>
        </p:txBody>
      </p:sp>
      <p:sp>
        <p:nvSpPr>
          <p:cNvPr id="14" name="Shape 12"/>
          <p:cNvSpPr/>
          <p:nvPr/>
        </p:nvSpPr>
        <p:spPr>
          <a:xfrm>
            <a:off x="6263640" y="2148840"/>
            <a:ext cx="2331720" cy="1965960"/>
          </a:xfrm>
          <a:prstGeom prst="roundRect">
            <a:avLst>
              <a:gd name="adj" fmla="val 3721"/>
            </a:avLst>
          </a:prstGeom>
          <a:solidFill>
            <a:srgbClr val="E8F7F7"/>
          </a:solidFill>
          <a:ln/>
          <a:effectLst>
            <a:outerShdw blurRad="127000" dist="38100" dir="5400000" algn="bl" rotWithShape="0">
              <a:srgbClr val="1B1F3B">
                <a:alpha val="10000"/>
              </a:srgbClr>
            </a:outerShdw>
          </a:effectLst>
        </p:spPr>
        <p:txBody>
          <a:bodyPr/>
          <a:lstStyle/>
          <a:p>
            <a:endParaRPr lang="en-US"/>
          </a:p>
        </p:txBody>
      </p:sp>
      <p:sp>
        <p:nvSpPr>
          <p:cNvPr id="15" name="Text 13"/>
          <p:cNvSpPr/>
          <p:nvPr/>
        </p:nvSpPr>
        <p:spPr>
          <a:xfrm>
            <a:off x="6446520" y="2286000"/>
            <a:ext cx="548640" cy="457200"/>
          </a:xfrm>
          <a:prstGeom prst="rect">
            <a:avLst/>
          </a:prstGeom>
          <a:noFill/>
          <a:ln/>
        </p:spPr>
        <p:txBody>
          <a:bodyPr wrap="square" lIns="0" tIns="0" rIns="0" bIns="0" rtlCol="0" anchor="ctr"/>
          <a:lstStyle/>
          <a:p>
            <a:pPr marL="0" indent="0">
              <a:buNone/>
            </a:pPr>
            <a:r>
              <a:rPr lang="en-US" sz="2000" b="1" dirty="0">
                <a:solidFill>
                  <a:srgbClr val="085CE5"/>
                </a:solidFill>
                <a:latin typeface="Arial" pitchFamily="34" charset="0"/>
                <a:ea typeface="Arial" pitchFamily="34" charset="-122"/>
                <a:cs typeface="Arial" pitchFamily="34" charset="-120"/>
              </a:rPr>
              <a:t>3</a:t>
            </a:r>
            <a:endParaRPr lang="en-US" sz="2000" dirty="0"/>
          </a:p>
        </p:txBody>
      </p:sp>
      <p:sp>
        <p:nvSpPr>
          <p:cNvPr id="16" name="Text 14"/>
          <p:cNvSpPr/>
          <p:nvPr/>
        </p:nvSpPr>
        <p:spPr>
          <a:xfrm>
            <a:off x="6446520" y="2743200"/>
            <a:ext cx="1965960" cy="640080"/>
          </a:xfrm>
          <a:prstGeom prst="rect">
            <a:avLst/>
          </a:prstGeom>
          <a:noFill/>
          <a:ln/>
        </p:spPr>
        <p:txBody>
          <a:bodyPr wrap="square" lIns="0" tIns="0" rIns="0" bIns="0" rtlCol="0" anchor="ctr"/>
          <a:lstStyle/>
          <a:p>
            <a:pPr marL="0" indent="0">
              <a:buNone/>
            </a:pPr>
            <a:r>
              <a:rPr lang="en-US" sz="1450" b="1" dirty="0">
                <a:solidFill>
                  <a:srgbClr val="06185F"/>
                </a:solidFill>
                <a:latin typeface="Arial" pitchFamily="34" charset="0"/>
                <a:ea typeface="Arial" pitchFamily="34" charset="-122"/>
                <a:cs typeface="Arial" pitchFamily="34" charset="-120"/>
              </a:rPr>
              <a:t>Monthly Scoring</a:t>
            </a:r>
            <a:endParaRPr lang="en-US" sz="1450" dirty="0"/>
          </a:p>
        </p:txBody>
      </p:sp>
      <p:sp>
        <p:nvSpPr>
          <p:cNvPr id="17" name="Text 15"/>
          <p:cNvSpPr/>
          <p:nvPr/>
        </p:nvSpPr>
        <p:spPr>
          <a:xfrm>
            <a:off x="6446520" y="3383280"/>
            <a:ext cx="1965960" cy="640080"/>
          </a:xfrm>
          <a:prstGeom prst="rect">
            <a:avLst/>
          </a:prstGeom>
          <a:noFill/>
          <a:ln/>
        </p:spPr>
        <p:txBody>
          <a:bodyPr wrap="square" lIns="0" tIns="0" rIns="0" bIns="0" rtlCol="0" anchor="ctr"/>
          <a:lstStyle/>
          <a:p>
            <a:pPr marL="0" indent="0">
              <a:buNone/>
            </a:pPr>
            <a:r>
              <a:rPr lang="en-US" sz="1100" dirty="0">
                <a:solidFill>
                  <a:srgbClr val="575A5D"/>
                </a:solidFill>
                <a:latin typeface="Calibri" pitchFamily="34" charset="0"/>
                <a:ea typeface="Calibri" pitchFamily="34" charset="-122"/>
                <a:cs typeface="Calibri" pitchFamily="34" charset="-120"/>
              </a:rPr>
              <a:t>Batch-scored across the member base</a:t>
            </a:r>
            <a:endParaRPr lang="en-US" sz="1100" dirty="0"/>
          </a:p>
        </p:txBody>
      </p:sp>
      <p:sp>
        <p:nvSpPr>
          <p:cNvPr id="18" name="Shape 16"/>
          <p:cNvSpPr/>
          <p:nvPr/>
        </p:nvSpPr>
        <p:spPr>
          <a:xfrm>
            <a:off x="8668512" y="2971800"/>
            <a:ext cx="310896" cy="292608"/>
          </a:xfrm>
          <a:prstGeom prst="rightArrow">
            <a:avLst/>
          </a:prstGeom>
          <a:solidFill>
            <a:srgbClr val="085CE5"/>
          </a:solidFill>
          <a:ln/>
        </p:spPr>
        <p:txBody>
          <a:bodyPr/>
          <a:lstStyle/>
          <a:p>
            <a:endParaRPr lang="en-US"/>
          </a:p>
        </p:txBody>
      </p:sp>
      <p:sp>
        <p:nvSpPr>
          <p:cNvPr id="19" name="Shape 17"/>
          <p:cNvSpPr/>
          <p:nvPr/>
        </p:nvSpPr>
        <p:spPr>
          <a:xfrm>
            <a:off x="9052560" y="2148840"/>
            <a:ext cx="2331720" cy="1965960"/>
          </a:xfrm>
          <a:prstGeom prst="roundRect">
            <a:avLst>
              <a:gd name="adj" fmla="val 3721"/>
            </a:avLst>
          </a:prstGeom>
          <a:solidFill>
            <a:srgbClr val="E8F7F7"/>
          </a:solidFill>
          <a:ln/>
          <a:effectLst>
            <a:outerShdw blurRad="127000" dist="38100" dir="5400000" algn="bl" rotWithShape="0">
              <a:srgbClr val="1B1F3B">
                <a:alpha val="10000"/>
              </a:srgbClr>
            </a:outerShdw>
          </a:effectLst>
        </p:spPr>
        <p:txBody>
          <a:bodyPr/>
          <a:lstStyle/>
          <a:p>
            <a:endParaRPr lang="en-US"/>
          </a:p>
        </p:txBody>
      </p:sp>
      <p:sp>
        <p:nvSpPr>
          <p:cNvPr id="20" name="Text 18"/>
          <p:cNvSpPr/>
          <p:nvPr/>
        </p:nvSpPr>
        <p:spPr>
          <a:xfrm>
            <a:off x="9235440" y="2286000"/>
            <a:ext cx="548640" cy="457200"/>
          </a:xfrm>
          <a:prstGeom prst="rect">
            <a:avLst/>
          </a:prstGeom>
          <a:noFill/>
          <a:ln/>
        </p:spPr>
        <p:txBody>
          <a:bodyPr wrap="square" lIns="0" tIns="0" rIns="0" bIns="0" rtlCol="0" anchor="ctr"/>
          <a:lstStyle/>
          <a:p>
            <a:pPr marL="0" indent="0">
              <a:buNone/>
            </a:pPr>
            <a:r>
              <a:rPr lang="en-US" sz="2000" b="1" dirty="0">
                <a:solidFill>
                  <a:srgbClr val="085CE5"/>
                </a:solidFill>
                <a:latin typeface="Arial" pitchFamily="34" charset="0"/>
                <a:ea typeface="Arial" pitchFamily="34" charset="-122"/>
                <a:cs typeface="Arial" pitchFamily="34" charset="-120"/>
              </a:rPr>
              <a:t>4</a:t>
            </a:r>
            <a:endParaRPr lang="en-US" sz="2000" dirty="0"/>
          </a:p>
        </p:txBody>
      </p:sp>
      <p:sp>
        <p:nvSpPr>
          <p:cNvPr id="21" name="Text 19"/>
          <p:cNvSpPr/>
          <p:nvPr/>
        </p:nvSpPr>
        <p:spPr>
          <a:xfrm>
            <a:off x="9235440" y="2743200"/>
            <a:ext cx="1965960" cy="640080"/>
          </a:xfrm>
          <a:prstGeom prst="rect">
            <a:avLst/>
          </a:prstGeom>
          <a:noFill/>
          <a:ln/>
        </p:spPr>
        <p:txBody>
          <a:bodyPr wrap="square" lIns="0" tIns="0" rIns="0" bIns="0" rtlCol="0" anchor="ctr"/>
          <a:lstStyle/>
          <a:p>
            <a:pPr marL="0" indent="0">
              <a:buNone/>
            </a:pPr>
            <a:r>
              <a:rPr lang="en-US" sz="1450" b="1" dirty="0">
                <a:solidFill>
                  <a:srgbClr val="06185F"/>
                </a:solidFill>
                <a:latin typeface="Arial" pitchFamily="34" charset="0"/>
                <a:ea typeface="Arial" pitchFamily="34" charset="-122"/>
                <a:cs typeface="Arial" pitchFamily="34" charset="-120"/>
              </a:rPr>
              <a:t>Risk Tiers</a:t>
            </a:r>
            <a:endParaRPr lang="en-US" sz="1450" dirty="0"/>
          </a:p>
        </p:txBody>
      </p:sp>
      <p:sp>
        <p:nvSpPr>
          <p:cNvPr id="22" name="Text 20"/>
          <p:cNvSpPr/>
          <p:nvPr/>
        </p:nvSpPr>
        <p:spPr>
          <a:xfrm>
            <a:off x="9235440" y="3383280"/>
            <a:ext cx="1965960" cy="640080"/>
          </a:xfrm>
          <a:prstGeom prst="rect">
            <a:avLst/>
          </a:prstGeom>
          <a:noFill/>
          <a:ln/>
        </p:spPr>
        <p:txBody>
          <a:bodyPr wrap="square" lIns="0" tIns="0" rIns="0" bIns="0" rtlCol="0" anchor="ctr"/>
          <a:lstStyle/>
          <a:p>
            <a:pPr marL="0" indent="0">
              <a:buNone/>
            </a:pPr>
            <a:r>
              <a:rPr lang="en-US" sz="1100" dirty="0">
                <a:solidFill>
                  <a:srgbClr val="575A5D"/>
                </a:solidFill>
                <a:latin typeface="Calibri" pitchFamily="34" charset="0"/>
                <a:ea typeface="Calibri" pitchFamily="34" charset="-122"/>
                <a:cs typeface="Calibri" pitchFamily="34" charset="-120"/>
              </a:rPr>
              <a:t>Low / Medium / High, routed to action</a:t>
            </a:r>
            <a:endParaRPr lang="en-US" sz="1100" dirty="0"/>
          </a:p>
        </p:txBody>
      </p:sp>
      <p:sp>
        <p:nvSpPr>
          <p:cNvPr id="23" name="Shape 21"/>
          <p:cNvSpPr/>
          <p:nvPr/>
        </p:nvSpPr>
        <p:spPr>
          <a:xfrm>
            <a:off x="685800" y="4434840"/>
            <a:ext cx="10835640" cy="1417320"/>
          </a:xfrm>
          <a:prstGeom prst="roundRect">
            <a:avLst>
              <a:gd name="adj" fmla="val 5161"/>
            </a:avLst>
          </a:prstGeom>
          <a:solidFill>
            <a:srgbClr val="E7ECF0"/>
          </a:solidFill>
          <a:ln/>
          <a:effectLst>
            <a:outerShdw blurRad="127000" dist="38100" dir="5400000" algn="bl" rotWithShape="0">
              <a:srgbClr val="1B1F3B">
                <a:alpha val="10000"/>
              </a:srgbClr>
            </a:outerShdw>
          </a:effectLst>
        </p:spPr>
        <p:txBody>
          <a:bodyPr/>
          <a:lstStyle/>
          <a:p>
            <a:endParaRPr lang="en-US"/>
          </a:p>
        </p:txBody>
      </p:sp>
      <p:sp>
        <p:nvSpPr>
          <p:cNvPr id="24" name="Text 22"/>
          <p:cNvSpPr/>
          <p:nvPr/>
        </p:nvSpPr>
        <p:spPr>
          <a:xfrm>
            <a:off x="960120" y="4590288"/>
            <a:ext cx="5486400" cy="320040"/>
          </a:xfrm>
          <a:prstGeom prst="rect">
            <a:avLst/>
          </a:prstGeom>
          <a:noFill/>
          <a:ln/>
        </p:spPr>
        <p:txBody>
          <a:bodyPr wrap="square" lIns="0" tIns="0" rIns="0" bIns="0" rtlCol="0" anchor="ctr"/>
          <a:lstStyle/>
          <a:p>
            <a:pPr marL="0" indent="0">
              <a:buNone/>
            </a:pPr>
            <a:r>
              <a:rPr lang="en-US" sz="1350" b="1" dirty="0">
                <a:solidFill>
                  <a:srgbClr val="06185F"/>
                </a:solidFill>
                <a:latin typeface="Arial" pitchFamily="34" charset="0"/>
                <a:ea typeface="Arial" pitchFamily="34" charset="-122"/>
                <a:cs typeface="Arial" pitchFamily="34" charset="-120"/>
              </a:rPr>
              <a:t>Why an ensemble, not one model</a:t>
            </a:r>
            <a:endParaRPr lang="en-US" sz="1350" dirty="0"/>
          </a:p>
        </p:txBody>
      </p:sp>
      <p:sp>
        <p:nvSpPr>
          <p:cNvPr id="25" name="Text 23"/>
          <p:cNvSpPr/>
          <p:nvPr/>
        </p:nvSpPr>
        <p:spPr>
          <a:xfrm>
            <a:off x="960120" y="4937760"/>
            <a:ext cx="10332720" cy="868680"/>
          </a:xfrm>
          <a:prstGeom prst="rect">
            <a:avLst/>
          </a:prstGeom>
          <a:noFill/>
          <a:ln/>
        </p:spPr>
        <p:txBody>
          <a:bodyPr wrap="square" lIns="0" tIns="0" rIns="0" bIns="0" rtlCol="0" anchor="ctr"/>
          <a:lstStyle/>
          <a:p>
            <a:pPr marL="0" indent="0">
              <a:buNone/>
            </a:pPr>
            <a:r>
              <a:rPr lang="en-US" sz="1150" dirty="0">
                <a:solidFill>
                  <a:srgbClr val="575A5D"/>
                </a:solidFill>
                <a:latin typeface="Calibri" pitchFamily="34" charset="0"/>
                <a:ea typeface="Calibri" pitchFamily="34" charset="-122"/>
                <a:cs typeface="Calibri" pitchFamily="34" charset="-120"/>
              </a:rPr>
              <a:t>Gradient-boosted trees (XGBoost, CatBoost) handle the mixed numeric/categorical, missing-heavy data typical of core banking systems better than linear models or deep nets at this data scale. AutoGluon automates model selection, tuning, and stacking so the team spends its time on features and validation, not framework plumbing — critical for lean data science teams at community FIs.</a:t>
            </a:r>
            <a:endParaRPr lang="en-US" sz="1150" dirty="0"/>
          </a:p>
        </p:txBody>
      </p:sp>
      <p:sp>
        <p:nvSpPr>
          <p:cNvPr id="26" name="Text 24"/>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900" dirty="0">
                <a:solidFill>
                  <a:srgbClr val="B6BBC0"/>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Evaluate">
    <p:bg>
      <p:bgPr>
        <a:solidFill>
          <a:srgbClr val="FFFFFF"/>
        </a:solidFill>
        <a:effectLst/>
      </p:bgPr>
    </p:bg>
    <p:spTree>
      <p:nvGrpSpPr>
        <p:cNvPr id="1" name=""/>
        <p:cNvGrpSpPr/>
        <p:nvPr/>
      </p:nvGrpSpPr>
      <p:grpSpPr>
        <a:xfrm>
          <a:off x="0" y="0"/>
          <a:ext cx="0" cy="0"/>
          <a:chOff x="0" y="0"/>
          <a:chExt cx="0" cy="0"/>
        </a:xfrm>
      </p:grpSpPr>
      <p:sp>
        <p:nvSpPr>
          <p:cNvPr id="2" name="Eyebrow"/>
          <p:cNvSpPr/>
          <p:nvPr/>
        </p:nvSpPr>
        <p:spPr>
          <a:xfrm>
            <a:off x="640080" y="502920"/>
            <a:ext cx="10000000" cy="320040"/>
          </a:xfrm>
          <a:prstGeom prst="rect">
            <a:avLst/>
          </a:prstGeom>
          <a:noFill/>
          <a:ln/>
        </p:spPr>
        <p:txBody>
          <a:bodyPr wrap="square" lIns="0" tIns="0" rIns="0" bIns="0" rtlCol="0" anchor="ctr"/>
          <a:lstStyle/>
          <a:p>
            <a:pPr marL="0" indent="0" algn="l">
              <a:buNone/>
            </a:pPr>
            <a:r>
              <a:rPr lang="en-US" sz="1200" b="1" dirty="0">
                <a:solidFill>
                  <a:srgbClr val="085CE5"/>
                </a:solidFill>
                <a:latin typeface="Calibri" pitchFamily="34" charset="0"/>
                <a:ea typeface="Calibri" pitchFamily="34" charset="-122"/>
                <a:cs typeface="Calibri" pitchFamily="34" charset="-120"/>
              </a:rPr>
              <a:t>STEP 5 — EVALUATE</a:t>
            </a:r>
            <a:endParaRPr lang="en-US" sz="1200" dirty="0"/>
          </a:p>
        </p:txBody>
      </p:sp>
      <p:sp>
        <p:nvSpPr>
          <p:cNvPr id="3" name="Title"/>
          <p:cNvSpPr/>
          <p:nvPr/>
        </p:nvSpPr>
        <p:spPr>
          <a:xfrm>
            <a:off x="640080" y="822960"/>
            <a:ext cx="10515600" cy="640000"/>
          </a:xfrm>
          <a:prstGeom prst="rect">
            <a:avLst/>
          </a:prstGeom>
          <a:noFill/>
          <a:ln/>
        </p:spPr>
        <p:txBody>
          <a:bodyPr wrap="square" lIns="0" tIns="0" rIns="0" bIns="0" rtlCol="0" anchor="ctr"/>
          <a:lstStyle/>
          <a:p>
            <a:pPr marL="0" indent="0" algn="l">
              <a:buNone/>
            </a:pPr>
            <a:r>
              <a:rPr lang="en-US" sz="2800" b="1" dirty="0">
                <a:solidFill>
                  <a:srgbClr val="06185F"/>
                </a:solidFill>
                <a:latin typeface="Arial" pitchFamily="34" charset="0"/>
                <a:ea typeface="Arial" pitchFamily="34" charset="-122"/>
                <a:cs typeface="Arial" pitchFamily="34" charset="-120"/>
              </a:rPr>
              <a:t>Does it actually work, on data it hasn't seen?</a:t>
            </a:r>
            <a:endParaRPr lang="en-US" sz="2800" dirty="0"/>
          </a:p>
        </p:txBody>
      </p:sp>
      <p:pic>
        <p:nvPicPr>
          <p:cNvPr id="4" name="ROC"/>
          <p:cNvPicPr>
            <a:picLocks noChangeAspect="1"/>
          </p:cNvPicPr>
          <p:nvPr/>
        </p:nvPicPr>
        <p:blipFill>
          <a:blip r:embed="rId2"/>
          <a:stretch>
            <a:fillRect/>
          </a:stretch>
        </p:blipFill>
        <p:spPr>
          <a:xfrm>
            <a:off x="640080" y="1500000"/>
            <a:ext cx="4588888" cy="2950000"/>
          </a:xfrm>
          <a:prstGeom prst="rect">
            <a:avLst/>
          </a:prstGeom>
        </p:spPr>
      </p:pic>
      <p:pic>
        <p:nvPicPr>
          <p:cNvPr id="5" name="Confusion"/>
          <p:cNvPicPr>
            <a:picLocks noChangeAspect="1"/>
          </p:cNvPicPr>
          <p:nvPr/>
        </p:nvPicPr>
        <p:blipFill>
          <a:blip r:embed="rId3"/>
          <a:stretch>
            <a:fillRect/>
          </a:stretch>
        </p:blipFill>
        <p:spPr>
          <a:xfrm>
            <a:off x="7766868" y="1500000"/>
            <a:ext cx="3388812" cy="2950000"/>
          </a:xfrm>
          <a:prstGeom prst="rect">
            <a:avLst/>
          </a:prstGeom>
        </p:spPr>
      </p:pic>
      <p:sp>
        <p:nvSpPr>
          <p:cNvPr id="6" name="StatCard0"/>
          <p:cNvSpPr/>
          <p:nvPr/>
        </p:nvSpPr>
        <p:spPr>
          <a:xfrm>
            <a:off x="640080" y="4700000"/>
            <a:ext cx="3300000" cy="950000"/>
          </a:xfrm>
          <a:prstGeom prst="roundRect">
            <a:avLst>
              <a:gd name="adj" fmla="val 1818"/>
            </a:avLst>
          </a:prstGeom>
          <a:solidFill>
            <a:srgbClr val="E8F7F7"/>
          </a:solidFill>
          <a:ln/>
          <a:effectLst>
            <a:outerShdw blurRad="127000" dist="38100" dir="5400000" algn="bl" rotWithShape="0">
              <a:srgbClr val="1B1F3B">
                <a:alpha val="10000"/>
              </a:srgbClr>
            </a:outerShdw>
          </a:effectLst>
        </p:spPr>
        <p:txBody>
          <a:bodyPr/>
          <a:lstStyle/>
          <a:p>
            <a:endParaRPr lang="en-US"/>
          </a:p>
        </p:txBody>
      </p:sp>
      <p:sp>
        <p:nvSpPr>
          <p:cNvPr id="7" name="StatVal0"/>
          <p:cNvSpPr/>
          <p:nvPr/>
        </p:nvSpPr>
        <p:spPr>
          <a:xfrm>
            <a:off x="840080" y="4810000"/>
            <a:ext cx="2900000" cy="400000"/>
          </a:xfrm>
          <a:prstGeom prst="rect">
            <a:avLst/>
          </a:prstGeom>
          <a:noFill/>
          <a:ln/>
        </p:spPr>
        <p:txBody>
          <a:bodyPr wrap="square" lIns="0" tIns="0" rIns="0" bIns="0" rtlCol="0" anchor="ctr"/>
          <a:lstStyle/>
          <a:p>
            <a:pPr marL="0" indent="0" algn="ctr">
              <a:buNone/>
            </a:pPr>
            <a:r>
              <a:rPr lang="en-US" sz="2400" b="1" dirty="0">
                <a:solidFill>
                  <a:srgbClr val="06185F"/>
                </a:solidFill>
                <a:latin typeface="Arial" pitchFamily="34" charset="0"/>
                <a:ea typeface="Arial" pitchFamily="34" charset="-122"/>
                <a:cs typeface="Arial" pitchFamily="34" charset="-120"/>
              </a:rPr>
              <a:t>0.97</a:t>
            </a:r>
            <a:endParaRPr lang="en-US" sz="2400" dirty="0"/>
          </a:p>
        </p:txBody>
      </p:sp>
      <p:sp>
        <p:nvSpPr>
          <p:cNvPr id="8" name="StatDesc0"/>
          <p:cNvSpPr/>
          <p:nvPr/>
        </p:nvSpPr>
        <p:spPr>
          <a:xfrm>
            <a:off x="790080" y="5220000"/>
            <a:ext cx="3000000" cy="380000"/>
          </a:xfrm>
          <a:prstGeom prst="rect">
            <a:avLst/>
          </a:prstGeom>
          <a:noFill/>
          <a:ln/>
        </p:spPr>
        <p:txBody>
          <a:bodyPr wrap="square" lIns="0" tIns="0" rIns="0" bIns="0" rtlCol="0" anchor="ctr"/>
          <a:lstStyle/>
          <a:p>
            <a:pPr marL="0" indent="0" algn="ctr">
              <a:buNone/>
            </a:pPr>
            <a:r>
              <a:rPr lang="en-US" sz="1000" dirty="0">
                <a:solidFill>
                  <a:srgbClr val="575A5D"/>
                </a:solidFill>
                <a:latin typeface="Calibri" pitchFamily="34" charset="0"/>
                <a:ea typeface="Calibri" pitchFamily="34" charset="-122"/>
                <a:cs typeface="Calibri" pitchFamily="34" charset="-120"/>
              </a:rPr>
              <a:t>ROC-AUC on held-out test data</a:t>
            </a:r>
            <a:endParaRPr lang="en-US" sz="1000" dirty="0"/>
          </a:p>
        </p:txBody>
      </p:sp>
      <p:sp>
        <p:nvSpPr>
          <p:cNvPr id="9" name="StatCard1"/>
          <p:cNvSpPr/>
          <p:nvPr/>
        </p:nvSpPr>
        <p:spPr>
          <a:xfrm>
            <a:off x="4247880" y="4700000"/>
            <a:ext cx="3300000" cy="950000"/>
          </a:xfrm>
          <a:prstGeom prst="roundRect">
            <a:avLst>
              <a:gd name="adj" fmla="val 1818"/>
            </a:avLst>
          </a:prstGeom>
          <a:solidFill>
            <a:srgbClr val="E8F7F7"/>
          </a:solidFill>
          <a:ln/>
          <a:effectLst>
            <a:outerShdw blurRad="127000" dist="38100" dir="5400000" algn="bl" rotWithShape="0">
              <a:srgbClr val="1B1F3B">
                <a:alpha val="10000"/>
              </a:srgbClr>
            </a:outerShdw>
          </a:effectLst>
        </p:spPr>
        <p:txBody>
          <a:bodyPr/>
          <a:lstStyle/>
          <a:p>
            <a:endParaRPr lang="en-US"/>
          </a:p>
        </p:txBody>
      </p:sp>
      <p:sp>
        <p:nvSpPr>
          <p:cNvPr id="10" name="StatVal1"/>
          <p:cNvSpPr/>
          <p:nvPr/>
        </p:nvSpPr>
        <p:spPr>
          <a:xfrm>
            <a:off x="4447880" y="4810000"/>
            <a:ext cx="2900000" cy="400000"/>
          </a:xfrm>
          <a:prstGeom prst="rect">
            <a:avLst/>
          </a:prstGeom>
          <a:noFill/>
          <a:ln/>
        </p:spPr>
        <p:txBody>
          <a:bodyPr wrap="square" lIns="0" tIns="0" rIns="0" bIns="0" rtlCol="0" anchor="ctr"/>
          <a:lstStyle/>
          <a:p>
            <a:pPr marL="0" indent="0" algn="ctr">
              <a:buNone/>
            </a:pPr>
            <a:r>
              <a:rPr lang="en-US" sz="2400" b="1" dirty="0">
                <a:solidFill>
                  <a:srgbClr val="06185F"/>
                </a:solidFill>
                <a:latin typeface="Arial" pitchFamily="34" charset="0"/>
                <a:ea typeface="Arial" pitchFamily="34" charset="-122"/>
                <a:cs typeface="Arial" pitchFamily="34" charset="-120"/>
              </a:rPr>
              <a:t>91%</a:t>
            </a:r>
            <a:endParaRPr lang="en-US" sz="2400" dirty="0"/>
          </a:p>
        </p:txBody>
      </p:sp>
      <p:sp>
        <p:nvSpPr>
          <p:cNvPr id="11" name="StatDesc1"/>
          <p:cNvSpPr/>
          <p:nvPr/>
        </p:nvSpPr>
        <p:spPr>
          <a:xfrm>
            <a:off x="4397880" y="5220000"/>
            <a:ext cx="3000000" cy="380000"/>
          </a:xfrm>
          <a:prstGeom prst="rect">
            <a:avLst/>
          </a:prstGeom>
          <a:noFill/>
          <a:ln/>
        </p:spPr>
        <p:txBody>
          <a:bodyPr wrap="square" lIns="0" tIns="0" rIns="0" bIns="0" rtlCol="0" anchor="ctr"/>
          <a:lstStyle/>
          <a:p>
            <a:pPr marL="0" indent="0" algn="ctr">
              <a:buNone/>
            </a:pPr>
            <a:r>
              <a:rPr lang="en-US" sz="1000" dirty="0">
                <a:solidFill>
                  <a:srgbClr val="575A5D"/>
                </a:solidFill>
                <a:latin typeface="Calibri" pitchFamily="34" charset="0"/>
                <a:ea typeface="Calibri" pitchFamily="34" charset="-122"/>
                <a:cs typeface="Calibri" pitchFamily="34" charset="-120"/>
              </a:rPr>
              <a:t>of actual churners caught in the top 20% flagged</a:t>
            </a:r>
            <a:endParaRPr lang="en-US" sz="1000" dirty="0"/>
          </a:p>
        </p:txBody>
      </p:sp>
      <p:sp>
        <p:nvSpPr>
          <p:cNvPr id="12" name="StatCard2"/>
          <p:cNvSpPr/>
          <p:nvPr/>
        </p:nvSpPr>
        <p:spPr>
          <a:xfrm>
            <a:off x="7855680" y="4700000"/>
            <a:ext cx="3300000" cy="950000"/>
          </a:xfrm>
          <a:prstGeom prst="roundRect">
            <a:avLst>
              <a:gd name="adj" fmla="val 1818"/>
            </a:avLst>
          </a:prstGeom>
          <a:solidFill>
            <a:srgbClr val="E8F7F7"/>
          </a:solidFill>
          <a:ln/>
          <a:effectLst>
            <a:outerShdw blurRad="127000" dist="38100" dir="5400000" algn="bl" rotWithShape="0">
              <a:srgbClr val="1B1F3B">
                <a:alpha val="10000"/>
              </a:srgbClr>
            </a:outerShdw>
          </a:effectLst>
        </p:spPr>
        <p:txBody>
          <a:bodyPr/>
          <a:lstStyle/>
          <a:p>
            <a:endParaRPr lang="en-US"/>
          </a:p>
        </p:txBody>
      </p:sp>
      <p:sp>
        <p:nvSpPr>
          <p:cNvPr id="13" name="StatVal2"/>
          <p:cNvSpPr/>
          <p:nvPr/>
        </p:nvSpPr>
        <p:spPr>
          <a:xfrm>
            <a:off x="8055680" y="4810000"/>
            <a:ext cx="2900000" cy="400000"/>
          </a:xfrm>
          <a:prstGeom prst="rect">
            <a:avLst/>
          </a:prstGeom>
          <a:noFill/>
          <a:ln/>
        </p:spPr>
        <p:txBody>
          <a:bodyPr wrap="square" lIns="0" tIns="0" rIns="0" bIns="0" rtlCol="0" anchor="ctr"/>
          <a:lstStyle/>
          <a:p>
            <a:pPr marL="0" indent="0" algn="ctr">
              <a:buNone/>
            </a:pPr>
            <a:r>
              <a:rPr lang="en-US" sz="2400" b="1" dirty="0">
                <a:solidFill>
                  <a:srgbClr val="06185F"/>
                </a:solidFill>
                <a:latin typeface="Arial" pitchFamily="34" charset="0"/>
                <a:ea typeface="Arial" pitchFamily="34" charset="-122"/>
                <a:cs typeface="Arial" pitchFamily="34" charset="-120"/>
              </a:rPr>
              <a:t>~4.5x</a:t>
            </a:r>
            <a:endParaRPr lang="en-US" sz="2400" dirty="0"/>
          </a:p>
        </p:txBody>
      </p:sp>
      <p:sp>
        <p:nvSpPr>
          <p:cNvPr id="14" name="StatDesc2"/>
          <p:cNvSpPr/>
          <p:nvPr/>
        </p:nvSpPr>
        <p:spPr>
          <a:xfrm>
            <a:off x="8005680" y="5220000"/>
            <a:ext cx="3000000" cy="380000"/>
          </a:xfrm>
          <a:prstGeom prst="rect">
            <a:avLst/>
          </a:prstGeom>
          <a:noFill/>
          <a:ln/>
        </p:spPr>
        <p:txBody>
          <a:bodyPr wrap="square" lIns="0" tIns="0" rIns="0" bIns="0" rtlCol="0" anchor="ctr"/>
          <a:lstStyle/>
          <a:p>
            <a:pPr marL="0" indent="0" algn="ctr">
              <a:buNone/>
            </a:pPr>
            <a:r>
              <a:rPr lang="en-US" sz="1000" dirty="0">
                <a:solidFill>
                  <a:srgbClr val="575A5D"/>
                </a:solidFill>
                <a:latin typeface="Calibri" pitchFamily="34" charset="0"/>
                <a:ea typeface="Calibri" pitchFamily="34" charset="-122"/>
                <a:cs typeface="Calibri" pitchFamily="34" charset="-120"/>
              </a:rPr>
              <a:t>lift over the base rate in that top 20%</a:t>
            </a:r>
            <a:endParaRPr lang="en-US" sz="1000" dirty="0"/>
          </a:p>
        </p:txBody>
      </p:sp>
      <p:sp>
        <p:nvSpPr>
          <p:cNvPr id="15" name="Closing"/>
          <p:cNvSpPr/>
          <p:nvPr/>
        </p:nvSpPr>
        <p:spPr>
          <a:xfrm>
            <a:off x="640080" y="5790000"/>
            <a:ext cx="10515600" cy="460000"/>
          </a:xfrm>
          <a:prstGeom prst="rect">
            <a:avLst/>
          </a:prstGeom>
          <a:noFill/>
          <a:ln/>
        </p:spPr>
        <p:txBody>
          <a:bodyPr wrap="square" lIns="0" tIns="0" rIns="0" bIns="0" rtlCol="0" anchor="ctr"/>
          <a:lstStyle/>
          <a:p>
            <a:pPr marL="0" indent="0" algn="l">
              <a:buNone/>
            </a:pPr>
            <a:r>
              <a:rPr lang="en-US" sz="1200" i="1" dirty="0">
                <a:solidFill>
                  <a:srgbClr val="575A5D"/>
                </a:solidFill>
                <a:latin typeface="Calibri" pitchFamily="34" charset="0"/>
                <a:ea typeface="Calibri" pitchFamily="34" charset="-122"/>
                <a:cs typeface="Calibri" pitchFamily="34" charset="-120"/>
              </a:rPr>
              <a:t>Real metrics from a real held-out test set on synthetic data — the shape of the story, not a guarantee of production performance.</a:t>
            </a:r>
            <a:endParaRPr lang="en-US" sz="1200" dirty="0"/>
          </a:p>
        </p:txBody>
      </p:sp>
      <p:sp>
        <p:nvSpPr>
          <p:cNvPr id="16" name="PageNum"/>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900" dirty="0">
                <a:solidFill>
                  <a:srgbClr val="B6BBC0"/>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Key Metrics">
    <p:bg>
      <p:bgPr>
        <a:solidFill>
          <a:srgbClr val="FFFFFF"/>
        </a:solidFill>
        <a:effectLst/>
      </p:bgPr>
    </p:bg>
    <p:spTree>
      <p:nvGrpSpPr>
        <p:cNvPr id="1" name=""/>
        <p:cNvGrpSpPr/>
        <p:nvPr/>
      </p:nvGrpSpPr>
      <p:grpSpPr>
        <a:xfrm>
          <a:off x="0" y="0"/>
          <a:ext cx="0" cy="0"/>
          <a:chOff x="0" y="0"/>
          <a:chExt cx="0" cy="0"/>
        </a:xfrm>
      </p:grpSpPr>
      <p:sp>
        <p:nvSpPr>
          <p:cNvPr id="2" name="Eyebrow"/>
          <p:cNvSpPr/>
          <p:nvPr/>
        </p:nvSpPr>
        <p:spPr>
          <a:xfrm>
            <a:off x="640080" y="502920"/>
            <a:ext cx="10000000" cy="320040"/>
          </a:xfrm>
          <a:prstGeom prst="rect">
            <a:avLst/>
          </a:prstGeom>
          <a:noFill/>
          <a:ln/>
        </p:spPr>
        <p:txBody>
          <a:bodyPr wrap="square" lIns="0" tIns="0" rIns="0" bIns="0" rtlCol="0" anchor="ctr"/>
          <a:lstStyle/>
          <a:p>
            <a:pPr marL="0" indent="0" algn="l">
              <a:buNone/>
            </a:pPr>
            <a:r>
              <a:rPr lang="en-US" sz="1200" b="1" dirty="0">
                <a:solidFill>
                  <a:srgbClr val="085CE5"/>
                </a:solidFill>
                <a:latin typeface="Calibri" pitchFamily="34" charset="0"/>
                <a:ea typeface="Calibri" pitchFamily="34" charset="-122"/>
                <a:cs typeface="Calibri" pitchFamily="34" charset="-120"/>
              </a:rPr>
              <a:t>KEY METRICS, TRANSLATED FOR EXECUTIVES</a:t>
            </a:r>
            <a:endParaRPr lang="en-US" sz="1200" dirty="0"/>
          </a:p>
        </p:txBody>
      </p:sp>
      <p:sp>
        <p:nvSpPr>
          <p:cNvPr id="3" name="Title"/>
          <p:cNvSpPr/>
          <p:nvPr/>
        </p:nvSpPr>
        <p:spPr>
          <a:xfrm>
            <a:off x="640080" y="822960"/>
            <a:ext cx="10515600" cy="640000"/>
          </a:xfrm>
          <a:prstGeom prst="rect">
            <a:avLst/>
          </a:prstGeom>
          <a:noFill/>
          <a:ln/>
        </p:spPr>
        <p:txBody>
          <a:bodyPr wrap="square" lIns="0" tIns="0" rIns="0" bIns="0" rtlCol="0" anchor="ctr"/>
          <a:lstStyle/>
          <a:p>
            <a:pPr marL="0" indent="0" algn="l">
              <a:buNone/>
            </a:pPr>
            <a:r>
              <a:rPr lang="en-US" sz="2800" b="1" dirty="0">
                <a:solidFill>
                  <a:srgbClr val="06185F"/>
                </a:solidFill>
                <a:latin typeface="Arial" pitchFamily="34" charset="0"/>
                <a:ea typeface="Arial" pitchFamily="34" charset="-122"/>
                <a:cs typeface="Arial" pitchFamily="34" charset="-120"/>
              </a:rPr>
              <a:t>The numbers a board will actually ask about</a:t>
            </a:r>
            <a:endParaRPr lang="en-US" sz="2800" dirty="0"/>
          </a:p>
        </p:txBody>
      </p:sp>
      <p:sp>
        <p:nvSpPr>
          <p:cNvPr id="4" name="Sub"/>
          <p:cNvSpPr/>
          <p:nvPr/>
        </p:nvSpPr>
        <p:spPr>
          <a:xfrm>
            <a:off x="640080" y="1450000"/>
            <a:ext cx="10515600" cy="340000"/>
          </a:xfrm>
          <a:prstGeom prst="rect">
            <a:avLst/>
          </a:prstGeom>
          <a:noFill/>
          <a:ln/>
        </p:spPr>
        <p:txBody>
          <a:bodyPr wrap="square" lIns="0" tIns="0" rIns="0" bIns="0" rtlCol="0" anchor="ctr"/>
          <a:lstStyle/>
          <a:p>
            <a:pPr marL="0" indent="0" algn="l">
              <a:buNone/>
            </a:pPr>
            <a:r>
              <a:rPr lang="en-US" sz="1250" i="1" dirty="0">
                <a:solidFill>
                  <a:srgbClr val="575A5D"/>
                </a:solidFill>
                <a:latin typeface="Calibri" pitchFamily="34" charset="0"/>
                <a:ea typeface="Calibri" pitchFamily="34" charset="-122"/>
                <a:cs typeface="Calibri" pitchFamily="34" charset="-120"/>
              </a:rPr>
              <a:t>Assume we operate the model at a 5% false-positive rate — flagging roughly 16% of the book for review.</a:t>
            </a:r>
            <a:endParaRPr lang="en-US" sz="1250" dirty="0"/>
          </a:p>
        </p:txBody>
      </p:sp>
      <p:sp>
        <p:nvSpPr>
          <p:cNvPr id="5" name="Chip0"/>
          <p:cNvSpPr/>
          <p:nvPr/>
        </p:nvSpPr>
        <p:spPr>
          <a:xfrm>
            <a:off x="640080" y="1900000"/>
            <a:ext cx="2463900" cy="1300000"/>
          </a:xfrm>
          <a:prstGeom prst="roundRect">
            <a:avLst>
              <a:gd name="adj" fmla="val 1818"/>
            </a:avLst>
          </a:prstGeom>
          <a:solidFill>
            <a:srgbClr val="E8F7F7"/>
          </a:solidFill>
          <a:ln/>
          <a:effectLst>
            <a:outerShdw blurRad="127000" dist="38100" dir="5400000" algn="bl" rotWithShape="0">
              <a:srgbClr val="1B1F3B">
                <a:alpha val="10000"/>
              </a:srgbClr>
            </a:outerShdw>
          </a:effectLst>
        </p:spPr>
        <p:txBody>
          <a:bodyPr/>
          <a:lstStyle/>
          <a:p>
            <a:endParaRPr lang="en-US"/>
          </a:p>
        </p:txBody>
      </p:sp>
      <p:sp>
        <p:nvSpPr>
          <p:cNvPr id="6" name="ChipLabel0"/>
          <p:cNvSpPr/>
          <p:nvPr/>
        </p:nvSpPr>
        <p:spPr>
          <a:xfrm>
            <a:off x="810080" y="2010000"/>
            <a:ext cx="2123900" cy="240000"/>
          </a:xfrm>
          <a:prstGeom prst="rect">
            <a:avLst/>
          </a:prstGeom>
          <a:noFill/>
          <a:ln/>
        </p:spPr>
        <p:txBody>
          <a:bodyPr wrap="square" lIns="0" tIns="0" rIns="0" bIns="0" rtlCol="0" anchor="ctr"/>
          <a:lstStyle/>
          <a:p>
            <a:pPr marL="0" indent="0" algn="l">
              <a:buNone/>
            </a:pPr>
            <a:r>
              <a:rPr lang="en-US" sz="1000" b="1" dirty="0">
                <a:solidFill>
                  <a:srgbClr val="085CE5"/>
                </a:solidFill>
                <a:latin typeface="Arial" pitchFamily="34" charset="0"/>
                <a:ea typeface="Arial" pitchFamily="34" charset="-122"/>
                <a:cs typeface="Arial" pitchFamily="34" charset="-120"/>
              </a:rPr>
              <a:t>AUC</a:t>
            </a:r>
            <a:endParaRPr lang="en-US" sz="1000" dirty="0"/>
          </a:p>
        </p:txBody>
      </p:sp>
      <p:sp>
        <p:nvSpPr>
          <p:cNvPr id="7" name="ChipVal0"/>
          <p:cNvSpPr/>
          <p:nvPr/>
        </p:nvSpPr>
        <p:spPr>
          <a:xfrm>
            <a:off x="810080" y="2230000"/>
            <a:ext cx="2123900" cy="420000"/>
          </a:xfrm>
          <a:prstGeom prst="rect">
            <a:avLst/>
          </a:prstGeom>
          <a:noFill/>
          <a:ln/>
        </p:spPr>
        <p:txBody>
          <a:bodyPr wrap="square" lIns="0" tIns="0" rIns="0" bIns="0" rtlCol="0" anchor="ctr"/>
          <a:lstStyle/>
          <a:p>
            <a:pPr marL="0" indent="0" algn="l">
              <a:buNone/>
            </a:pPr>
            <a:r>
              <a:rPr lang="en-US" sz="2200" b="1" dirty="0">
                <a:solidFill>
                  <a:srgbClr val="06185F"/>
                </a:solidFill>
                <a:latin typeface="Arial" pitchFamily="34" charset="0"/>
                <a:ea typeface="Arial" pitchFamily="34" charset="-122"/>
                <a:cs typeface="Arial" pitchFamily="34" charset="-120"/>
              </a:rPr>
              <a:t>0.97</a:t>
            </a:r>
            <a:endParaRPr lang="en-US" sz="2200" dirty="0"/>
          </a:p>
        </p:txBody>
      </p:sp>
      <p:sp>
        <p:nvSpPr>
          <p:cNvPr id="8" name="ChipDesc0"/>
          <p:cNvSpPr/>
          <p:nvPr/>
        </p:nvSpPr>
        <p:spPr>
          <a:xfrm>
            <a:off x="810080" y="2670000"/>
            <a:ext cx="2123900" cy="500000"/>
          </a:xfrm>
          <a:prstGeom prst="rect">
            <a:avLst/>
          </a:prstGeom>
          <a:noFill/>
          <a:ln/>
        </p:spPr>
        <p:txBody>
          <a:bodyPr wrap="square" lIns="0" tIns="0" rIns="0" bIns="0" rtlCol="0" anchor="ctr"/>
          <a:lstStyle/>
          <a:p>
            <a:pPr marL="0" indent="0" algn="l">
              <a:buNone/>
            </a:pPr>
            <a:r>
              <a:rPr lang="en-US" sz="850" dirty="0">
                <a:solidFill>
                  <a:srgbClr val="575A5D"/>
                </a:solidFill>
                <a:latin typeface="Calibri" pitchFamily="34" charset="0"/>
                <a:ea typeface="Calibri" pitchFamily="34" charset="-122"/>
                <a:cs typeface="Calibri" pitchFamily="34" charset="-120"/>
              </a:rPr>
              <a:t>Ability to separate. Pick one churner and one non-churner at random — the model ranks the churner riskier this often.</a:t>
            </a:r>
            <a:endParaRPr lang="en-US" sz="850" dirty="0"/>
          </a:p>
        </p:txBody>
      </p:sp>
      <p:sp>
        <p:nvSpPr>
          <p:cNvPr id="9" name="Chip1"/>
          <p:cNvSpPr/>
          <p:nvPr/>
        </p:nvSpPr>
        <p:spPr>
          <a:xfrm>
            <a:off x="3323980" y="1900000"/>
            <a:ext cx="2463900" cy="1300000"/>
          </a:xfrm>
          <a:prstGeom prst="roundRect">
            <a:avLst>
              <a:gd name="adj" fmla="val 1818"/>
            </a:avLst>
          </a:prstGeom>
          <a:solidFill>
            <a:srgbClr val="E8F7F7"/>
          </a:solidFill>
          <a:ln/>
          <a:effectLst>
            <a:outerShdw blurRad="127000" dist="38100" dir="5400000" algn="bl" rotWithShape="0">
              <a:srgbClr val="1B1F3B">
                <a:alpha val="10000"/>
              </a:srgbClr>
            </a:outerShdw>
          </a:effectLst>
        </p:spPr>
        <p:txBody>
          <a:bodyPr/>
          <a:lstStyle/>
          <a:p>
            <a:endParaRPr lang="en-US"/>
          </a:p>
        </p:txBody>
      </p:sp>
      <p:sp>
        <p:nvSpPr>
          <p:cNvPr id="10" name="ChipLabel1"/>
          <p:cNvSpPr/>
          <p:nvPr/>
        </p:nvSpPr>
        <p:spPr>
          <a:xfrm>
            <a:off x="3493980" y="2010000"/>
            <a:ext cx="2123900" cy="240000"/>
          </a:xfrm>
          <a:prstGeom prst="rect">
            <a:avLst/>
          </a:prstGeom>
          <a:noFill/>
          <a:ln/>
        </p:spPr>
        <p:txBody>
          <a:bodyPr wrap="square" lIns="0" tIns="0" rIns="0" bIns="0" rtlCol="0" anchor="ctr"/>
          <a:lstStyle/>
          <a:p>
            <a:pPr marL="0" indent="0" algn="l">
              <a:buNone/>
            </a:pPr>
            <a:r>
              <a:rPr lang="en-US" sz="1000" b="1" dirty="0">
                <a:solidFill>
                  <a:srgbClr val="085CE5"/>
                </a:solidFill>
                <a:latin typeface="Arial" pitchFamily="34" charset="0"/>
                <a:ea typeface="Arial" pitchFamily="34" charset="-122"/>
                <a:cs typeface="Arial" pitchFamily="34" charset="-120"/>
              </a:rPr>
              <a:t>PR-AUC</a:t>
            </a:r>
            <a:endParaRPr lang="en-US" sz="1000" dirty="0"/>
          </a:p>
        </p:txBody>
      </p:sp>
      <p:sp>
        <p:nvSpPr>
          <p:cNvPr id="11" name="ChipVal1"/>
          <p:cNvSpPr/>
          <p:nvPr/>
        </p:nvSpPr>
        <p:spPr>
          <a:xfrm>
            <a:off x="3493980" y="2230000"/>
            <a:ext cx="2123900" cy="420000"/>
          </a:xfrm>
          <a:prstGeom prst="rect">
            <a:avLst/>
          </a:prstGeom>
          <a:noFill/>
          <a:ln/>
        </p:spPr>
        <p:txBody>
          <a:bodyPr wrap="square" lIns="0" tIns="0" rIns="0" bIns="0" rtlCol="0" anchor="ctr"/>
          <a:lstStyle/>
          <a:p>
            <a:pPr marL="0" indent="0" algn="l">
              <a:buNone/>
            </a:pPr>
            <a:r>
              <a:rPr lang="en-US" sz="2200" b="1" dirty="0">
                <a:solidFill>
                  <a:srgbClr val="06185F"/>
                </a:solidFill>
                <a:latin typeface="Arial" pitchFamily="34" charset="0"/>
                <a:ea typeface="Arial" pitchFamily="34" charset="-122"/>
                <a:cs typeface="Arial" pitchFamily="34" charset="-120"/>
              </a:rPr>
              <a:t>0.91</a:t>
            </a:r>
            <a:endParaRPr lang="en-US" sz="2200" dirty="0"/>
          </a:p>
        </p:txBody>
      </p:sp>
      <p:sp>
        <p:nvSpPr>
          <p:cNvPr id="12" name="ChipDesc1"/>
          <p:cNvSpPr/>
          <p:nvPr/>
        </p:nvSpPr>
        <p:spPr>
          <a:xfrm>
            <a:off x="3493980" y="2670000"/>
            <a:ext cx="2123900" cy="500000"/>
          </a:xfrm>
          <a:prstGeom prst="rect">
            <a:avLst/>
          </a:prstGeom>
          <a:noFill/>
          <a:ln/>
        </p:spPr>
        <p:txBody>
          <a:bodyPr wrap="square" lIns="0" tIns="0" rIns="0" bIns="0" rtlCol="0" anchor="ctr"/>
          <a:lstStyle/>
          <a:p>
            <a:pPr marL="0" indent="0" algn="l">
              <a:buNone/>
            </a:pPr>
            <a:r>
              <a:rPr lang="en-US" sz="850" dirty="0">
                <a:solidFill>
                  <a:srgbClr val="575A5D"/>
                </a:solidFill>
                <a:latin typeface="Calibri" pitchFamily="34" charset="0"/>
                <a:ea typeface="Calibri" pitchFamily="34" charset="-122"/>
                <a:cs typeface="Calibri" pitchFamily="34" charset="-120"/>
              </a:rPr>
              <a:t>Rare-event honesty. ROC-AUC flatters imbalanced problems; PR-AUC is judged against the true base rate, not 50/50.</a:t>
            </a:r>
            <a:endParaRPr lang="en-US" sz="850" dirty="0"/>
          </a:p>
        </p:txBody>
      </p:sp>
      <p:sp>
        <p:nvSpPr>
          <p:cNvPr id="13" name="Chip2"/>
          <p:cNvSpPr/>
          <p:nvPr/>
        </p:nvSpPr>
        <p:spPr>
          <a:xfrm>
            <a:off x="6007880" y="1900000"/>
            <a:ext cx="2463900" cy="1300000"/>
          </a:xfrm>
          <a:prstGeom prst="roundRect">
            <a:avLst>
              <a:gd name="adj" fmla="val 1818"/>
            </a:avLst>
          </a:prstGeom>
          <a:solidFill>
            <a:srgbClr val="E8F7F7"/>
          </a:solidFill>
          <a:ln/>
          <a:effectLst>
            <a:outerShdw blurRad="127000" dist="38100" dir="5400000" algn="bl" rotWithShape="0">
              <a:srgbClr val="1B1F3B">
                <a:alpha val="10000"/>
              </a:srgbClr>
            </a:outerShdw>
          </a:effectLst>
        </p:spPr>
        <p:txBody>
          <a:bodyPr/>
          <a:lstStyle/>
          <a:p>
            <a:endParaRPr lang="en-US"/>
          </a:p>
        </p:txBody>
      </p:sp>
      <p:sp>
        <p:nvSpPr>
          <p:cNvPr id="14" name="ChipLabel2"/>
          <p:cNvSpPr/>
          <p:nvPr/>
        </p:nvSpPr>
        <p:spPr>
          <a:xfrm>
            <a:off x="6177880" y="2010000"/>
            <a:ext cx="2123900" cy="240000"/>
          </a:xfrm>
          <a:prstGeom prst="rect">
            <a:avLst/>
          </a:prstGeom>
          <a:noFill/>
          <a:ln/>
        </p:spPr>
        <p:txBody>
          <a:bodyPr wrap="square" lIns="0" tIns="0" rIns="0" bIns="0" rtlCol="0" anchor="ctr"/>
          <a:lstStyle/>
          <a:p>
            <a:pPr marL="0" indent="0" algn="l">
              <a:buNone/>
            </a:pPr>
            <a:r>
              <a:rPr lang="en-US" sz="1000" b="1" dirty="0">
                <a:solidFill>
                  <a:srgbClr val="085CE5"/>
                </a:solidFill>
                <a:latin typeface="Arial" pitchFamily="34" charset="0"/>
                <a:ea typeface="Arial" pitchFamily="34" charset="-122"/>
                <a:cs typeface="Arial" pitchFamily="34" charset="-120"/>
              </a:rPr>
              <a:t>F1 @ 5% FPR</a:t>
            </a:r>
            <a:endParaRPr lang="en-US" sz="1000" dirty="0"/>
          </a:p>
        </p:txBody>
      </p:sp>
      <p:sp>
        <p:nvSpPr>
          <p:cNvPr id="15" name="ChipVal2"/>
          <p:cNvSpPr/>
          <p:nvPr/>
        </p:nvSpPr>
        <p:spPr>
          <a:xfrm>
            <a:off x="6177880" y="2230000"/>
            <a:ext cx="2123900" cy="420000"/>
          </a:xfrm>
          <a:prstGeom prst="rect">
            <a:avLst/>
          </a:prstGeom>
          <a:noFill/>
          <a:ln/>
        </p:spPr>
        <p:txBody>
          <a:bodyPr wrap="square" lIns="0" tIns="0" rIns="0" bIns="0" rtlCol="0" anchor="ctr"/>
          <a:lstStyle/>
          <a:p>
            <a:pPr marL="0" indent="0" algn="l">
              <a:buNone/>
            </a:pPr>
            <a:r>
              <a:rPr lang="en-US" sz="2200" b="1" dirty="0">
                <a:solidFill>
                  <a:srgbClr val="06185F"/>
                </a:solidFill>
                <a:latin typeface="Arial" pitchFamily="34" charset="0"/>
                <a:ea typeface="Arial" pitchFamily="34" charset="-122"/>
                <a:cs typeface="Arial" pitchFamily="34" charset="-120"/>
              </a:rPr>
              <a:t>0.78</a:t>
            </a:r>
            <a:endParaRPr lang="en-US" sz="2200" dirty="0"/>
          </a:p>
        </p:txBody>
      </p:sp>
      <p:sp>
        <p:nvSpPr>
          <p:cNvPr id="16" name="ChipDesc2"/>
          <p:cNvSpPr/>
          <p:nvPr/>
        </p:nvSpPr>
        <p:spPr>
          <a:xfrm>
            <a:off x="6177880" y="2670000"/>
            <a:ext cx="2123900" cy="500000"/>
          </a:xfrm>
          <a:prstGeom prst="rect">
            <a:avLst/>
          </a:prstGeom>
          <a:noFill/>
          <a:ln/>
        </p:spPr>
        <p:txBody>
          <a:bodyPr wrap="square" lIns="0" tIns="0" rIns="0" bIns="0" rtlCol="0" anchor="ctr"/>
          <a:lstStyle/>
          <a:p>
            <a:pPr marL="0" indent="0" algn="l">
              <a:buNone/>
            </a:pPr>
            <a:r>
              <a:rPr lang="en-US" sz="850" dirty="0">
                <a:solidFill>
                  <a:srgbClr val="575A5D"/>
                </a:solidFill>
                <a:latin typeface="Calibri" pitchFamily="34" charset="0"/>
                <a:ea typeface="Calibri" pitchFamily="34" charset="-122"/>
                <a:cs typeface="Calibri" pitchFamily="34" charset="-120"/>
              </a:rPr>
              <a:t>One balance number. Blends precision and recall at our chosen operating point into a single score to track quarter to quarter.</a:t>
            </a:r>
            <a:endParaRPr lang="en-US" sz="850" dirty="0"/>
          </a:p>
        </p:txBody>
      </p:sp>
      <p:sp>
        <p:nvSpPr>
          <p:cNvPr id="17" name="Chip3"/>
          <p:cNvSpPr/>
          <p:nvPr/>
        </p:nvSpPr>
        <p:spPr>
          <a:xfrm>
            <a:off x="8691780" y="1900000"/>
            <a:ext cx="2463900" cy="1300000"/>
          </a:xfrm>
          <a:prstGeom prst="roundRect">
            <a:avLst>
              <a:gd name="adj" fmla="val 1818"/>
            </a:avLst>
          </a:prstGeom>
          <a:solidFill>
            <a:srgbClr val="E8F7F7"/>
          </a:solidFill>
          <a:ln/>
          <a:effectLst>
            <a:outerShdw blurRad="127000" dist="38100" dir="5400000" algn="bl" rotWithShape="0">
              <a:srgbClr val="1B1F3B">
                <a:alpha val="10000"/>
              </a:srgbClr>
            </a:outerShdw>
          </a:effectLst>
        </p:spPr>
        <p:txBody>
          <a:bodyPr/>
          <a:lstStyle/>
          <a:p>
            <a:endParaRPr lang="en-US"/>
          </a:p>
        </p:txBody>
      </p:sp>
      <p:sp>
        <p:nvSpPr>
          <p:cNvPr id="18" name="ChipLabel3"/>
          <p:cNvSpPr/>
          <p:nvPr/>
        </p:nvSpPr>
        <p:spPr>
          <a:xfrm>
            <a:off x="8861780" y="2010000"/>
            <a:ext cx="2123900" cy="240000"/>
          </a:xfrm>
          <a:prstGeom prst="rect">
            <a:avLst/>
          </a:prstGeom>
          <a:noFill/>
          <a:ln/>
        </p:spPr>
        <p:txBody>
          <a:bodyPr wrap="square" lIns="0" tIns="0" rIns="0" bIns="0" rtlCol="0" anchor="ctr"/>
          <a:lstStyle/>
          <a:p>
            <a:pPr marL="0" indent="0" algn="l">
              <a:buNone/>
            </a:pPr>
            <a:r>
              <a:rPr lang="en-US" sz="1000" b="1" dirty="0">
                <a:solidFill>
                  <a:srgbClr val="085CE5"/>
                </a:solidFill>
                <a:latin typeface="Arial" pitchFamily="34" charset="0"/>
                <a:ea typeface="Arial" pitchFamily="34" charset="-122"/>
                <a:cs typeface="Arial" pitchFamily="34" charset="-120"/>
              </a:rPr>
              <a:t>KS STATISTIC</a:t>
            </a:r>
            <a:endParaRPr lang="en-US" sz="1000" dirty="0"/>
          </a:p>
        </p:txBody>
      </p:sp>
      <p:sp>
        <p:nvSpPr>
          <p:cNvPr id="19" name="ChipVal3"/>
          <p:cNvSpPr/>
          <p:nvPr/>
        </p:nvSpPr>
        <p:spPr>
          <a:xfrm>
            <a:off x="8861780" y="2230000"/>
            <a:ext cx="2123900" cy="420000"/>
          </a:xfrm>
          <a:prstGeom prst="rect">
            <a:avLst/>
          </a:prstGeom>
          <a:noFill/>
          <a:ln/>
        </p:spPr>
        <p:txBody>
          <a:bodyPr wrap="square" lIns="0" tIns="0" rIns="0" bIns="0" rtlCol="0" anchor="ctr"/>
          <a:lstStyle/>
          <a:p>
            <a:pPr marL="0" indent="0" algn="l">
              <a:buNone/>
            </a:pPr>
            <a:r>
              <a:rPr lang="en-US" sz="2200" b="1" dirty="0">
                <a:solidFill>
                  <a:srgbClr val="06185F"/>
                </a:solidFill>
                <a:latin typeface="Arial" pitchFamily="34" charset="0"/>
                <a:ea typeface="Arial" pitchFamily="34" charset="-122"/>
                <a:cs typeface="Arial" pitchFamily="34" charset="-120"/>
              </a:rPr>
              <a:t>0.85</a:t>
            </a:r>
            <a:endParaRPr lang="en-US" sz="2200" dirty="0"/>
          </a:p>
        </p:txBody>
      </p:sp>
      <p:sp>
        <p:nvSpPr>
          <p:cNvPr id="20" name="ChipDesc3"/>
          <p:cNvSpPr/>
          <p:nvPr/>
        </p:nvSpPr>
        <p:spPr>
          <a:xfrm>
            <a:off x="8861780" y="2670000"/>
            <a:ext cx="2123900" cy="500000"/>
          </a:xfrm>
          <a:prstGeom prst="rect">
            <a:avLst/>
          </a:prstGeom>
          <a:noFill/>
          <a:ln/>
        </p:spPr>
        <p:txBody>
          <a:bodyPr wrap="square" lIns="0" tIns="0" rIns="0" bIns="0" rtlCol="0" anchor="ctr"/>
          <a:lstStyle/>
          <a:p>
            <a:pPr marL="0" indent="0" algn="l">
              <a:buNone/>
            </a:pPr>
            <a:r>
              <a:rPr lang="en-US" sz="850" dirty="0">
                <a:solidFill>
                  <a:srgbClr val="575A5D"/>
                </a:solidFill>
                <a:latin typeface="Calibri" pitchFamily="34" charset="0"/>
                <a:ea typeface="Calibri" pitchFamily="34" charset="-122"/>
                <a:cs typeface="Calibri" pitchFamily="34" charset="-120"/>
              </a:rPr>
              <a:t>The classic risk-team metric. Widest gap between cumulative churner vs. non-churner curves — &gt;0.4 is typically considered strong.</a:t>
            </a:r>
            <a:endParaRPr lang="en-US" sz="850" dirty="0"/>
          </a:p>
        </p:txBody>
      </p:sp>
      <p:pic>
        <p:nvPicPr>
          <p:cNvPr id="21" name="KSChart"/>
          <p:cNvPicPr>
            <a:picLocks noChangeAspect="1"/>
          </p:cNvPicPr>
          <p:nvPr/>
        </p:nvPicPr>
        <p:blipFill>
          <a:blip r:embed="rId2"/>
          <a:stretch>
            <a:fillRect/>
          </a:stretch>
        </p:blipFill>
        <p:spPr>
          <a:xfrm>
            <a:off x="2633069" y="3380000"/>
            <a:ext cx="3205263" cy="2100000"/>
          </a:xfrm>
          <a:prstGeom prst="rect">
            <a:avLst/>
          </a:prstGeom>
        </p:spPr>
      </p:pic>
      <p:pic>
        <p:nvPicPr>
          <p:cNvPr id="22" name="PRChart"/>
          <p:cNvPicPr>
            <a:picLocks noChangeAspect="1"/>
          </p:cNvPicPr>
          <p:nvPr/>
        </p:nvPicPr>
        <p:blipFill>
          <a:blip r:embed="rId3"/>
          <a:stretch>
            <a:fillRect/>
          </a:stretch>
        </p:blipFill>
        <p:spPr>
          <a:xfrm>
            <a:off x="6188332" y="3380000"/>
            <a:ext cx="2974358" cy="2100000"/>
          </a:xfrm>
          <a:prstGeom prst="rect">
            <a:avLst/>
          </a:prstGeom>
        </p:spPr>
      </p:pic>
      <p:sp>
        <p:nvSpPr>
          <p:cNvPr id="23" name="Closing"/>
          <p:cNvSpPr/>
          <p:nvPr/>
        </p:nvSpPr>
        <p:spPr>
          <a:xfrm>
            <a:off x="640080" y="5630000"/>
            <a:ext cx="10515600" cy="350000"/>
          </a:xfrm>
          <a:prstGeom prst="rect">
            <a:avLst/>
          </a:prstGeom>
          <a:noFill/>
          <a:ln/>
        </p:spPr>
        <p:txBody>
          <a:bodyPr wrap="square" lIns="0" tIns="0" rIns="0" bIns="0" rtlCol="0" anchor="ctr"/>
          <a:lstStyle/>
          <a:p>
            <a:pPr marL="0" indent="0" algn="l">
              <a:buNone/>
            </a:pPr>
            <a:r>
              <a:rPr lang="en-US" sz="1200" i="1" dirty="0">
                <a:solidFill>
                  <a:srgbClr val="575A5D"/>
                </a:solidFill>
                <a:latin typeface="Calibri" pitchFamily="34" charset="0"/>
                <a:ea typeface="Calibri" pitchFamily="34" charset="-122"/>
                <a:cs typeface="Calibri" pitchFamily="34" charset="-120"/>
              </a:rPr>
              <a:t>At this operating point: 89% of actual churners caught, 70% precision, and roughly 5.6x lift over the 13% base rate — real numbers from the held-out test set.</a:t>
            </a:r>
            <a:endParaRPr lang="en-US" sz="1200" dirty="0"/>
          </a:p>
        </p:txBody>
      </p:sp>
      <p:sp>
        <p:nvSpPr>
          <p:cNvPr id="24" name="PageNum"/>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900" dirty="0">
                <a:solidFill>
                  <a:srgbClr val="B6BBC0"/>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8000000" cy="320040"/>
          </a:xfrm>
          <a:prstGeom prst="rect">
            <a:avLst/>
          </a:prstGeom>
          <a:noFill/>
          <a:ln/>
        </p:spPr>
        <p:txBody>
          <a:bodyPr wrap="square" lIns="0" tIns="0" rIns="0" bIns="0" rtlCol="0" anchor="ctr"/>
          <a:lstStyle/>
          <a:p>
            <a:pPr marL="0" indent="0" algn="l">
              <a:buNone/>
            </a:pPr>
            <a:r>
              <a:rPr lang="en-US" sz="1200" b="1" kern="0" spc="200" dirty="0">
                <a:solidFill>
                  <a:srgbClr val="085CE5"/>
                </a:solidFill>
                <a:latin typeface="Calibri" pitchFamily="34" charset="0"/>
                <a:ea typeface="Calibri" pitchFamily="34" charset="-122"/>
                <a:cs typeface="Calibri" pitchFamily="34" charset="-120"/>
              </a:rPr>
              <a:t>MODEL VALIDATION, NOT JUST A SCORE</a:t>
            </a:r>
            <a:endParaRPr lang="en-US" sz="1200" dirty="0"/>
          </a:p>
        </p:txBody>
      </p:sp>
      <p:sp>
        <p:nvSpPr>
          <p:cNvPr id="3" name="Text 1"/>
          <p:cNvSpPr/>
          <p:nvPr/>
        </p:nvSpPr>
        <p:spPr>
          <a:xfrm>
            <a:off x="640080" y="822960"/>
            <a:ext cx="10515600" cy="731520"/>
          </a:xfrm>
          <a:prstGeom prst="rect">
            <a:avLst/>
          </a:prstGeom>
          <a:noFill/>
          <a:ln/>
        </p:spPr>
        <p:txBody>
          <a:bodyPr wrap="square" lIns="0" tIns="0" rIns="0" bIns="0" rtlCol="0" anchor="ctr"/>
          <a:lstStyle/>
          <a:p>
            <a:pPr marL="0" indent="0">
              <a:buNone/>
            </a:pPr>
            <a:r>
              <a:rPr lang="en-US" sz="2800" b="1" dirty="0">
                <a:solidFill>
                  <a:srgbClr val="06185F"/>
                </a:solidFill>
                <a:latin typeface="Arial" pitchFamily="34" charset="0"/>
                <a:ea typeface="Arial" pitchFamily="34" charset="-122"/>
                <a:cs typeface="Arial" pitchFamily="34" charset="-120"/>
              </a:rPr>
              <a:t>The rigor a data science team actually checks</a:t>
            </a:r>
            <a:endParaRPr lang="en-US" sz="2800" dirty="0"/>
          </a:p>
        </p:txBody>
      </p:sp>
      <p:sp>
        <p:nvSpPr>
          <p:cNvPr id="4" name="Text 2"/>
          <p:cNvSpPr/>
          <p:nvPr/>
        </p:nvSpPr>
        <p:spPr>
          <a:xfrm>
            <a:off x="640080" y="1481328"/>
            <a:ext cx="10515600" cy="411480"/>
          </a:xfrm>
          <a:prstGeom prst="rect">
            <a:avLst/>
          </a:prstGeom>
          <a:noFill/>
          <a:ln/>
        </p:spPr>
        <p:txBody>
          <a:bodyPr wrap="square" lIns="0" tIns="0" rIns="0" bIns="0" rtlCol="0" anchor="ctr"/>
          <a:lstStyle/>
          <a:p>
            <a:pPr marL="0" indent="0">
              <a:buNone/>
            </a:pPr>
            <a:r>
              <a:rPr lang="en-US" sz="1300" dirty="0">
                <a:solidFill>
                  <a:srgbClr val="575A5D"/>
                </a:solidFill>
                <a:latin typeface="Calibri" pitchFamily="34" charset="0"/>
                <a:ea typeface="Calibri" pitchFamily="34" charset="-122"/>
                <a:cs typeface="Calibri" pitchFamily="34" charset="-120"/>
              </a:rPr>
              <a:t>AUC and accuracy are a start, not the finish line — four checks separate a model that ships from one that's actually trustworthy.</a:t>
            </a:r>
            <a:endParaRPr lang="en-US" sz="1300" dirty="0"/>
          </a:p>
        </p:txBody>
      </p:sp>
      <p:sp>
        <p:nvSpPr>
          <p:cNvPr id="5" name="Shape 3"/>
          <p:cNvSpPr/>
          <p:nvPr/>
        </p:nvSpPr>
        <p:spPr>
          <a:xfrm>
            <a:off x="640080" y="2194560"/>
            <a:ext cx="2457450" cy="3200400"/>
          </a:xfrm>
          <a:prstGeom prst="roundRect">
            <a:avLst>
              <a:gd name="adj" fmla="val 3810"/>
            </a:avLst>
          </a:prstGeom>
          <a:solidFill>
            <a:srgbClr val="E8F7F7"/>
          </a:solidFill>
          <a:ln/>
          <a:effectLst>
            <a:outerShdw blurRad="127000" dist="38100" dir="5400000" algn="bl" rotWithShape="0">
              <a:srgbClr val="1B1F3B">
                <a:alpha val="10000"/>
              </a:srgbClr>
            </a:outerShdw>
          </a:effectLst>
        </p:spPr>
        <p:txBody>
          <a:bodyPr/>
          <a:lstStyle/>
          <a:p>
            <a:endParaRPr lang="en-US"/>
          </a:p>
        </p:txBody>
      </p:sp>
      <p:sp>
        <p:nvSpPr>
          <p:cNvPr id="6" name="Shape 4"/>
          <p:cNvSpPr/>
          <p:nvPr/>
        </p:nvSpPr>
        <p:spPr>
          <a:xfrm>
            <a:off x="1112793" y="2468880"/>
            <a:ext cx="512064" cy="512064"/>
          </a:xfrm>
          <a:prstGeom prst="ellipse">
            <a:avLst/>
          </a:prstGeom>
          <a:solidFill>
            <a:srgbClr val="06185F"/>
          </a:solidFill>
          <a:ln/>
        </p:spPr>
        <p:txBody>
          <a:bodyPr/>
          <a:lstStyle/>
          <a:p>
            <a:endParaRPr lang="en-US"/>
          </a:p>
        </p:txBody>
      </p:sp>
      <p:sp>
        <p:nvSpPr>
          <p:cNvPr id="7" name="Shape 5"/>
          <p:cNvSpPr/>
          <p:nvPr/>
        </p:nvSpPr>
        <p:spPr>
          <a:xfrm>
            <a:off x="1261292" y="2617379"/>
            <a:ext cx="215067" cy="215067"/>
          </a:xfrm>
          <a:prstGeom prst="ellipse">
            <a:avLst/>
          </a:prstGeom>
          <a:solidFill>
            <a:srgbClr val="FFFFFF"/>
          </a:solidFill>
          <a:ln/>
        </p:spPr>
        <p:txBody>
          <a:bodyPr/>
          <a:lstStyle/>
          <a:p>
            <a:endParaRPr lang="en-US"/>
          </a:p>
        </p:txBody>
      </p:sp>
      <p:sp>
        <p:nvSpPr>
          <p:cNvPr id="8" name="Text 6"/>
          <p:cNvSpPr/>
          <p:nvPr/>
        </p:nvSpPr>
        <p:spPr>
          <a:xfrm>
            <a:off x="777240" y="3154680"/>
            <a:ext cx="2183640" cy="685800"/>
          </a:xfrm>
          <a:prstGeom prst="rect">
            <a:avLst/>
          </a:prstGeom>
          <a:noFill/>
          <a:ln/>
        </p:spPr>
        <p:txBody>
          <a:bodyPr wrap="square" lIns="0" tIns="0" rIns="0" bIns="0" rtlCol="0" anchor="ctr"/>
          <a:lstStyle/>
          <a:p>
            <a:pPr marL="0" indent="0" algn="ctr">
              <a:buNone/>
            </a:pPr>
            <a:r>
              <a:rPr lang="en-US" sz="1350" b="1" dirty="0">
                <a:solidFill>
                  <a:srgbClr val="06185F"/>
                </a:solidFill>
                <a:latin typeface="Arial" pitchFamily="34" charset="0"/>
                <a:ea typeface="Arial" pitchFamily="34" charset="-122"/>
                <a:cs typeface="Arial" pitchFamily="34" charset="-120"/>
              </a:rPr>
              <a:t>Precision-recall over accuracy</a:t>
            </a:r>
            <a:endParaRPr lang="en-US" sz="1350" dirty="0"/>
          </a:p>
        </p:txBody>
      </p:sp>
      <p:sp>
        <p:nvSpPr>
          <p:cNvPr id="9" name="Text 7"/>
          <p:cNvSpPr/>
          <p:nvPr/>
        </p:nvSpPr>
        <p:spPr>
          <a:xfrm>
            <a:off x="804672" y="3840480"/>
            <a:ext cx="2128776" cy="1417320"/>
          </a:xfrm>
          <a:prstGeom prst="rect">
            <a:avLst/>
          </a:prstGeom>
          <a:noFill/>
          <a:ln/>
        </p:spPr>
        <p:txBody>
          <a:bodyPr wrap="square" lIns="0" tIns="0" rIns="0" bIns="0" rtlCol="0" anchor="ctr"/>
          <a:lstStyle/>
          <a:p>
            <a:pPr marL="0" indent="0" algn="ctr">
              <a:buNone/>
            </a:pPr>
            <a:r>
              <a:rPr lang="en-US" sz="1100" dirty="0">
                <a:solidFill>
                  <a:srgbClr val="575A5D"/>
                </a:solidFill>
                <a:latin typeface="Calibri" pitchFamily="34" charset="0"/>
                <a:ea typeface="Calibri" pitchFamily="34" charset="-122"/>
                <a:cs typeface="Calibri" pitchFamily="34" charset="-120"/>
              </a:rPr>
              <a:t>Churn is rare — accuracy hides that. The threshold is tuned on the precision-recall curve (PR-AUC), not a single accuracy number.</a:t>
            </a:r>
            <a:endParaRPr lang="en-US" sz="1100" dirty="0"/>
          </a:p>
        </p:txBody>
      </p:sp>
      <p:sp>
        <p:nvSpPr>
          <p:cNvPr id="10" name="Shape 8"/>
          <p:cNvSpPr/>
          <p:nvPr/>
        </p:nvSpPr>
        <p:spPr>
          <a:xfrm>
            <a:off x="3326130" y="2194560"/>
            <a:ext cx="2457450" cy="3200400"/>
          </a:xfrm>
          <a:prstGeom prst="roundRect">
            <a:avLst>
              <a:gd name="adj" fmla="val 3810"/>
            </a:avLst>
          </a:prstGeom>
          <a:solidFill>
            <a:srgbClr val="E8F7F7"/>
          </a:solidFill>
          <a:ln/>
          <a:effectLst>
            <a:outerShdw blurRad="127000" dist="38100" dir="5400000" algn="bl" rotWithShape="0">
              <a:srgbClr val="1B1F3B">
                <a:alpha val="10000"/>
              </a:srgbClr>
            </a:outerShdw>
          </a:effectLst>
        </p:spPr>
        <p:txBody>
          <a:bodyPr/>
          <a:lstStyle/>
          <a:p>
            <a:endParaRPr lang="en-US"/>
          </a:p>
        </p:txBody>
      </p:sp>
      <p:sp>
        <p:nvSpPr>
          <p:cNvPr id="11" name="Shape 9"/>
          <p:cNvSpPr/>
          <p:nvPr/>
        </p:nvSpPr>
        <p:spPr>
          <a:xfrm>
            <a:off x="3798843" y="2468880"/>
            <a:ext cx="512064" cy="512064"/>
          </a:xfrm>
          <a:prstGeom prst="ellipse">
            <a:avLst/>
          </a:prstGeom>
          <a:solidFill>
            <a:srgbClr val="06185F"/>
          </a:solidFill>
          <a:ln/>
        </p:spPr>
        <p:txBody>
          <a:bodyPr/>
          <a:lstStyle/>
          <a:p>
            <a:endParaRPr lang="en-US"/>
          </a:p>
        </p:txBody>
      </p:sp>
      <p:sp>
        <p:nvSpPr>
          <p:cNvPr id="12" name="Shape 10"/>
          <p:cNvSpPr/>
          <p:nvPr/>
        </p:nvSpPr>
        <p:spPr>
          <a:xfrm>
            <a:off x="3947342" y="2617379"/>
            <a:ext cx="215067" cy="215067"/>
          </a:xfrm>
          <a:prstGeom prst="ellipse">
            <a:avLst/>
          </a:prstGeom>
          <a:solidFill>
            <a:srgbClr val="FFFFFF"/>
          </a:solidFill>
          <a:ln/>
        </p:spPr>
        <p:txBody>
          <a:bodyPr/>
          <a:lstStyle/>
          <a:p>
            <a:endParaRPr lang="en-US"/>
          </a:p>
        </p:txBody>
      </p:sp>
      <p:sp>
        <p:nvSpPr>
          <p:cNvPr id="13" name="Text 11"/>
          <p:cNvSpPr/>
          <p:nvPr/>
        </p:nvSpPr>
        <p:spPr>
          <a:xfrm>
            <a:off x="3463290" y="3154680"/>
            <a:ext cx="2183640" cy="685800"/>
          </a:xfrm>
          <a:prstGeom prst="rect">
            <a:avLst/>
          </a:prstGeom>
          <a:noFill/>
          <a:ln/>
        </p:spPr>
        <p:txBody>
          <a:bodyPr wrap="square" lIns="0" tIns="0" rIns="0" bIns="0" rtlCol="0" anchor="ctr"/>
          <a:lstStyle/>
          <a:p>
            <a:pPr marL="0" indent="0" algn="ctr">
              <a:buNone/>
            </a:pPr>
            <a:r>
              <a:rPr lang="en-US" sz="1350" b="1" dirty="0">
                <a:solidFill>
                  <a:srgbClr val="06185F"/>
                </a:solidFill>
                <a:latin typeface="Arial" pitchFamily="34" charset="0"/>
                <a:ea typeface="Arial" pitchFamily="34" charset="-122"/>
                <a:cs typeface="Arial" pitchFamily="34" charset="-120"/>
              </a:rPr>
              <a:t>Calibration, not just ranking</a:t>
            </a:r>
            <a:endParaRPr lang="en-US" sz="1350" dirty="0"/>
          </a:p>
        </p:txBody>
      </p:sp>
      <p:sp>
        <p:nvSpPr>
          <p:cNvPr id="14" name="Text 12"/>
          <p:cNvSpPr/>
          <p:nvPr/>
        </p:nvSpPr>
        <p:spPr>
          <a:xfrm>
            <a:off x="3490722" y="3840480"/>
            <a:ext cx="2128776" cy="1417320"/>
          </a:xfrm>
          <a:prstGeom prst="rect">
            <a:avLst/>
          </a:prstGeom>
          <a:noFill/>
          <a:ln/>
        </p:spPr>
        <p:txBody>
          <a:bodyPr wrap="square" lIns="0" tIns="0" rIns="0" bIns="0" rtlCol="0" anchor="ctr"/>
          <a:lstStyle/>
          <a:p>
            <a:pPr marL="0" indent="0" algn="ctr">
              <a:buNone/>
            </a:pPr>
            <a:r>
              <a:rPr lang="en-US" sz="1100" dirty="0">
                <a:solidFill>
                  <a:srgbClr val="575A5D"/>
                </a:solidFill>
                <a:latin typeface="Calibri" pitchFamily="34" charset="0"/>
                <a:ea typeface="Calibri" pitchFamily="34" charset="-122"/>
                <a:cs typeface="Calibri" pitchFamily="34" charset="-120"/>
              </a:rPr>
              <a:t>A 0.7 risk score should mean 70% actually churn. Reliability diagrams and Expected Calibration Error (ECE) confirm the score can be trusted, not just ordered correctly.</a:t>
            </a:r>
            <a:endParaRPr lang="en-US" sz="1100" dirty="0"/>
          </a:p>
        </p:txBody>
      </p:sp>
      <p:sp>
        <p:nvSpPr>
          <p:cNvPr id="15" name="Shape 13"/>
          <p:cNvSpPr/>
          <p:nvPr/>
        </p:nvSpPr>
        <p:spPr>
          <a:xfrm>
            <a:off x="6012180" y="2194560"/>
            <a:ext cx="2457450" cy="3200400"/>
          </a:xfrm>
          <a:prstGeom prst="roundRect">
            <a:avLst>
              <a:gd name="adj" fmla="val 3810"/>
            </a:avLst>
          </a:prstGeom>
          <a:solidFill>
            <a:srgbClr val="E8F7F7"/>
          </a:solidFill>
          <a:ln/>
          <a:effectLst>
            <a:outerShdw blurRad="127000" dist="38100" dir="5400000" algn="bl" rotWithShape="0">
              <a:srgbClr val="1B1F3B">
                <a:alpha val="10000"/>
              </a:srgbClr>
            </a:outerShdw>
          </a:effectLst>
        </p:spPr>
        <p:txBody>
          <a:bodyPr/>
          <a:lstStyle/>
          <a:p>
            <a:endParaRPr lang="en-US"/>
          </a:p>
        </p:txBody>
      </p:sp>
      <p:sp>
        <p:nvSpPr>
          <p:cNvPr id="16" name="Shape 14"/>
          <p:cNvSpPr/>
          <p:nvPr/>
        </p:nvSpPr>
        <p:spPr>
          <a:xfrm>
            <a:off x="6484893" y="2468880"/>
            <a:ext cx="512064" cy="512064"/>
          </a:xfrm>
          <a:prstGeom prst="ellipse">
            <a:avLst/>
          </a:prstGeom>
          <a:solidFill>
            <a:srgbClr val="06185F"/>
          </a:solidFill>
          <a:ln/>
        </p:spPr>
        <p:txBody>
          <a:bodyPr/>
          <a:lstStyle/>
          <a:p>
            <a:endParaRPr lang="en-US"/>
          </a:p>
        </p:txBody>
      </p:sp>
      <p:sp>
        <p:nvSpPr>
          <p:cNvPr id="17" name="Shape 15"/>
          <p:cNvSpPr/>
          <p:nvPr/>
        </p:nvSpPr>
        <p:spPr>
          <a:xfrm>
            <a:off x="6633392" y="2617379"/>
            <a:ext cx="215067" cy="215067"/>
          </a:xfrm>
          <a:prstGeom prst="ellipse">
            <a:avLst/>
          </a:prstGeom>
          <a:solidFill>
            <a:srgbClr val="FFFFFF"/>
          </a:solidFill>
          <a:ln/>
        </p:spPr>
        <p:txBody>
          <a:bodyPr/>
          <a:lstStyle/>
          <a:p>
            <a:endParaRPr lang="en-US"/>
          </a:p>
        </p:txBody>
      </p:sp>
      <p:sp>
        <p:nvSpPr>
          <p:cNvPr id="18" name="Text 16"/>
          <p:cNvSpPr/>
          <p:nvPr/>
        </p:nvSpPr>
        <p:spPr>
          <a:xfrm>
            <a:off x="6149340" y="3154680"/>
            <a:ext cx="2183640" cy="685800"/>
          </a:xfrm>
          <a:prstGeom prst="rect">
            <a:avLst/>
          </a:prstGeom>
          <a:noFill/>
          <a:ln/>
        </p:spPr>
        <p:txBody>
          <a:bodyPr wrap="square" lIns="0" tIns="0" rIns="0" bIns="0" rtlCol="0" anchor="ctr"/>
          <a:lstStyle/>
          <a:p>
            <a:pPr marL="0" indent="0" algn="ctr">
              <a:buNone/>
            </a:pPr>
            <a:r>
              <a:rPr lang="en-US" sz="1350" b="1" dirty="0">
                <a:solidFill>
                  <a:srgbClr val="06185F"/>
                </a:solidFill>
                <a:latin typeface="Arial" pitchFamily="34" charset="0"/>
                <a:ea typeface="Arial" pitchFamily="34" charset="-122"/>
                <a:cs typeface="Arial" pitchFamily="34" charset="-120"/>
              </a:rPr>
              <a:t>Two importance methods, cross-checked</a:t>
            </a:r>
            <a:endParaRPr lang="en-US" sz="1350" dirty="0"/>
          </a:p>
        </p:txBody>
      </p:sp>
      <p:sp>
        <p:nvSpPr>
          <p:cNvPr id="19" name="Text 17"/>
          <p:cNvSpPr/>
          <p:nvPr/>
        </p:nvSpPr>
        <p:spPr>
          <a:xfrm>
            <a:off x="6176772" y="3840480"/>
            <a:ext cx="2128776" cy="1417320"/>
          </a:xfrm>
          <a:prstGeom prst="rect">
            <a:avLst/>
          </a:prstGeom>
          <a:noFill/>
          <a:ln/>
        </p:spPr>
        <p:txBody>
          <a:bodyPr wrap="square" lIns="0" tIns="0" rIns="0" bIns="0" rtlCol="0" anchor="ctr"/>
          <a:lstStyle/>
          <a:p>
            <a:pPr marL="0" indent="0" algn="ctr">
              <a:buNone/>
            </a:pPr>
            <a:r>
              <a:rPr lang="en-US" sz="1100" dirty="0">
                <a:solidFill>
                  <a:srgbClr val="575A5D"/>
                </a:solidFill>
                <a:latin typeface="Calibri" pitchFamily="34" charset="0"/>
                <a:ea typeface="Calibri" pitchFamily="34" charset="-122"/>
                <a:cs typeface="Calibri" pitchFamily="34" charset="-120"/>
              </a:rPr>
              <a:t>TreeSHAP (exact Shapley attribution) and permutation importance (AUC drop when a feature is shuffled) have to agree before a driver is trusted.</a:t>
            </a:r>
            <a:endParaRPr lang="en-US" sz="1100" dirty="0"/>
          </a:p>
        </p:txBody>
      </p:sp>
      <p:sp>
        <p:nvSpPr>
          <p:cNvPr id="20" name="Shape 18"/>
          <p:cNvSpPr/>
          <p:nvPr/>
        </p:nvSpPr>
        <p:spPr>
          <a:xfrm>
            <a:off x="8698230" y="2194560"/>
            <a:ext cx="2457450" cy="3200400"/>
          </a:xfrm>
          <a:prstGeom prst="roundRect">
            <a:avLst>
              <a:gd name="adj" fmla="val 3810"/>
            </a:avLst>
          </a:prstGeom>
          <a:solidFill>
            <a:srgbClr val="E8F7F7"/>
          </a:solidFill>
          <a:ln/>
          <a:effectLst>
            <a:outerShdw blurRad="127000" dist="38100" dir="5400000" algn="bl" rotWithShape="0">
              <a:srgbClr val="1B1F3B">
                <a:alpha val="10000"/>
              </a:srgbClr>
            </a:outerShdw>
          </a:effectLst>
        </p:spPr>
        <p:txBody>
          <a:bodyPr/>
          <a:lstStyle/>
          <a:p>
            <a:endParaRPr lang="en-US"/>
          </a:p>
        </p:txBody>
      </p:sp>
      <p:sp>
        <p:nvSpPr>
          <p:cNvPr id="21" name="Shape 19"/>
          <p:cNvSpPr/>
          <p:nvPr/>
        </p:nvSpPr>
        <p:spPr>
          <a:xfrm>
            <a:off x="9170943" y="2468880"/>
            <a:ext cx="512064" cy="512064"/>
          </a:xfrm>
          <a:prstGeom prst="ellipse">
            <a:avLst/>
          </a:prstGeom>
          <a:solidFill>
            <a:srgbClr val="06185F"/>
          </a:solidFill>
          <a:ln/>
        </p:spPr>
        <p:txBody>
          <a:bodyPr/>
          <a:lstStyle/>
          <a:p>
            <a:endParaRPr lang="en-US"/>
          </a:p>
        </p:txBody>
      </p:sp>
      <p:sp>
        <p:nvSpPr>
          <p:cNvPr id="22" name="Shape 20"/>
          <p:cNvSpPr/>
          <p:nvPr/>
        </p:nvSpPr>
        <p:spPr>
          <a:xfrm>
            <a:off x="9319442" y="2617379"/>
            <a:ext cx="215067" cy="215067"/>
          </a:xfrm>
          <a:prstGeom prst="ellipse">
            <a:avLst/>
          </a:prstGeom>
          <a:solidFill>
            <a:srgbClr val="FFFFFF"/>
          </a:solidFill>
          <a:ln/>
        </p:spPr>
        <p:txBody>
          <a:bodyPr/>
          <a:lstStyle/>
          <a:p>
            <a:endParaRPr lang="en-US"/>
          </a:p>
        </p:txBody>
      </p:sp>
      <p:sp>
        <p:nvSpPr>
          <p:cNvPr id="23" name="Text 21"/>
          <p:cNvSpPr/>
          <p:nvPr/>
        </p:nvSpPr>
        <p:spPr>
          <a:xfrm>
            <a:off x="8835390" y="3154680"/>
            <a:ext cx="2183640" cy="685800"/>
          </a:xfrm>
          <a:prstGeom prst="rect">
            <a:avLst/>
          </a:prstGeom>
          <a:noFill/>
          <a:ln/>
        </p:spPr>
        <p:txBody>
          <a:bodyPr wrap="square" lIns="0" tIns="0" rIns="0" bIns="0" rtlCol="0" anchor="ctr"/>
          <a:lstStyle/>
          <a:p>
            <a:pPr marL="0" indent="0" algn="ctr">
              <a:buNone/>
            </a:pPr>
            <a:r>
              <a:rPr lang="en-US" sz="1350" b="1" dirty="0">
                <a:solidFill>
                  <a:srgbClr val="06185F"/>
                </a:solidFill>
                <a:latin typeface="Arial" pitchFamily="34" charset="0"/>
                <a:ea typeface="Arial" pitchFamily="34" charset="-122"/>
                <a:cs typeface="Arial" pitchFamily="34" charset="-120"/>
              </a:rPr>
              <a:t>Drift triggers a look, not just a wait</a:t>
            </a:r>
            <a:endParaRPr lang="en-US" sz="1350" dirty="0"/>
          </a:p>
        </p:txBody>
      </p:sp>
      <p:sp>
        <p:nvSpPr>
          <p:cNvPr id="24" name="Text 22"/>
          <p:cNvSpPr/>
          <p:nvPr/>
        </p:nvSpPr>
        <p:spPr>
          <a:xfrm>
            <a:off x="8862822" y="3840480"/>
            <a:ext cx="2128776" cy="1417320"/>
          </a:xfrm>
          <a:prstGeom prst="rect">
            <a:avLst/>
          </a:prstGeom>
          <a:noFill/>
          <a:ln/>
        </p:spPr>
        <p:txBody>
          <a:bodyPr wrap="square" lIns="0" tIns="0" rIns="0" bIns="0" rtlCol="0" anchor="ctr"/>
          <a:lstStyle/>
          <a:p>
            <a:pPr marL="0" indent="0" algn="ctr">
              <a:buNone/>
            </a:pPr>
            <a:r>
              <a:rPr lang="en-US" sz="1100" dirty="0">
                <a:solidFill>
                  <a:srgbClr val="575A5D"/>
                </a:solidFill>
                <a:latin typeface="Calibri" pitchFamily="34" charset="0"/>
                <a:ea typeface="Calibri" pitchFamily="34" charset="-122"/>
                <a:cs typeface="Calibri" pitchFamily="34" charset="-120"/>
              </a:rPr>
              <a:t>Population Stability Index (PSI) on key features flags drift automatically; a challenger model has to beat the champion on live data before it earns the promotion.</a:t>
            </a:r>
            <a:endParaRPr lang="en-US" sz="1100" dirty="0"/>
          </a:p>
        </p:txBody>
      </p:sp>
      <p:sp>
        <p:nvSpPr>
          <p:cNvPr id="31" name="Text 29"/>
          <p:cNvSpPr/>
          <p:nvPr/>
        </p:nvSpPr>
        <p:spPr>
          <a:xfrm>
            <a:off x="640080" y="5700000"/>
            <a:ext cx="10515600" cy="365760"/>
          </a:xfrm>
          <a:prstGeom prst="rect">
            <a:avLst/>
          </a:prstGeom>
          <a:noFill/>
          <a:ln/>
        </p:spPr>
        <p:txBody>
          <a:bodyPr wrap="square" lIns="0" tIns="0" rIns="0" bIns="0" rtlCol="0" anchor="ctr"/>
          <a:lstStyle/>
          <a:p>
            <a:pPr marL="0" indent="0">
              <a:buNone/>
            </a:pPr>
            <a:r>
              <a:rPr lang="en-US" sz="1250" i="1" dirty="0">
                <a:solidFill>
                  <a:srgbClr val="575A5D"/>
                </a:solidFill>
                <a:latin typeface="Calibri" pitchFamily="34" charset="0"/>
                <a:ea typeface="Calibri" pitchFamily="34" charset="-122"/>
                <a:cs typeface="Calibri" pitchFamily="34" charset="-120"/>
              </a:rPr>
              <a:t>None of this shows up in a demo — it's what keeps the score honest six months after launch.</a:t>
            </a:r>
            <a:endParaRPr lang="en-US" sz="1250" dirty="0"/>
          </a:p>
        </p:txBody>
      </p:sp>
      <p:sp>
        <p:nvSpPr>
          <p:cNvPr id="30" name="Text 28"/>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900" dirty="0">
                <a:solidFill>
                  <a:srgbClr val="B6BBC0"/>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P2C Reuse">
    <p:bg>
      <p:bgPr>
        <a:solidFill>
          <a:srgbClr val="FFFFFF"/>
        </a:solidFill>
        <a:effectLst/>
      </p:bgPr>
    </p:bg>
    <p:spTree>
      <p:nvGrpSpPr>
        <p:cNvPr id="1" name=""/>
        <p:cNvGrpSpPr/>
        <p:nvPr/>
      </p:nvGrpSpPr>
      <p:grpSpPr>
        <a:xfrm>
          <a:off x="0" y="0"/>
          <a:ext cx="0" cy="0"/>
          <a:chOff x="0" y="0"/>
          <a:chExt cx="0" cy="0"/>
        </a:xfrm>
      </p:grpSpPr>
      <p:sp>
        <p:nvSpPr>
          <p:cNvPr id="2" name="Eyebrow"/>
          <p:cNvSpPr/>
          <p:nvPr/>
        </p:nvSpPr>
        <p:spPr>
          <a:xfrm>
            <a:off x="640080" y="502920"/>
            <a:ext cx="10000000" cy="320040"/>
          </a:xfrm>
          <a:prstGeom prst="rect">
            <a:avLst/>
          </a:prstGeom>
          <a:noFill/>
          <a:ln/>
        </p:spPr>
        <p:txBody>
          <a:bodyPr wrap="square" lIns="0" tIns="0" rIns="0" bIns="0" rtlCol="0" anchor="ctr"/>
          <a:lstStyle/>
          <a:p>
            <a:pPr marL="0" indent="0" algn="l">
              <a:buNone/>
            </a:pPr>
            <a:r>
              <a:rPr lang="en-US" sz="1200" b="1" dirty="0">
                <a:solidFill>
                  <a:srgbClr val="085CE5"/>
                </a:solidFill>
                <a:latin typeface="Calibri" pitchFamily="34" charset="0"/>
                <a:ea typeface="Calibri" pitchFamily="34" charset="-122"/>
                <a:cs typeface="Calibri" pitchFamily="34" charset="-120"/>
              </a:rPr>
              <a:t>THE SAME PIPELINE, A DIFFERENT LABEL</a:t>
            </a:r>
            <a:endParaRPr lang="en-US" sz="1200" dirty="0"/>
          </a:p>
        </p:txBody>
      </p:sp>
      <p:sp>
        <p:nvSpPr>
          <p:cNvPr id="3" name="Title"/>
          <p:cNvSpPr/>
          <p:nvPr/>
        </p:nvSpPr>
        <p:spPr>
          <a:xfrm>
            <a:off x="640080" y="822960"/>
            <a:ext cx="10515600" cy="640000"/>
          </a:xfrm>
          <a:prstGeom prst="rect">
            <a:avLst/>
          </a:prstGeom>
          <a:noFill/>
          <a:ln/>
        </p:spPr>
        <p:txBody>
          <a:bodyPr wrap="square" lIns="0" tIns="0" rIns="0" bIns="0" rtlCol="0" anchor="ctr"/>
          <a:lstStyle/>
          <a:p>
            <a:pPr marL="0" indent="0" algn="l">
              <a:buNone/>
            </a:pPr>
            <a:r>
              <a:rPr lang="en-US" sz="2800" b="1" dirty="0">
                <a:solidFill>
                  <a:srgbClr val="06185F"/>
                </a:solidFill>
                <a:latin typeface="Arial" pitchFamily="34" charset="0"/>
                <a:ea typeface="Arial" pitchFamily="34" charset="-122"/>
                <a:cs typeface="Arial" pitchFamily="34" charset="-120"/>
              </a:rPr>
              <a:t>P2C runs through every step you just saw</a:t>
            </a:r>
            <a:endParaRPr lang="en-US" sz="2800" dirty="0"/>
          </a:p>
        </p:txBody>
      </p:sp>
      <p:sp>
        <p:nvSpPr>
          <p:cNvPr id="4" name="Sub"/>
          <p:cNvSpPr/>
          <p:nvPr/>
        </p:nvSpPr>
        <p:spPr>
          <a:xfrm>
            <a:off x="640080" y="1450000"/>
            <a:ext cx="10515600" cy="340000"/>
          </a:xfrm>
          <a:prstGeom prst="rect">
            <a:avLst/>
          </a:prstGeom>
          <a:noFill/>
          <a:ln/>
        </p:spPr>
        <p:txBody>
          <a:bodyPr wrap="square" lIns="0" tIns="0" rIns="0" bIns="0" rtlCol="0" anchor="ctr"/>
          <a:lstStyle/>
          <a:p>
            <a:pPr marL="0" indent="0" algn="l">
              <a:buNone/>
            </a:pPr>
            <a:r>
              <a:rPr lang="en-US" sz="1250" i="1" dirty="0">
                <a:solidFill>
                  <a:srgbClr val="575A5D"/>
                </a:solidFill>
                <a:latin typeface="Calibri" pitchFamily="34" charset="0"/>
                <a:ea typeface="Calibri" pitchFamily="34" charset="-122"/>
                <a:cs typeface="Calibri" pitchFamily="34" charset="-120"/>
              </a:rPr>
              <a:t>Data → Explore → Sample → Model → Evaluate → Explain — the pipeline doesn't change. Two things do.</a:t>
            </a:r>
            <a:endParaRPr lang="en-US" sz="1250" dirty="0"/>
          </a:p>
        </p:txBody>
      </p:sp>
      <p:sp>
        <p:nvSpPr>
          <p:cNvPr id="5" name="LeftCard"/>
          <p:cNvSpPr/>
          <p:nvPr/>
        </p:nvSpPr>
        <p:spPr>
          <a:xfrm>
            <a:off x="640080" y="1950000"/>
            <a:ext cx="5057800" cy="3050000"/>
          </a:xfrm>
          <a:prstGeom prst="roundRect">
            <a:avLst>
              <a:gd name="adj" fmla="val 1818"/>
            </a:avLst>
          </a:prstGeom>
          <a:solidFill>
            <a:srgbClr val="E8F7F7"/>
          </a:solidFill>
          <a:ln/>
          <a:effectLst>
            <a:outerShdw blurRad="127000" dist="38100" dir="5400000" algn="bl" rotWithShape="0">
              <a:srgbClr val="1B1F3B">
                <a:alpha val="10000"/>
              </a:srgbClr>
            </a:outerShdw>
          </a:effectLst>
        </p:spPr>
        <p:txBody>
          <a:bodyPr/>
          <a:lstStyle/>
          <a:p>
            <a:endParaRPr lang="en-US"/>
          </a:p>
        </p:txBody>
      </p:sp>
      <p:sp>
        <p:nvSpPr>
          <p:cNvPr id="6" name="LeftTitle"/>
          <p:cNvSpPr/>
          <p:nvPr/>
        </p:nvSpPr>
        <p:spPr>
          <a:xfrm>
            <a:off x="890080" y="2130000"/>
            <a:ext cx="4557800" cy="320000"/>
          </a:xfrm>
          <a:prstGeom prst="rect">
            <a:avLst/>
          </a:prstGeom>
          <a:noFill/>
          <a:ln/>
        </p:spPr>
        <p:txBody>
          <a:bodyPr wrap="square" lIns="0" tIns="0" rIns="0" bIns="0" rtlCol="0" anchor="ctr"/>
          <a:lstStyle/>
          <a:p>
            <a:pPr marL="0" indent="0" algn="l">
              <a:buNone/>
            </a:pPr>
            <a:r>
              <a:rPr lang="en-US" sz="1250" b="1" dirty="0">
                <a:solidFill>
                  <a:srgbClr val="06185F"/>
                </a:solidFill>
                <a:latin typeface="Arial" pitchFamily="34" charset="0"/>
                <a:ea typeface="Arial" pitchFamily="34" charset="-122"/>
                <a:cs typeface="Arial" pitchFamily="34" charset="-120"/>
              </a:rPr>
              <a:t>DATA: new signals, same discipline</a:t>
            </a:r>
            <a:endParaRPr lang="en-US" sz="1250" dirty="0"/>
          </a:p>
        </p:txBody>
      </p:sp>
      <p:sp>
        <p:nvSpPr>
          <p:cNvPr id="7" name="DP_H_2570000"/>
          <p:cNvSpPr/>
          <p:nvPr/>
        </p:nvSpPr>
        <p:spPr>
          <a:xfrm>
            <a:off x="890080" y="2570000"/>
            <a:ext cx="4557800" cy="260000"/>
          </a:xfrm>
          <a:prstGeom prst="rect">
            <a:avLst/>
          </a:prstGeom>
          <a:noFill/>
          <a:ln/>
        </p:spPr>
        <p:txBody>
          <a:bodyPr wrap="square" lIns="0" tIns="0" rIns="0" bIns="0" rtlCol="0" anchor="ctr"/>
          <a:lstStyle/>
          <a:p>
            <a:pPr marL="0" indent="0" algn="l">
              <a:buNone/>
            </a:pPr>
            <a:r>
              <a:rPr lang="en-US" sz="1100" b="1" dirty="0">
                <a:solidFill>
                  <a:srgbClr val="06185F"/>
                </a:solidFill>
                <a:latin typeface="Calibri" pitchFamily="34" charset="0"/>
                <a:ea typeface="Calibri" pitchFamily="34" charset="-122"/>
                <a:cs typeface="Calibri" pitchFamily="34" charset="-120"/>
              </a:rPr>
              <a:t>Payment-aggregator patterns</a:t>
            </a:r>
            <a:endParaRPr lang="en-US" sz="1100" dirty="0"/>
          </a:p>
        </p:txBody>
      </p:sp>
      <p:sp>
        <p:nvSpPr>
          <p:cNvPr id="8" name="DP_D_2570000"/>
          <p:cNvSpPr/>
          <p:nvPr/>
        </p:nvSpPr>
        <p:spPr>
          <a:xfrm>
            <a:off x="890080" y="2820000"/>
            <a:ext cx="4557800" cy="300000"/>
          </a:xfrm>
          <a:prstGeom prst="rect">
            <a:avLst/>
          </a:prstGeom>
          <a:noFill/>
          <a:ln/>
        </p:spPr>
        <p:txBody>
          <a:bodyPr wrap="square" lIns="0" tIns="0" rIns="0" bIns="0" rtlCol="0" anchor="ctr"/>
          <a:lstStyle/>
          <a:p>
            <a:pPr marL="0" indent="0" algn="l">
              <a:buNone/>
            </a:pPr>
            <a:r>
              <a:rPr lang="en-US" sz="950" dirty="0">
                <a:solidFill>
                  <a:srgbClr val="575A5D"/>
                </a:solidFill>
                <a:latin typeface="Calibri" pitchFamily="34" charset="0"/>
                <a:ea typeface="Calibri" pitchFamily="34" charset="-122"/>
                <a:cs typeface="Calibri" pitchFamily="34" charset="-120"/>
              </a:rPr>
              <a:t>Deposit rhythms shaped like Stripe, Square, or PayPal payouts</a:t>
            </a:r>
            <a:endParaRPr lang="en-US" sz="950" dirty="0"/>
          </a:p>
        </p:txBody>
      </p:sp>
      <p:sp>
        <p:nvSpPr>
          <p:cNvPr id="9" name="DP_H_3160000"/>
          <p:cNvSpPr/>
          <p:nvPr/>
        </p:nvSpPr>
        <p:spPr>
          <a:xfrm>
            <a:off x="890080" y="3160000"/>
            <a:ext cx="4557800" cy="260000"/>
          </a:xfrm>
          <a:prstGeom prst="rect">
            <a:avLst/>
          </a:prstGeom>
          <a:noFill/>
          <a:ln/>
        </p:spPr>
        <p:txBody>
          <a:bodyPr wrap="square" lIns="0" tIns="0" rIns="0" bIns="0" rtlCol="0" anchor="ctr"/>
          <a:lstStyle/>
          <a:p>
            <a:pPr marL="0" indent="0" algn="l">
              <a:buNone/>
            </a:pPr>
            <a:r>
              <a:rPr lang="en-US" sz="1100" b="1" dirty="0">
                <a:solidFill>
                  <a:srgbClr val="06185F"/>
                </a:solidFill>
                <a:latin typeface="Calibri" pitchFamily="34" charset="0"/>
                <a:ea typeface="Calibri" pitchFamily="34" charset="-122"/>
                <a:cs typeface="Calibri" pitchFamily="34" charset="-120"/>
              </a:rPr>
              <a:t>Counterparty diversity</a:t>
            </a:r>
            <a:endParaRPr lang="en-US" sz="1100" dirty="0"/>
          </a:p>
        </p:txBody>
      </p:sp>
      <p:sp>
        <p:nvSpPr>
          <p:cNvPr id="10" name="DP_D_3160000"/>
          <p:cNvSpPr/>
          <p:nvPr/>
        </p:nvSpPr>
        <p:spPr>
          <a:xfrm>
            <a:off x="890080" y="3410000"/>
            <a:ext cx="4557800" cy="300000"/>
          </a:xfrm>
          <a:prstGeom prst="rect">
            <a:avLst/>
          </a:prstGeom>
          <a:noFill/>
          <a:ln/>
        </p:spPr>
        <p:txBody>
          <a:bodyPr wrap="square" lIns="0" tIns="0" rIns="0" bIns="0" rtlCol="0" anchor="ctr"/>
          <a:lstStyle/>
          <a:p>
            <a:pPr marL="0" indent="0" algn="l">
              <a:buNone/>
            </a:pPr>
            <a:r>
              <a:rPr lang="en-US" sz="950" dirty="0">
                <a:solidFill>
                  <a:srgbClr val="575A5D"/>
                </a:solidFill>
                <a:latin typeface="Calibri" pitchFamily="34" charset="0"/>
                <a:ea typeface="Calibri" pitchFamily="34" charset="-122"/>
                <a:cs typeface="Calibri" pitchFamily="34" charset="-120"/>
              </a:rPr>
              <a:t>Many distinct payers instead of a small repeating circle</a:t>
            </a:r>
            <a:endParaRPr lang="en-US" sz="950" dirty="0"/>
          </a:p>
        </p:txBody>
      </p:sp>
      <p:sp>
        <p:nvSpPr>
          <p:cNvPr id="11" name="DP_H_3750000"/>
          <p:cNvSpPr/>
          <p:nvPr/>
        </p:nvSpPr>
        <p:spPr>
          <a:xfrm>
            <a:off x="890080" y="3750000"/>
            <a:ext cx="4557800" cy="260000"/>
          </a:xfrm>
          <a:prstGeom prst="rect">
            <a:avLst/>
          </a:prstGeom>
          <a:noFill/>
          <a:ln/>
        </p:spPr>
        <p:txBody>
          <a:bodyPr wrap="square" lIns="0" tIns="0" rIns="0" bIns="0" rtlCol="0" anchor="ctr"/>
          <a:lstStyle/>
          <a:p>
            <a:pPr marL="0" indent="0" algn="l">
              <a:buNone/>
            </a:pPr>
            <a:r>
              <a:rPr lang="en-US" sz="1100" b="1" dirty="0">
                <a:solidFill>
                  <a:srgbClr val="06185F"/>
                </a:solidFill>
                <a:latin typeface="Calibri" pitchFamily="34" charset="0"/>
                <a:ea typeface="Calibri" pitchFamily="34" charset="-122"/>
                <a:cs typeface="Calibri" pitchFamily="34" charset="-120"/>
              </a:rPr>
              <a:t>Deposit timing &amp; velocity</a:t>
            </a:r>
            <a:endParaRPr lang="en-US" sz="1100" dirty="0"/>
          </a:p>
        </p:txBody>
      </p:sp>
      <p:sp>
        <p:nvSpPr>
          <p:cNvPr id="12" name="DP_D_3750000"/>
          <p:cNvSpPr/>
          <p:nvPr/>
        </p:nvSpPr>
        <p:spPr>
          <a:xfrm>
            <a:off x="890080" y="4000000"/>
            <a:ext cx="4557800" cy="300000"/>
          </a:xfrm>
          <a:prstGeom prst="rect">
            <a:avLst/>
          </a:prstGeom>
          <a:noFill/>
          <a:ln/>
        </p:spPr>
        <p:txBody>
          <a:bodyPr wrap="square" lIns="0" tIns="0" rIns="0" bIns="0" rtlCol="0" anchor="ctr"/>
          <a:lstStyle/>
          <a:p>
            <a:pPr marL="0" indent="0" algn="l">
              <a:buNone/>
            </a:pPr>
            <a:r>
              <a:rPr lang="en-US" sz="950" dirty="0">
                <a:solidFill>
                  <a:srgbClr val="575A5D"/>
                </a:solidFill>
                <a:latin typeface="Calibri" pitchFamily="34" charset="0"/>
                <a:ea typeface="Calibri" pitchFamily="34" charset="-122"/>
                <a:cs typeface="Calibri" pitchFamily="34" charset="-120"/>
              </a:rPr>
              <a:t>Business-hours cadence and a rising average ticket size</a:t>
            </a:r>
            <a:endParaRPr lang="en-US" sz="950" dirty="0"/>
          </a:p>
        </p:txBody>
      </p:sp>
      <p:sp>
        <p:nvSpPr>
          <p:cNvPr id="13" name="DP_H_4340000"/>
          <p:cNvSpPr/>
          <p:nvPr/>
        </p:nvSpPr>
        <p:spPr>
          <a:xfrm>
            <a:off x="890080" y="4340000"/>
            <a:ext cx="4557800" cy="260000"/>
          </a:xfrm>
          <a:prstGeom prst="rect">
            <a:avLst/>
          </a:prstGeom>
          <a:noFill/>
          <a:ln/>
        </p:spPr>
        <p:txBody>
          <a:bodyPr wrap="square" lIns="0" tIns="0" rIns="0" bIns="0" rtlCol="0" anchor="ctr"/>
          <a:lstStyle/>
          <a:p>
            <a:pPr marL="0" indent="0" algn="l">
              <a:buNone/>
            </a:pPr>
            <a:r>
              <a:rPr lang="en-US" sz="1100" b="1" dirty="0">
                <a:solidFill>
                  <a:srgbClr val="06185F"/>
                </a:solidFill>
                <a:latin typeface="Calibri" pitchFamily="34" charset="0"/>
                <a:ea typeface="Calibri" pitchFamily="34" charset="-122"/>
                <a:cs typeface="Calibri" pitchFamily="34" charset="-120"/>
              </a:rPr>
              <a:t>Memo &amp; name matching</a:t>
            </a:r>
            <a:endParaRPr lang="en-US" sz="1100" dirty="0"/>
          </a:p>
        </p:txBody>
      </p:sp>
      <p:sp>
        <p:nvSpPr>
          <p:cNvPr id="14" name="DP_D_4340000"/>
          <p:cNvSpPr/>
          <p:nvPr/>
        </p:nvSpPr>
        <p:spPr>
          <a:xfrm>
            <a:off x="890080" y="4590000"/>
            <a:ext cx="4557800" cy="300000"/>
          </a:xfrm>
          <a:prstGeom prst="rect">
            <a:avLst/>
          </a:prstGeom>
          <a:noFill/>
          <a:ln/>
        </p:spPr>
        <p:txBody>
          <a:bodyPr wrap="square" lIns="0" tIns="0" rIns="0" bIns="0" rtlCol="0" anchor="ctr"/>
          <a:lstStyle/>
          <a:p>
            <a:pPr marL="0" indent="0" algn="l">
              <a:buNone/>
            </a:pPr>
            <a:r>
              <a:rPr lang="en-US" sz="950" dirty="0">
                <a:solidFill>
                  <a:srgbClr val="575A5D"/>
                </a:solidFill>
                <a:latin typeface="Calibri" pitchFamily="34" charset="0"/>
                <a:ea typeface="Calibri" pitchFamily="34" charset="-122"/>
                <a:cs typeface="Calibri" pitchFamily="34" charset="-120"/>
              </a:rPr>
              <a:t>Invoice language or a business name in the transaction memo</a:t>
            </a:r>
            <a:endParaRPr lang="en-US" sz="950" dirty="0"/>
          </a:p>
        </p:txBody>
      </p:sp>
      <p:sp>
        <p:nvSpPr>
          <p:cNvPr id="15" name="RightCard"/>
          <p:cNvSpPr/>
          <p:nvPr/>
        </p:nvSpPr>
        <p:spPr>
          <a:xfrm>
            <a:off x="6097880" y="1950000"/>
            <a:ext cx="5057800" cy="3050000"/>
          </a:xfrm>
          <a:prstGeom prst="roundRect">
            <a:avLst>
              <a:gd name="adj" fmla="val 1818"/>
            </a:avLst>
          </a:prstGeom>
          <a:solidFill>
            <a:srgbClr val="FFFFFF"/>
          </a:solidFill>
          <a:ln>
            <a:solidFill>
              <a:srgbClr val="D7DBDE"/>
            </a:solidFill>
          </a:ln>
          <a:effectLst>
            <a:outerShdw blurRad="127000" dist="38100" dir="5400000" algn="bl" rotWithShape="0">
              <a:srgbClr val="1B1F3B">
                <a:alpha val="10000"/>
              </a:srgbClr>
            </a:outerShdw>
          </a:effectLst>
        </p:spPr>
        <p:txBody>
          <a:bodyPr/>
          <a:lstStyle/>
          <a:p>
            <a:endParaRPr lang="en-US"/>
          </a:p>
        </p:txBody>
      </p:sp>
      <p:sp>
        <p:nvSpPr>
          <p:cNvPr id="16" name="RightTitle"/>
          <p:cNvSpPr/>
          <p:nvPr/>
        </p:nvSpPr>
        <p:spPr>
          <a:xfrm>
            <a:off x="6347880" y="2130000"/>
            <a:ext cx="4557800" cy="320000"/>
          </a:xfrm>
          <a:prstGeom prst="rect">
            <a:avLst/>
          </a:prstGeom>
          <a:noFill/>
          <a:ln/>
        </p:spPr>
        <p:txBody>
          <a:bodyPr wrap="square" lIns="0" tIns="0" rIns="0" bIns="0" rtlCol="0" anchor="ctr"/>
          <a:lstStyle/>
          <a:p>
            <a:pPr marL="0" indent="0" algn="l">
              <a:buNone/>
            </a:pPr>
            <a:r>
              <a:rPr lang="en-US" sz="1250" b="1" dirty="0">
                <a:solidFill>
                  <a:srgbClr val="06185F"/>
                </a:solidFill>
                <a:latin typeface="Arial" pitchFamily="34" charset="0"/>
                <a:ea typeface="Arial" pitchFamily="34" charset="-122"/>
                <a:cs typeface="Arial" pitchFamily="34" charset="-120"/>
              </a:rPr>
              <a:t>LABELING: a harder problem than churn</a:t>
            </a:r>
            <a:endParaRPr lang="en-US" sz="1250" dirty="0"/>
          </a:p>
        </p:txBody>
      </p:sp>
      <p:sp>
        <p:nvSpPr>
          <p:cNvPr id="17" name="RightIntro"/>
          <p:cNvSpPr/>
          <p:nvPr/>
        </p:nvSpPr>
        <p:spPr>
          <a:xfrm>
            <a:off x="6347880" y="2510000"/>
            <a:ext cx="4557800" cy="500000"/>
          </a:xfrm>
          <a:prstGeom prst="rect">
            <a:avLst/>
          </a:prstGeom>
          <a:noFill/>
          <a:ln/>
        </p:spPr>
        <p:txBody>
          <a:bodyPr wrap="square" lIns="0" tIns="0" rIns="0" bIns="0" rtlCol="0" anchor="ctr"/>
          <a:lstStyle/>
          <a:p>
            <a:pPr marL="0" indent="0" algn="l">
              <a:buNone/>
            </a:pPr>
            <a:r>
              <a:rPr lang="en-US" sz="1050" dirty="0">
                <a:solidFill>
                  <a:srgbClr val="575A5D"/>
                </a:solidFill>
                <a:latin typeface="Calibri" pitchFamily="34" charset="0"/>
                <a:ea typeface="Calibri" pitchFamily="34" charset="-122"/>
                <a:cs typeface="Calibri" pitchFamily="34" charset="-120"/>
              </a:rPr>
              <a:t>Churn has a clean label — the account closed. “This personal account is really a business” rarely gets confirmed unless the member says so.</a:t>
            </a:r>
            <a:endParaRPr lang="en-US" sz="1050" dirty="0"/>
          </a:p>
        </p:txBody>
      </p:sp>
      <p:sp>
        <p:nvSpPr>
          <p:cNvPr id="18" name="PathA"/>
          <p:cNvSpPr/>
          <p:nvPr/>
        </p:nvSpPr>
        <p:spPr>
          <a:xfrm>
            <a:off x="6347880" y="3150000"/>
            <a:ext cx="4557800" cy="700000"/>
          </a:xfrm>
          <a:prstGeom prst="roundRect">
            <a:avLst>
              <a:gd name="adj" fmla="val 8000"/>
            </a:avLst>
          </a:prstGeom>
          <a:solidFill>
            <a:srgbClr val="E8F7F7"/>
          </a:solidFill>
          <a:ln/>
        </p:spPr>
        <p:txBody>
          <a:bodyPr/>
          <a:lstStyle/>
          <a:p>
            <a:endParaRPr lang="en-US"/>
          </a:p>
        </p:txBody>
      </p:sp>
      <p:sp>
        <p:nvSpPr>
          <p:cNvPr id="19" name="PathATitle"/>
          <p:cNvSpPr/>
          <p:nvPr/>
        </p:nvSpPr>
        <p:spPr>
          <a:xfrm>
            <a:off x="6497880" y="3210000"/>
            <a:ext cx="4257800" cy="260000"/>
          </a:xfrm>
          <a:prstGeom prst="rect">
            <a:avLst/>
          </a:prstGeom>
          <a:noFill/>
          <a:ln/>
        </p:spPr>
        <p:txBody>
          <a:bodyPr wrap="square" lIns="0" tIns="0" rIns="0" bIns="0" rtlCol="0" anchor="ctr"/>
          <a:lstStyle/>
          <a:p>
            <a:pPr marL="0" indent="0" algn="l">
              <a:buNone/>
            </a:pPr>
            <a:r>
              <a:rPr lang="en-US" sz="1100" b="1" dirty="0">
                <a:solidFill>
                  <a:srgbClr val="06185F"/>
                </a:solidFill>
                <a:latin typeface="Calibri" pitchFamily="34" charset="0"/>
                <a:ea typeface="Calibri" pitchFamily="34" charset="-122"/>
                <a:cs typeface="Calibri" pitchFamily="34" charset="-120"/>
              </a:rPr>
              <a:t>Path A — Unsupervised</a:t>
            </a:r>
            <a:endParaRPr lang="en-US" sz="1100" dirty="0"/>
          </a:p>
        </p:txBody>
      </p:sp>
      <p:sp>
        <p:nvSpPr>
          <p:cNvPr id="20" name="PathADesc"/>
          <p:cNvSpPr/>
          <p:nvPr/>
        </p:nvSpPr>
        <p:spPr>
          <a:xfrm>
            <a:off x="6497880" y="3470000"/>
            <a:ext cx="4257800" cy="330000"/>
          </a:xfrm>
          <a:prstGeom prst="rect">
            <a:avLst/>
          </a:prstGeom>
          <a:noFill/>
          <a:ln/>
        </p:spPr>
        <p:txBody>
          <a:bodyPr wrap="square" lIns="0" tIns="0" rIns="0" bIns="0" rtlCol="0" anchor="ctr"/>
          <a:lstStyle/>
          <a:p>
            <a:pPr marL="0" indent="0" algn="l">
              <a:buNone/>
            </a:pPr>
            <a:r>
              <a:rPr lang="en-US" sz="950" dirty="0">
                <a:solidFill>
                  <a:srgbClr val="575A5D"/>
                </a:solidFill>
                <a:latin typeface="Calibri" pitchFamily="34" charset="0"/>
                <a:ea typeface="Calibri" pitchFamily="34" charset="-122"/>
                <a:cs typeface="Calibri" pitchFamily="34" charset="-120"/>
              </a:rPr>
              <a:t>Anomaly detection surfaces accounts that behave unlike typical personal activity — no labels required</a:t>
            </a:r>
            <a:endParaRPr lang="en-US" sz="950" dirty="0"/>
          </a:p>
        </p:txBody>
      </p:sp>
      <p:sp>
        <p:nvSpPr>
          <p:cNvPr id="21" name="PathB"/>
          <p:cNvSpPr/>
          <p:nvPr/>
        </p:nvSpPr>
        <p:spPr>
          <a:xfrm>
            <a:off x="6347880" y="3970000"/>
            <a:ext cx="4557800" cy="700000"/>
          </a:xfrm>
          <a:prstGeom prst="roundRect">
            <a:avLst>
              <a:gd name="adj" fmla="val 8000"/>
            </a:avLst>
          </a:prstGeom>
          <a:solidFill>
            <a:srgbClr val="E8F7F7"/>
          </a:solidFill>
          <a:ln/>
        </p:spPr>
        <p:txBody>
          <a:bodyPr/>
          <a:lstStyle/>
          <a:p>
            <a:endParaRPr lang="en-US"/>
          </a:p>
        </p:txBody>
      </p:sp>
      <p:sp>
        <p:nvSpPr>
          <p:cNvPr id="22" name="PathBTitle"/>
          <p:cNvSpPr/>
          <p:nvPr/>
        </p:nvSpPr>
        <p:spPr>
          <a:xfrm>
            <a:off x="6497880" y="4030000"/>
            <a:ext cx="4257800" cy="260000"/>
          </a:xfrm>
          <a:prstGeom prst="rect">
            <a:avLst/>
          </a:prstGeom>
          <a:noFill/>
          <a:ln/>
        </p:spPr>
        <p:txBody>
          <a:bodyPr wrap="square" lIns="0" tIns="0" rIns="0" bIns="0" rtlCol="0" anchor="ctr"/>
          <a:lstStyle/>
          <a:p>
            <a:pPr marL="0" indent="0" algn="l">
              <a:buNone/>
            </a:pPr>
            <a:r>
              <a:rPr lang="en-US" sz="1100" b="1" dirty="0">
                <a:solidFill>
                  <a:srgbClr val="06185F"/>
                </a:solidFill>
                <a:latin typeface="Calibri" pitchFamily="34" charset="0"/>
                <a:ea typeface="Calibri" pitchFamily="34" charset="-122"/>
                <a:cs typeface="Calibri" pitchFamily="34" charset="-120"/>
              </a:rPr>
              <a:t>Path B — Supervised</a:t>
            </a:r>
            <a:endParaRPr lang="en-US" sz="1100" dirty="0"/>
          </a:p>
        </p:txBody>
      </p:sp>
      <p:sp>
        <p:nvSpPr>
          <p:cNvPr id="23" name="PathBDesc"/>
          <p:cNvSpPr/>
          <p:nvPr/>
        </p:nvSpPr>
        <p:spPr>
          <a:xfrm>
            <a:off x="6497880" y="4290000"/>
            <a:ext cx="4257800" cy="330000"/>
          </a:xfrm>
          <a:prstGeom prst="rect">
            <a:avLst/>
          </a:prstGeom>
          <a:noFill/>
          <a:ln/>
        </p:spPr>
        <p:txBody>
          <a:bodyPr wrap="square" lIns="0" tIns="0" rIns="0" bIns="0" rtlCol="0" anchor="ctr"/>
          <a:lstStyle/>
          <a:p>
            <a:pPr marL="0" indent="0" algn="l">
              <a:buNone/>
            </a:pPr>
            <a:r>
              <a:rPr lang="en-US" sz="950" dirty="0">
                <a:solidFill>
                  <a:srgbClr val="575A5D"/>
                </a:solidFill>
                <a:latin typeface="Calibri" pitchFamily="34" charset="0"/>
                <a:ea typeface="Calibri" pitchFamily="34" charset="-122"/>
                <a:cs typeface="Calibri" pitchFamily="34" charset="-120"/>
              </a:rPr>
              <a:t>Trained on accounts that later opened a business account — learns the signature that preceded conversion</a:t>
            </a:r>
            <a:endParaRPr lang="en-US" sz="950" dirty="0"/>
          </a:p>
        </p:txBody>
      </p:sp>
      <p:sp>
        <p:nvSpPr>
          <p:cNvPr id="24" name="Closing"/>
          <p:cNvSpPr/>
          <p:nvPr/>
        </p:nvSpPr>
        <p:spPr>
          <a:xfrm>
            <a:off x="640080" y="5250000"/>
            <a:ext cx="10515600" cy="460000"/>
          </a:xfrm>
          <a:prstGeom prst="rect">
            <a:avLst/>
          </a:prstGeom>
          <a:noFill/>
          <a:ln/>
        </p:spPr>
        <p:txBody>
          <a:bodyPr wrap="square" lIns="0" tIns="0" rIns="0" bIns="0" rtlCol="0" anchor="ctr"/>
          <a:lstStyle/>
          <a:p>
            <a:pPr marL="0" indent="0" algn="l">
              <a:buNone/>
            </a:pPr>
            <a:r>
              <a:rPr lang="en-US" sz="1200" i="1" dirty="0">
                <a:solidFill>
                  <a:srgbClr val="575A5D"/>
                </a:solidFill>
                <a:latin typeface="Calibri" pitchFamily="34" charset="0"/>
                <a:ea typeface="Calibri" pitchFamily="34" charset="-122"/>
                <a:cs typeface="Calibri" pitchFamily="34" charset="-120"/>
              </a:rPr>
              <a:t>Both paths feed one blended propensity score, reviewed through the same TreeSHAP layer used for churn — one governance process, two revenue plays.</a:t>
            </a:r>
            <a:endParaRPr lang="en-US" sz="1200" dirty="0"/>
          </a:p>
        </p:txBody>
      </p:sp>
      <p:sp>
        <p:nvSpPr>
          <p:cNvPr id="25" name="PageNum"/>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900" dirty="0">
                <a:solidFill>
                  <a:srgbClr val="B6BBC0"/>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06185F"/>
        </a:solidFill>
        <a:effectLst/>
      </p:bgPr>
    </p:bg>
    <p:spTree>
      <p:nvGrpSpPr>
        <p:cNvPr id="1" name=""/>
        <p:cNvGrpSpPr/>
        <p:nvPr/>
      </p:nvGrpSpPr>
      <p:grpSpPr>
        <a:xfrm>
          <a:off x="0" y="0"/>
          <a:ext cx="0" cy="0"/>
          <a:chOff x="0" y="0"/>
          <a:chExt cx="0" cy="0"/>
        </a:xfrm>
      </p:grpSpPr>
      <p:sp>
        <p:nvSpPr>
          <p:cNvPr id="2" name="Shape 0"/>
          <p:cNvSpPr/>
          <p:nvPr/>
        </p:nvSpPr>
        <p:spPr>
          <a:xfrm>
            <a:off x="9082735" y="-1463040"/>
            <a:ext cx="4023360" cy="4023360"/>
          </a:xfrm>
          <a:prstGeom prst="ellipse">
            <a:avLst/>
          </a:prstGeom>
          <a:solidFill>
            <a:srgbClr val="085CE5">
              <a:alpha val="22000"/>
            </a:srgbClr>
          </a:solidFill>
          <a:ln/>
        </p:spPr>
        <p:txBody>
          <a:bodyPr/>
          <a:lstStyle/>
          <a:p>
            <a:endParaRPr lang="en-US"/>
          </a:p>
        </p:txBody>
      </p:sp>
      <p:sp>
        <p:nvSpPr>
          <p:cNvPr id="3" name="Shape 1"/>
          <p:cNvSpPr/>
          <p:nvPr/>
        </p:nvSpPr>
        <p:spPr>
          <a:xfrm>
            <a:off x="10271455" y="-548640"/>
            <a:ext cx="2377440" cy="2377440"/>
          </a:xfrm>
          <a:prstGeom prst="ellipse">
            <a:avLst/>
          </a:prstGeom>
          <a:solidFill>
            <a:srgbClr val="76DCFD">
              <a:alpha val="45000"/>
            </a:srgbClr>
          </a:solidFill>
          <a:ln/>
        </p:spPr>
        <p:txBody>
          <a:bodyPr/>
          <a:lstStyle/>
          <a:p>
            <a:endParaRPr lang="en-US"/>
          </a:p>
        </p:txBody>
      </p:sp>
      <p:sp>
        <p:nvSpPr>
          <p:cNvPr id="4" name="Text 2"/>
          <p:cNvSpPr/>
          <p:nvPr/>
        </p:nvSpPr>
        <p:spPr>
          <a:xfrm>
            <a:off x="640080" y="2377440"/>
            <a:ext cx="5486400" cy="365760"/>
          </a:xfrm>
          <a:prstGeom prst="rect">
            <a:avLst/>
          </a:prstGeom>
          <a:noFill/>
          <a:ln/>
        </p:spPr>
        <p:txBody>
          <a:bodyPr wrap="square" lIns="0" tIns="0" rIns="0" bIns="0" rtlCol="0" anchor="ctr"/>
          <a:lstStyle/>
          <a:p>
            <a:pPr marL="0" indent="0">
              <a:buNone/>
            </a:pPr>
            <a:r>
              <a:rPr lang="en-US" sz="1400" b="1" kern="0" spc="300" dirty="0">
                <a:solidFill>
                  <a:srgbClr val="76DCFD"/>
                </a:solidFill>
                <a:latin typeface="Calibri" pitchFamily="34" charset="0"/>
                <a:ea typeface="Calibri" pitchFamily="34" charset="-122"/>
                <a:cs typeface="Calibri" pitchFamily="34" charset="-120"/>
              </a:rPr>
              <a:t>PART THREE</a:t>
            </a:r>
            <a:endParaRPr lang="en-US" sz="1400" dirty="0"/>
          </a:p>
        </p:txBody>
      </p:sp>
      <p:sp>
        <p:nvSpPr>
          <p:cNvPr id="5" name="Text 3"/>
          <p:cNvSpPr/>
          <p:nvPr/>
        </p:nvSpPr>
        <p:spPr>
          <a:xfrm>
            <a:off x="640080" y="2743200"/>
            <a:ext cx="9144000" cy="1005840"/>
          </a:xfrm>
          <a:prstGeom prst="rect">
            <a:avLst/>
          </a:prstGeom>
          <a:noFill/>
          <a:ln/>
        </p:spPr>
        <p:txBody>
          <a:bodyPr wrap="square" lIns="0" tIns="0" rIns="0" bIns="0" rtlCol="0" anchor="ctr"/>
          <a:lstStyle/>
          <a:p>
            <a:pPr marL="0" indent="0">
              <a:buNone/>
            </a:pPr>
            <a:r>
              <a:rPr lang="en-US" sz="4200" b="1" dirty="0">
                <a:solidFill>
                  <a:srgbClr val="FFFFFF"/>
                </a:solidFill>
                <a:latin typeface="Arial" pitchFamily="34" charset="0"/>
                <a:ea typeface="Arial" pitchFamily="34" charset="-122"/>
                <a:cs typeface="Arial" pitchFamily="34" charset="-120"/>
              </a:rPr>
              <a:t>Making It Explainable</a:t>
            </a:r>
            <a:endParaRPr lang="en-US" sz="4200" dirty="0"/>
          </a:p>
        </p:txBody>
      </p:sp>
      <p:sp>
        <p:nvSpPr>
          <p:cNvPr id="6" name="Text 4"/>
          <p:cNvSpPr/>
          <p:nvPr/>
        </p:nvSpPr>
        <p:spPr>
          <a:xfrm>
            <a:off x="640080" y="3703320"/>
            <a:ext cx="9144000" cy="548640"/>
          </a:xfrm>
          <a:prstGeom prst="rect">
            <a:avLst/>
          </a:prstGeom>
          <a:noFill/>
          <a:ln/>
        </p:spPr>
        <p:txBody>
          <a:bodyPr wrap="square" lIns="0" tIns="0" rIns="0" bIns="0" rtlCol="0" anchor="ctr"/>
          <a:lstStyle/>
          <a:p>
            <a:pPr marL="0" indent="0">
              <a:buNone/>
            </a:pPr>
            <a:r>
              <a:rPr lang="en-US" sz="1500" i="1" dirty="0">
                <a:solidFill>
                  <a:srgbClr val="CADCFC"/>
                </a:solidFill>
                <a:latin typeface="Calibri" pitchFamily="34" charset="0"/>
                <a:ea typeface="Calibri" pitchFamily="34" charset="-122"/>
                <a:cs typeface="Calibri" pitchFamily="34" charset="-120"/>
              </a:rPr>
              <a:t>SHAP, AI narrative, and calibrated scorecards — turning a model output into an insight</a:t>
            </a:r>
            <a:endParaRPr lang="en-US" sz="1500" dirty="0"/>
          </a:p>
        </p:txBody>
      </p:sp>
      <p:sp>
        <p:nvSpPr>
          <p:cNvPr id="7" name="Text 5"/>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900" dirty="0">
                <a:solidFill>
                  <a:srgbClr val="B6BBC0"/>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marL="0" indent="0" algn="l">
              <a:buNone/>
            </a:pPr>
            <a:r>
              <a:rPr lang="en-US" sz="1200" b="1" kern="0" spc="200" dirty="0">
                <a:solidFill>
                  <a:srgbClr val="085CE5"/>
                </a:solidFill>
                <a:latin typeface="Calibri" pitchFamily="34" charset="0"/>
                <a:ea typeface="Calibri" pitchFamily="34" charset="-122"/>
                <a:cs typeface="Calibri" pitchFamily="34" charset="-120"/>
              </a:rPr>
              <a:t>WHY EXPLAINABILITY ISN'T OPTIONAL</a:t>
            </a:r>
            <a:endParaRPr lang="en-US" sz="1200" dirty="0"/>
          </a:p>
        </p:txBody>
      </p:sp>
      <p:sp>
        <p:nvSpPr>
          <p:cNvPr id="3" name="Text 1"/>
          <p:cNvSpPr/>
          <p:nvPr/>
        </p:nvSpPr>
        <p:spPr>
          <a:xfrm>
            <a:off x="640080" y="822960"/>
            <a:ext cx="7772400" cy="731520"/>
          </a:xfrm>
          <a:prstGeom prst="rect">
            <a:avLst/>
          </a:prstGeom>
          <a:noFill/>
          <a:ln/>
        </p:spPr>
        <p:txBody>
          <a:bodyPr wrap="square" lIns="0" tIns="0" rIns="0" bIns="0" rtlCol="0" anchor="ctr"/>
          <a:lstStyle/>
          <a:p>
            <a:pPr marL="0" indent="0">
              <a:buNone/>
            </a:pPr>
            <a:r>
              <a:rPr lang="en-US" sz="2800" b="1" dirty="0">
                <a:solidFill>
                  <a:srgbClr val="06185F"/>
                </a:solidFill>
                <a:latin typeface="Arial" pitchFamily="34" charset="0"/>
                <a:ea typeface="Arial" pitchFamily="34" charset="-122"/>
                <a:cs typeface="Arial" pitchFamily="34" charset="-120"/>
              </a:rPr>
              <a:t>Every score needs a reason</a:t>
            </a:r>
            <a:endParaRPr lang="en-US" sz="2800" dirty="0"/>
          </a:p>
        </p:txBody>
      </p:sp>
      <p:sp>
        <p:nvSpPr>
          <p:cNvPr id="4" name="Shape 2"/>
          <p:cNvSpPr/>
          <p:nvPr/>
        </p:nvSpPr>
        <p:spPr>
          <a:xfrm>
            <a:off x="640080" y="1874520"/>
            <a:ext cx="457200" cy="457200"/>
          </a:xfrm>
          <a:prstGeom prst="ellipse">
            <a:avLst/>
          </a:prstGeom>
          <a:solidFill>
            <a:srgbClr val="085CE5"/>
          </a:solidFill>
          <a:ln/>
        </p:spPr>
        <p:txBody>
          <a:bodyPr/>
          <a:lstStyle/>
          <a:p>
            <a:endParaRPr lang="en-US"/>
          </a:p>
        </p:txBody>
      </p:sp>
      <p:sp>
        <p:nvSpPr>
          <p:cNvPr id="5" name="Shape 3"/>
          <p:cNvSpPr/>
          <p:nvPr/>
        </p:nvSpPr>
        <p:spPr>
          <a:xfrm rot="5400000">
            <a:off x="772668" y="2029265"/>
            <a:ext cx="192024" cy="134417"/>
          </a:xfrm>
          <a:prstGeom prst="chevron">
            <a:avLst/>
          </a:prstGeom>
          <a:solidFill>
            <a:srgbClr val="FFFFFF"/>
          </a:solidFill>
          <a:ln/>
        </p:spPr>
        <p:txBody>
          <a:bodyPr/>
          <a:lstStyle/>
          <a:p>
            <a:endParaRPr lang="en-US"/>
          </a:p>
        </p:txBody>
      </p:sp>
      <p:sp>
        <p:nvSpPr>
          <p:cNvPr id="6" name="Text 4"/>
          <p:cNvSpPr/>
          <p:nvPr/>
        </p:nvSpPr>
        <p:spPr>
          <a:xfrm>
            <a:off x="1261872" y="1828800"/>
            <a:ext cx="4407408" cy="320040"/>
          </a:xfrm>
          <a:prstGeom prst="rect">
            <a:avLst/>
          </a:prstGeom>
          <a:noFill/>
          <a:ln/>
        </p:spPr>
        <p:txBody>
          <a:bodyPr wrap="square" lIns="0" tIns="0" rIns="0" bIns="0" rtlCol="0" anchor="ctr"/>
          <a:lstStyle/>
          <a:p>
            <a:pPr marL="0" indent="0">
              <a:buNone/>
            </a:pPr>
            <a:r>
              <a:rPr lang="en-US" sz="1400" b="1" dirty="0">
                <a:solidFill>
                  <a:srgbClr val="06185F"/>
                </a:solidFill>
                <a:latin typeface="Arial" pitchFamily="34" charset="0"/>
                <a:ea typeface="Arial" pitchFamily="34" charset="-122"/>
                <a:cs typeface="Arial" pitchFamily="34" charset="-120"/>
              </a:rPr>
              <a:t>Model governance</a:t>
            </a:r>
            <a:endParaRPr lang="en-US" sz="1400" dirty="0"/>
          </a:p>
        </p:txBody>
      </p:sp>
      <p:sp>
        <p:nvSpPr>
          <p:cNvPr id="7" name="Text 5"/>
          <p:cNvSpPr/>
          <p:nvPr/>
        </p:nvSpPr>
        <p:spPr>
          <a:xfrm>
            <a:off x="1261872" y="2176272"/>
            <a:ext cx="4407408" cy="868680"/>
          </a:xfrm>
          <a:prstGeom prst="rect">
            <a:avLst/>
          </a:prstGeom>
          <a:noFill/>
          <a:ln/>
        </p:spPr>
        <p:txBody>
          <a:bodyPr wrap="square" lIns="0" tIns="0" rIns="0" bIns="0" rtlCol="0" anchor="ctr"/>
          <a:lstStyle/>
          <a:p>
            <a:pPr marL="0" indent="0">
              <a:buNone/>
            </a:pPr>
            <a:r>
              <a:rPr lang="en-US" sz="1150" dirty="0">
                <a:solidFill>
                  <a:srgbClr val="575A5D"/>
                </a:solidFill>
                <a:latin typeface="Calibri" pitchFamily="34" charset="0"/>
                <a:ea typeface="Calibri" pitchFamily="34" charset="-122"/>
                <a:cs typeface="Calibri" pitchFamily="34" charset="-120"/>
              </a:rPr>
              <a:t>SR 11-7 / OCC 2011-12 require documentation that someone unfamiliar with the model can understand — TreeSHAP is now the standard way examiners expect that shown.</a:t>
            </a:r>
            <a:endParaRPr lang="en-US" sz="1150" dirty="0"/>
          </a:p>
        </p:txBody>
      </p:sp>
      <p:sp>
        <p:nvSpPr>
          <p:cNvPr id="8" name="Shape 6"/>
          <p:cNvSpPr/>
          <p:nvPr/>
        </p:nvSpPr>
        <p:spPr>
          <a:xfrm>
            <a:off x="640080" y="3108960"/>
            <a:ext cx="457200" cy="457200"/>
          </a:xfrm>
          <a:prstGeom prst="ellipse">
            <a:avLst/>
          </a:prstGeom>
          <a:solidFill>
            <a:srgbClr val="085CE5"/>
          </a:solidFill>
          <a:ln/>
        </p:spPr>
        <p:txBody>
          <a:bodyPr/>
          <a:lstStyle/>
          <a:p>
            <a:endParaRPr lang="en-US"/>
          </a:p>
        </p:txBody>
      </p:sp>
      <p:sp>
        <p:nvSpPr>
          <p:cNvPr id="9" name="Shape 7"/>
          <p:cNvSpPr/>
          <p:nvPr/>
        </p:nvSpPr>
        <p:spPr>
          <a:xfrm rot="5400000">
            <a:off x="772668" y="3263705"/>
            <a:ext cx="192024" cy="134417"/>
          </a:xfrm>
          <a:prstGeom prst="chevron">
            <a:avLst/>
          </a:prstGeom>
          <a:solidFill>
            <a:srgbClr val="FFFFFF"/>
          </a:solidFill>
          <a:ln/>
        </p:spPr>
        <p:txBody>
          <a:bodyPr/>
          <a:lstStyle/>
          <a:p>
            <a:endParaRPr lang="en-US"/>
          </a:p>
        </p:txBody>
      </p:sp>
      <p:sp>
        <p:nvSpPr>
          <p:cNvPr id="10" name="Text 8"/>
          <p:cNvSpPr/>
          <p:nvPr/>
        </p:nvSpPr>
        <p:spPr>
          <a:xfrm>
            <a:off x="1261872" y="3063240"/>
            <a:ext cx="4407408" cy="320040"/>
          </a:xfrm>
          <a:prstGeom prst="rect">
            <a:avLst/>
          </a:prstGeom>
          <a:noFill/>
          <a:ln/>
        </p:spPr>
        <p:txBody>
          <a:bodyPr wrap="square" lIns="0" tIns="0" rIns="0" bIns="0" rtlCol="0" anchor="ctr"/>
          <a:lstStyle/>
          <a:p>
            <a:pPr marL="0" indent="0">
              <a:buNone/>
            </a:pPr>
            <a:r>
              <a:rPr lang="en-US" sz="1400" b="1" dirty="0">
                <a:solidFill>
                  <a:srgbClr val="06185F"/>
                </a:solidFill>
                <a:latin typeface="Arial" pitchFamily="34" charset="0"/>
                <a:ea typeface="Arial" pitchFamily="34" charset="-122"/>
                <a:cs typeface="Arial" pitchFamily="34" charset="-120"/>
              </a:rPr>
              <a:t>Frontline usability</a:t>
            </a:r>
            <a:endParaRPr lang="en-US" sz="1400" dirty="0"/>
          </a:p>
        </p:txBody>
      </p:sp>
      <p:sp>
        <p:nvSpPr>
          <p:cNvPr id="11" name="Text 9"/>
          <p:cNvSpPr/>
          <p:nvPr/>
        </p:nvSpPr>
        <p:spPr>
          <a:xfrm>
            <a:off x="1261872" y="3410712"/>
            <a:ext cx="4407408" cy="868680"/>
          </a:xfrm>
          <a:prstGeom prst="rect">
            <a:avLst/>
          </a:prstGeom>
          <a:noFill/>
          <a:ln/>
        </p:spPr>
        <p:txBody>
          <a:bodyPr wrap="square" lIns="0" tIns="0" rIns="0" bIns="0" rtlCol="0" anchor="ctr"/>
          <a:lstStyle/>
          <a:p>
            <a:pPr marL="0" indent="0">
              <a:buNone/>
            </a:pPr>
            <a:r>
              <a:rPr lang="en-US" sz="1150" dirty="0">
                <a:solidFill>
                  <a:srgbClr val="575A5D"/>
                </a:solidFill>
                <a:latin typeface="Calibri" pitchFamily="34" charset="0"/>
                <a:ea typeface="Calibri" pitchFamily="34" charset="-122"/>
                <a:cs typeface="Calibri" pitchFamily="34" charset="-120"/>
              </a:rPr>
              <a:t>A risk score with no reason is unusable. "Declining direct deposit + single product" is something a relationship manager can act on today.</a:t>
            </a:r>
            <a:endParaRPr lang="en-US" sz="1150" dirty="0"/>
          </a:p>
        </p:txBody>
      </p:sp>
      <p:sp>
        <p:nvSpPr>
          <p:cNvPr id="12" name="Shape 10"/>
          <p:cNvSpPr/>
          <p:nvPr/>
        </p:nvSpPr>
        <p:spPr>
          <a:xfrm>
            <a:off x="640080" y="4343400"/>
            <a:ext cx="457200" cy="457200"/>
          </a:xfrm>
          <a:prstGeom prst="ellipse">
            <a:avLst/>
          </a:prstGeom>
          <a:solidFill>
            <a:srgbClr val="085CE5"/>
          </a:solidFill>
          <a:ln/>
        </p:spPr>
        <p:txBody>
          <a:bodyPr/>
          <a:lstStyle/>
          <a:p>
            <a:endParaRPr lang="en-US"/>
          </a:p>
        </p:txBody>
      </p:sp>
      <p:sp>
        <p:nvSpPr>
          <p:cNvPr id="13" name="Shape 11"/>
          <p:cNvSpPr/>
          <p:nvPr/>
        </p:nvSpPr>
        <p:spPr>
          <a:xfrm rot="5400000">
            <a:off x="772668" y="4498145"/>
            <a:ext cx="192024" cy="134417"/>
          </a:xfrm>
          <a:prstGeom prst="chevron">
            <a:avLst/>
          </a:prstGeom>
          <a:solidFill>
            <a:srgbClr val="FFFFFF"/>
          </a:solidFill>
          <a:ln/>
        </p:spPr>
        <p:txBody>
          <a:bodyPr/>
          <a:lstStyle/>
          <a:p>
            <a:endParaRPr lang="en-US"/>
          </a:p>
        </p:txBody>
      </p:sp>
      <p:sp>
        <p:nvSpPr>
          <p:cNvPr id="14" name="Text 12"/>
          <p:cNvSpPr/>
          <p:nvPr/>
        </p:nvSpPr>
        <p:spPr>
          <a:xfrm>
            <a:off x="1261872" y="4297680"/>
            <a:ext cx="4407408" cy="320040"/>
          </a:xfrm>
          <a:prstGeom prst="rect">
            <a:avLst/>
          </a:prstGeom>
          <a:noFill/>
          <a:ln/>
        </p:spPr>
        <p:txBody>
          <a:bodyPr wrap="square" lIns="0" tIns="0" rIns="0" bIns="0" rtlCol="0" anchor="ctr"/>
          <a:lstStyle/>
          <a:p>
            <a:pPr marL="0" indent="0">
              <a:buNone/>
            </a:pPr>
            <a:r>
              <a:rPr lang="en-US" sz="1400" b="1" dirty="0">
                <a:solidFill>
                  <a:srgbClr val="06185F"/>
                </a:solidFill>
                <a:latin typeface="Arial" pitchFamily="34" charset="0"/>
                <a:ea typeface="Arial" pitchFamily="34" charset="-122"/>
                <a:cs typeface="Arial" pitchFamily="34" charset="-120"/>
              </a:rPr>
              <a:t>A scorecard, not a black box</a:t>
            </a:r>
            <a:endParaRPr lang="en-US" sz="1400" dirty="0"/>
          </a:p>
        </p:txBody>
      </p:sp>
      <p:sp>
        <p:nvSpPr>
          <p:cNvPr id="15" name="Text 13"/>
          <p:cNvSpPr/>
          <p:nvPr/>
        </p:nvSpPr>
        <p:spPr>
          <a:xfrm>
            <a:off x="1261872" y="4645152"/>
            <a:ext cx="4407408" cy="868680"/>
          </a:xfrm>
          <a:prstGeom prst="rect">
            <a:avLst/>
          </a:prstGeom>
          <a:noFill/>
          <a:ln/>
        </p:spPr>
        <p:txBody>
          <a:bodyPr wrap="square" lIns="0" tIns="0" rIns="0" bIns="0" rtlCol="0" anchor="ctr"/>
          <a:lstStyle/>
          <a:p>
            <a:pPr marL="0" indent="0">
              <a:buNone/>
            </a:pPr>
            <a:r>
              <a:rPr lang="en-US" sz="1150" dirty="0">
                <a:solidFill>
                  <a:srgbClr val="575A5D"/>
                </a:solidFill>
                <a:latin typeface="Calibri" pitchFamily="34" charset="0"/>
                <a:ea typeface="Calibri" pitchFamily="34" charset="-122"/>
                <a:cs typeface="Calibri" pitchFamily="34" charset="-120"/>
              </a:rPr>
              <a:t>SHAP turns one opaque number into an itemized scorecard — the same format examiners and boards already trust, just generated by the model instead of a manual rubric.</a:t>
            </a:r>
            <a:endParaRPr lang="en-US" sz="1150" dirty="0"/>
          </a:p>
        </p:txBody>
      </p:sp>
      <p:sp>
        <p:nvSpPr>
          <p:cNvPr id="16" name="Shape 14"/>
          <p:cNvSpPr/>
          <p:nvPr/>
        </p:nvSpPr>
        <p:spPr>
          <a:xfrm>
            <a:off x="6080760" y="1828800"/>
            <a:ext cx="5440680" cy="4617720"/>
          </a:xfrm>
          <a:prstGeom prst="roundRect">
            <a:avLst>
              <a:gd name="adj" fmla="val 1584"/>
            </a:avLst>
          </a:prstGeom>
          <a:solidFill>
            <a:srgbClr val="E8F7F7"/>
          </a:solidFill>
          <a:ln/>
          <a:effectLst>
            <a:outerShdw blurRad="127000" dist="38100" dir="5400000" algn="bl" rotWithShape="0">
              <a:srgbClr val="1B1F3B">
                <a:alpha val="10000"/>
              </a:srgbClr>
            </a:outerShdw>
          </a:effectLst>
        </p:spPr>
        <p:txBody>
          <a:bodyPr/>
          <a:lstStyle/>
          <a:p>
            <a:endParaRPr lang="en-US"/>
          </a:p>
        </p:txBody>
      </p:sp>
      <p:sp>
        <p:nvSpPr>
          <p:cNvPr id="17" name="Text 15"/>
          <p:cNvSpPr/>
          <p:nvPr/>
        </p:nvSpPr>
        <p:spPr>
          <a:xfrm>
            <a:off x="6355080" y="2011680"/>
            <a:ext cx="4892040" cy="365760"/>
          </a:xfrm>
          <a:prstGeom prst="rect">
            <a:avLst/>
          </a:prstGeom>
          <a:noFill/>
          <a:ln/>
        </p:spPr>
        <p:txBody>
          <a:bodyPr wrap="square" lIns="0" tIns="0" rIns="0" bIns="0" rtlCol="0" anchor="ctr"/>
          <a:lstStyle/>
          <a:p>
            <a:pPr marL="0" indent="0">
              <a:buNone/>
            </a:pPr>
            <a:r>
              <a:rPr lang="en-US" sz="1300" b="1" dirty="0">
                <a:solidFill>
                  <a:srgbClr val="06185F"/>
                </a:solidFill>
                <a:latin typeface="Arial" pitchFamily="34" charset="0"/>
                <a:ea typeface="Arial" pitchFamily="34" charset="-122"/>
                <a:cs typeface="Arial" pitchFamily="34" charset="-120"/>
              </a:rPr>
              <a:t>Real TreeSHAP output — synthetic 6,900-household model</a:t>
            </a:r>
            <a:endParaRPr lang="en-US" sz="1300" dirty="0"/>
          </a:p>
        </p:txBody>
      </p:sp>
      <p:sp>
        <p:nvSpPr>
          <p:cNvPr id="18" name="Text 16"/>
          <p:cNvSpPr/>
          <p:nvPr/>
        </p:nvSpPr>
        <p:spPr>
          <a:xfrm>
            <a:off x="6355080" y="2331720"/>
            <a:ext cx="4892040" cy="274320"/>
          </a:xfrm>
          <a:prstGeom prst="rect">
            <a:avLst/>
          </a:prstGeom>
          <a:noFill/>
          <a:ln/>
        </p:spPr>
        <p:txBody>
          <a:bodyPr wrap="square" lIns="0" tIns="0" rIns="0" bIns="0" rtlCol="0" anchor="ctr"/>
          <a:lstStyle/>
          <a:p>
            <a:pPr marL="0" indent="0">
              <a:buNone/>
            </a:pPr>
            <a:r>
              <a:rPr lang="en-US" sz="1050" i="1" dirty="0">
                <a:solidFill>
                  <a:srgbClr val="575A5D"/>
                </a:solidFill>
                <a:latin typeface="Calibri" pitchFamily="34" charset="0"/>
                <a:ea typeface="Calibri" pitchFamily="34" charset="-122"/>
                <a:cs typeface="Calibri" pitchFamily="34" charset="-120"/>
              </a:rPr>
              <a:t>Feature contribution to churn-risk score</a:t>
            </a:r>
            <a:endParaRPr lang="en-US" sz="1050" dirty="0"/>
          </a:p>
        </p:txBody>
      </p:sp>
      <p:pic>
        <p:nvPicPr>
          <p:cNvPr id="19" name="SHAP Summary Chart"/>
          <p:cNvPicPr>
            <a:picLocks noChangeAspect="1"/>
          </p:cNvPicPr>
          <p:nvPr/>
        </p:nvPicPr>
        <p:blipFill>
          <a:blip r:embed="rId3"/>
          <a:stretch>
            <a:fillRect/>
          </a:stretch>
        </p:blipFill>
        <p:spPr>
          <a:xfrm>
            <a:off x="6309360" y="2769747"/>
            <a:ext cx="4983480" cy="3375905"/>
          </a:xfrm>
          <a:prstGeom prst="rect">
            <a:avLst/>
          </a:prstGeom>
        </p:spPr>
      </p:pic>
      <p:sp>
        <p:nvSpPr>
          <p:cNvPr id="20" name="Text 17"/>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900" dirty="0">
                <a:solidFill>
                  <a:srgbClr val="B6BBC0"/>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core Calibration">
    <p:bg>
      <p:bgPr>
        <a:solidFill>
          <a:srgbClr val="FFFFFF"/>
        </a:solidFill>
        <a:effectLst/>
      </p:bgPr>
    </p:bg>
    <p:spTree>
      <p:nvGrpSpPr>
        <p:cNvPr id="1" name=""/>
        <p:cNvGrpSpPr/>
        <p:nvPr/>
      </p:nvGrpSpPr>
      <p:grpSpPr>
        <a:xfrm>
          <a:off x="0" y="0"/>
          <a:ext cx="0" cy="0"/>
          <a:chOff x="0" y="0"/>
          <a:chExt cx="0" cy="0"/>
        </a:xfrm>
      </p:grpSpPr>
      <p:sp>
        <p:nvSpPr>
          <p:cNvPr id="2" name="Eyebrow"/>
          <p:cNvSpPr/>
          <p:nvPr/>
        </p:nvSpPr>
        <p:spPr>
          <a:xfrm>
            <a:off x="640080" y="502920"/>
            <a:ext cx="10000000" cy="320040"/>
          </a:xfrm>
          <a:prstGeom prst="rect">
            <a:avLst/>
          </a:prstGeom>
          <a:noFill/>
          <a:ln/>
        </p:spPr>
        <p:txBody>
          <a:bodyPr wrap="square" lIns="0" tIns="0" rIns="0" bIns="0" rtlCol="0" anchor="ctr"/>
          <a:lstStyle/>
          <a:p>
            <a:pPr marL="0" indent="0" algn="l">
              <a:buNone/>
            </a:pPr>
            <a:r>
              <a:rPr lang="en-US" sz="1200" b="1" dirty="0">
                <a:solidFill>
                  <a:srgbClr val="085CE5"/>
                </a:solidFill>
                <a:latin typeface="Calibri" pitchFamily="34" charset="0"/>
                <a:ea typeface="Calibri" pitchFamily="34" charset="-122"/>
                <a:cs typeface="Calibri" pitchFamily="34" charset="-120"/>
              </a:rPr>
              <a:t>SCORE CALIBRATION</a:t>
            </a:r>
            <a:endParaRPr lang="en-US" sz="1200" dirty="0"/>
          </a:p>
        </p:txBody>
      </p:sp>
      <p:sp>
        <p:nvSpPr>
          <p:cNvPr id="3" name="Title"/>
          <p:cNvSpPr/>
          <p:nvPr/>
        </p:nvSpPr>
        <p:spPr>
          <a:xfrm>
            <a:off x="640080" y="822960"/>
            <a:ext cx="10515600" cy="640000"/>
          </a:xfrm>
          <a:prstGeom prst="rect">
            <a:avLst/>
          </a:prstGeom>
          <a:noFill/>
          <a:ln/>
        </p:spPr>
        <p:txBody>
          <a:bodyPr wrap="square" lIns="0" tIns="0" rIns="0" bIns="0" rtlCol="0" anchor="ctr"/>
          <a:lstStyle/>
          <a:p>
            <a:pPr marL="0" indent="0" algn="l">
              <a:buNone/>
            </a:pPr>
            <a:r>
              <a:rPr lang="en-US" sz="2800" b="1" dirty="0">
                <a:solidFill>
                  <a:srgbClr val="06185F"/>
                </a:solidFill>
                <a:latin typeface="Arial" pitchFamily="34" charset="0"/>
                <a:ea typeface="Arial" pitchFamily="34" charset="-122"/>
                <a:cs typeface="Arial" pitchFamily="34" charset="-120"/>
              </a:rPr>
              <a:t>A 0.31 isn't always a 31% chance</a:t>
            </a:r>
            <a:endParaRPr lang="en-US" sz="2800" dirty="0"/>
          </a:p>
        </p:txBody>
      </p:sp>
      <p:sp>
        <p:nvSpPr>
          <p:cNvPr id="4" name="Sub"/>
          <p:cNvSpPr/>
          <p:nvPr/>
        </p:nvSpPr>
        <p:spPr>
          <a:xfrm>
            <a:off x="640080" y="1450000"/>
            <a:ext cx="10515600" cy="340000"/>
          </a:xfrm>
          <a:prstGeom prst="rect">
            <a:avLst/>
          </a:prstGeom>
          <a:noFill/>
          <a:ln/>
        </p:spPr>
        <p:txBody>
          <a:bodyPr wrap="square" lIns="0" tIns="0" rIns="0" bIns="0" rtlCol="0" anchor="ctr"/>
          <a:lstStyle/>
          <a:p>
            <a:pPr marL="0" indent="0" algn="l">
              <a:buNone/>
            </a:pPr>
            <a:r>
              <a:rPr lang="en-US" sz="1250" i="1" dirty="0">
                <a:solidFill>
                  <a:srgbClr val="575A5D"/>
                </a:solidFill>
                <a:latin typeface="Calibri" pitchFamily="34" charset="0"/>
                <a:ea typeface="Calibri" pitchFamily="34" charset="-122"/>
                <a:cs typeface="Calibri" pitchFamily="34" charset="-120"/>
              </a:rPr>
              <a:t>Raw model output is a pseudo-probability. It can systematically over- or under-state the real thing.</a:t>
            </a:r>
            <a:endParaRPr lang="en-US" sz="1250" dirty="0"/>
          </a:p>
        </p:txBody>
      </p:sp>
      <p:pic>
        <p:nvPicPr>
          <p:cNvPr id="5" name="CalCurve"/>
          <p:cNvPicPr>
            <a:picLocks noChangeAspect="1"/>
          </p:cNvPicPr>
          <p:nvPr/>
        </p:nvPicPr>
        <p:blipFill>
          <a:blip r:embed="rId2"/>
          <a:stretch>
            <a:fillRect/>
          </a:stretch>
        </p:blipFill>
        <p:spPr>
          <a:xfrm>
            <a:off x="640080" y="1950000"/>
            <a:ext cx="4936842" cy="3350000"/>
          </a:xfrm>
          <a:prstGeom prst="rect">
            <a:avLst/>
          </a:prstGeom>
        </p:spPr>
      </p:pic>
      <p:sp>
        <p:nvSpPr>
          <p:cNvPr id="6" name="BH_1950000"/>
          <p:cNvSpPr/>
          <p:nvPr/>
        </p:nvSpPr>
        <p:spPr>
          <a:xfrm>
            <a:off x="5926922" y="1950000"/>
            <a:ext cx="5228758" cy="300000"/>
          </a:xfrm>
          <a:prstGeom prst="rect">
            <a:avLst/>
          </a:prstGeom>
          <a:noFill/>
          <a:ln/>
        </p:spPr>
        <p:txBody>
          <a:bodyPr wrap="square" lIns="0" tIns="0" rIns="0" bIns="0" rtlCol="0" anchor="ctr"/>
          <a:lstStyle/>
          <a:p>
            <a:pPr marL="0" indent="0" algn="l">
              <a:buNone/>
            </a:pPr>
            <a:r>
              <a:rPr lang="en-US" sz="1250" b="1" dirty="0">
                <a:solidFill>
                  <a:srgbClr val="06185F"/>
                </a:solidFill>
                <a:latin typeface="Arial" pitchFamily="34" charset="0"/>
                <a:ea typeface="Arial" pitchFamily="34" charset="-122"/>
                <a:cs typeface="Arial" pitchFamily="34" charset="-120"/>
              </a:rPr>
              <a:t>Why raw scores drift</a:t>
            </a:r>
            <a:endParaRPr lang="en-US" sz="1250" dirty="0"/>
          </a:p>
        </p:txBody>
      </p:sp>
      <p:sp>
        <p:nvSpPr>
          <p:cNvPr id="7" name="BD_1950000"/>
          <p:cNvSpPr/>
          <p:nvPr/>
        </p:nvSpPr>
        <p:spPr>
          <a:xfrm>
            <a:off x="5926922" y="2250000"/>
            <a:ext cx="5228758" cy="700000"/>
          </a:xfrm>
          <a:prstGeom prst="rect">
            <a:avLst/>
          </a:prstGeom>
          <a:noFill/>
          <a:ln/>
        </p:spPr>
        <p:txBody>
          <a:bodyPr wrap="square" lIns="0" tIns="0" rIns="0" bIns="0" rtlCol="0" anchor="ctr"/>
          <a:lstStyle/>
          <a:p>
            <a:pPr marL="0" indent="0" algn="l">
              <a:buNone/>
            </a:pPr>
            <a:r>
              <a:rPr lang="en-US" sz="1050" dirty="0">
                <a:solidFill>
                  <a:srgbClr val="575A5D"/>
                </a:solidFill>
                <a:latin typeface="Calibri" pitchFamily="34" charset="0"/>
                <a:ea typeface="Calibri" pitchFamily="34" charset="-122"/>
                <a:cs typeface="Calibri" pitchFamily="34" charset="-120"/>
              </a:rPr>
              <a:t>Trained on a rare event (12.6% churn), a model's confidence and the true frequency can pull apart, especially at the extremes — a raw “high” score can still be an overstatement.</a:t>
            </a:r>
            <a:endParaRPr lang="en-US" sz="1050" dirty="0"/>
          </a:p>
        </p:txBody>
      </p:sp>
      <p:sp>
        <p:nvSpPr>
          <p:cNvPr id="8" name="BH_3050000"/>
          <p:cNvSpPr/>
          <p:nvPr/>
        </p:nvSpPr>
        <p:spPr>
          <a:xfrm>
            <a:off x="5926922" y="3050000"/>
            <a:ext cx="5228758" cy="300000"/>
          </a:xfrm>
          <a:prstGeom prst="rect">
            <a:avLst/>
          </a:prstGeom>
          <a:noFill/>
          <a:ln/>
        </p:spPr>
        <p:txBody>
          <a:bodyPr wrap="square" lIns="0" tIns="0" rIns="0" bIns="0" rtlCol="0" anchor="ctr"/>
          <a:lstStyle/>
          <a:p>
            <a:pPr marL="0" indent="0" algn="l">
              <a:buNone/>
            </a:pPr>
            <a:r>
              <a:rPr lang="en-US" sz="1250" b="1" dirty="0">
                <a:solidFill>
                  <a:srgbClr val="06185F"/>
                </a:solidFill>
                <a:latin typeface="Arial" pitchFamily="34" charset="0"/>
                <a:ea typeface="Arial" pitchFamily="34" charset="-122"/>
                <a:cs typeface="Arial" pitchFamily="34" charset="-120"/>
              </a:rPr>
              <a:t>What calibration fixes</a:t>
            </a:r>
            <a:endParaRPr lang="en-US" sz="1250" dirty="0"/>
          </a:p>
        </p:txBody>
      </p:sp>
      <p:sp>
        <p:nvSpPr>
          <p:cNvPr id="9" name="BD_3050000"/>
          <p:cNvSpPr/>
          <p:nvPr/>
        </p:nvSpPr>
        <p:spPr>
          <a:xfrm>
            <a:off x="5926922" y="3350000"/>
            <a:ext cx="5228758" cy="700000"/>
          </a:xfrm>
          <a:prstGeom prst="rect">
            <a:avLst/>
          </a:prstGeom>
          <a:noFill/>
          <a:ln/>
        </p:spPr>
        <p:txBody>
          <a:bodyPr wrap="square" lIns="0" tIns="0" rIns="0" bIns="0" rtlCol="0" anchor="ctr"/>
          <a:lstStyle/>
          <a:p>
            <a:pPr marL="0" indent="0" algn="l">
              <a:buNone/>
            </a:pPr>
            <a:r>
              <a:rPr lang="en-US" sz="1050" dirty="0">
                <a:solidFill>
                  <a:srgbClr val="575A5D"/>
                </a:solidFill>
                <a:latin typeface="Calibri" pitchFamily="34" charset="0"/>
                <a:ea typeface="Calibri" pitchFamily="34" charset="-122"/>
                <a:cs typeface="Calibri" pitchFamily="34" charset="-120"/>
              </a:rPr>
              <a:t>Isotonic regression remaps the raw output so it matches observed outcomes: of every household the calibrated model calls 90%, about 90% actually go on to churn.</a:t>
            </a:r>
            <a:endParaRPr lang="en-US" sz="1050" dirty="0"/>
          </a:p>
        </p:txBody>
      </p:sp>
      <p:sp>
        <p:nvSpPr>
          <p:cNvPr id="10" name="BH_4150000"/>
          <p:cNvSpPr/>
          <p:nvPr/>
        </p:nvSpPr>
        <p:spPr>
          <a:xfrm>
            <a:off x="5926922" y="4150000"/>
            <a:ext cx="5228758" cy="300000"/>
          </a:xfrm>
          <a:prstGeom prst="rect">
            <a:avLst/>
          </a:prstGeom>
          <a:noFill/>
          <a:ln/>
        </p:spPr>
        <p:txBody>
          <a:bodyPr wrap="square" lIns="0" tIns="0" rIns="0" bIns="0" rtlCol="0" anchor="ctr"/>
          <a:lstStyle/>
          <a:p>
            <a:pPr marL="0" indent="0" algn="l">
              <a:buNone/>
            </a:pPr>
            <a:r>
              <a:rPr lang="en-US" sz="1250" b="1" dirty="0">
                <a:solidFill>
                  <a:srgbClr val="06185F"/>
                </a:solidFill>
                <a:latin typeface="Arial" pitchFamily="34" charset="0"/>
                <a:ea typeface="Arial" pitchFamily="34" charset="-122"/>
                <a:cs typeface="Arial" pitchFamily="34" charset="-120"/>
              </a:rPr>
              <a:t>What it doesn't change</a:t>
            </a:r>
            <a:endParaRPr lang="en-US" sz="1250" dirty="0"/>
          </a:p>
        </p:txBody>
      </p:sp>
      <p:sp>
        <p:nvSpPr>
          <p:cNvPr id="11" name="BD_4150000"/>
          <p:cNvSpPr/>
          <p:nvPr/>
        </p:nvSpPr>
        <p:spPr>
          <a:xfrm>
            <a:off x="5926922" y="4450000"/>
            <a:ext cx="5228758" cy="700000"/>
          </a:xfrm>
          <a:prstGeom prst="rect">
            <a:avLst/>
          </a:prstGeom>
          <a:noFill/>
          <a:ln/>
        </p:spPr>
        <p:txBody>
          <a:bodyPr wrap="square" lIns="0" tIns="0" rIns="0" bIns="0" rtlCol="0" anchor="ctr"/>
          <a:lstStyle/>
          <a:p>
            <a:pPr marL="0" indent="0" algn="l">
              <a:buNone/>
            </a:pPr>
            <a:r>
              <a:rPr lang="en-US" sz="1050" dirty="0">
                <a:solidFill>
                  <a:srgbClr val="575A5D"/>
                </a:solidFill>
                <a:latin typeface="Calibri" pitchFamily="34" charset="0"/>
                <a:ea typeface="Calibri" pitchFamily="34" charset="-122"/>
                <a:cs typeface="Calibri" pitchFamily="34" charset="-120"/>
              </a:rPr>
              <a:t>Calibration never changes who gets flagged or in what order — only whether the number itself can be trusted at face value.</a:t>
            </a:r>
            <a:endParaRPr lang="en-US" sz="1050" dirty="0"/>
          </a:p>
        </p:txBody>
      </p:sp>
      <p:sp>
        <p:nvSpPr>
          <p:cNvPr id="12" name="Closing"/>
          <p:cNvSpPr/>
          <p:nvPr/>
        </p:nvSpPr>
        <p:spPr>
          <a:xfrm>
            <a:off x="640080" y="5550000"/>
            <a:ext cx="10515600" cy="460000"/>
          </a:xfrm>
          <a:prstGeom prst="rect">
            <a:avLst/>
          </a:prstGeom>
          <a:noFill/>
          <a:ln/>
        </p:spPr>
        <p:txBody>
          <a:bodyPr wrap="square" lIns="0" tIns="0" rIns="0" bIns="0" rtlCol="0" anchor="ctr"/>
          <a:lstStyle/>
          <a:p>
            <a:pPr marL="0" indent="0" algn="l">
              <a:buNone/>
            </a:pPr>
            <a:r>
              <a:rPr lang="en-US" sz="1200" i="1" dirty="0">
                <a:solidFill>
                  <a:srgbClr val="575A5D"/>
                </a:solidFill>
                <a:latin typeface="Calibri" pitchFamily="34" charset="0"/>
                <a:ea typeface="Calibri" pitchFamily="34" charset="-122"/>
                <a:cs typeface="Calibri" pitchFamily="34" charset="-120"/>
              </a:rPr>
              <a:t>Every probability used from here forward is the calibrated version — never the raw one.</a:t>
            </a:r>
            <a:endParaRPr lang="en-US" sz="1200" dirty="0"/>
          </a:p>
        </p:txBody>
      </p:sp>
      <p:sp>
        <p:nvSpPr>
          <p:cNvPr id="13" name="PageNum"/>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900" dirty="0">
                <a:solidFill>
                  <a:srgbClr val="B6BBC0"/>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core Normalization">
    <p:bg>
      <p:bgPr>
        <a:solidFill>
          <a:srgbClr val="FFFFFF"/>
        </a:solidFill>
        <a:effectLst/>
      </p:bgPr>
    </p:bg>
    <p:spTree>
      <p:nvGrpSpPr>
        <p:cNvPr id="1" name=""/>
        <p:cNvGrpSpPr/>
        <p:nvPr/>
      </p:nvGrpSpPr>
      <p:grpSpPr>
        <a:xfrm>
          <a:off x="0" y="0"/>
          <a:ext cx="0" cy="0"/>
          <a:chOff x="0" y="0"/>
          <a:chExt cx="0" cy="0"/>
        </a:xfrm>
      </p:grpSpPr>
      <p:sp>
        <p:nvSpPr>
          <p:cNvPr id="2" name="Eyebrow"/>
          <p:cNvSpPr/>
          <p:nvPr/>
        </p:nvSpPr>
        <p:spPr>
          <a:xfrm>
            <a:off x="640080" y="502920"/>
            <a:ext cx="10000000" cy="320040"/>
          </a:xfrm>
          <a:prstGeom prst="rect">
            <a:avLst/>
          </a:prstGeom>
          <a:noFill/>
          <a:ln/>
        </p:spPr>
        <p:txBody>
          <a:bodyPr wrap="square" lIns="0" tIns="0" rIns="0" bIns="0" rtlCol="0" anchor="ctr"/>
          <a:lstStyle/>
          <a:p>
            <a:pPr marL="0" indent="0" algn="l">
              <a:buNone/>
            </a:pPr>
            <a:r>
              <a:rPr lang="en-US" sz="1200" b="1" dirty="0">
                <a:solidFill>
                  <a:srgbClr val="085CE5"/>
                </a:solidFill>
                <a:latin typeface="Calibri" pitchFamily="34" charset="0"/>
                <a:ea typeface="Calibri" pitchFamily="34" charset="-122"/>
                <a:cs typeface="Calibri" pitchFamily="34" charset="-120"/>
              </a:rPr>
              <a:t>SCORE NORMALIZATION</a:t>
            </a:r>
            <a:endParaRPr lang="en-US" sz="1200" dirty="0"/>
          </a:p>
        </p:txBody>
      </p:sp>
      <p:sp>
        <p:nvSpPr>
          <p:cNvPr id="3" name="Title"/>
          <p:cNvSpPr/>
          <p:nvPr/>
        </p:nvSpPr>
        <p:spPr>
          <a:xfrm>
            <a:off x="640080" y="822960"/>
            <a:ext cx="10515600" cy="640000"/>
          </a:xfrm>
          <a:prstGeom prst="rect">
            <a:avLst/>
          </a:prstGeom>
          <a:noFill/>
          <a:ln/>
        </p:spPr>
        <p:txBody>
          <a:bodyPr wrap="square" lIns="0" tIns="0" rIns="0" bIns="0" rtlCol="0" anchor="ctr"/>
          <a:lstStyle/>
          <a:p>
            <a:pPr marL="0" indent="0" algn="l">
              <a:buNone/>
            </a:pPr>
            <a:r>
              <a:rPr lang="en-US" sz="2800" b="1" dirty="0">
                <a:solidFill>
                  <a:srgbClr val="06185F"/>
                </a:solidFill>
                <a:latin typeface="Arial" pitchFamily="34" charset="0"/>
                <a:ea typeface="Arial" pitchFamily="34" charset="-122"/>
                <a:cs typeface="Arial" pitchFamily="34" charset="-120"/>
              </a:rPr>
              <a:t>A probability isn't the only number you need</a:t>
            </a:r>
            <a:endParaRPr lang="en-US" sz="2800" dirty="0"/>
          </a:p>
        </p:txBody>
      </p:sp>
      <p:sp>
        <p:nvSpPr>
          <p:cNvPr id="4" name="Sub"/>
          <p:cNvSpPr/>
          <p:nvPr/>
        </p:nvSpPr>
        <p:spPr>
          <a:xfrm>
            <a:off x="640080" y="1450000"/>
            <a:ext cx="10515600" cy="340000"/>
          </a:xfrm>
          <a:prstGeom prst="rect">
            <a:avLst/>
          </a:prstGeom>
          <a:noFill/>
          <a:ln/>
        </p:spPr>
        <p:txBody>
          <a:bodyPr wrap="square" lIns="0" tIns="0" rIns="0" bIns="0" rtlCol="0" anchor="ctr"/>
          <a:lstStyle/>
          <a:p>
            <a:pPr marL="0" indent="0" algn="l">
              <a:buNone/>
            </a:pPr>
            <a:r>
              <a:rPr lang="en-US" sz="1250" i="1" dirty="0">
                <a:solidFill>
                  <a:srgbClr val="575A5D"/>
                </a:solidFill>
                <a:latin typeface="Calibri" pitchFamily="34" charset="0"/>
                <a:ea typeface="Calibri" pitchFamily="34" charset="-122"/>
                <a:cs typeface="Calibri" pitchFamily="34" charset="-120"/>
              </a:rPr>
              <a:t>Two more translations turn one calibrated score into something a team can actually work from.</a:t>
            </a:r>
            <a:endParaRPr lang="en-US" sz="1250" dirty="0"/>
          </a:p>
        </p:txBody>
      </p:sp>
      <p:sp>
        <p:nvSpPr>
          <p:cNvPr id="5" name="LeftLabel"/>
          <p:cNvSpPr/>
          <p:nvPr/>
        </p:nvSpPr>
        <p:spPr>
          <a:xfrm>
            <a:off x="640080" y="1900000"/>
            <a:ext cx="5057800" cy="280000"/>
          </a:xfrm>
          <a:prstGeom prst="rect">
            <a:avLst/>
          </a:prstGeom>
          <a:noFill/>
          <a:ln/>
        </p:spPr>
        <p:txBody>
          <a:bodyPr wrap="square" lIns="0" tIns="0" rIns="0" bIns="0" rtlCol="0" anchor="ctr"/>
          <a:lstStyle/>
          <a:p>
            <a:pPr marL="0" indent="0" algn="l">
              <a:buNone/>
            </a:pPr>
            <a:r>
              <a:rPr lang="en-US" sz="1200" b="1" dirty="0">
                <a:solidFill>
                  <a:srgbClr val="085CE5"/>
                </a:solidFill>
                <a:latin typeface="Arial" pitchFamily="34" charset="0"/>
                <a:ea typeface="Arial" pitchFamily="34" charset="-122"/>
                <a:cs typeface="Arial" pitchFamily="34" charset="-120"/>
              </a:rPr>
              <a:t>RANK — how urgent, relative to the book</a:t>
            </a:r>
            <a:endParaRPr lang="en-US" sz="1200" dirty="0"/>
          </a:p>
        </p:txBody>
      </p:sp>
      <p:pic>
        <p:nvPicPr>
          <p:cNvPr id="6" name="ScatterImg"/>
          <p:cNvPicPr>
            <a:picLocks noChangeAspect="1"/>
          </p:cNvPicPr>
          <p:nvPr/>
        </p:nvPicPr>
        <p:blipFill>
          <a:blip r:embed="rId2"/>
          <a:stretch>
            <a:fillRect/>
          </a:stretch>
        </p:blipFill>
        <p:spPr>
          <a:xfrm>
            <a:off x="640080" y="2230000"/>
            <a:ext cx="3407500" cy="2350000"/>
          </a:xfrm>
          <a:prstGeom prst="rect">
            <a:avLst/>
          </a:prstGeom>
        </p:spPr>
      </p:pic>
      <p:sp>
        <p:nvSpPr>
          <p:cNvPr id="7" name="LeftCaption"/>
          <p:cNvSpPr/>
          <p:nvPr/>
        </p:nvSpPr>
        <p:spPr>
          <a:xfrm>
            <a:off x="640080" y="4680000"/>
            <a:ext cx="5057800" cy="620000"/>
          </a:xfrm>
          <a:prstGeom prst="rect">
            <a:avLst/>
          </a:prstGeom>
          <a:noFill/>
          <a:ln/>
        </p:spPr>
        <p:txBody>
          <a:bodyPr wrap="square" lIns="0" tIns="0" rIns="0" bIns="0" rtlCol="0" anchor="ctr"/>
          <a:lstStyle/>
          <a:p>
            <a:pPr marL="0" indent="0" algn="l">
              <a:buNone/>
            </a:pPr>
            <a:r>
              <a:rPr lang="en-US" sz="1000" dirty="0">
                <a:solidFill>
                  <a:srgbClr val="575A5D"/>
                </a:solidFill>
                <a:latin typeface="Calibri" pitchFamily="34" charset="0"/>
                <a:ea typeface="Calibri" pitchFamily="34" charset="-122"/>
                <a:cs typeface="Calibri" pitchFamily="34" charset="-120"/>
              </a:rPr>
              <a:t>A percentile of 90 doesn't mean “90% probability” — it means riskier than 90% of the portfolio. Useful when the constraint is outreach capacity: “call the top 10%” is a to-do list.</a:t>
            </a:r>
            <a:endParaRPr lang="en-US" sz="1000" dirty="0"/>
          </a:p>
        </p:txBody>
      </p:sp>
      <p:sp>
        <p:nvSpPr>
          <p:cNvPr id="8" name="RightLabel"/>
          <p:cNvSpPr/>
          <p:nvPr/>
        </p:nvSpPr>
        <p:spPr>
          <a:xfrm>
            <a:off x="6097880" y="1900000"/>
            <a:ext cx="5057800" cy="280000"/>
          </a:xfrm>
          <a:prstGeom prst="rect">
            <a:avLst/>
          </a:prstGeom>
          <a:noFill/>
          <a:ln/>
        </p:spPr>
        <p:txBody>
          <a:bodyPr wrap="square" lIns="0" tIns="0" rIns="0" bIns="0" rtlCol="0" anchor="ctr"/>
          <a:lstStyle/>
          <a:p>
            <a:pPr marL="0" indent="0" algn="l">
              <a:buNone/>
            </a:pPr>
            <a:r>
              <a:rPr lang="en-US" sz="1200" b="1" dirty="0">
                <a:solidFill>
                  <a:srgbClr val="085CE5"/>
                </a:solidFill>
                <a:latin typeface="Arial" pitchFamily="34" charset="0"/>
                <a:ea typeface="Arial" pitchFamily="34" charset="-122"/>
                <a:cs typeface="Arial" pitchFamily="34" charset="-120"/>
              </a:rPr>
              <a:t>TIME — not just if, but when</a:t>
            </a:r>
            <a:endParaRPr lang="en-US" sz="1200" dirty="0"/>
          </a:p>
        </p:txBody>
      </p:sp>
      <p:pic>
        <p:nvPicPr>
          <p:cNvPr id="9" name="CdfImg"/>
          <p:cNvPicPr>
            <a:picLocks noChangeAspect="1"/>
          </p:cNvPicPr>
          <p:nvPr/>
        </p:nvPicPr>
        <p:blipFill>
          <a:blip r:embed="rId3"/>
          <a:stretch>
            <a:fillRect/>
          </a:stretch>
        </p:blipFill>
        <p:spPr>
          <a:xfrm>
            <a:off x="6097880" y="2230000"/>
            <a:ext cx="3586842" cy="2350000"/>
          </a:xfrm>
          <a:prstGeom prst="rect">
            <a:avLst/>
          </a:prstGeom>
        </p:spPr>
      </p:pic>
      <p:sp>
        <p:nvSpPr>
          <p:cNvPr id="10" name="RightCaption"/>
          <p:cNvSpPr/>
          <p:nvPr/>
        </p:nvSpPr>
        <p:spPr>
          <a:xfrm>
            <a:off x="6097880" y="4680000"/>
            <a:ext cx="5057800" cy="620000"/>
          </a:xfrm>
          <a:prstGeom prst="rect">
            <a:avLst/>
          </a:prstGeom>
          <a:noFill/>
          <a:ln/>
        </p:spPr>
        <p:txBody>
          <a:bodyPr wrap="square" lIns="0" tIns="0" rIns="0" bIns="0" rtlCol="0" anchor="ctr"/>
          <a:lstStyle/>
          <a:p>
            <a:pPr marL="0" indent="0" algn="l">
              <a:buNone/>
            </a:pPr>
            <a:r>
              <a:rPr lang="en-US" sz="1000" dirty="0">
                <a:solidFill>
                  <a:srgbClr val="575A5D"/>
                </a:solidFill>
                <a:latin typeface="Calibri" pitchFamily="34" charset="0"/>
                <a:ea typeface="Calibri" pitchFamily="34" charset="-122"/>
                <a:cs typeface="Calibri" pitchFamily="34" charset="-120"/>
              </a:rPr>
              <a:t>Multiplying the calibrated probability by the empirical share of churners who've already left by then gives a time-boxed number that actually drives this week's call list.</a:t>
            </a:r>
            <a:endParaRPr lang="en-US" sz="1000" dirty="0"/>
          </a:p>
        </p:txBody>
      </p:sp>
      <p:sp>
        <p:nvSpPr>
          <p:cNvPr id="11" name="ExampleCard"/>
          <p:cNvSpPr/>
          <p:nvPr/>
        </p:nvSpPr>
        <p:spPr>
          <a:xfrm>
            <a:off x="640080" y="5450000"/>
            <a:ext cx="10515600" cy="680000"/>
          </a:xfrm>
          <a:prstGeom prst="roundRect">
            <a:avLst>
              <a:gd name="adj" fmla="val 1818"/>
            </a:avLst>
          </a:prstGeom>
          <a:solidFill>
            <a:srgbClr val="06185F"/>
          </a:solidFill>
          <a:ln/>
          <a:effectLst>
            <a:outerShdw blurRad="127000" dist="38100" dir="5400000" algn="bl" rotWithShape="0">
              <a:srgbClr val="1B1F3B">
                <a:alpha val="10000"/>
              </a:srgbClr>
            </a:outerShdw>
          </a:effectLst>
        </p:spPr>
        <p:txBody>
          <a:bodyPr/>
          <a:lstStyle/>
          <a:p>
            <a:endParaRPr lang="en-US"/>
          </a:p>
        </p:txBody>
      </p:sp>
      <p:sp>
        <p:nvSpPr>
          <p:cNvPr id="12" name="ExampleText"/>
          <p:cNvSpPr/>
          <p:nvPr/>
        </p:nvSpPr>
        <p:spPr>
          <a:xfrm>
            <a:off x="960080" y="5510000"/>
            <a:ext cx="9875600" cy="560000"/>
          </a:xfrm>
          <a:prstGeom prst="rect">
            <a:avLst/>
          </a:prstGeom>
          <a:noFill/>
          <a:ln/>
        </p:spPr>
        <p:txBody>
          <a:bodyPr wrap="square" lIns="0" tIns="0" rIns="0" bIns="0" rtlCol="0" anchor="ctr"/>
          <a:lstStyle/>
          <a:p>
            <a:pPr marL="0" indent="0" algn="l">
              <a:buNone/>
            </a:pPr>
            <a:r>
              <a:rPr lang="en-US" sz="1100" dirty="0">
                <a:solidFill>
                  <a:srgbClr val="FFFFFF"/>
                </a:solidFill>
                <a:latin typeface="Calibri" pitchFamily="34" charset="0"/>
                <a:ea typeface="Calibri" pitchFamily="34" charset="-122"/>
                <a:cs typeface="Calibri" pitchFamily="34" charset="-120"/>
              </a:rPr>
              <a:t>Example: a household scoring </a:t>
            </a:r>
            <a:r>
              <a:rPr lang="en-US" sz="1100" b="1" dirty="0">
                <a:solidFill>
                  <a:srgbClr val="76DCFD"/>
                </a:solidFill>
                <a:latin typeface="Calibri" pitchFamily="34" charset="0"/>
                <a:ea typeface="Calibri" pitchFamily="34" charset="-122"/>
                <a:cs typeface="Calibri" pitchFamily="34" charset="-120"/>
              </a:rPr>
              <a:t>97% calibrated</a:t>
            </a:r>
            <a:r>
              <a:rPr lang="en-US" sz="1100" dirty="0">
                <a:solidFill>
                  <a:srgbClr val="FFFFFF"/>
                </a:solidFill>
                <a:latin typeface="Calibri" pitchFamily="34" charset="0"/>
                <a:ea typeface="Calibri" pitchFamily="34" charset="-122"/>
                <a:cs typeface="Calibri" pitchFamily="34" charset="-120"/>
              </a:rPr>
              <a:t> sits at the </a:t>
            </a:r>
            <a:r>
              <a:rPr lang="en-US" sz="1100" b="1" dirty="0">
                <a:solidFill>
                  <a:srgbClr val="76DCFD"/>
                </a:solidFill>
                <a:latin typeface="Calibri" pitchFamily="34" charset="0"/>
                <a:ea typeface="Calibri" pitchFamily="34" charset="-122"/>
                <a:cs typeface="Calibri" pitchFamily="34" charset="-120"/>
              </a:rPr>
              <a:t>92nd percentile</a:t>
            </a:r>
            <a:r>
              <a:rPr lang="en-US" sz="1100" dirty="0">
                <a:solidFill>
                  <a:srgbClr val="FFFFFF"/>
                </a:solidFill>
                <a:latin typeface="Calibri" pitchFamily="34" charset="0"/>
                <a:ea typeface="Calibri" pitchFamily="34" charset="-122"/>
                <a:cs typeface="Calibri" pitchFamily="34" charset="-120"/>
              </a:rPr>
              <a:t> of the book, with a </a:t>
            </a:r>
            <a:r>
              <a:rPr lang="en-US" sz="1100" b="1" dirty="0">
                <a:solidFill>
                  <a:srgbClr val="76DCFD"/>
                </a:solidFill>
                <a:latin typeface="Calibri" pitchFamily="34" charset="0"/>
                <a:ea typeface="Calibri" pitchFamily="34" charset="-122"/>
                <a:cs typeface="Calibri" pitchFamily="34" charset="-120"/>
              </a:rPr>
              <a:t>96% chance of churning in the next 90 days</a:t>
            </a:r>
            <a:r>
              <a:rPr lang="en-US" sz="1100" dirty="0">
                <a:solidFill>
                  <a:srgbClr val="FFFFFF"/>
                </a:solidFill>
                <a:latin typeface="Calibri" pitchFamily="34" charset="0"/>
                <a:ea typeface="Calibri" pitchFamily="34" charset="-122"/>
                <a:cs typeface="Calibri" pitchFamily="34" charset="-120"/>
              </a:rPr>
              <a:t> — not just “eventually.”</a:t>
            </a:r>
            <a:endParaRPr lang="en-US" sz="1100" dirty="0"/>
          </a:p>
        </p:txBody>
      </p:sp>
      <p:sp>
        <p:nvSpPr>
          <p:cNvPr id="13" name="PageNum"/>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900" dirty="0">
                <a:solidFill>
                  <a:srgbClr val="B6BBC0"/>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marL="0" indent="0" algn="l">
              <a:buNone/>
            </a:pPr>
            <a:r>
              <a:rPr lang="en-US" sz="1200" b="1" kern="0" spc="200" dirty="0">
                <a:solidFill>
                  <a:srgbClr val="085CE5"/>
                </a:solidFill>
                <a:latin typeface="Calibri" pitchFamily="34" charset="0"/>
                <a:ea typeface="Calibri" pitchFamily="34" charset="-122"/>
                <a:cs typeface="Calibri" pitchFamily="34" charset="-120"/>
              </a:rPr>
              <a:t>FROM SIGNAL TO SENTENCE</a:t>
            </a:r>
            <a:endParaRPr lang="en-US" sz="1200" dirty="0"/>
          </a:p>
        </p:txBody>
      </p:sp>
      <p:sp>
        <p:nvSpPr>
          <p:cNvPr id="3" name="Text 1"/>
          <p:cNvSpPr/>
          <p:nvPr/>
        </p:nvSpPr>
        <p:spPr>
          <a:xfrm>
            <a:off x="640080" y="822960"/>
            <a:ext cx="10500000" cy="731520"/>
          </a:xfrm>
          <a:prstGeom prst="rect">
            <a:avLst/>
          </a:prstGeom>
          <a:noFill/>
          <a:ln/>
        </p:spPr>
        <p:txBody>
          <a:bodyPr wrap="square" lIns="0" tIns="0" rIns="0" bIns="0" rtlCol="0" anchor="ctr"/>
          <a:lstStyle/>
          <a:p>
            <a:pPr marL="0" indent="0">
              <a:buNone/>
            </a:pPr>
            <a:r>
              <a:rPr lang="en-US" sz="2600" b="1" dirty="0">
                <a:solidFill>
                  <a:srgbClr val="06185F"/>
                </a:solidFill>
                <a:latin typeface="Arial" pitchFamily="34" charset="0"/>
                <a:ea typeface="Arial" pitchFamily="34" charset="-122"/>
                <a:cs typeface="Arial" pitchFamily="34" charset="-120"/>
              </a:rPr>
              <a:t>AI turns the SHAP output into something a person reads in five seconds</a:t>
            </a:r>
            <a:endParaRPr lang="en-US" sz="2600" dirty="0"/>
          </a:p>
        </p:txBody>
      </p:sp>
      <p:sp>
        <p:nvSpPr>
          <p:cNvPr id="4" name="Shape 2"/>
          <p:cNvSpPr/>
          <p:nvPr/>
        </p:nvSpPr>
        <p:spPr>
          <a:xfrm>
            <a:off x="640080" y="1874520"/>
            <a:ext cx="457200" cy="457200"/>
          </a:xfrm>
          <a:prstGeom prst="ellipse">
            <a:avLst/>
          </a:prstGeom>
          <a:solidFill>
            <a:srgbClr val="085CE5"/>
          </a:solidFill>
          <a:ln/>
        </p:spPr>
        <p:txBody>
          <a:bodyPr/>
          <a:lstStyle/>
          <a:p>
            <a:endParaRPr lang="en-US"/>
          </a:p>
        </p:txBody>
      </p:sp>
      <p:sp>
        <p:nvSpPr>
          <p:cNvPr id="5" name="Shape 3"/>
          <p:cNvSpPr/>
          <p:nvPr/>
        </p:nvSpPr>
        <p:spPr>
          <a:xfrm rot="5400000">
            <a:off x="772668" y="2029265"/>
            <a:ext cx="192024" cy="134417"/>
          </a:xfrm>
          <a:prstGeom prst="chevron">
            <a:avLst/>
          </a:prstGeom>
          <a:solidFill>
            <a:srgbClr val="FFFFFF"/>
          </a:solidFill>
          <a:ln/>
        </p:spPr>
        <p:txBody>
          <a:bodyPr/>
          <a:lstStyle/>
          <a:p>
            <a:endParaRPr lang="en-US"/>
          </a:p>
        </p:txBody>
      </p:sp>
      <p:sp>
        <p:nvSpPr>
          <p:cNvPr id="6" name="Text 4"/>
          <p:cNvSpPr/>
          <p:nvPr/>
        </p:nvSpPr>
        <p:spPr>
          <a:xfrm>
            <a:off x="1261872" y="1828800"/>
            <a:ext cx="4407408" cy="320040"/>
          </a:xfrm>
          <a:prstGeom prst="rect">
            <a:avLst/>
          </a:prstGeom>
          <a:noFill/>
          <a:ln/>
        </p:spPr>
        <p:txBody>
          <a:bodyPr wrap="square" lIns="0" tIns="0" rIns="0" bIns="0" rtlCol="0" anchor="ctr"/>
          <a:lstStyle/>
          <a:p>
            <a:pPr marL="0" indent="0">
              <a:buNone/>
            </a:pPr>
            <a:r>
              <a:rPr lang="en-US" sz="1400" b="1" dirty="0">
                <a:solidFill>
                  <a:srgbClr val="06185F"/>
                </a:solidFill>
                <a:latin typeface="Arial" pitchFamily="34" charset="0"/>
                <a:ea typeface="Arial" pitchFamily="34" charset="-122"/>
                <a:cs typeface="Arial" pitchFamily="34" charset="-120"/>
              </a:rPr>
              <a:t>Narrative generation</a:t>
            </a:r>
            <a:endParaRPr lang="en-US" sz="1400" dirty="0"/>
          </a:p>
        </p:txBody>
      </p:sp>
      <p:sp>
        <p:nvSpPr>
          <p:cNvPr id="7" name="Text 5"/>
          <p:cNvSpPr/>
          <p:nvPr/>
        </p:nvSpPr>
        <p:spPr>
          <a:xfrm>
            <a:off x="1261872" y="2176272"/>
            <a:ext cx="4407408" cy="868680"/>
          </a:xfrm>
          <a:prstGeom prst="rect">
            <a:avLst/>
          </a:prstGeom>
          <a:noFill/>
          <a:ln/>
        </p:spPr>
        <p:txBody>
          <a:bodyPr wrap="square" lIns="0" tIns="0" rIns="0" bIns="0" rtlCol="0" anchor="ctr"/>
          <a:lstStyle/>
          <a:p>
            <a:pPr marL="0" indent="0">
              <a:buNone/>
            </a:pPr>
            <a:r>
              <a:rPr lang="en-US" sz="1150" dirty="0">
                <a:solidFill>
                  <a:srgbClr val="575A5D"/>
                </a:solidFill>
                <a:latin typeface="Calibri" pitchFamily="34" charset="0"/>
                <a:ea typeface="Calibri" pitchFamily="34" charset="-122"/>
                <a:cs typeface="Calibri" pitchFamily="34" charset="-120"/>
              </a:rPr>
              <a:t>A lightweight language layer reads the ranked SHAP contributions and drafts a two-sentence summary in plain business language.</a:t>
            </a:r>
            <a:endParaRPr lang="en-US" sz="1150" dirty="0"/>
          </a:p>
        </p:txBody>
      </p:sp>
      <p:sp>
        <p:nvSpPr>
          <p:cNvPr id="8" name="Shape 6"/>
          <p:cNvSpPr/>
          <p:nvPr/>
        </p:nvSpPr>
        <p:spPr>
          <a:xfrm>
            <a:off x="640080" y="3108960"/>
            <a:ext cx="457200" cy="457200"/>
          </a:xfrm>
          <a:prstGeom prst="ellipse">
            <a:avLst/>
          </a:prstGeom>
          <a:solidFill>
            <a:srgbClr val="085CE5"/>
          </a:solidFill>
          <a:ln/>
        </p:spPr>
        <p:txBody>
          <a:bodyPr/>
          <a:lstStyle/>
          <a:p>
            <a:endParaRPr lang="en-US"/>
          </a:p>
        </p:txBody>
      </p:sp>
      <p:sp>
        <p:nvSpPr>
          <p:cNvPr id="9" name="Shape 7"/>
          <p:cNvSpPr/>
          <p:nvPr/>
        </p:nvSpPr>
        <p:spPr>
          <a:xfrm rot="5400000">
            <a:off x="772668" y="3263705"/>
            <a:ext cx="192024" cy="134417"/>
          </a:xfrm>
          <a:prstGeom prst="chevron">
            <a:avLst/>
          </a:prstGeom>
          <a:solidFill>
            <a:srgbClr val="FFFFFF"/>
          </a:solidFill>
          <a:ln/>
        </p:spPr>
        <p:txBody>
          <a:bodyPr/>
          <a:lstStyle/>
          <a:p>
            <a:endParaRPr lang="en-US"/>
          </a:p>
        </p:txBody>
      </p:sp>
      <p:sp>
        <p:nvSpPr>
          <p:cNvPr id="10" name="Text 8"/>
          <p:cNvSpPr/>
          <p:nvPr/>
        </p:nvSpPr>
        <p:spPr>
          <a:xfrm>
            <a:off x="1261872" y="3063240"/>
            <a:ext cx="4407408" cy="320040"/>
          </a:xfrm>
          <a:prstGeom prst="rect">
            <a:avLst/>
          </a:prstGeom>
          <a:noFill/>
          <a:ln/>
        </p:spPr>
        <p:txBody>
          <a:bodyPr wrap="square" lIns="0" tIns="0" rIns="0" bIns="0" rtlCol="0" anchor="ctr"/>
          <a:lstStyle/>
          <a:p>
            <a:pPr marL="0" indent="0">
              <a:buNone/>
            </a:pPr>
            <a:r>
              <a:rPr lang="en-US" sz="1400" b="1" dirty="0">
                <a:solidFill>
                  <a:srgbClr val="06185F"/>
                </a:solidFill>
                <a:latin typeface="Arial" pitchFamily="34" charset="0"/>
                <a:ea typeface="Arial" pitchFamily="34" charset="-122"/>
                <a:cs typeface="Arial" pitchFamily="34" charset="-120"/>
              </a:rPr>
              <a:t>Visualization, simplified</a:t>
            </a:r>
            <a:endParaRPr lang="en-US" sz="1400" dirty="0"/>
          </a:p>
        </p:txBody>
      </p:sp>
      <p:sp>
        <p:nvSpPr>
          <p:cNvPr id="11" name="Text 9"/>
          <p:cNvSpPr/>
          <p:nvPr/>
        </p:nvSpPr>
        <p:spPr>
          <a:xfrm>
            <a:off x="1261872" y="3410712"/>
            <a:ext cx="4407408" cy="868680"/>
          </a:xfrm>
          <a:prstGeom prst="rect">
            <a:avLst/>
          </a:prstGeom>
          <a:noFill/>
          <a:ln/>
        </p:spPr>
        <p:txBody>
          <a:bodyPr wrap="square" lIns="0" tIns="0" rIns="0" bIns="0" rtlCol="0" anchor="ctr"/>
          <a:lstStyle/>
          <a:p>
            <a:pPr marL="0" indent="0">
              <a:buNone/>
            </a:pPr>
            <a:r>
              <a:rPr lang="en-US" sz="1150" dirty="0">
                <a:solidFill>
                  <a:srgbClr val="575A5D"/>
                </a:solidFill>
                <a:latin typeface="Calibri" pitchFamily="34" charset="0"/>
                <a:ea typeface="Calibri" pitchFamily="34" charset="-122"/>
                <a:cs typeface="Calibri" pitchFamily="34" charset="-120"/>
              </a:rPr>
              <a:t>The same output renders as a simple contribution bar on the RM's dashboard — the underlying TreeSHAP math never changes, only the presentation.</a:t>
            </a:r>
            <a:endParaRPr lang="en-US" sz="1150" dirty="0"/>
          </a:p>
        </p:txBody>
      </p:sp>
      <p:sp>
        <p:nvSpPr>
          <p:cNvPr id="12" name="Shape 10"/>
          <p:cNvSpPr/>
          <p:nvPr/>
        </p:nvSpPr>
        <p:spPr>
          <a:xfrm>
            <a:off x="640080" y="4343400"/>
            <a:ext cx="457200" cy="457200"/>
          </a:xfrm>
          <a:prstGeom prst="ellipse">
            <a:avLst/>
          </a:prstGeom>
          <a:solidFill>
            <a:srgbClr val="085CE5"/>
          </a:solidFill>
          <a:ln/>
        </p:spPr>
        <p:txBody>
          <a:bodyPr/>
          <a:lstStyle/>
          <a:p>
            <a:endParaRPr lang="en-US"/>
          </a:p>
        </p:txBody>
      </p:sp>
      <p:sp>
        <p:nvSpPr>
          <p:cNvPr id="13" name="Shape 11"/>
          <p:cNvSpPr/>
          <p:nvPr/>
        </p:nvSpPr>
        <p:spPr>
          <a:xfrm rot="5400000">
            <a:off x="772668" y="4498145"/>
            <a:ext cx="192024" cy="134417"/>
          </a:xfrm>
          <a:prstGeom prst="chevron">
            <a:avLst/>
          </a:prstGeom>
          <a:solidFill>
            <a:srgbClr val="FFFFFF"/>
          </a:solidFill>
          <a:ln/>
        </p:spPr>
        <p:txBody>
          <a:bodyPr/>
          <a:lstStyle/>
          <a:p>
            <a:endParaRPr lang="en-US"/>
          </a:p>
        </p:txBody>
      </p:sp>
      <p:sp>
        <p:nvSpPr>
          <p:cNvPr id="14" name="Text 12"/>
          <p:cNvSpPr/>
          <p:nvPr/>
        </p:nvSpPr>
        <p:spPr>
          <a:xfrm>
            <a:off x="1261872" y="4297680"/>
            <a:ext cx="4407408" cy="320040"/>
          </a:xfrm>
          <a:prstGeom prst="rect">
            <a:avLst/>
          </a:prstGeom>
          <a:noFill/>
          <a:ln/>
        </p:spPr>
        <p:txBody>
          <a:bodyPr wrap="square" lIns="0" tIns="0" rIns="0" bIns="0" rtlCol="0" anchor="ctr"/>
          <a:lstStyle/>
          <a:p>
            <a:pPr marL="0" indent="0">
              <a:buNone/>
            </a:pPr>
            <a:r>
              <a:rPr lang="en-US" sz="1400" b="1" dirty="0">
                <a:solidFill>
                  <a:srgbClr val="06185F"/>
                </a:solidFill>
                <a:latin typeface="Arial" pitchFamily="34" charset="0"/>
                <a:ea typeface="Arial" pitchFamily="34" charset="-122"/>
                <a:cs typeface="Arial" pitchFamily="34" charset="-120"/>
              </a:rPr>
              <a:t>A draft, not a verdict</a:t>
            </a:r>
            <a:endParaRPr lang="en-US" sz="1400" dirty="0"/>
          </a:p>
        </p:txBody>
      </p:sp>
      <p:sp>
        <p:nvSpPr>
          <p:cNvPr id="15" name="Text 13"/>
          <p:cNvSpPr/>
          <p:nvPr/>
        </p:nvSpPr>
        <p:spPr>
          <a:xfrm>
            <a:off x="1261872" y="4645152"/>
            <a:ext cx="4407408" cy="868680"/>
          </a:xfrm>
          <a:prstGeom prst="rect">
            <a:avLst/>
          </a:prstGeom>
          <a:noFill/>
          <a:ln/>
        </p:spPr>
        <p:txBody>
          <a:bodyPr wrap="square" lIns="0" tIns="0" rIns="0" bIns="0" rtlCol="0" anchor="ctr"/>
          <a:lstStyle/>
          <a:p>
            <a:pPr marL="0" indent="0">
              <a:buNone/>
            </a:pPr>
            <a:r>
              <a:rPr lang="en-US" sz="1150" dirty="0">
                <a:solidFill>
                  <a:srgbClr val="575A5D"/>
                </a:solidFill>
                <a:latin typeface="Calibri" pitchFamily="34" charset="0"/>
                <a:ea typeface="Calibri" pitchFamily="34" charset="-122"/>
                <a:cs typeface="Calibri" pitchFamily="34" charset="-120"/>
              </a:rPr>
              <a:t>The AI-written narrative is a starting point for the reviewer that follows — every word traces back to an actual SHAP value.</a:t>
            </a:r>
            <a:endParaRPr lang="en-US" sz="1150" dirty="0"/>
          </a:p>
        </p:txBody>
      </p:sp>
      <p:sp>
        <p:nvSpPr>
          <p:cNvPr id="16" name="Shape 14"/>
          <p:cNvSpPr/>
          <p:nvPr/>
        </p:nvSpPr>
        <p:spPr>
          <a:xfrm>
            <a:off x="6080760" y="1828800"/>
            <a:ext cx="5440680" cy="4617720"/>
          </a:xfrm>
          <a:prstGeom prst="roundRect">
            <a:avLst>
              <a:gd name="adj" fmla="val 1584"/>
            </a:avLst>
          </a:prstGeom>
          <a:solidFill>
            <a:srgbClr val="E8F7F7"/>
          </a:solidFill>
          <a:ln/>
          <a:effectLst>
            <a:outerShdw blurRad="127000" dist="38100" dir="5400000" algn="bl" rotWithShape="0">
              <a:srgbClr val="1B1F3B">
                <a:alpha val="10000"/>
              </a:srgbClr>
            </a:outerShdw>
          </a:effectLst>
        </p:spPr>
        <p:txBody>
          <a:bodyPr/>
          <a:lstStyle/>
          <a:p>
            <a:endParaRPr lang="en-US"/>
          </a:p>
        </p:txBody>
      </p:sp>
      <p:sp>
        <p:nvSpPr>
          <p:cNvPr id="17" name="Text 15"/>
          <p:cNvSpPr/>
          <p:nvPr/>
        </p:nvSpPr>
        <p:spPr>
          <a:xfrm>
            <a:off x="6355080" y="2011680"/>
            <a:ext cx="4892040" cy="365760"/>
          </a:xfrm>
          <a:prstGeom prst="rect">
            <a:avLst/>
          </a:prstGeom>
          <a:noFill/>
          <a:ln/>
        </p:spPr>
        <p:txBody>
          <a:bodyPr wrap="square" lIns="0" tIns="0" rIns="0" bIns="0" rtlCol="0" anchor="ctr"/>
          <a:lstStyle/>
          <a:p>
            <a:pPr marL="0" indent="0">
              <a:buNone/>
            </a:pPr>
            <a:r>
              <a:rPr lang="en-US" sz="1300" b="1" dirty="0">
                <a:solidFill>
                  <a:srgbClr val="06185F"/>
                </a:solidFill>
                <a:latin typeface="Arial" pitchFamily="34" charset="0"/>
                <a:ea typeface="Arial" pitchFamily="34" charset="-122"/>
                <a:cs typeface="Arial" pitchFamily="34" charset="-120"/>
              </a:rPr>
              <a:t>Illustrative — one member</a:t>
            </a:r>
            <a:endParaRPr lang="en-US" sz="1300" dirty="0"/>
          </a:p>
        </p:txBody>
      </p:sp>
      <p:sp>
        <p:nvSpPr>
          <p:cNvPr id="18" name="Text 16"/>
          <p:cNvSpPr/>
          <p:nvPr/>
        </p:nvSpPr>
        <p:spPr>
          <a:xfrm>
            <a:off x="6355080" y="2331720"/>
            <a:ext cx="4892040" cy="274320"/>
          </a:xfrm>
          <a:prstGeom prst="rect">
            <a:avLst/>
          </a:prstGeom>
          <a:noFill/>
          <a:ln/>
        </p:spPr>
        <p:txBody>
          <a:bodyPr wrap="square" lIns="0" tIns="0" rIns="0" bIns="0" rtlCol="0" anchor="ctr"/>
          <a:lstStyle/>
          <a:p>
            <a:pPr marL="0" indent="0">
              <a:buNone/>
            </a:pPr>
            <a:r>
              <a:rPr lang="en-US" sz="1050" i="1" dirty="0">
                <a:solidFill>
                  <a:srgbClr val="575A5D"/>
                </a:solidFill>
                <a:latin typeface="Calibri" pitchFamily="34" charset="0"/>
                <a:ea typeface="Calibri" pitchFamily="34" charset="-122"/>
                <a:cs typeface="Calibri" pitchFamily="34" charset="-120"/>
              </a:rPr>
              <a:t>Raw signal vs. AI-generated narrative</a:t>
            </a:r>
            <a:endParaRPr lang="en-US" sz="1050" dirty="0"/>
          </a:p>
        </p:txBody>
      </p:sp>
      <p:sp>
        <p:nvSpPr>
          <p:cNvPr id="30" name="Panel A BG"/>
          <p:cNvSpPr/>
          <p:nvPr/>
        </p:nvSpPr>
        <p:spPr>
          <a:xfrm>
            <a:off x="6355080" y="2697480"/>
            <a:ext cx="4892040" cy="1783080"/>
          </a:xfrm>
          <a:prstGeom prst="roundRect">
            <a:avLst>
              <a:gd name="adj" fmla="val 4167"/>
            </a:avLst>
          </a:prstGeom>
          <a:solidFill>
            <a:srgbClr val="FFFFFF"/>
          </a:solidFill>
          <a:ln/>
        </p:spPr>
        <p:txBody>
          <a:bodyPr/>
          <a:lstStyle/>
          <a:p>
            <a:endParaRPr lang="en-US"/>
          </a:p>
        </p:txBody>
      </p:sp>
      <p:sp>
        <p:nvSpPr>
          <p:cNvPr id="31" name="Panel A Label"/>
          <p:cNvSpPr/>
          <p:nvPr/>
        </p:nvSpPr>
        <p:spPr>
          <a:xfrm>
            <a:off x="6538080" y="2834640"/>
            <a:ext cx="4526040" cy="274320"/>
          </a:xfrm>
          <a:prstGeom prst="rect">
            <a:avLst/>
          </a:prstGeom>
          <a:noFill/>
          <a:ln/>
        </p:spPr>
        <p:txBody>
          <a:bodyPr wrap="square" lIns="0" tIns="0" rIns="0" bIns="0" rtlCol="0" anchor="ctr"/>
          <a:lstStyle/>
          <a:p>
            <a:pPr marL="0" indent="0">
              <a:buNone/>
            </a:pPr>
            <a:r>
              <a:rPr lang="en-US" sz="1000" b="1" kern="0" spc="150" dirty="0">
                <a:solidFill>
                  <a:srgbClr val="085CE5"/>
                </a:solidFill>
                <a:latin typeface="Calibri" pitchFamily="34" charset="0"/>
                <a:ea typeface="Calibri" pitchFamily="34" charset="-122"/>
                <a:cs typeface="Calibri" pitchFamily="34" charset="-120"/>
              </a:rPr>
              <a:t>RAW SHAP OUTPUT</a:t>
            </a:r>
            <a:endParaRPr lang="en-US" sz="1000" dirty="0"/>
          </a:p>
        </p:txBody>
      </p:sp>
      <p:sp>
        <p:nvSpPr>
          <p:cNvPr id="32" name="Panel A Lines"/>
          <p:cNvSpPr/>
          <p:nvPr/>
        </p:nvSpPr>
        <p:spPr>
          <a:xfrm>
            <a:off x="6538080" y="3163440"/>
            <a:ext cx="4526040" cy="1234440"/>
          </a:xfrm>
          <a:prstGeom prst="rect">
            <a:avLst/>
          </a:prstGeom>
          <a:noFill/>
          <a:ln/>
        </p:spPr>
        <p:txBody>
          <a:bodyPr wrap="square" lIns="0" tIns="0" rIns="0" bIns="0" rtlCol="0" anchor="ctr"/>
          <a:lstStyle/>
          <a:p>
            <a:pPr marL="0" indent="0">
              <a:buNone/>
            </a:pPr>
            <a:r>
              <a:rPr lang="en-US" sz="1200" dirty="0">
                <a:solidFill>
                  <a:srgbClr val="06185F"/>
                </a:solidFill>
                <a:latin typeface="Courier New" pitchFamily="34" charset="0"/>
                <a:ea typeface="Courier New" pitchFamily="34" charset="-122"/>
                <a:cs typeface="Courier New" pitchFamily="34" charset="-120"/>
              </a:rPr>
              <a:t>Direct deposit drop → +0.31</a:t>
            </a:r>
          </a:p>
          <a:p>
            <a:pPr marL="0" indent="0">
              <a:buNone/>
            </a:pPr>
            <a:r>
              <a:rPr lang="en-US" sz="1200" dirty="0">
                <a:solidFill>
                  <a:srgbClr val="06185F"/>
                </a:solidFill>
                <a:latin typeface="Courier New" pitchFamily="34" charset="0"/>
                <a:ea typeface="Courier New" pitchFamily="34" charset="-122"/>
                <a:cs typeface="Courier New" pitchFamily="34" charset="-120"/>
              </a:rPr>
              <a:t>Single product → +0.18</a:t>
            </a:r>
          </a:p>
          <a:p>
            <a:pPr marL="0" indent="0">
              <a:buNone/>
            </a:pPr>
            <a:r>
              <a:rPr lang="en-US" sz="1200" dirty="0">
                <a:solidFill>
                  <a:srgbClr val="06185F"/>
                </a:solidFill>
                <a:latin typeface="Courier New" pitchFamily="34" charset="0"/>
                <a:ea typeface="Courier New" pitchFamily="34" charset="-122"/>
                <a:cs typeface="Courier New" pitchFamily="34" charset="-120"/>
              </a:rPr>
              <a:t>Login frequency ↓ → +0.09</a:t>
            </a:r>
          </a:p>
          <a:p>
            <a:pPr marL="0" indent="0">
              <a:buNone/>
            </a:pPr>
            <a:r>
              <a:rPr lang="en-US" sz="1200" dirty="0">
                <a:solidFill>
                  <a:srgbClr val="575A5D"/>
                </a:solidFill>
                <a:latin typeface="Courier New" pitchFamily="34" charset="0"/>
                <a:ea typeface="Courier New" pitchFamily="34" charset="-122"/>
                <a:cs typeface="Courier New" pitchFamily="34" charset="-120"/>
              </a:rPr>
              <a:t>Tenure (6 yrs) → −0.12</a:t>
            </a:r>
          </a:p>
        </p:txBody>
      </p:sp>
      <p:sp>
        <p:nvSpPr>
          <p:cNvPr id="33" name="Panel B BG"/>
          <p:cNvSpPr/>
          <p:nvPr/>
        </p:nvSpPr>
        <p:spPr>
          <a:xfrm>
            <a:off x="6355080" y="4663440"/>
            <a:ext cx="4892040" cy="1600200"/>
          </a:xfrm>
          <a:prstGeom prst="roundRect">
            <a:avLst>
              <a:gd name="adj" fmla="val 4167"/>
            </a:avLst>
          </a:prstGeom>
          <a:solidFill>
            <a:srgbClr val="06185F"/>
          </a:solidFill>
          <a:ln/>
        </p:spPr>
        <p:txBody>
          <a:bodyPr/>
          <a:lstStyle/>
          <a:p>
            <a:endParaRPr lang="en-US"/>
          </a:p>
        </p:txBody>
      </p:sp>
      <p:sp>
        <p:nvSpPr>
          <p:cNvPr id="34" name="Panel B Label"/>
          <p:cNvSpPr/>
          <p:nvPr/>
        </p:nvSpPr>
        <p:spPr>
          <a:xfrm>
            <a:off x="6538080" y="4800600"/>
            <a:ext cx="4526040" cy="274320"/>
          </a:xfrm>
          <a:prstGeom prst="rect">
            <a:avLst/>
          </a:prstGeom>
          <a:noFill/>
          <a:ln/>
        </p:spPr>
        <p:txBody>
          <a:bodyPr wrap="square" lIns="0" tIns="0" rIns="0" bIns="0" rtlCol="0" anchor="ctr"/>
          <a:lstStyle/>
          <a:p>
            <a:pPr marL="0" indent="0">
              <a:buNone/>
            </a:pPr>
            <a:r>
              <a:rPr lang="en-US" sz="1000" b="1" kern="0" spc="150" dirty="0">
                <a:solidFill>
                  <a:srgbClr val="76DCFD"/>
                </a:solidFill>
                <a:latin typeface="Calibri" pitchFamily="34" charset="0"/>
                <a:ea typeface="Calibri" pitchFamily="34" charset="-122"/>
                <a:cs typeface="Calibri" pitchFamily="34" charset="-120"/>
              </a:rPr>
              <a:t>AI NARRATIVE</a:t>
            </a:r>
            <a:endParaRPr lang="en-US" sz="1000" dirty="0"/>
          </a:p>
        </p:txBody>
      </p:sp>
      <p:sp>
        <p:nvSpPr>
          <p:cNvPr id="35" name="Panel B Text"/>
          <p:cNvSpPr/>
          <p:nvPr/>
        </p:nvSpPr>
        <p:spPr>
          <a:xfrm>
            <a:off x="6538080" y="5120640"/>
            <a:ext cx="4526040" cy="1051560"/>
          </a:xfrm>
          <a:prstGeom prst="rect">
            <a:avLst/>
          </a:prstGeom>
          <a:noFill/>
          <a:ln/>
        </p:spPr>
        <p:txBody>
          <a:bodyPr wrap="square" lIns="0" tIns="0" rIns="0" bIns="0" rtlCol="0" anchor="t"/>
          <a:lstStyle/>
          <a:p>
            <a:pPr marL="0" indent="0">
              <a:buNone/>
            </a:pPr>
            <a:r>
              <a:rPr lang="en-US" sz="1200" i="1" dirty="0">
                <a:solidFill>
                  <a:srgbClr val="FFFFFF"/>
                </a:solidFill>
                <a:latin typeface="Calibri" pitchFamily="34" charset="0"/>
                <a:ea typeface="Calibri" pitchFamily="34" charset="-122"/>
                <a:cs typeface="Calibri" pitchFamily="34" charset="-120"/>
              </a:rPr>
              <a:t>“Risk is rising mainly because direct deposit stopped three weeks ago and they hold only one product — partly offset by six years of tenure.”</a:t>
            </a:r>
            <a:endParaRPr lang="en-US" sz="1200" dirty="0"/>
          </a:p>
        </p:txBody>
      </p:sp>
      <p:sp>
        <p:nvSpPr>
          <p:cNvPr id="20" name="Text 17"/>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900" dirty="0">
                <a:solidFill>
                  <a:srgbClr val="B6BBC0"/>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5486400" cy="320040"/>
          </a:xfrm>
          <a:prstGeom prst="rect">
            <a:avLst/>
          </a:prstGeom>
          <a:noFill/>
          <a:ln/>
        </p:spPr>
        <p:txBody>
          <a:bodyPr wrap="square" lIns="0" tIns="0" rIns="0" bIns="0" rtlCol="0" anchor="ctr"/>
          <a:lstStyle/>
          <a:p>
            <a:pPr marL="0" indent="0" algn="l">
              <a:buNone/>
            </a:pPr>
            <a:r>
              <a:rPr lang="en-US" sz="1200" b="1" kern="0" spc="200" dirty="0">
                <a:solidFill>
                  <a:srgbClr val="085CE5"/>
                </a:solidFill>
                <a:latin typeface="Calibri" pitchFamily="34" charset="0"/>
                <a:ea typeface="Calibri" pitchFamily="34" charset="-122"/>
                <a:cs typeface="Calibri" pitchFamily="34" charset="-120"/>
              </a:rPr>
              <a:t>EXPLAINABILITY, REUSED</a:t>
            </a:r>
            <a:endParaRPr lang="en-US" sz="1200" dirty="0"/>
          </a:p>
        </p:txBody>
      </p:sp>
      <p:sp>
        <p:nvSpPr>
          <p:cNvPr id="3" name="Text 1"/>
          <p:cNvSpPr/>
          <p:nvPr/>
        </p:nvSpPr>
        <p:spPr>
          <a:xfrm>
            <a:off x="640080" y="822960"/>
            <a:ext cx="10515600" cy="731520"/>
          </a:xfrm>
          <a:prstGeom prst="rect">
            <a:avLst/>
          </a:prstGeom>
          <a:noFill/>
          <a:ln/>
        </p:spPr>
        <p:txBody>
          <a:bodyPr wrap="square" lIns="0" tIns="0" rIns="0" bIns="0" rtlCol="0" anchor="ctr"/>
          <a:lstStyle/>
          <a:p>
            <a:pPr marL="0" indent="0">
              <a:buNone/>
            </a:pPr>
            <a:r>
              <a:rPr lang="en-US" sz="2700" b="1" dirty="0">
                <a:solidFill>
                  <a:srgbClr val="06185F"/>
                </a:solidFill>
                <a:latin typeface="Arial" pitchFamily="34" charset="0"/>
                <a:ea typeface="Arial" pitchFamily="34" charset="-122"/>
                <a:cs typeface="Arial" pitchFamily="34" charset="-120"/>
              </a:rPr>
              <a:t>The same SHAP layer prevents a costly mistake</a:t>
            </a:r>
            <a:endParaRPr lang="en-US" sz="2700" dirty="0"/>
          </a:p>
        </p:txBody>
      </p:sp>
      <p:sp>
        <p:nvSpPr>
          <p:cNvPr id="4" name="Shape 2"/>
          <p:cNvSpPr/>
          <p:nvPr/>
        </p:nvSpPr>
        <p:spPr>
          <a:xfrm>
            <a:off x="640080" y="1965960"/>
            <a:ext cx="5120640" cy="4023360"/>
          </a:xfrm>
          <a:prstGeom prst="roundRect">
            <a:avLst>
              <a:gd name="adj" fmla="val 1818"/>
            </a:avLst>
          </a:prstGeom>
          <a:solidFill>
            <a:srgbClr val="E8F7F7"/>
          </a:solidFill>
          <a:ln/>
          <a:effectLst>
            <a:outerShdw blurRad="127000" dist="38100" dir="5400000" algn="bl" rotWithShape="0">
              <a:srgbClr val="1B1F3B">
                <a:alpha val="10000"/>
              </a:srgbClr>
            </a:outerShdw>
          </a:effectLst>
        </p:spPr>
        <p:txBody>
          <a:bodyPr/>
          <a:lstStyle/>
          <a:p>
            <a:endParaRPr lang="en-US"/>
          </a:p>
        </p:txBody>
      </p:sp>
      <p:sp>
        <p:nvSpPr>
          <p:cNvPr id="5" name="Text 3"/>
          <p:cNvSpPr/>
          <p:nvPr/>
        </p:nvSpPr>
        <p:spPr>
          <a:xfrm>
            <a:off x="914400" y="2194560"/>
            <a:ext cx="4572000" cy="365760"/>
          </a:xfrm>
          <a:prstGeom prst="rect">
            <a:avLst/>
          </a:prstGeom>
          <a:noFill/>
          <a:ln/>
        </p:spPr>
        <p:txBody>
          <a:bodyPr wrap="square" lIns="0" tIns="0" rIns="0" bIns="0" rtlCol="0" anchor="ctr"/>
          <a:lstStyle/>
          <a:p>
            <a:pPr marL="0" indent="0">
              <a:buNone/>
            </a:pPr>
            <a:r>
              <a:rPr lang="en-US" sz="1500" b="1" dirty="0">
                <a:solidFill>
                  <a:srgbClr val="06185F"/>
                </a:solidFill>
                <a:latin typeface="Arial" pitchFamily="34" charset="0"/>
                <a:ea typeface="Arial" pitchFamily="34" charset="-122"/>
                <a:cs typeface="Arial" pitchFamily="34" charset="-120"/>
              </a:rPr>
              <a:t>Gives the banker a real reason code</a:t>
            </a:r>
            <a:endParaRPr lang="en-US" sz="1500" dirty="0"/>
          </a:p>
        </p:txBody>
      </p:sp>
      <p:sp>
        <p:nvSpPr>
          <p:cNvPr id="6" name="Text 4"/>
          <p:cNvSpPr/>
          <p:nvPr/>
        </p:nvSpPr>
        <p:spPr>
          <a:xfrm>
            <a:off x="914400" y="2651760"/>
            <a:ext cx="4572000" cy="1371600"/>
          </a:xfrm>
          <a:prstGeom prst="rect">
            <a:avLst/>
          </a:prstGeom>
          <a:noFill/>
          <a:ln/>
        </p:spPr>
        <p:txBody>
          <a:bodyPr wrap="square" lIns="0" tIns="0" rIns="0" bIns="0" rtlCol="0" anchor="ctr"/>
          <a:lstStyle/>
          <a:p>
            <a:pPr marL="0" indent="0">
              <a:buNone/>
            </a:pPr>
            <a:r>
              <a:rPr lang="en-US" sz="1250" dirty="0">
                <a:solidFill>
                  <a:srgbClr val="575A5D"/>
                </a:solidFill>
                <a:latin typeface="Calibri" pitchFamily="34" charset="0"/>
                <a:ea typeface="Calibri" pitchFamily="34" charset="-122"/>
                <a:cs typeface="Calibri" pitchFamily="34" charset="-120"/>
              </a:rPr>
              <a:t>Not just "likely business" — specifically: 14 distinct counterparties in 60 days, deposit cadence matching weekday business hours, and a memo pattern matching invoice language. That's a real conversation starter.</a:t>
            </a:r>
            <a:endParaRPr lang="en-US" sz="1250" dirty="0"/>
          </a:p>
        </p:txBody>
      </p:sp>
      <p:sp>
        <p:nvSpPr>
          <p:cNvPr id="7" name="Shape 5"/>
          <p:cNvSpPr/>
          <p:nvPr/>
        </p:nvSpPr>
        <p:spPr>
          <a:xfrm>
            <a:off x="914400" y="4114800"/>
            <a:ext cx="4572000" cy="0"/>
          </a:xfrm>
          <a:prstGeom prst="line">
            <a:avLst/>
          </a:prstGeom>
          <a:noFill/>
          <a:ln w="12700">
            <a:solidFill>
              <a:srgbClr val="B6BBC0"/>
            </a:solidFill>
            <a:prstDash val="solid"/>
          </a:ln>
        </p:spPr>
        <p:txBody>
          <a:bodyPr/>
          <a:lstStyle/>
          <a:p>
            <a:endParaRPr lang="en-US"/>
          </a:p>
        </p:txBody>
      </p:sp>
      <p:sp>
        <p:nvSpPr>
          <p:cNvPr id="8" name="Text 6"/>
          <p:cNvSpPr/>
          <p:nvPr/>
        </p:nvSpPr>
        <p:spPr>
          <a:xfrm>
            <a:off x="914400" y="4297680"/>
            <a:ext cx="4572000" cy="365760"/>
          </a:xfrm>
          <a:prstGeom prst="rect">
            <a:avLst/>
          </a:prstGeom>
          <a:noFill/>
          <a:ln/>
        </p:spPr>
        <p:txBody>
          <a:bodyPr wrap="square" lIns="0" tIns="0" rIns="0" bIns="0" rtlCol="0" anchor="ctr"/>
          <a:lstStyle/>
          <a:p>
            <a:pPr marL="0" indent="0">
              <a:buNone/>
            </a:pPr>
            <a:r>
              <a:rPr lang="en-US" sz="1500" b="1" dirty="0">
                <a:solidFill>
                  <a:srgbClr val="06185F"/>
                </a:solidFill>
                <a:latin typeface="Arial" pitchFamily="34" charset="0"/>
                <a:ea typeface="Arial" pitchFamily="34" charset="-122"/>
                <a:cs typeface="Arial" pitchFamily="34" charset="-120"/>
              </a:rPr>
              <a:t>Protects against false positives</a:t>
            </a:r>
            <a:endParaRPr lang="en-US" sz="1500" dirty="0"/>
          </a:p>
        </p:txBody>
      </p:sp>
      <p:sp>
        <p:nvSpPr>
          <p:cNvPr id="9" name="Text 7"/>
          <p:cNvSpPr/>
          <p:nvPr/>
        </p:nvSpPr>
        <p:spPr>
          <a:xfrm>
            <a:off x="914400" y="4754880"/>
            <a:ext cx="4572000" cy="1097280"/>
          </a:xfrm>
          <a:prstGeom prst="rect">
            <a:avLst/>
          </a:prstGeom>
          <a:noFill/>
          <a:ln/>
        </p:spPr>
        <p:txBody>
          <a:bodyPr wrap="square" lIns="0" tIns="0" rIns="0" bIns="0" rtlCol="0" anchor="ctr"/>
          <a:lstStyle/>
          <a:p>
            <a:pPr marL="0" indent="0">
              <a:buNone/>
            </a:pPr>
            <a:r>
              <a:rPr lang="en-US" sz="1250" dirty="0">
                <a:solidFill>
                  <a:srgbClr val="575A5D"/>
                </a:solidFill>
                <a:latin typeface="Calibri" pitchFamily="34" charset="0"/>
                <a:ea typeface="Calibri" pitchFamily="34" charset="-122"/>
                <a:cs typeface="Calibri" pitchFamily="34" charset="-120"/>
              </a:rPr>
              <a:t>A member selling a couch on Venmo isn't a business. Explainability lets frontline staff sanity-check a flag before an outreach that would otherwise feel presumptuous — or worse, wrong.</a:t>
            </a:r>
            <a:endParaRPr lang="en-US" sz="1250" dirty="0"/>
          </a:p>
        </p:txBody>
      </p:sp>
      <p:sp>
        <p:nvSpPr>
          <p:cNvPr id="10" name="Shape 8"/>
          <p:cNvSpPr/>
          <p:nvPr/>
        </p:nvSpPr>
        <p:spPr>
          <a:xfrm>
            <a:off x="6126480" y="1965960"/>
            <a:ext cx="5394960" cy="4023360"/>
          </a:xfrm>
          <a:prstGeom prst="roundRect">
            <a:avLst>
              <a:gd name="adj" fmla="val 1818"/>
            </a:avLst>
          </a:prstGeom>
          <a:solidFill>
            <a:srgbClr val="06185F"/>
          </a:solidFill>
          <a:ln/>
          <a:effectLst>
            <a:outerShdw blurRad="127000" dist="38100" dir="5400000" algn="bl" rotWithShape="0">
              <a:srgbClr val="1B1F3B">
                <a:alpha val="10000"/>
              </a:srgbClr>
            </a:outerShdw>
          </a:effectLst>
        </p:spPr>
        <p:txBody>
          <a:bodyPr/>
          <a:lstStyle/>
          <a:p>
            <a:endParaRPr lang="en-US"/>
          </a:p>
        </p:txBody>
      </p:sp>
      <p:sp>
        <p:nvSpPr>
          <p:cNvPr id="11" name="Text 9"/>
          <p:cNvSpPr/>
          <p:nvPr/>
        </p:nvSpPr>
        <p:spPr>
          <a:xfrm>
            <a:off x="6400800" y="2240280"/>
            <a:ext cx="4846320" cy="365760"/>
          </a:xfrm>
          <a:prstGeom prst="rect">
            <a:avLst/>
          </a:prstGeom>
          <a:noFill/>
          <a:ln/>
        </p:spPr>
        <p:txBody>
          <a:bodyPr wrap="square" lIns="0" tIns="0" rIns="0" bIns="0" rtlCol="0" anchor="ctr"/>
          <a:lstStyle/>
          <a:p>
            <a:pPr marL="0" indent="0">
              <a:buNone/>
            </a:pPr>
            <a:r>
              <a:rPr lang="en-US" sz="1500" b="1" dirty="0">
                <a:solidFill>
                  <a:srgbClr val="76DCFD"/>
                </a:solidFill>
                <a:latin typeface="Arial" pitchFamily="34" charset="0"/>
                <a:ea typeface="Arial" pitchFamily="34" charset="-122"/>
                <a:cs typeface="Arial" pitchFamily="34" charset="-120"/>
              </a:rPr>
              <a:t>Why this matters twice</a:t>
            </a:r>
            <a:endParaRPr lang="en-US" sz="1500" dirty="0"/>
          </a:p>
        </p:txBody>
      </p:sp>
      <p:sp>
        <p:nvSpPr>
          <p:cNvPr id="12" name="Text 10"/>
          <p:cNvSpPr/>
          <p:nvPr/>
        </p:nvSpPr>
        <p:spPr>
          <a:xfrm>
            <a:off x="6400800" y="2743200"/>
            <a:ext cx="4846320" cy="3017520"/>
          </a:xfrm>
          <a:prstGeom prst="rect">
            <a:avLst/>
          </a:prstGeom>
          <a:noFill/>
          <a:ln/>
        </p:spPr>
        <p:txBody>
          <a:bodyPr wrap="square" lIns="0" tIns="0" rIns="0" bIns="0" rtlCol="0" anchor="ctr"/>
          <a:lstStyle/>
          <a:p>
            <a:pPr marL="342900" indent="-342900">
              <a:spcAft>
                <a:spcPts val="1200"/>
              </a:spcAft>
              <a:buSzPct val="100000"/>
              <a:buChar char="•"/>
            </a:pPr>
            <a:r>
              <a:rPr lang="en-US" sz="1300" dirty="0">
                <a:solidFill>
                  <a:srgbClr val="E7ECF0"/>
                </a:solidFill>
                <a:latin typeface="Calibri" pitchFamily="34" charset="0"/>
                <a:ea typeface="Calibri" pitchFamily="34" charset="-122"/>
                <a:cs typeface="Calibri" pitchFamily="34" charset="-120"/>
              </a:rPr>
              <a:t>Trust: frontline adoption dies the moment a flag turns out to be embarrassing</a:t>
            </a:r>
            <a:endParaRPr lang="en-US" sz="1300" dirty="0"/>
          </a:p>
          <a:p>
            <a:pPr marL="342900" indent="-342900">
              <a:spcAft>
                <a:spcPts val="1200"/>
              </a:spcAft>
              <a:buSzPct val="100000"/>
              <a:buChar char="•"/>
            </a:pPr>
            <a:r>
              <a:rPr lang="en-US" sz="1300" dirty="0">
                <a:solidFill>
                  <a:srgbClr val="E7ECF0"/>
                </a:solidFill>
                <a:latin typeface="Calibri" pitchFamily="34" charset="0"/>
                <a:ea typeface="Calibri" pitchFamily="34" charset="-122"/>
                <a:cs typeface="Calibri" pitchFamily="34" charset="-120"/>
              </a:rPr>
              <a:t>Governance: the same SR 11-7-aligned documentation standard applies to every model that touches a member relationship, not just this one</a:t>
            </a:r>
            <a:endParaRPr lang="en-US" sz="1300" dirty="0"/>
          </a:p>
          <a:p>
            <a:pPr marL="342900" indent="-342900">
              <a:spcAft>
                <a:spcPts val="1200"/>
              </a:spcAft>
              <a:buSzPct val="100000"/>
              <a:buChar char="•"/>
            </a:pPr>
            <a:r>
              <a:rPr lang="en-US" sz="1300" dirty="0">
                <a:solidFill>
                  <a:srgbClr val="E7ECF0"/>
                </a:solidFill>
                <a:latin typeface="Calibri" pitchFamily="34" charset="0"/>
                <a:ea typeface="Calibri" pitchFamily="34" charset="-122"/>
                <a:cs typeface="Calibri" pitchFamily="34" charset="-120"/>
              </a:rPr>
              <a:t>Precision over volume: fewer, better-explained flags convert at a much higher rate than a long, noisy list</a:t>
            </a:r>
            <a:endParaRPr lang="en-US" sz="1300" dirty="0"/>
          </a:p>
        </p:txBody>
      </p:sp>
      <p:sp>
        <p:nvSpPr>
          <p:cNvPr id="13" name="Text 11"/>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900" dirty="0">
                <a:solidFill>
                  <a:srgbClr val="B6BBC0"/>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Eyebrow"/>
          <p:cNvSpPr/>
          <p:nvPr/>
        </p:nvSpPr>
        <p:spPr>
          <a:xfrm>
            <a:off x="640080" y="502920"/>
            <a:ext cx="10000000" cy="320040"/>
          </a:xfrm>
          <a:prstGeom prst="rect">
            <a:avLst/>
          </a:prstGeom>
          <a:noFill/>
          <a:ln/>
        </p:spPr>
        <p:txBody>
          <a:bodyPr wrap="square" lIns="0" tIns="0" rIns="0" bIns="0" rtlCol="0" anchor="ctr"/>
          <a:lstStyle/>
          <a:p>
            <a:pPr marL="0" indent="0" algn="l">
              <a:buNone/>
            </a:pPr>
            <a:r>
              <a:rPr lang="en-US" sz="1200" b="1" dirty="0">
                <a:solidFill>
                  <a:srgbClr val="085CE5"/>
                </a:solidFill>
                <a:latin typeface="Calibri" pitchFamily="34" charset="0"/>
                <a:ea typeface="Calibri" pitchFamily="34" charset="-122"/>
                <a:cs typeface="Calibri" pitchFamily="34" charset="-120"/>
              </a:rPr>
              <a:t>THE SCORECARD, APPLIED TO P2C</a:t>
            </a:r>
            <a:endParaRPr lang="en-US" sz="1200" dirty="0"/>
          </a:p>
        </p:txBody>
      </p:sp>
      <p:sp>
        <p:nvSpPr>
          <p:cNvPr id="3" name="Title"/>
          <p:cNvSpPr/>
          <p:nvPr/>
        </p:nvSpPr>
        <p:spPr>
          <a:xfrm>
            <a:off x="640080" y="822960"/>
            <a:ext cx="10515600" cy="640000"/>
          </a:xfrm>
          <a:prstGeom prst="rect">
            <a:avLst/>
          </a:prstGeom>
          <a:noFill/>
          <a:ln/>
        </p:spPr>
        <p:txBody>
          <a:bodyPr wrap="square" lIns="0" tIns="0" rIns="0" bIns="0" rtlCol="0" anchor="ctr"/>
          <a:lstStyle/>
          <a:p>
            <a:pPr marL="0" indent="0" algn="l">
              <a:buNone/>
            </a:pPr>
            <a:r>
              <a:rPr lang="en-US" sz="2800" b="1" dirty="0">
                <a:solidFill>
                  <a:srgbClr val="06185F"/>
                </a:solidFill>
                <a:latin typeface="Arial" pitchFamily="34" charset="0"/>
                <a:ea typeface="Arial" pitchFamily="34" charset="-122"/>
                <a:cs typeface="Arial" pitchFamily="34" charset="-120"/>
              </a:rPr>
              <a:t>The same waterfall, a different question</a:t>
            </a:r>
            <a:endParaRPr lang="en-US" sz="2800" dirty="0"/>
          </a:p>
        </p:txBody>
      </p:sp>
      <p:sp>
        <p:nvSpPr>
          <p:cNvPr id="4" name="Card"/>
          <p:cNvSpPr/>
          <p:nvPr/>
        </p:nvSpPr>
        <p:spPr>
          <a:xfrm>
            <a:off x="640080" y="1700000"/>
            <a:ext cx="10515600" cy="4150000"/>
          </a:xfrm>
          <a:prstGeom prst="roundRect">
            <a:avLst>
              <a:gd name="adj" fmla="val 1818"/>
            </a:avLst>
          </a:prstGeom>
          <a:solidFill>
            <a:srgbClr val="E8F7F7"/>
          </a:solidFill>
          <a:ln/>
          <a:effectLst>
            <a:outerShdw blurRad="127000" dist="38100" dir="5400000" algn="bl" rotWithShape="0">
              <a:srgbClr val="1B1F3B">
                <a:alpha val="10000"/>
              </a:srgbClr>
            </a:outerShdw>
          </a:effectLst>
        </p:spPr>
        <p:txBody>
          <a:bodyPr/>
          <a:lstStyle/>
          <a:p>
            <a:endParaRPr lang="en-US"/>
          </a:p>
        </p:txBody>
      </p:sp>
      <p:sp>
        <p:nvSpPr>
          <p:cNvPr id="5" name="CardTitle"/>
          <p:cNvSpPr/>
          <p:nvPr/>
        </p:nvSpPr>
        <p:spPr>
          <a:xfrm>
            <a:off x="914400" y="1860000"/>
            <a:ext cx="9966960" cy="340000"/>
          </a:xfrm>
          <a:prstGeom prst="rect">
            <a:avLst/>
          </a:prstGeom>
          <a:noFill/>
          <a:ln/>
        </p:spPr>
        <p:txBody>
          <a:bodyPr wrap="square" lIns="0" tIns="0" rIns="0" bIns="0" rtlCol="0" anchor="ctr"/>
          <a:lstStyle/>
          <a:p>
            <a:pPr marL="0" indent="0" algn="l">
              <a:buNone/>
            </a:pPr>
            <a:r>
              <a:rPr lang="en-US" sz="1300" b="1" dirty="0">
                <a:solidFill>
                  <a:srgbClr val="06185F"/>
                </a:solidFill>
                <a:latin typeface="Arial" pitchFamily="34" charset="0"/>
                <a:ea typeface="Arial" pitchFamily="34" charset="-122"/>
                <a:cs typeface="Arial" pitchFamily="34" charset="-120"/>
              </a:rPr>
              <a:t>Illustrative business-signal scorecard — one flagged account</a:t>
            </a:r>
            <a:endParaRPr lang="en-US" sz="1300" dirty="0"/>
          </a:p>
        </p:txBody>
      </p:sp>
      <p:sp>
        <p:nvSpPr>
          <p:cNvPr id="6" name="CardSub"/>
          <p:cNvSpPr/>
          <p:nvPr/>
        </p:nvSpPr>
        <p:spPr>
          <a:xfrm>
            <a:off x="914400" y="2220000"/>
            <a:ext cx="9966960" cy="260000"/>
          </a:xfrm>
          <a:prstGeom prst="rect">
            <a:avLst/>
          </a:prstGeom>
          <a:noFill/>
          <a:ln/>
        </p:spPr>
        <p:txBody>
          <a:bodyPr wrap="square" lIns="0" tIns="0" rIns="0" bIns="0" rtlCol="0" anchor="ctr"/>
          <a:lstStyle/>
          <a:p>
            <a:pPr marL="0" indent="0" algn="l">
              <a:buNone/>
            </a:pPr>
            <a:r>
              <a:rPr lang="en-US" sz="1050" i="1" dirty="0">
                <a:solidFill>
                  <a:srgbClr val="575A5D"/>
                </a:solidFill>
                <a:latin typeface="Calibri" pitchFamily="34" charset="0"/>
                <a:ea typeface="Calibri" pitchFamily="34" charset="-122"/>
                <a:cs typeface="Calibri" pitchFamily="34" charset="-120"/>
              </a:rPr>
              <a:t>Feature contribution to the business-likelihood score</a:t>
            </a:r>
            <a:endParaRPr lang="en-US" sz="1050" dirty="0"/>
          </a:p>
        </p:txBody>
      </p:sp>
      <p:sp>
        <p:nvSpPr>
          <p:cNvPr id="7" name="LegSwatch1"/>
          <p:cNvSpPr/>
          <p:nvPr/>
        </p:nvSpPr>
        <p:spPr>
          <a:xfrm>
            <a:off x="914400" y="2610000"/>
            <a:ext cx="240000" cy="240000"/>
          </a:xfrm>
          <a:prstGeom prst="roundRect">
            <a:avLst>
              <a:gd name="adj" fmla="val 20000"/>
            </a:avLst>
          </a:prstGeom>
          <a:solidFill>
            <a:srgbClr val="085CE5"/>
          </a:solidFill>
          <a:ln/>
        </p:spPr>
        <p:txBody>
          <a:bodyPr/>
          <a:lstStyle/>
          <a:p>
            <a:endParaRPr lang="en-US"/>
          </a:p>
        </p:txBody>
      </p:sp>
      <p:sp>
        <p:nvSpPr>
          <p:cNvPr id="8" name="LegLabel1"/>
          <p:cNvSpPr/>
          <p:nvPr/>
        </p:nvSpPr>
        <p:spPr>
          <a:xfrm>
            <a:off x="1220080" y="2580000"/>
            <a:ext cx="3400000" cy="300000"/>
          </a:xfrm>
          <a:prstGeom prst="rect">
            <a:avLst/>
          </a:prstGeom>
          <a:noFill/>
          <a:ln/>
        </p:spPr>
        <p:txBody>
          <a:bodyPr wrap="square" lIns="0" tIns="0" rIns="0" bIns="0" rtlCol="0" anchor="ctr"/>
          <a:lstStyle/>
          <a:p>
            <a:pPr marL="0" indent="0" algn="l">
              <a:buNone/>
            </a:pPr>
            <a:r>
              <a:rPr lang="en-US" sz="950" dirty="0">
                <a:solidFill>
                  <a:srgbClr val="06185F"/>
                </a:solidFill>
                <a:latin typeface="Calibri" pitchFamily="34" charset="0"/>
                <a:ea typeface="Calibri" pitchFamily="34" charset="-122"/>
                <a:cs typeface="Calibri" pitchFamily="34" charset="-120"/>
              </a:rPr>
              <a:t>Increases business likelihood</a:t>
            </a:r>
            <a:endParaRPr lang="en-US" sz="950" dirty="0"/>
          </a:p>
        </p:txBody>
      </p:sp>
      <p:sp>
        <p:nvSpPr>
          <p:cNvPr id="9" name="LegSwatch2"/>
          <p:cNvSpPr/>
          <p:nvPr/>
        </p:nvSpPr>
        <p:spPr>
          <a:xfrm>
            <a:off x="4840080" y="2610000"/>
            <a:ext cx="240000" cy="240000"/>
          </a:xfrm>
          <a:prstGeom prst="roundRect">
            <a:avLst>
              <a:gd name="adj" fmla="val 20000"/>
            </a:avLst>
          </a:prstGeom>
          <a:solidFill>
            <a:srgbClr val="76C6F5"/>
          </a:solidFill>
          <a:ln/>
        </p:spPr>
        <p:txBody>
          <a:bodyPr/>
          <a:lstStyle/>
          <a:p>
            <a:endParaRPr lang="en-US"/>
          </a:p>
        </p:txBody>
      </p:sp>
      <p:sp>
        <p:nvSpPr>
          <p:cNvPr id="10" name="LegLabel2"/>
          <p:cNvSpPr/>
          <p:nvPr/>
        </p:nvSpPr>
        <p:spPr>
          <a:xfrm>
            <a:off x="5140080" y="2580000"/>
            <a:ext cx="3400000" cy="300000"/>
          </a:xfrm>
          <a:prstGeom prst="rect">
            <a:avLst/>
          </a:prstGeom>
          <a:noFill/>
          <a:ln/>
        </p:spPr>
        <p:txBody>
          <a:bodyPr wrap="square" lIns="0" tIns="0" rIns="0" bIns="0" rtlCol="0" anchor="ctr"/>
          <a:lstStyle/>
          <a:p>
            <a:pPr marL="0" indent="0" algn="l">
              <a:buNone/>
            </a:pPr>
            <a:r>
              <a:rPr lang="en-US" sz="950" dirty="0">
                <a:solidFill>
                  <a:srgbClr val="06185F"/>
                </a:solidFill>
                <a:latin typeface="Calibri" pitchFamily="34" charset="0"/>
                <a:ea typeface="Calibri" pitchFamily="34" charset="-122"/>
                <a:cs typeface="Calibri" pitchFamily="34" charset="-120"/>
              </a:rPr>
              <a:t>Offsets toward personal-only</a:t>
            </a:r>
            <a:endParaRPr lang="en-US" sz="950" dirty="0"/>
          </a:p>
        </p:txBody>
      </p:sp>
      <p:sp>
        <p:nvSpPr>
          <p:cNvPr id="11" name="RowLabel0"/>
          <p:cNvSpPr/>
          <p:nvPr/>
        </p:nvSpPr>
        <p:spPr>
          <a:xfrm>
            <a:off x="1280080" y="3000000"/>
            <a:ext cx="6800000" cy="280000"/>
          </a:xfrm>
          <a:prstGeom prst="rect">
            <a:avLst/>
          </a:prstGeom>
          <a:noFill/>
          <a:ln/>
        </p:spPr>
        <p:txBody>
          <a:bodyPr wrap="square" lIns="0" tIns="0" rIns="0" bIns="0" rtlCol="0" anchor="b"/>
          <a:lstStyle/>
          <a:p>
            <a:pPr marL="0" indent="0" algn="l">
              <a:buNone/>
            </a:pPr>
            <a:r>
              <a:rPr lang="en-US" sz="1000" b="1" dirty="0">
                <a:solidFill>
                  <a:srgbClr val="06185F"/>
                </a:solidFill>
                <a:latin typeface="Calibri" pitchFamily="34" charset="0"/>
                <a:ea typeface="Calibri" pitchFamily="34" charset="-122"/>
                <a:cs typeface="Calibri" pitchFamily="34" charset="-120"/>
              </a:rPr>
              <a:t>14 distinct counterparties in 60 days</a:t>
            </a:r>
            <a:endParaRPr lang="en-US" sz="1000" dirty="0"/>
          </a:p>
        </p:txBody>
      </p:sp>
      <p:sp>
        <p:nvSpPr>
          <p:cNvPr id="12" name="Bar0"/>
          <p:cNvSpPr/>
          <p:nvPr/>
        </p:nvSpPr>
        <p:spPr>
          <a:xfrm>
            <a:off x="5040080" y="3290000"/>
            <a:ext cx="4250000" cy="230000"/>
          </a:xfrm>
          <a:prstGeom prst="roundRect">
            <a:avLst>
              <a:gd name="adj" fmla="val 20000"/>
            </a:avLst>
          </a:prstGeom>
          <a:solidFill>
            <a:srgbClr val="085CE5"/>
          </a:solidFill>
          <a:ln/>
        </p:spPr>
        <p:txBody>
          <a:bodyPr/>
          <a:lstStyle/>
          <a:p>
            <a:endParaRPr lang="en-US"/>
          </a:p>
        </p:txBody>
      </p:sp>
      <p:sp>
        <p:nvSpPr>
          <p:cNvPr id="13" name="BarVal0"/>
          <p:cNvSpPr/>
          <p:nvPr/>
        </p:nvSpPr>
        <p:spPr>
          <a:xfrm>
            <a:off x="9350080" y="3270000"/>
            <a:ext cx="500000" cy="280000"/>
          </a:xfrm>
          <a:prstGeom prst="rect">
            <a:avLst/>
          </a:prstGeom>
          <a:noFill/>
          <a:ln/>
        </p:spPr>
        <p:txBody>
          <a:bodyPr wrap="square" lIns="0" tIns="0" rIns="0" bIns="0" rtlCol="0" anchor="ctr"/>
          <a:lstStyle/>
          <a:p>
            <a:pPr marL="0" indent="0" algn="l">
              <a:buNone/>
            </a:pPr>
            <a:r>
              <a:rPr lang="en-US" sz="1000" b="1" dirty="0">
                <a:solidFill>
                  <a:srgbClr val="06185F"/>
                </a:solidFill>
                <a:latin typeface="Calibri" pitchFamily="34" charset="0"/>
                <a:ea typeface="Calibri" pitchFamily="34" charset="-122"/>
                <a:cs typeface="Calibri" pitchFamily="34" charset="-120"/>
              </a:rPr>
              <a:t>+17</a:t>
            </a:r>
            <a:endParaRPr lang="en-US" sz="1000" dirty="0"/>
          </a:p>
        </p:txBody>
      </p:sp>
      <p:sp>
        <p:nvSpPr>
          <p:cNvPr id="14" name="RowLabel1"/>
          <p:cNvSpPr/>
          <p:nvPr/>
        </p:nvSpPr>
        <p:spPr>
          <a:xfrm>
            <a:off x="1280080" y="3560000"/>
            <a:ext cx="6800000" cy="280000"/>
          </a:xfrm>
          <a:prstGeom prst="rect">
            <a:avLst/>
          </a:prstGeom>
          <a:noFill/>
          <a:ln/>
        </p:spPr>
        <p:txBody>
          <a:bodyPr wrap="square" lIns="0" tIns="0" rIns="0" bIns="0" rtlCol="0" anchor="b"/>
          <a:lstStyle/>
          <a:p>
            <a:pPr marL="0" indent="0" algn="l">
              <a:buNone/>
            </a:pPr>
            <a:r>
              <a:rPr lang="en-US" sz="1000" b="1" dirty="0">
                <a:solidFill>
                  <a:srgbClr val="06185F"/>
                </a:solidFill>
                <a:latin typeface="Calibri" pitchFamily="34" charset="0"/>
                <a:ea typeface="Calibri" pitchFamily="34" charset="-122"/>
                <a:cs typeface="Calibri" pitchFamily="34" charset="-120"/>
              </a:rPr>
              <a:t>Weekday business-hours deposit cadence</a:t>
            </a:r>
            <a:endParaRPr lang="en-US" sz="1000" dirty="0"/>
          </a:p>
        </p:txBody>
      </p:sp>
      <p:sp>
        <p:nvSpPr>
          <p:cNvPr id="15" name="Bar1"/>
          <p:cNvSpPr/>
          <p:nvPr/>
        </p:nvSpPr>
        <p:spPr>
          <a:xfrm>
            <a:off x="5040080" y="3850000"/>
            <a:ext cx="3000000" cy="230000"/>
          </a:xfrm>
          <a:prstGeom prst="roundRect">
            <a:avLst>
              <a:gd name="adj" fmla="val 20000"/>
            </a:avLst>
          </a:prstGeom>
          <a:solidFill>
            <a:srgbClr val="085CE5"/>
          </a:solidFill>
          <a:ln/>
        </p:spPr>
        <p:txBody>
          <a:bodyPr/>
          <a:lstStyle/>
          <a:p>
            <a:endParaRPr lang="en-US"/>
          </a:p>
        </p:txBody>
      </p:sp>
      <p:sp>
        <p:nvSpPr>
          <p:cNvPr id="16" name="BarVal1"/>
          <p:cNvSpPr/>
          <p:nvPr/>
        </p:nvSpPr>
        <p:spPr>
          <a:xfrm>
            <a:off x="8100080" y="3830000"/>
            <a:ext cx="500000" cy="280000"/>
          </a:xfrm>
          <a:prstGeom prst="rect">
            <a:avLst/>
          </a:prstGeom>
          <a:noFill/>
          <a:ln/>
        </p:spPr>
        <p:txBody>
          <a:bodyPr wrap="square" lIns="0" tIns="0" rIns="0" bIns="0" rtlCol="0" anchor="ctr"/>
          <a:lstStyle/>
          <a:p>
            <a:pPr marL="0" indent="0" algn="l">
              <a:buNone/>
            </a:pPr>
            <a:r>
              <a:rPr lang="en-US" sz="1000" b="1" dirty="0">
                <a:solidFill>
                  <a:srgbClr val="06185F"/>
                </a:solidFill>
                <a:latin typeface="Calibri" pitchFamily="34" charset="0"/>
                <a:ea typeface="Calibri" pitchFamily="34" charset="-122"/>
                <a:cs typeface="Calibri" pitchFamily="34" charset="-120"/>
              </a:rPr>
              <a:t>+12</a:t>
            </a:r>
            <a:endParaRPr lang="en-US" sz="1000" dirty="0"/>
          </a:p>
        </p:txBody>
      </p:sp>
      <p:sp>
        <p:nvSpPr>
          <p:cNvPr id="17" name="RowLabel2"/>
          <p:cNvSpPr/>
          <p:nvPr/>
        </p:nvSpPr>
        <p:spPr>
          <a:xfrm>
            <a:off x="1280080" y="4120000"/>
            <a:ext cx="6800000" cy="280000"/>
          </a:xfrm>
          <a:prstGeom prst="rect">
            <a:avLst/>
          </a:prstGeom>
          <a:noFill/>
          <a:ln/>
        </p:spPr>
        <p:txBody>
          <a:bodyPr wrap="square" lIns="0" tIns="0" rIns="0" bIns="0" rtlCol="0" anchor="b"/>
          <a:lstStyle/>
          <a:p>
            <a:pPr marL="0" indent="0" algn="l">
              <a:buNone/>
            </a:pPr>
            <a:r>
              <a:rPr lang="en-US" sz="1000" b="1" dirty="0">
                <a:solidFill>
                  <a:srgbClr val="06185F"/>
                </a:solidFill>
                <a:latin typeface="Calibri" pitchFamily="34" charset="0"/>
                <a:ea typeface="Calibri" pitchFamily="34" charset="-122"/>
                <a:cs typeface="Calibri" pitchFamily="34" charset="-120"/>
              </a:rPr>
              <a:t>Memo pattern matches invoice language</a:t>
            </a:r>
            <a:endParaRPr lang="en-US" sz="1000" dirty="0"/>
          </a:p>
        </p:txBody>
      </p:sp>
      <p:sp>
        <p:nvSpPr>
          <p:cNvPr id="18" name="Bar2"/>
          <p:cNvSpPr/>
          <p:nvPr/>
        </p:nvSpPr>
        <p:spPr>
          <a:xfrm>
            <a:off x="5040080" y="4410000"/>
            <a:ext cx="2250000" cy="230000"/>
          </a:xfrm>
          <a:prstGeom prst="roundRect">
            <a:avLst>
              <a:gd name="adj" fmla="val 20000"/>
            </a:avLst>
          </a:prstGeom>
          <a:solidFill>
            <a:srgbClr val="085CE5"/>
          </a:solidFill>
          <a:ln/>
        </p:spPr>
        <p:txBody>
          <a:bodyPr/>
          <a:lstStyle/>
          <a:p>
            <a:endParaRPr lang="en-US"/>
          </a:p>
        </p:txBody>
      </p:sp>
      <p:sp>
        <p:nvSpPr>
          <p:cNvPr id="19" name="BarVal2"/>
          <p:cNvSpPr/>
          <p:nvPr/>
        </p:nvSpPr>
        <p:spPr>
          <a:xfrm>
            <a:off x="7350080" y="4390000"/>
            <a:ext cx="500000" cy="280000"/>
          </a:xfrm>
          <a:prstGeom prst="rect">
            <a:avLst/>
          </a:prstGeom>
          <a:noFill/>
          <a:ln/>
        </p:spPr>
        <p:txBody>
          <a:bodyPr wrap="square" lIns="0" tIns="0" rIns="0" bIns="0" rtlCol="0" anchor="ctr"/>
          <a:lstStyle/>
          <a:p>
            <a:pPr marL="0" indent="0" algn="l">
              <a:buNone/>
            </a:pPr>
            <a:r>
              <a:rPr lang="en-US" sz="1000" b="1" dirty="0">
                <a:solidFill>
                  <a:srgbClr val="06185F"/>
                </a:solidFill>
                <a:latin typeface="Calibri" pitchFamily="34" charset="0"/>
                <a:ea typeface="Calibri" pitchFamily="34" charset="-122"/>
                <a:cs typeface="Calibri" pitchFamily="34" charset="-120"/>
              </a:rPr>
              <a:t>+9</a:t>
            </a:r>
            <a:endParaRPr lang="en-US" sz="1000" dirty="0"/>
          </a:p>
        </p:txBody>
      </p:sp>
      <p:sp>
        <p:nvSpPr>
          <p:cNvPr id="20" name="RowLabel3"/>
          <p:cNvSpPr/>
          <p:nvPr/>
        </p:nvSpPr>
        <p:spPr>
          <a:xfrm>
            <a:off x="1280080" y="4680000"/>
            <a:ext cx="6800000" cy="280000"/>
          </a:xfrm>
          <a:prstGeom prst="rect">
            <a:avLst/>
          </a:prstGeom>
          <a:noFill/>
          <a:ln/>
        </p:spPr>
        <p:txBody>
          <a:bodyPr wrap="square" lIns="0" tIns="0" rIns="0" bIns="0" rtlCol="0" anchor="b"/>
          <a:lstStyle/>
          <a:p>
            <a:pPr marL="0" indent="0" algn="l">
              <a:buNone/>
            </a:pPr>
            <a:r>
              <a:rPr lang="en-US" sz="1000" b="1" dirty="0">
                <a:solidFill>
                  <a:srgbClr val="06185F"/>
                </a:solidFill>
                <a:latin typeface="Calibri" pitchFamily="34" charset="0"/>
                <a:ea typeface="Calibri" pitchFamily="34" charset="-122"/>
                <a:cs typeface="Calibri" pitchFamily="34" charset="-120"/>
              </a:rPr>
              <a:t>Long tenure as personal-only customer</a:t>
            </a:r>
            <a:endParaRPr lang="en-US" sz="1000" dirty="0"/>
          </a:p>
        </p:txBody>
      </p:sp>
      <p:sp>
        <p:nvSpPr>
          <p:cNvPr id="21" name="Bar3"/>
          <p:cNvSpPr/>
          <p:nvPr/>
        </p:nvSpPr>
        <p:spPr>
          <a:xfrm>
            <a:off x="3040080" y="4970000"/>
            <a:ext cx="2000000" cy="230000"/>
          </a:xfrm>
          <a:prstGeom prst="roundRect">
            <a:avLst>
              <a:gd name="adj" fmla="val 20000"/>
            </a:avLst>
          </a:prstGeom>
          <a:solidFill>
            <a:srgbClr val="76C6F5"/>
          </a:solidFill>
          <a:ln/>
        </p:spPr>
        <p:txBody>
          <a:bodyPr/>
          <a:lstStyle/>
          <a:p>
            <a:endParaRPr lang="en-US"/>
          </a:p>
        </p:txBody>
      </p:sp>
      <p:sp>
        <p:nvSpPr>
          <p:cNvPr id="22" name="BarVal3"/>
          <p:cNvSpPr/>
          <p:nvPr/>
        </p:nvSpPr>
        <p:spPr>
          <a:xfrm>
            <a:off x="4480080" y="4950000"/>
            <a:ext cx="500000" cy="280000"/>
          </a:xfrm>
          <a:prstGeom prst="rect">
            <a:avLst/>
          </a:prstGeom>
          <a:noFill/>
          <a:ln/>
        </p:spPr>
        <p:txBody>
          <a:bodyPr wrap="square" lIns="0" tIns="0" rIns="0" bIns="0" rtlCol="0" anchor="ctr"/>
          <a:lstStyle/>
          <a:p>
            <a:pPr marL="0" indent="0" algn="r">
              <a:buNone/>
            </a:pPr>
            <a:r>
              <a:rPr lang="en-US" sz="1000" b="1" dirty="0">
                <a:solidFill>
                  <a:srgbClr val="06185F"/>
                </a:solidFill>
                <a:latin typeface="Calibri" pitchFamily="34" charset="0"/>
                <a:ea typeface="Calibri" pitchFamily="34" charset="-122"/>
                <a:cs typeface="Calibri" pitchFamily="34" charset="-120"/>
              </a:rPr>
              <a:t>-8</a:t>
            </a:r>
            <a:endParaRPr lang="en-US" sz="1000" dirty="0"/>
          </a:p>
        </p:txBody>
      </p:sp>
      <p:cxnSp>
        <p:nvCxnSpPr>
          <p:cNvPr id="23" name="ZeroAxis"/>
          <p:cNvCxnSpPr/>
          <p:nvPr/>
        </p:nvCxnSpPr>
        <p:spPr>
          <a:xfrm>
            <a:off x="5040080" y="2950000"/>
            <a:ext cx="0" cy="2410000"/>
          </a:xfrm>
          <a:prstGeom prst="line">
            <a:avLst/>
          </a:prstGeom>
          <a:ln w="12700">
            <a:solidFill>
              <a:srgbClr val="575A5D"/>
            </a:solidFill>
          </a:ln>
        </p:spPr>
      </p:cxnSp>
      <p:cxnSp>
        <p:nvCxnSpPr>
          <p:cNvPr id="24" name="XAxisBase"/>
          <p:cNvCxnSpPr/>
          <p:nvPr/>
        </p:nvCxnSpPr>
        <p:spPr>
          <a:xfrm>
            <a:off x="2540080" y="5380000"/>
            <a:ext cx="7500000" cy="0"/>
          </a:xfrm>
          <a:prstGeom prst="line">
            <a:avLst/>
          </a:prstGeom>
          <a:ln w="9525">
            <a:solidFill>
              <a:srgbClr val="D7DBDE"/>
            </a:solidFill>
          </a:ln>
        </p:spPr>
      </p:cxnSp>
      <p:sp>
        <p:nvSpPr>
          <p:cNvPr id="25" name="Tick-10"/>
          <p:cNvSpPr/>
          <p:nvPr/>
        </p:nvSpPr>
        <p:spPr>
          <a:xfrm>
            <a:off x="2240080" y="5410000"/>
            <a:ext cx="600000" cy="220000"/>
          </a:xfrm>
          <a:prstGeom prst="rect">
            <a:avLst/>
          </a:prstGeom>
          <a:noFill/>
          <a:ln/>
        </p:spPr>
        <p:txBody>
          <a:bodyPr wrap="square" lIns="0" tIns="0" rIns="0" bIns="0" rtlCol="0" anchor="ctr"/>
          <a:lstStyle/>
          <a:p>
            <a:pPr marL="0" indent="0" algn="ctr">
              <a:buNone/>
            </a:pPr>
            <a:r>
              <a:rPr lang="en-US" sz="850" dirty="0">
                <a:solidFill>
                  <a:srgbClr val="575A5D"/>
                </a:solidFill>
                <a:latin typeface="Calibri" pitchFamily="34" charset="0"/>
                <a:ea typeface="Calibri" pitchFamily="34" charset="-122"/>
                <a:cs typeface="Calibri" pitchFamily="34" charset="-120"/>
              </a:rPr>
              <a:t>-10</a:t>
            </a:r>
            <a:endParaRPr lang="en-US" sz="850" dirty="0"/>
          </a:p>
        </p:txBody>
      </p:sp>
      <p:sp>
        <p:nvSpPr>
          <p:cNvPr id="26" name="Tick-5"/>
          <p:cNvSpPr/>
          <p:nvPr/>
        </p:nvSpPr>
        <p:spPr>
          <a:xfrm>
            <a:off x="3490080" y="5410000"/>
            <a:ext cx="600000" cy="220000"/>
          </a:xfrm>
          <a:prstGeom prst="rect">
            <a:avLst/>
          </a:prstGeom>
          <a:noFill/>
          <a:ln/>
        </p:spPr>
        <p:txBody>
          <a:bodyPr wrap="square" lIns="0" tIns="0" rIns="0" bIns="0" rtlCol="0" anchor="ctr"/>
          <a:lstStyle/>
          <a:p>
            <a:pPr marL="0" indent="0" algn="ctr">
              <a:buNone/>
            </a:pPr>
            <a:r>
              <a:rPr lang="en-US" sz="850" dirty="0">
                <a:solidFill>
                  <a:srgbClr val="575A5D"/>
                </a:solidFill>
                <a:latin typeface="Calibri" pitchFamily="34" charset="0"/>
                <a:ea typeface="Calibri" pitchFamily="34" charset="-122"/>
                <a:cs typeface="Calibri" pitchFamily="34" charset="-120"/>
              </a:rPr>
              <a:t>-5</a:t>
            </a:r>
            <a:endParaRPr lang="en-US" sz="850" dirty="0"/>
          </a:p>
        </p:txBody>
      </p:sp>
      <p:sp>
        <p:nvSpPr>
          <p:cNvPr id="27" name="Tick0"/>
          <p:cNvSpPr/>
          <p:nvPr/>
        </p:nvSpPr>
        <p:spPr>
          <a:xfrm>
            <a:off x="4740080" y="5410000"/>
            <a:ext cx="600000" cy="220000"/>
          </a:xfrm>
          <a:prstGeom prst="rect">
            <a:avLst/>
          </a:prstGeom>
          <a:noFill/>
          <a:ln/>
        </p:spPr>
        <p:txBody>
          <a:bodyPr wrap="square" lIns="0" tIns="0" rIns="0" bIns="0" rtlCol="0" anchor="ctr"/>
          <a:lstStyle/>
          <a:p>
            <a:pPr marL="0" indent="0" algn="ctr">
              <a:buNone/>
            </a:pPr>
            <a:r>
              <a:rPr lang="en-US" sz="850" dirty="0">
                <a:solidFill>
                  <a:srgbClr val="575A5D"/>
                </a:solidFill>
                <a:latin typeface="Calibri" pitchFamily="34" charset="0"/>
                <a:ea typeface="Calibri" pitchFamily="34" charset="-122"/>
                <a:cs typeface="Calibri" pitchFamily="34" charset="-120"/>
              </a:rPr>
              <a:t>0</a:t>
            </a:r>
            <a:endParaRPr lang="en-US" sz="850" dirty="0"/>
          </a:p>
        </p:txBody>
      </p:sp>
      <p:sp>
        <p:nvSpPr>
          <p:cNvPr id="28" name="Tick5"/>
          <p:cNvSpPr/>
          <p:nvPr/>
        </p:nvSpPr>
        <p:spPr>
          <a:xfrm>
            <a:off x="5990080" y="5410000"/>
            <a:ext cx="600000" cy="220000"/>
          </a:xfrm>
          <a:prstGeom prst="rect">
            <a:avLst/>
          </a:prstGeom>
          <a:noFill/>
          <a:ln/>
        </p:spPr>
        <p:txBody>
          <a:bodyPr wrap="square" lIns="0" tIns="0" rIns="0" bIns="0" rtlCol="0" anchor="ctr"/>
          <a:lstStyle/>
          <a:p>
            <a:pPr marL="0" indent="0" algn="ctr">
              <a:buNone/>
            </a:pPr>
            <a:r>
              <a:rPr lang="en-US" sz="850" dirty="0">
                <a:solidFill>
                  <a:srgbClr val="575A5D"/>
                </a:solidFill>
                <a:latin typeface="Calibri" pitchFamily="34" charset="0"/>
                <a:ea typeface="Calibri" pitchFamily="34" charset="-122"/>
                <a:cs typeface="Calibri" pitchFamily="34" charset="-120"/>
              </a:rPr>
              <a:t>5</a:t>
            </a:r>
            <a:endParaRPr lang="en-US" sz="850" dirty="0"/>
          </a:p>
        </p:txBody>
      </p:sp>
      <p:sp>
        <p:nvSpPr>
          <p:cNvPr id="29" name="Tick10"/>
          <p:cNvSpPr/>
          <p:nvPr/>
        </p:nvSpPr>
        <p:spPr>
          <a:xfrm>
            <a:off x="7240080" y="5410000"/>
            <a:ext cx="600000" cy="220000"/>
          </a:xfrm>
          <a:prstGeom prst="rect">
            <a:avLst/>
          </a:prstGeom>
          <a:noFill/>
          <a:ln/>
        </p:spPr>
        <p:txBody>
          <a:bodyPr wrap="square" lIns="0" tIns="0" rIns="0" bIns="0" rtlCol="0" anchor="ctr"/>
          <a:lstStyle/>
          <a:p>
            <a:pPr marL="0" indent="0" algn="ctr">
              <a:buNone/>
            </a:pPr>
            <a:r>
              <a:rPr lang="en-US" sz="850" dirty="0">
                <a:solidFill>
                  <a:srgbClr val="575A5D"/>
                </a:solidFill>
                <a:latin typeface="Calibri" pitchFamily="34" charset="0"/>
                <a:ea typeface="Calibri" pitchFamily="34" charset="-122"/>
                <a:cs typeface="Calibri" pitchFamily="34" charset="-120"/>
              </a:rPr>
              <a:t>10</a:t>
            </a:r>
            <a:endParaRPr lang="en-US" sz="850" dirty="0"/>
          </a:p>
        </p:txBody>
      </p:sp>
      <p:sp>
        <p:nvSpPr>
          <p:cNvPr id="30" name="Tick15"/>
          <p:cNvSpPr/>
          <p:nvPr/>
        </p:nvSpPr>
        <p:spPr>
          <a:xfrm>
            <a:off x="8490080" y="5410000"/>
            <a:ext cx="600000" cy="220000"/>
          </a:xfrm>
          <a:prstGeom prst="rect">
            <a:avLst/>
          </a:prstGeom>
          <a:noFill/>
          <a:ln/>
        </p:spPr>
        <p:txBody>
          <a:bodyPr wrap="square" lIns="0" tIns="0" rIns="0" bIns="0" rtlCol="0" anchor="ctr"/>
          <a:lstStyle/>
          <a:p>
            <a:pPr marL="0" indent="0" algn="ctr">
              <a:buNone/>
            </a:pPr>
            <a:r>
              <a:rPr lang="en-US" sz="850" dirty="0">
                <a:solidFill>
                  <a:srgbClr val="575A5D"/>
                </a:solidFill>
                <a:latin typeface="Calibri" pitchFamily="34" charset="0"/>
                <a:ea typeface="Calibri" pitchFamily="34" charset="-122"/>
                <a:cs typeface="Calibri" pitchFamily="34" charset="-120"/>
              </a:rPr>
              <a:t>15</a:t>
            </a:r>
            <a:endParaRPr lang="en-US" sz="850" dirty="0"/>
          </a:p>
        </p:txBody>
      </p:sp>
      <p:sp>
        <p:nvSpPr>
          <p:cNvPr id="31" name="Tick20"/>
          <p:cNvSpPr/>
          <p:nvPr/>
        </p:nvSpPr>
        <p:spPr>
          <a:xfrm>
            <a:off x="9740080" y="5410000"/>
            <a:ext cx="600000" cy="220000"/>
          </a:xfrm>
          <a:prstGeom prst="rect">
            <a:avLst/>
          </a:prstGeom>
          <a:noFill/>
          <a:ln/>
        </p:spPr>
        <p:txBody>
          <a:bodyPr wrap="square" lIns="0" tIns="0" rIns="0" bIns="0" rtlCol="0" anchor="ctr"/>
          <a:lstStyle/>
          <a:p>
            <a:pPr marL="0" indent="0" algn="ctr">
              <a:buNone/>
            </a:pPr>
            <a:r>
              <a:rPr lang="en-US" sz="850" dirty="0">
                <a:solidFill>
                  <a:srgbClr val="575A5D"/>
                </a:solidFill>
                <a:latin typeface="Calibri" pitchFamily="34" charset="0"/>
                <a:ea typeface="Calibri" pitchFamily="34" charset="-122"/>
                <a:cs typeface="Calibri" pitchFamily="34" charset="-120"/>
              </a:rPr>
              <a:t>20</a:t>
            </a:r>
            <a:endParaRPr lang="en-US" sz="850" dirty="0"/>
          </a:p>
        </p:txBody>
      </p:sp>
      <p:sp>
        <p:nvSpPr>
          <p:cNvPr id="32" name="Closing"/>
          <p:cNvSpPr/>
          <p:nvPr/>
        </p:nvSpPr>
        <p:spPr>
          <a:xfrm>
            <a:off x="640080" y="6000000"/>
            <a:ext cx="10515600" cy="320000"/>
          </a:xfrm>
          <a:prstGeom prst="rect">
            <a:avLst/>
          </a:prstGeom>
          <a:noFill/>
          <a:ln/>
        </p:spPr>
        <p:txBody>
          <a:bodyPr wrap="square" lIns="0" tIns="0" rIns="0" bIns="0" rtlCol="0" anchor="ctr"/>
          <a:lstStyle/>
          <a:p>
            <a:pPr marL="0" indent="0" algn="l">
              <a:buNone/>
            </a:pPr>
            <a:r>
              <a:rPr lang="en-US" sz="1200" i="1" dirty="0">
                <a:solidFill>
                  <a:srgbClr val="575A5D"/>
                </a:solidFill>
                <a:latin typeface="Calibri" pitchFamily="34" charset="0"/>
                <a:ea typeface="Calibri" pitchFamily="34" charset="-122"/>
                <a:cs typeface="Calibri" pitchFamily="34" charset="-120"/>
              </a:rPr>
              <a:t>The RM's accept, override, or escalate decision retrains this score — the same way it does for churn.</a:t>
            </a:r>
            <a:endParaRPr lang="en-US" sz="1200" dirty="0"/>
          </a:p>
        </p:txBody>
      </p:sp>
      <p:sp>
        <p:nvSpPr>
          <p:cNvPr id="33" name="PageNum"/>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900" dirty="0">
                <a:solidFill>
                  <a:srgbClr val="B6BBC0"/>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5486400" cy="320040"/>
          </a:xfrm>
          <a:prstGeom prst="rect">
            <a:avLst/>
          </a:prstGeom>
          <a:noFill/>
          <a:ln/>
        </p:spPr>
        <p:txBody>
          <a:bodyPr wrap="square" lIns="0" tIns="0" rIns="0" bIns="0" rtlCol="0" anchor="ctr"/>
          <a:lstStyle/>
          <a:p>
            <a:pPr marL="0" indent="0" algn="l">
              <a:buNone/>
            </a:pPr>
            <a:r>
              <a:rPr lang="en-US" sz="1200" b="1" kern="0" spc="200" dirty="0">
                <a:solidFill>
                  <a:srgbClr val="085CE5"/>
                </a:solidFill>
                <a:latin typeface="Calibri" pitchFamily="34" charset="0"/>
                <a:ea typeface="Calibri" pitchFamily="34" charset="-122"/>
                <a:cs typeface="Calibri" pitchFamily="34" charset="-120"/>
              </a:rPr>
              <a:t>FROM FLAG TO OFFER</a:t>
            </a:r>
            <a:endParaRPr lang="en-US" sz="1200" dirty="0"/>
          </a:p>
        </p:txBody>
      </p:sp>
      <p:sp>
        <p:nvSpPr>
          <p:cNvPr id="3" name="Text 1"/>
          <p:cNvSpPr/>
          <p:nvPr/>
        </p:nvSpPr>
        <p:spPr>
          <a:xfrm>
            <a:off x="640080" y="822960"/>
            <a:ext cx="10515600" cy="731520"/>
          </a:xfrm>
          <a:prstGeom prst="rect">
            <a:avLst/>
          </a:prstGeom>
          <a:noFill/>
          <a:ln/>
        </p:spPr>
        <p:txBody>
          <a:bodyPr wrap="square" lIns="0" tIns="0" rIns="0" bIns="0" rtlCol="0" anchor="ctr"/>
          <a:lstStyle/>
          <a:p>
            <a:pPr marL="0" indent="0">
              <a:buNone/>
            </a:pPr>
            <a:r>
              <a:rPr lang="en-US" sz="2800" b="1" dirty="0">
                <a:solidFill>
                  <a:srgbClr val="06185F"/>
                </a:solidFill>
                <a:latin typeface="Arial" pitchFamily="34" charset="0"/>
                <a:ea typeface="Arial" pitchFamily="34" charset="-122"/>
                <a:cs typeface="Arial" pitchFamily="34" charset="-120"/>
              </a:rPr>
              <a:t>The conversion moment has a sequence</a:t>
            </a:r>
            <a:endParaRPr lang="en-US" sz="2800" dirty="0"/>
          </a:p>
        </p:txBody>
      </p:sp>
      <p:sp>
        <p:nvSpPr>
          <p:cNvPr id="4" name="Text 2"/>
          <p:cNvSpPr/>
          <p:nvPr/>
        </p:nvSpPr>
        <p:spPr>
          <a:xfrm>
            <a:off x="640080" y="1481328"/>
            <a:ext cx="10515600" cy="457200"/>
          </a:xfrm>
          <a:prstGeom prst="rect">
            <a:avLst/>
          </a:prstGeom>
          <a:noFill/>
          <a:ln/>
        </p:spPr>
        <p:txBody>
          <a:bodyPr wrap="square" lIns="0" tIns="0" rIns="0" bIns="0" rtlCol="0" anchor="ctr"/>
          <a:lstStyle/>
          <a:p>
            <a:pPr marL="0" indent="0">
              <a:buNone/>
            </a:pPr>
            <a:r>
              <a:rPr lang="en-US" sz="1300" dirty="0">
                <a:solidFill>
                  <a:srgbClr val="575A5D"/>
                </a:solidFill>
                <a:latin typeface="Calibri" pitchFamily="34" charset="0"/>
                <a:ea typeface="Calibri" pitchFamily="34" charset="-122"/>
                <a:cs typeface="Calibri" pitchFamily="34" charset="-120"/>
              </a:rPr>
              <a:t>Detection tells you when. Sequencing and propensity tell you what to offer first — get this wrong and a well-earned flag converts nobody.</a:t>
            </a:r>
            <a:endParaRPr lang="en-US" sz="1300" dirty="0"/>
          </a:p>
        </p:txBody>
      </p:sp>
      <p:sp>
        <p:nvSpPr>
          <p:cNvPr id="5" name="Shape 3"/>
          <p:cNvSpPr/>
          <p:nvPr/>
        </p:nvSpPr>
        <p:spPr>
          <a:xfrm>
            <a:off x="640080" y="2331720"/>
            <a:ext cx="2468880" cy="2651760"/>
          </a:xfrm>
          <a:prstGeom prst="roundRect">
            <a:avLst>
              <a:gd name="adj" fmla="val 2963"/>
            </a:avLst>
          </a:prstGeom>
          <a:solidFill>
            <a:srgbClr val="E8F7F7"/>
          </a:solidFill>
          <a:ln/>
          <a:effectLst>
            <a:outerShdw blurRad="127000" dist="38100" dir="5400000" algn="bl" rotWithShape="0">
              <a:srgbClr val="1B1F3B">
                <a:alpha val="10000"/>
              </a:srgbClr>
            </a:outerShdw>
          </a:effectLst>
        </p:spPr>
        <p:txBody>
          <a:bodyPr/>
          <a:lstStyle/>
          <a:p>
            <a:endParaRPr lang="en-US"/>
          </a:p>
        </p:txBody>
      </p:sp>
      <p:sp>
        <p:nvSpPr>
          <p:cNvPr id="6" name="Text 4"/>
          <p:cNvSpPr/>
          <p:nvPr/>
        </p:nvSpPr>
        <p:spPr>
          <a:xfrm>
            <a:off x="868680" y="2514600"/>
            <a:ext cx="548640" cy="457200"/>
          </a:xfrm>
          <a:prstGeom prst="rect">
            <a:avLst/>
          </a:prstGeom>
          <a:noFill/>
          <a:ln/>
        </p:spPr>
        <p:txBody>
          <a:bodyPr wrap="square" lIns="0" tIns="0" rIns="0" bIns="0" rtlCol="0" anchor="ctr"/>
          <a:lstStyle/>
          <a:p>
            <a:pPr marL="0" indent="0">
              <a:buNone/>
            </a:pPr>
            <a:r>
              <a:rPr lang="en-US" sz="2200" b="1" dirty="0">
                <a:solidFill>
                  <a:srgbClr val="085CE5"/>
                </a:solidFill>
                <a:latin typeface="Arial" pitchFamily="34" charset="0"/>
                <a:ea typeface="Arial" pitchFamily="34" charset="-122"/>
                <a:cs typeface="Arial" pitchFamily="34" charset="-120"/>
              </a:rPr>
              <a:t>1</a:t>
            </a:r>
            <a:endParaRPr lang="en-US" sz="2200" dirty="0"/>
          </a:p>
        </p:txBody>
      </p:sp>
      <p:sp>
        <p:nvSpPr>
          <p:cNvPr id="7" name="Text 5"/>
          <p:cNvSpPr/>
          <p:nvPr/>
        </p:nvSpPr>
        <p:spPr>
          <a:xfrm>
            <a:off x="868680" y="3108960"/>
            <a:ext cx="2011680" cy="594360"/>
          </a:xfrm>
          <a:prstGeom prst="rect">
            <a:avLst/>
          </a:prstGeom>
          <a:noFill/>
          <a:ln/>
        </p:spPr>
        <p:txBody>
          <a:bodyPr wrap="square" lIns="0" tIns="0" rIns="0" bIns="0" rtlCol="0" anchor="ctr"/>
          <a:lstStyle/>
          <a:p>
            <a:pPr marL="0" indent="0">
              <a:buNone/>
            </a:pPr>
            <a:r>
              <a:rPr lang="en-US" sz="1400" b="1" dirty="0">
                <a:solidFill>
                  <a:srgbClr val="06185F"/>
                </a:solidFill>
                <a:latin typeface="Arial" pitchFamily="34" charset="0"/>
                <a:ea typeface="Arial" pitchFamily="34" charset="-122"/>
                <a:cs typeface="Arial" pitchFamily="34" charset="-120"/>
              </a:rPr>
              <a:t>Business Checking</a:t>
            </a:r>
            <a:endParaRPr lang="en-US" sz="1400" dirty="0"/>
          </a:p>
        </p:txBody>
      </p:sp>
      <p:sp>
        <p:nvSpPr>
          <p:cNvPr id="8" name="Text 6"/>
          <p:cNvSpPr/>
          <p:nvPr/>
        </p:nvSpPr>
        <p:spPr>
          <a:xfrm>
            <a:off x="868680" y="3749040"/>
            <a:ext cx="2011680" cy="1143000"/>
          </a:xfrm>
          <a:prstGeom prst="rect">
            <a:avLst/>
          </a:prstGeom>
          <a:noFill/>
          <a:ln/>
        </p:spPr>
        <p:txBody>
          <a:bodyPr wrap="square" lIns="0" tIns="0" rIns="0" bIns="0" rtlCol="0" anchor="ctr"/>
          <a:lstStyle/>
          <a:p>
            <a:pPr marL="0" indent="0">
              <a:buNone/>
            </a:pPr>
            <a:r>
              <a:rPr lang="en-US" sz="1100" dirty="0">
                <a:solidFill>
                  <a:srgbClr val="575A5D"/>
                </a:solidFill>
                <a:latin typeface="Calibri" pitchFamily="34" charset="0"/>
                <a:ea typeface="Calibri" pitchFamily="34" charset="-122"/>
                <a:cs typeface="Calibri" pitchFamily="34" charset="-120"/>
              </a:rPr>
              <a:t>The foundational move — frictionless, ideally pre-filled digital onboarding via Banno Business</a:t>
            </a:r>
            <a:endParaRPr lang="en-US" sz="1100" dirty="0"/>
          </a:p>
        </p:txBody>
      </p:sp>
      <p:sp>
        <p:nvSpPr>
          <p:cNvPr id="9" name="Shape 7"/>
          <p:cNvSpPr/>
          <p:nvPr/>
        </p:nvSpPr>
        <p:spPr>
          <a:xfrm>
            <a:off x="3154680" y="3520440"/>
            <a:ext cx="256032" cy="256032"/>
          </a:xfrm>
          <a:prstGeom prst="rightArrow">
            <a:avLst/>
          </a:prstGeom>
          <a:solidFill>
            <a:srgbClr val="085CE5"/>
          </a:solidFill>
          <a:ln/>
        </p:spPr>
        <p:txBody>
          <a:bodyPr/>
          <a:lstStyle/>
          <a:p>
            <a:endParaRPr lang="en-US"/>
          </a:p>
        </p:txBody>
      </p:sp>
      <p:sp>
        <p:nvSpPr>
          <p:cNvPr id="10" name="Shape 8"/>
          <p:cNvSpPr/>
          <p:nvPr/>
        </p:nvSpPr>
        <p:spPr>
          <a:xfrm>
            <a:off x="3429000" y="2331720"/>
            <a:ext cx="2468880" cy="2651760"/>
          </a:xfrm>
          <a:prstGeom prst="roundRect">
            <a:avLst>
              <a:gd name="adj" fmla="val 2963"/>
            </a:avLst>
          </a:prstGeom>
          <a:solidFill>
            <a:srgbClr val="E8F7F7"/>
          </a:solidFill>
          <a:ln/>
          <a:effectLst>
            <a:outerShdw blurRad="127000" dist="38100" dir="5400000" algn="bl" rotWithShape="0">
              <a:srgbClr val="1B1F3B">
                <a:alpha val="10000"/>
              </a:srgbClr>
            </a:outerShdw>
          </a:effectLst>
        </p:spPr>
        <p:txBody>
          <a:bodyPr/>
          <a:lstStyle/>
          <a:p>
            <a:endParaRPr lang="en-US"/>
          </a:p>
        </p:txBody>
      </p:sp>
      <p:sp>
        <p:nvSpPr>
          <p:cNvPr id="11" name="Text 9"/>
          <p:cNvSpPr/>
          <p:nvPr/>
        </p:nvSpPr>
        <p:spPr>
          <a:xfrm>
            <a:off x="3657600" y="2514600"/>
            <a:ext cx="548640" cy="457200"/>
          </a:xfrm>
          <a:prstGeom prst="rect">
            <a:avLst/>
          </a:prstGeom>
          <a:noFill/>
          <a:ln/>
        </p:spPr>
        <p:txBody>
          <a:bodyPr wrap="square" lIns="0" tIns="0" rIns="0" bIns="0" rtlCol="0" anchor="ctr"/>
          <a:lstStyle/>
          <a:p>
            <a:pPr marL="0" indent="0">
              <a:buNone/>
            </a:pPr>
            <a:r>
              <a:rPr lang="en-US" sz="2200" b="1" dirty="0">
                <a:solidFill>
                  <a:srgbClr val="085CE5"/>
                </a:solidFill>
                <a:latin typeface="Arial" pitchFamily="34" charset="0"/>
                <a:ea typeface="Arial" pitchFamily="34" charset="-122"/>
                <a:cs typeface="Arial" pitchFamily="34" charset="-120"/>
              </a:rPr>
              <a:t>2</a:t>
            </a:r>
            <a:endParaRPr lang="en-US" sz="2200" dirty="0"/>
          </a:p>
        </p:txBody>
      </p:sp>
      <p:sp>
        <p:nvSpPr>
          <p:cNvPr id="12" name="Text 10"/>
          <p:cNvSpPr/>
          <p:nvPr/>
        </p:nvSpPr>
        <p:spPr>
          <a:xfrm>
            <a:off x="3657600" y="3108960"/>
            <a:ext cx="2011680" cy="594360"/>
          </a:xfrm>
          <a:prstGeom prst="rect">
            <a:avLst/>
          </a:prstGeom>
          <a:noFill/>
          <a:ln/>
        </p:spPr>
        <p:txBody>
          <a:bodyPr wrap="square" lIns="0" tIns="0" rIns="0" bIns="0" rtlCol="0" anchor="ctr"/>
          <a:lstStyle/>
          <a:p>
            <a:pPr marL="0" indent="0">
              <a:buNone/>
            </a:pPr>
            <a:r>
              <a:rPr lang="en-US" sz="1400" b="1" dirty="0">
                <a:solidFill>
                  <a:srgbClr val="06185F"/>
                </a:solidFill>
                <a:latin typeface="Arial" pitchFamily="34" charset="0"/>
                <a:ea typeface="Arial" pitchFamily="34" charset="-122"/>
                <a:cs typeface="Arial" pitchFamily="34" charset="-120"/>
              </a:rPr>
              <a:t>Debit &amp; Treasury Tools</a:t>
            </a:r>
            <a:endParaRPr lang="en-US" sz="1400" dirty="0"/>
          </a:p>
        </p:txBody>
      </p:sp>
      <p:sp>
        <p:nvSpPr>
          <p:cNvPr id="13" name="Text 11"/>
          <p:cNvSpPr/>
          <p:nvPr/>
        </p:nvSpPr>
        <p:spPr>
          <a:xfrm>
            <a:off x="3657600" y="3749040"/>
            <a:ext cx="2011680" cy="1143000"/>
          </a:xfrm>
          <a:prstGeom prst="rect">
            <a:avLst/>
          </a:prstGeom>
          <a:noFill/>
          <a:ln/>
        </p:spPr>
        <p:txBody>
          <a:bodyPr wrap="square" lIns="0" tIns="0" rIns="0" bIns="0" rtlCol="0" anchor="ctr"/>
          <a:lstStyle/>
          <a:p>
            <a:pPr marL="0" indent="0">
              <a:buNone/>
            </a:pPr>
            <a:r>
              <a:rPr lang="en-US" sz="1100" dirty="0">
                <a:solidFill>
                  <a:srgbClr val="575A5D"/>
                </a:solidFill>
                <a:latin typeface="Calibri" pitchFamily="34" charset="0"/>
                <a:ea typeface="Calibri" pitchFamily="34" charset="-122"/>
                <a:cs typeface="Calibri" pitchFamily="34" charset="-120"/>
              </a:rPr>
              <a:t>Cash flow visibility and payment tools that mirror what they already use personally</a:t>
            </a:r>
            <a:endParaRPr lang="en-US" sz="1100" dirty="0"/>
          </a:p>
        </p:txBody>
      </p:sp>
      <p:sp>
        <p:nvSpPr>
          <p:cNvPr id="14" name="Shape 12"/>
          <p:cNvSpPr/>
          <p:nvPr/>
        </p:nvSpPr>
        <p:spPr>
          <a:xfrm>
            <a:off x="5943600" y="3520440"/>
            <a:ext cx="256032" cy="256032"/>
          </a:xfrm>
          <a:prstGeom prst="rightArrow">
            <a:avLst/>
          </a:prstGeom>
          <a:solidFill>
            <a:srgbClr val="085CE5"/>
          </a:solidFill>
          <a:ln/>
        </p:spPr>
        <p:txBody>
          <a:bodyPr/>
          <a:lstStyle/>
          <a:p>
            <a:endParaRPr lang="en-US"/>
          </a:p>
        </p:txBody>
      </p:sp>
      <p:sp>
        <p:nvSpPr>
          <p:cNvPr id="15" name="Shape 13"/>
          <p:cNvSpPr/>
          <p:nvPr/>
        </p:nvSpPr>
        <p:spPr>
          <a:xfrm>
            <a:off x="6217920" y="2331720"/>
            <a:ext cx="2468880" cy="2651760"/>
          </a:xfrm>
          <a:prstGeom prst="roundRect">
            <a:avLst>
              <a:gd name="adj" fmla="val 2963"/>
            </a:avLst>
          </a:prstGeom>
          <a:solidFill>
            <a:srgbClr val="E8F7F7"/>
          </a:solidFill>
          <a:ln/>
          <a:effectLst>
            <a:outerShdw blurRad="127000" dist="38100" dir="5400000" algn="bl" rotWithShape="0">
              <a:srgbClr val="1B1F3B">
                <a:alpha val="10000"/>
              </a:srgbClr>
            </a:outerShdw>
          </a:effectLst>
        </p:spPr>
        <p:txBody>
          <a:bodyPr/>
          <a:lstStyle/>
          <a:p>
            <a:endParaRPr lang="en-US"/>
          </a:p>
        </p:txBody>
      </p:sp>
      <p:sp>
        <p:nvSpPr>
          <p:cNvPr id="16" name="Text 14"/>
          <p:cNvSpPr/>
          <p:nvPr/>
        </p:nvSpPr>
        <p:spPr>
          <a:xfrm>
            <a:off x="6446520" y="2514600"/>
            <a:ext cx="548640" cy="457200"/>
          </a:xfrm>
          <a:prstGeom prst="rect">
            <a:avLst/>
          </a:prstGeom>
          <a:noFill/>
          <a:ln/>
        </p:spPr>
        <p:txBody>
          <a:bodyPr wrap="square" lIns="0" tIns="0" rIns="0" bIns="0" rtlCol="0" anchor="ctr"/>
          <a:lstStyle/>
          <a:p>
            <a:pPr marL="0" indent="0">
              <a:buNone/>
            </a:pPr>
            <a:r>
              <a:rPr lang="en-US" sz="2200" b="1" dirty="0">
                <a:solidFill>
                  <a:srgbClr val="085CE5"/>
                </a:solidFill>
                <a:latin typeface="Arial" pitchFamily="34" charset="0"/>
                <a:ea typeface="Arial" pitchFamily="34" charset="-122"/>
                <a:cs typeface="Arial" pitchFamily="34" charset="-120"/>
              </a:rPr>
              <a:t>3</a:t>
            </a:r>
            <a:endParaRPr lang="en-US" sz="2200" dirty="0"/>
          </a:p>
        </p:txBody>
      </p:sp>
      <p:sp>
        <p:nvSpPr>
          <p:cNvPr id="17" name="Text 15"/>
          <p:cNvSpPr/>
          <p:nvPr/>
        </p:nvSpPr>
        <p:spPr>
          <a:xfrm>
            <a:off x="6446520" y="3108960"/>
            <a:ext cx="2011680" cy="594360"/>
          </a:xfrm>
          <a:prstGeom prst="rect">
            <a:avLst/>
          </a:prstGeom>
          <a:noFill/>
          <a:ln/>
        </p:spPr>
        <p:txBody>
          <a:bodyPr wrap="square" lIns="0" tIns="0" rIns="0" bIns="0" rtlCol="0" anchor="ctr"/>
          <a:lstStyle/>
          <a:p>
            <a:pPr marL="0" indent="0">
              <a:buNone/>
            </a:pPr>
            <a:r>
              <a:rPr lang="en-US" sz="1400" b="1" dirty="0">
                <a:solidFill>
                  <a:srgbClr val="06185F"/>
                </a:solidFill>
                <a:latin typeface="Arial" pitchFamily="34" charset="0"/>
                <a:ea typeface="Arial" pitchFamily="34" charset="-122"/>
                <a:cs typeface="Arial" pitchFamily="34" charset="-120"/>
              </a:rPr>
              <a:t>Merchant Services / Card</a:t>
            </a:r>
            <a:endParaRPr lang="en-US" sz="1400" dirty="0"/>
          </a:p>
        </p:txBody>
      </p:sp>
      <p:sp>
        <p:nvSpPr>
          <p:cNvPr id="18" name="Text 16"/>
          <p:cNvSpPr/>
          <p:nvPr/>
        </p:nvSpPr>
        <p:spPr>
          <a:xfrm>
            <a:off x="6446520" y="3749040"/>
            <a:ext cx="2011680" cy="1143000"/>
          </a:xfrm>
          <a:prstGeom prst="rect">
            <a:avLst/>
          </a:prstGeom>
          <a:noFill/>
          <a:ln/>
        </p:spPr>
        <p:txBody>
          <a:bodyPr wrap="square" lIns="0" tIns="0" rIns="0" bIns="0" rtlCol="0" anchor="ctr"/>
          <a:lstStyle/>
          <a:p>
            <a:pPr marL="0" indent="0">
              <a:buNone/>
            </a:pPr>
            <a:r>
              <a:rPr lang="en-US" sz="1100" dirty="0">
                <a:solidFill>
                  <a:srgbClr val="575A5D"/>
                </a:solidFill>
                <a:latin typeface="Calibri" pitchFamily="34" charset="0"/>
                <a:ea typeface="Calibri" pitchFamily="34" charset="-122"/>
                <a:cs typeface="Calibri" pitchFamily="34" charset="-120"/>
              </a:rPr>
              <a:t>Card acceptance and a business credit line once volume is established</a:t>
            </a:r>
            <a:endParaRPr lang="en-US" sz="1100" dirty="0"/>
          </a:p>
        </p:txBody>
      </p:sp>
      <p:sp>
        <p:nvSpPr>
          <p:cNvPr id="19" name="Shape 17"/>
          <p:cNvSpPr/>
          <p:nvPr/>
        </p:nvSpPr>
        <p:spPr>
          <a:xfrm>
            <a:off x="8732520" y="3520440"/>
            <a:ext cx="256032" cy="256032"/>
          </a:xfrm>
          <a:prstGeom prst="rightArrow">
            <a:avLst/>
          </a:prstGeom>
          <a:solidFill>
            <a:srgbClr val="085CE5"/>
          </a:solidFill>
          <a:ln/>
        </p:spPr>
        <p:txBody>
          <a:bodyPr/>
          <a:lstStyle/>
          <a:p>
            <a:endParaRPr lang="en-US"/>
          </a:p>
        </p:txBody>
      </p:sp>
      <p:sp>
        <p:nvSpPr>
          <p:cNvPr id="20" name="Shape 18"/>
          <p:cNvSpPr/>
          <p:nvPr/>
        </p:nvSpPr>
        <p:spPr>
          <a:xfrm>
            <a:off x="9006840" y="2331720"/>
            <a:ext cx="2468880" cy="2651760"/>
          </a:xfrm>
          <a:prstGeom prst="roundRect">
            <a:avLst>
              <a:gd name="adj" fmla="val 2963"/>
            </a:avLst>
          </a:prstGeom>
          <a:solidFill>
            <a:srgbClr val="E8F7F7"/>
          </a:solidFill>
          <a:ln/>
          <a:effectLst>
            <a:outerShdw blurRad="127000" dist="38100" dir="5400000" algn="bl" rotWithShape="0">
              <a:srgbClr val="1B1F3B">
                <a:alpha val="10000"/>
              </a:srgbClr>
            </a:outerShdw>
          </a:effectLst>
        </p:spPr>
        <p:txBody>
          <a:bodyPr/>
          <a:lstStyle/>
          <a:p>
            <a:endParaRPr lang="en-US"/>
          </a:p>
        </p:txBody>
      </p:sp>
      <p:sp>
        <p:nvSpPr>
          <p:cNvPr id="21" name="Text 19"/>
          <p:cNvSpPr/>
          <p:nvPr/>
        </p:nvSpPr>
        <p:spPr>
          <a:xfrm>
            <a:off x="9235440" y="2514600"/>
            <a:ext cx="548640" cy="457200"/>
          </a:xfrm>
          <a:prstGeom prst="rect">
            <a:avLst/>
          </a:prstGeom>
          <a:noFill/>
          <a:ln/>
        </p:spPr>
        <p:txBody>
          <a:bodyPr wrap="square" lIns="0" tIns="0" rIns="0" bIns="0" rtlCol="0" anchor="ctr"/>
          <a:lstStyle/>
          <a:p>
            <a:pPr marL="0" indent="0">
              <a:buNone/>
            </a:pPr>
            <a:r>
              <a:rPr lang="en-US" sz="2200" b="1" dirty="0">
                <a:solidFill>
                  <a:srgbClr val="085CE5"/>
                </a:solidFill>
                <a:latin typeface="Arial" pitchFamily="34" charset="0"/>
                <a:ea typeface="Arial" pitchFamily="34" charset="-122"/>
                <a:cs typeface="Arial" pitchFamily="34" charset="-120"/>
              </a:rPr>
              <a:t>4</a:t>
            </a:r>
            <a:endParaRPr lang="en-US" sz="2200" dirty="0"/>
          </a:p>
        </p:txBody>
      </p:sp>
      <p:sp>
        <p:nvSpPr>
          <p:cNvPr id="22" name="Text 20"/>
          <p:cNvSpPr/>
          <p:nvPr/>
        </p:nvSpPr>
        <p:spPr>
          <a:xfrm>
            <a:off x="9235440" y="3108960"/>
            <a:ext cx="2011680" cy="594360"/>
          </a:xfrm>
          <a:prstGeom prst="rect">
            <a:avLst/>
          </a:prstGeom>
          <a:noFill/>
          <a:ln/>
        </p:spPr>
        <p:txBody>
          <a:bodyPr wrap="square" lIns="0" tIns="0" rIns="0" bIns="0" rtlCol="0" anchor="ctr"/>
          <a:lstStyle/>
          <a:p>
            <a:pPr marL="0" indent="0">
              <a:buNone/>
            </a:pPr>
            <a:r>
              <a:rPr lang="en-US" sz="1400" b="1" dirty="0">
                <a:solidFill>
                  <a:srgbClr val="06185F"/>
                </a:solidFill>
                <a:latin typeface="Arial" pitchFamily="34" charset="0"/>
                <a:ea typeface="Arial" pitchFamily="34" charset="-122"/>
                <a:cs typeface="Arial" pitchFamily="34" charset="-120"/>
              </a:rPr>
              <a:t>Business Lending</a:t>
            </a:r>
            <a:endParaRPr lang="en-US" sz="1400" dirty="0"/>
          </a:p>
        </p:txBody>
      </p:sp>
      <p:sp>
        <p:nvSpPr>
          <p:cNvPr id="23" name="Text 21"/>
          <p:cNvSpPr/>
          <p:nvPr/>
        </p:nvSpPr>
        <p:spPr>
          <a:xfrm>
            <a:off x="9235440" y="3749040"/>
            <a:ext cx="2011680" cy="1143000"/>
          </a:xfrm>
          <a:prstGeom prst="rect">
            <a:avLst/>
          </a:prstGeom>
          <a:noFill/>
          <a:ln/>
        </p:spPr>
        <p:txBody>
          <a:bodyPr wrap="square" lIns="0" tIns="0" rIns="0" bIns="0" rtlCol="0" anchor="ctr"/>
          <a:lstStyle/>
          <a:p>
            <a:pPr marL="0" indent="0">
              <a:buNone/>
            </a:pPr>
            <a:r>
              <a:rPr lang="en-US" sz="1100" dirty="0">
                <a:solidFill>
                  <a:srgbClr val="575A5D"/>
                </a:solidFill>
                <a:latin typeface="Calibri" pitchFamily="34" charset="0"/>
                <a:ea typeface="Calibri" pitchFamily="34" charset="-122"/>
                <a:cs typeface="Calibri" pitchFamily="34" charset="-120"/>
              </a:rPr>
              <a:t>Working capital or growth financing once the relationship has depth and history</a:t>
            </a:r>
            <a:endParaRPr lang="en-US" sz="1100" dirty="0"/>
          </a:p>
        </p:txBody>
      </p:sp>
      <p:sp>
        <p:nvSpPr>
          <p:cNvPr id="24" name="Text 22"/>
          <p:cNvSpPr/>
          <p:nvPr/>
        </p:nvSpPr>
        <p:spPr>
          <a:xfrm>
            <a:off x="640080" y="5257800"/>
            <a:ext cx="10332720" cy="365760"/>
          </a:xfrm>
          <a:prstGeom prst="rect">
            <a:avLst/>
          </a:prstGeom>
          <a:noFill/>
          <a:ln/>
        </p:spPr>
        <p:txBody>
          <a:bodyPr wrap="square" lIns="0" tIns="0" rIns="0" bIns="0" rtlCol="0" anchor="ctr"/>
          <a:lstStyle/>
          <a:p>
            <a:pPr marL="0" indent="0">
              <a:buNone/>
            </a:pPr>
            <a:r>
              <a:rPr lang="en-US" sz="1200" i="1" dirty="0">
                <a:solidFill>
                  <a:srgbClr val="575A5D"/>
                </a:solidFill>
                <a:latin typeface="Calibri" pitchFamily="34" charset="0"/>
                <a:ea typeface="Calibri" pitchFamily="34" charset="-122"/>
                <a:cs typeface="Calibri" pitchFamily="34" charset="-120"/>
              </a:rPr>
              <a:t>Each step is propensity-ranked per account, not applied as a fixed script — the next section covers how.</a:t>
            </a:r>
            <a:endParaRPr lang="en-US" sz="1200" dirty="0"/>
          </a:p>
        </p:txBody>
      </p:sp>
      <p:sp>
        <p:nvSpPr>
          <p:cNvPr id="25" name="Text 23"/>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900" dirty="0">
                <a:solidFill>
                  <a:srgbClr val="B6BBC0"/>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5486400" cy="320040"/>
          </a:xfrm>
          <a:prstGeom prst="rect">
            <a:avLst/>
          </a:prstGeom>
          <a:noFill/>
          <a:ln/>
        </p:spPr>
        <p:txBody>
          <a:bodyPr wrap="square" lIns="0" tIns="0" rIns="0" bIns="0" rtlCol="0" anchor="ctr"/>
          <a:lstStyle/>
          <a:p>
            <a:pPr marL="0" indent="0" algn="l">
              <a:buNone/>
            </a:pPr>
            <a:r>
              <a:rPr lang="en-US" sz="1200" b="1" kern="0" spc="200" dirty="0">
                <a:solidFill>
                  <a:srgbClr val="085CE5"/>
                </a:solidFill>
                <a:latin typeface="Calibri" pitchFamily="34" charset="0"/>
                <a:ea typeface="Calibri" pitchFamily="34" charset="-122"/>
                <a:cs typeface="Calibri" pitchFamily="34" charset="-120"/>
              </a:rPr>
              <a:t>HUMAN IN THE LOOP</a:t>
            </a:r>
            <a:endParaRPr lang="en-US" sz="1200" dirty="0"/>
          </a:p>
        </p:txBody>
      </p:sp>
      <p:sp>
        <p:nvSpPr>
          <p:cNvPr id="3" name="Text 1"/>
          <p:cNvSpPr/>
          <p:nvPr/>
        </p:nvSpPr>
        <p:spPr>
          <a:xfrm>
            <a:off x="640080" y="777240"/>
            <a:ext cx="10058400" cy="685800"/>
          </a:xfrm>
          <a:prstGeom prst="rect">
            <a:avLst/>
          </a:prstGeom>
          <a:noFill/>
          <a:ln/>
        </p:spPr>
        <p:txBody>
          <a:bodyPr wrap="square" lIns="0" tIns="0" rIns="0" bIns="0" rtlCol="0" anchor="ctr"/>
          <a:lstStyle/>
          <a:p>
            <a:pPr marL="0" indent="0">
              <a:buNone/>
            </a:pPr>
            <a:r>
              <a:rPr lang="en-US" sz="2700" b="1" dirty="0">
                <a:solidFill>
                  <a:srgbClr val="06185F"/>
                </a:solidFill>
                <a:latin typeface="Arial" pitchFamily="34" charset="0"/>
                <a:ea typeface="Arial" pitchFamily="34" charset="-122"/>
                <a:cs typeface="Arial" pitchFamily="34" charset="-120"/>
              </a:rPr>
              <a:t>The model proposes. A person decides.</a:t>
            </a:r>
            <a:endParaRPr lang="en-US" sz="2700" dirty="0"/>
          </a:p>
        </p:txBody>
      </p:sp>
      <p:sp>
        <p:nvSpPr>
          <p:cNvPr id="4" name="Text 2"/>
          <p:cNvSpPr/>
          <p:nvPr/>
        </p:nvSpPr>
        <p:spPr>
          <a:xfrm>
            <a:off x="640080" y="1371600"/>
            <a:ext cx="10515600" cy="365760"/>
          </a:xfrm>
          <a:prstGeom prst="rect">
            <a:avLst/>
          </a:prstGeom>
          <a:noFill/>
          <a:ln/>
        </p:spPr>
        <p:txBody>
          <a:bodyPr wrap="square" lIns="0" tIns="0" rIns="0" bIns="0" rtlCol="0" anchor="ctr"/>
          <a:lstStyle/>
          <a:p>
            <a:pPr marL="0" indent="0">
              <a:buNone/>
            </a:pPr>
            <a:r>
              <a:rPr lang="en-US" sz="1250" dirty="0">
                <a:solidFill>
                  <a:srgbClr val="575A5D"/>
                </a:solidFill>
                <a:latin typeface="Calibri" pitchFamily="34" charset="0"/>
                <a:ea typeface="Calibri" pitchFamily="34" charset="-122"/>
                <a:cs typeface="Calibri" pitchFamily="34" charset="-120"/>
              </a:rPr>
              <a:t>Every flag reaches a reviewer before it reaches a member — automation stops at the recommendation, not the relationship</a:t>
            </a:r>
            <a:endParaRPr lang="en-US" sz="1250" dirty="0"/>
          </a:p>
        </p:txBody>
      </p:sp>
      <p:sp>
        <p:nvSpPr>
          <p:cNvPr id="5" name="Shape 3"/>
          <p:cNvSpPr/>
          <p:nvPr/>
        </p:nvSpPr>
        <p:spPr>
          <a:xfrm>
            <a:off x="640080" y="1965960"/>
            <a:ext cx="1965960" cy="2331720"/>
          </a:xfrm>
          <a:prstGeom prst="roundRect">
            <a:avLst>
              <a:gd name="adj" fmla="val 3721"/>
            </a:avLst>
          </a:prstGeom>
          <a:solidFill>
            <a:srgbClr val="E8F7F7"/>
          </a:solidFill>
          <a:ln/>
          <a:effectLst>
            <a:outerShdw blurRad="127000" dist="38100" dir="5400000" algn="bl" rotWithShape="0">
              <a:srgbClr val="1B1F3B">
                <a:alpha val="10000"/>
              </a:srgbClr>
            </a:outerShdw>
          </a:effectLst>
        </p:spPr>
        <p:txBody>
          <a:bodyPr/>
          <a:lstStyle/>
          <a:p>
            <a:endParaRPr lang="en-US"/>
          </a:p>
        </p:txBody>
      </p:sp>
      <p:sp>
        <p:nvSpPr>
          <p:cNvPr id="6" name="Text 4"/>
          <p:cNvSpPr/>
          <p:nvPr/>
        </p:nvSpPr>
        <p:spPr>
          <a:xfrm>
            <a:off x="804672" y="2103120"/>
            <a:ext cx="457200" cy="365760"/>
          </a:xfrm>
          <a:prstGeom prst="rect">
            <a:avLst/>
          </a:prstGeom>
          <a:noFill/>
          <a:ln/>
        </p:spPr>
        <p:txBody>
          <a:bodyPr wrap="square" lIns="0" tIns="0" rIns="0" bIns="0" rtlCol="0" anchor="ctr"/>
          <a:lstStyle/>
          <a:p>
            <a:pPr marL="0" indent="0">
              <a:buNone/>
            </a:pPr>
            <a:r>
              <a:rPr lang="en-US" sz="1600" b="1" dirty="0">
                <a:solidFill>
                  <a:srgbClr val="085CE5"/>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804672" y="2468880"/>
            <a:ext cx="1636776" cy="594360"/>
          </a:xfrm>
          <a:prstGeom prst="rect">
            <a:avLst/>
          </a:prstGeom>
          <a:noFill/>
          <a:ln/>
        </p:spPr>
        <p:txBody>
          <a:bodyPr wrap="square" lIns="0" tIns="0" rIns="0" bIns="0" rtlCol="0" anchor="ctr"/>
          <a:lstStyle/>
          <a:p>
            <a:pPr marL="0" indent="0">
              <a:buNone/>
            </a:pPr>
            <a:r>
              <a:rPr lang="en-US" sz="1250" b="1" dirty="0">
                <a:solidFill>
                  <a:srgbClr val="06185F"/>
                </a:solidFill>
                <a:latin typeface="Arial" pitchFamily="34" charset="0"/>
                <a:ea typeface="Arial" pitchFamily="34" charset="-122"/>
                <a:cs typeface="Arial" pitchFamily="34" charset="-120"/>
              </a:rPr>
              <a:t>Flag + Narrative</a:t>
            </a:r>
            <a:endParaRPr lang="en-US" sz="1250" dirty="0"/>
          </a:p>
        </p:txBody>
      </p:sp>
      <p:sp>
        <p:nvSpPr>
          <p:cNvPr id="8" name="Text 6"/>
          <p:cNvSpPr/>
          <p:nvPr/>
        </p:nvSpPr>
        <p:spPr>
          <a:xfrm>
            <a:off x="804672" y="3063240"/>
            <a:ext cx="1636776" cy="1143000"/>
          </a:xfrm>
          <a:prstGeom prst="rect">
            <a:avLst/>
          </a:prstGeom>
          <a:noFill/>
          <a:ln/>
        </p:spPr>
        <p:txBody>
          <a:bodyPr wrap="square" lIns="0" tIns="0" rIns="0" bIns="0" rtlCol="0" anchor="ctr"/>
          <a:lstStyle/>
          <a:p>
            <a:pPr marL="0" indent="0">
              <a:buNone/>
            </a:pPr>
            <a:r>
              <a:rPr lang="en-US" sz="1000" dirty="0">
                <a:solidFill>
                  <a:srgbClr val="575A5D"/>
                </a:solidFill>
                <a:latin typeface="Calibri" pitchFamily="34" charset="0"/>
                <a:ea typeface="Calibri" pitchFamily="34" charset="-122"/>
                <a:cs typeface="Calibri" pitchFamily="34" charset="-120"/>
              </a:rPr>
              <a:t>A churn-risk flag or a business-signal flag — SHAP reason and AI-written summary attached — lands in the RM's queue the same way</a:t>
            </a:r>
            <a:endParaRPr lang="en-US" sz="1000" dirty="0"/>
          </a:p>
        </p:txBody>
      </p:sp>
      <p:sp>
        <p:nvSpPr>
          <p:cNvPr id="9" name="Shape 7"/>
          <p:cNvSpPr/>
          <p:nvPr/>
        </p:nvSpPr>
        <p:spPr>
          <a:xfrm>
            <a:off x="2624328" y="2971800"/>
            <a:ext cx="182880" cy="219456"/>
          </a:xfrm>
          <a:prstGeom prst="rightArrow">
            <a:avLst/>
          </a:prstGeom>
          <a:solidFill>
            <a:srgbClr val="085CE5"/>
          </a:solidFill>
          <a:ln/>
        </p:spPr>
        <p:txBody>
          <a:bodyPr/>
          <a:lstStyle/>
          <a:p>
            <a:endParaRPr lang="en-US"/>
          </a:p>
        </p:txBody>
      </p:sp>
      <p:sp>
        <p:nvSpPr>
          <p:cNvPr id="10" name="Shape 8"/>
          <p:cNvSpPr/>
          <p:nvPr/>
        </p:nvSpPr>
        <p:spPr>
          <a:xfrm>
            <a:off x="2807208" y="1965960"/>
            <a:ext cx="1965960" cy="2331720"/>
          </a:xfrm>
          <a:prstGeom prst="roundRect">
            <a:avLst>
              <a:gd name="adj" fmla="val 3721"/>
            </a:avLst>
          </a:prstGeom>
          <a:solidFill>
            <a:srgbClr val="E8F7F7"/>
          </a:solidFill>
          <a:ln/>
          <a:effectLst>
            <a:outerShdw blurRad="127000" dist="38100" dir="5400000" algn="bl" rotWithShape="0">
              <a:srgbClr val="1B1F3B">
                <a:alpha val="10000"/>
              </a:srgbClr>
            </a:outerShdw>
          </a:effectLst>
        </p:spPr>
        <p:txBody>
          <a:bodyPr/>
          <a:lstStyle/>
          <a:p>
            <a:endParaRPr lang="en-US"/>
          </a:p>
        </p:txBody>
      </p:sp>
      <p:sp>
        <p:nvSpPr>
          <p:cNvPr id="11" name="Text 9"/>
          <p:cNvSpPr/>
          <p:nvPr/>
        </p:nvSpPr>
        <p:spPr>
          <a:xfrm>
            <a:off x="2971800" y="2103120"/>
            <a:ext cx="457200" cy="365760"/>
          </a:xfrm>
          <a:prstGeom prst="rect">
            <a:avLst/>
          </a:prstGeom>
          <a:noFill/>
          <a:ln/>
        </p:spPr>
        <p:txBody>
          <a:bodyPr wrap="square" lIns="0" tIns="0" rIns="0" bIns="0" rtlCol="0" anchor="ctr"/>
          <a:lstStyle/>
          <a:p>
            <a:pPr marL="0" indent="0">
              <a:buNone/>
            </a:pPr>
            <a:r>
              <a:rPr lang="en-US" sz="1600" b="1" dirty="0">
                <a:solidFill>
                  <a:srgbClr val="085CE5"/>
                </a:solidFill>
                <a:latin typeface="Arial" pitchFamily="34" charset="0"/>
                <a:ea typeface="Arial" pitchFamily="34" charset="-122"/>
                <a:cs typeface="Arial" pitchFamily="34" charset="-120"/>
              </a:rPr>
              <a:t>2</a:t>
            </a:r>
            <a:endParaRPr lang="en-US" sz="1600" dirty="0"/>
          </a:p>
        </p:txBody>
      </p:sp>
      <p:sp>
        <p:nvSpPr>
          <p:cNvPr id="12" name="Text 10"/>
          <p:cNvSpPr/>
          <p:nvPr/>
        </p:nvSpPr>
        <p:spPr>
          <a:xfrm>
            <a:off x="2971800" y="2468880"/>
            <a:ext cx="1636776" cy="594360"/>
          </a:xfrm>
          <a:prstGeom prst="rect">
            <a:avLst/>
          </a:prstGeom>
          <a:noFill/>
          <a:ln/>
        </p:spPr>
        <p:txBody>
          <a:bodyPr wrap="square" lIns="0" tIns="0" rIns="0" bIns="0" rtlCol="0" anchor="ctr"/>
          <a:lstStyle/>
          <a:p>
            <a:pPr marL="0" indent="0">
              <a:buNone/>
            </a:pPr>
            <a:r>
              <a:rPr lang="en-US" sz="1250" b="1" dirty="0">
                <a:solidFill>
                  <a:srgbClr val="06185F"/>
                </a:solidFill>
                <a:latin typeface="Arial" pitchFamily="34" charset="0"/>
                <a:ea typeface="Arial" pitchFamily="34" charset="-122"/>
                <a:cs typeface="Arial" pitchFamily="34" charset="-120"/>
              </a:rPr>
              <a:t>Context Check</a:t>
            </a:r>
            <a:endParaRPr lang="en-US" sz="1250" dirty="0"/>
          </a:p>
        </p:txBody>
      </p:sp>
      <p:sp>
        <p:nvSpPr>
          <p:cNvPr id="13" name="Text 11"/>
          <p:cNvSpPr/>
          <p:nvPr/>
        </p:nvSpPr>
        <p:spPr>
          <a:xfrm>
            <a:off x="2971800" y="3063240"/>
            <a:ext cx="1636776" cy="1143000"/>
          </a:xfrm>
          <a:prstGeom prst="rect">
            <a:avLst/>
          </a:prstGeom>
          <a:noFill/>
          <a:ln/>
        </p:spPr>
        <p:txBody>
          <a:bodyPr wrap="square" lIns="0" tIns="0" rIns="0" bIns="0" rtlCol="0" anchor="ctr"/>
          <a:lstStyle/>
          <a:p>
            <a:pPr marL="0" indent="0">
              <a:buNone/>
            </a:pPr>
            <a:r>
              <a:rPr lang="en-US" sz="1000" dirty="0">
                <a:solidFill>
                  <a:srgbClr val="575A5D"/>
                </a:solidFill>
                <a:latin typeface="Calibri" pitchFamily="34" charset="0"/>
                <a:ea typeface="Calibri" pitchFamily="34" charset="-122"/>
                <a:cs typeface="Calibri" pitchFamily="34" charset="-120"/>
              </a:rPr>
              <a:t>RM pulls up recent history and any notes the model couldn't see</a:t>
            </a:r>
            <a:endParaRPr lang="en-US" sz="1000" dirty="0"/>
          </a:p>
        </p:txBody>
      </p:sp>
      <p:sp>
        <p:nvSpPr>
          <p:cNvPr id="14" name="Shape 12"/>
          <p:cNvSpPr/>
          <p:nvPr/>
        </p:nvSpPr>
        <p:spPr>
          <a:xfrm>
            <a:off x="4791456" y="2971800"/>
            <a:ext cx="182880" cy="219456"/>
          </a:xfrm>
          <a:prstGeom prst="rightArrow">
            <a:avLst/>
          </a:prstGeom>
          <a:solidFill>
            <a:srgbClr val="085CE5"/>
          </a:solidFill>
          <a:ln/>
        </p:spPr>
        <p:txBody>
          <a:bodyPr/>
          <a:lstStyle/>
          <a:p>
            <a:endParaRPr lang="en-US"/>
          </a:p>
        </p:txBody>
      </p:sp>
      <p:sp>
        <p:nvSpPr>
          <p:cNvPr id="15" name="Shape 13"/>
          <p:cNvSpPr/>
          <p:nvPr/>
        </p:nvSpPr>
        <p:spPr>
          <a:xfrm>
            <a:off x="4974336" y="1965960"/>
            <a:ext cx="1965960" cy="2331720"/>
          </a:xfrm>
          <a:prstGeom prst="roundRect">
            <a:avLst>
              <a:gd name="adj" fmla="val 3721"/>
            </a:avLst>
          </a:prstGeom>
          <a:solidFill>
            <a:srgbClr val="06185F"/>
          </a:solidFill>
          <a:ln/>
          <a:effectLst>
            <a:outerShdw blurRad="127000" dist="38100" dir="5400000" algn="bl" rotWithShape="0">
              <a:srgbClr val="1B1F3B">
                <a:alpha val="10000"/>
              </a:srgbClr>
            </a:outerShdw>
          </a:effectLst>
        </p:spPr>
        <p:txBody>
          <a:bodyPr/>
          <a:lstStyle/>
          <a:p>
            <a:endParaRPr lang="en-US"/>
          </a:p>
        </p:txBody>
      </p:sp>
      <p:sp>
        <p:nvSpPr>
          <p:cNvPr id="16" name="Text 14"/>
          <p:cNvSpPr/>
          <p:nvPr/>
        </p:nvSpPr>
        <p:spPr>
          <a:xfrm>
            <a:off x="5138928" y="2103120"/>
            <a:ext cx="457200" cy="365760"/>
          </a:xfrm>
          <a:prstGeom prst="rect">
            <a:avLst/>
          </a:prstGeom>
          <a:noFill/>
          <a:ln/>
        </p:spPr>
        <p:txBody>
          <a:bodyPr wrap="square" lIns="0" tIns="0" rIns="0" bIns="0" rtlCol="0" anchor="ctr"/>
          <a:lstStyle/>
          <a:p>
            <a:pPr marL="0" indent="0">
              <a:buNone/>
            </a:pPr>
            <a:r>
              <a:rPr lang="en-US" sz="1600" b="1" dirty="0">
                <a:solidFill>
                  <a:srgbClr val="76DCFD"/>
                </a:solidFill>
                <a:latin typeface="Arial" pitchFamily="34" charset="0"/>
                <a:ea typeface="Arial" pitchFamily="34" charset="-122"/>
                <a:cs typeface="Arial" pitchFamily="34" charset="-120"/>
              </a:rPr>
              <a:t>3</a:t>
            </a:r>
            <a:endParaRPr lang="en-US" sz="1600" dirty="0"/>
          </a:p>
        </p:txBody>
      </p:sp>
      <p:sp>
        <p:nvSpPr>
          <p:cNvPr id="17" name="Text 15"/>
          <p:cNvSpPr/>
          <p:nvPr/>
        </p:nvSpPr>
        <p:spPr>
          <a:xfrm>
            <a:off x="5138928" y="2468880"/>
            <a:ext cx="1636776" cy="594360"/>
          </a:xfrm>
          <a:prstGeom prst="rect">
            <a:avLst/>
          </a:prstGeom>
          <a:noFill/>
          <a:ln/>
        </p:spPr>
        <p:txBody>
          <a:bodyPr wrap="square" lIns="0" tIns="0" rIns="0" bIns="0" rtlCol="0" anchor="ctr"/>
          <a:lstStyle/>
          <a:p>
            <a:pPr marL="0" indent="0">
              <a:buNone/>
            </a:pPr>
            <a:r>
              <a:rPr lang="en-US" sz="1250" b="1" dirty="0">
                <a:solidFill>
                  <a:srgbClr val="FFFFFF"/>
                </a:solidFill>
                <a:latin typeface="Arial" pitchFamily="34" charset="0"/>
                <a:ea typeface="Arial" pitchFamily="34" charset="-122"/>
                <a:cs typeface="Arial" pitchFamily="34" charset="-120"/>
              </a:rPr>
              <a:t>Human Decision</a:t>
            </a:r>
            <a:endParaRPr lang="en-US" sz="1250" dirty="0"/>
          </a:p>
        </p:txBody>
      </p:sp>
      <p:sp>
        <p:nvSpPr>
          <p:cNvPr id="18" name="Text 16"/>
          <p:cNvSpPr/>
          <p:nvPr/>
        </p:nvSpPr>
        <p:spPr>
          <a:xfrm>
            <a:off x="5138928" y="3063240"/>
            <a:ext cx="1636776" cy="1143000"/>
          </a:xfrm>
          <a:prstGeom prst="rect">
            <a:avLst/>
          </a:prstGeom>
          <a:noFill/>
          <a:ln/>
        </p:spPr>
        <p:txBody>
          <a:bodyPr wrap="square" lIns="0" tIns="0" rIns="0" bIns="0" rtlCol="0" anchor="ctr"/>
          <a:lstStyle/>
          <a:p>
            <a:pPr marL="0" indent="0">
              <a:buNone/>
            </a:pPr>
            <a:r>
              <a:rPr lang="en-US" sz="1000" dirty="0">
                <a:solidFill>
                  <a:srgbClr val="CADCFC"/>
                </a:solidFill>
                <a:latin typeface="Calibri" pitchFamily="34" charset="0"/>
                <a:ea typeface="Calibri" pitchFamily="34" charset="-122"/>
                <a:cs typeface="Calibri" pitchFamily="34" charset="-120"/>
              </a:rPr>
              <a:t>Accept, override, or escalate — the RM's judgment is the last word, every time</a:t>
            </a:r>
            <a:endParaRPr lang="en-US" sz="1000" dirty="0"/>
          </a:p>
        </p:txBody>
      </p:sp>
      <p:sp>
        <p:nvSpPr>
          <p:cNvPr id="19" name="Shape 17"/>
          <p:cNvSpPr/>
          <p:nvPr/>
        </p:nvSpPr>
        <p:spPr>
          <a:xfrm>
            <a:off x="6958584" y="2971800"/>
            <a:ext cx="182880" cy="219456"/>
          </a:xfrm>
          <a:prstGeom prst="rightArrow">
            <a:avLst/>
          </a:prstGeom>
          <a:solidFill>
            <a:srgbClr val="085CE5"/>
          </a:solidFill>
          <a:ln/>
        </p:spPr>
        <p:txBody>
          <a:bodyPr/>
          <a:lstStyle/>
          <a:p>
            <a:endParaRPr lang="en-US"/>
          </a:p>
        </p:txBody>
      </p:sp>
      <p:sp>
        <p:nvSpPr>
          <p:cNvPr id="20" name="Shape 18"/>
          <p:cNvSpPr/>
          <p:nvPr/>
        </p:nvSpPr>
        <p:spPr>
          <a:xfrm>
            <a:off x="7141464" y="1965960"/>
            <a:ext cx="1965960" cy="2331720"/>
          </a:xfrm>
          <a:prstGeom prst="roundRect">
            <a:avLst>
              <a:gd name="adj" fmla="val 3721"/>
            </a:avLst>
          </a:prstGeom>
          <a:solidFill>
            <a:srgbClr val="E8F7F7"/>
          </a:solidFill>
          <a:ln/>
          <a:effectLst>
            <a:outerShdw blurRad="127000" dist="38100" dir="5400000" algn="bl" rotWithShape="0">
              <a:srgbClr val="1B1F3B">
                <a:alpha val="10000"/>
              </a:srgbClr>
            </a:outerShdw>
          </a:effectLst>
        </p:spPr>
        <p:txBody>
          <a:bodyPr/>
          <a:lstStyle/>
          <a:p>
            <a:endParaRPr lang="en-US"/>
          </a:p>
        </p:txBody>
      </p:sp>
      <p:sp>
        <p:nvSpPr>
          <p:cNvPr id="21" name="Text 19"/>
          <p:cNvSpPr/>
          <p:nvPr/>
        </p:nvSpPr>
        <p:spPr>
          <a:xfrm>
            <a:off x="7306056" y="2103120"/>
            <a:ext cx="457200" cy="365760"/>
          </a:xfrm>
          <a:prstGeom prst="rect">
            <a:avLst/>
          </a:prstGeom>
          <a:noFill/>
          <a:ln/>
        </p:spPr>
        <p:txBody>
          <a:bodyPr wrap="square" lIns="0" tIns="0" rIns="0" bIns="0" rtlCol="0" anchor="ctr"/>
          <a:lstStyle/>
          <a:p>
            <a:pPr marL="0" indent="0">
              <a:buNone/>
            </a:pPr>
            <a:r>
              <a:rPr lang="en-US" sz="1600" b="1" dirty="0">
                <a:solidFill>
                  <a:srgbClr val="085CE5"/>
                </a:solidFill>
                <a:latin typeface="Arial" pitchFamily="34" charset="0"/>
                <a:ea typeface="Arial" pitchFamily="34" charset="-122"/>
                <a:cs typeface="Arial" pitchFamily="34" charset="-120"/>
              </a:rPr>
              <a:t>4</a:t>
            </a:r>
            <a:endParaRPr lang="en-US" sz="1600" dirty="0"/>
          </a:p>
        </p:txBody>
      </p:sp>
      <p:sp>
        <p:nvSpPr>
          <p:cNvPr id="22" name="Text 20"/>
          <p:cNvSpPr/>
          <p:nvPr/>
        </p:nvSpPr>
        <p:spPr>
          <a:xfrm>
            <a:off x="7306056" y="2468880"/>
            <a:ext cx="1636776" cy="594360"/>
          </a:xfrm>
          <a:prstGeom prst="rect">
            <a:avLst/>
          </a:prstGeom>
          <a:noFill/>
          <a:ln/>
        </p:spPr>
        <p:txBody>
          <a:bodyPr wrap="square" lIns="0" tIns="0" rIns="0" bIns="0" rtlCol="0" anchor="ctr"/>
          <a:lstStyle/>
          <a:p>
            <a:pPr marL="0" indent="0">
              <a:buNone/>
            </a:pPr>
            <a:r>
              <a:rPr lang="en-US" sz="1250" b="1" dirty="0">
                <a:solidFill>
                  <a:srgbClr val="06185F"/>
                </a:solidFill>
                <a:latin typeface="Arial" pitchFamily="34" charset="0"/>
                <a:ea typeface="Arial" pitchFamily="34" charset="-122"/>
                <a:cs typeface="Arial" pitchFamily="34" charset="-120"/>
              </a:rPr>
              <a:t>Action Taken</a:t>
            </a:r>
            <a:endParaRPr lang="en-US" sz="1250" dirty="0"/>
          </a:p>
        </p:txBody>
      </p:sp>
      <p:sp>
        <p:nvSpPr>
          <p:cNvPr id="23" name="Text 21"/>
          <p:cNvSpPr/>
          <p:nvPr/>
        </p:nvSpPr>
        <p:spPr>
          <a:xfrm>
            <a:off x="7306056" y="3063240"/>
            <a:ext cx="1636776" cy="1143000"/>
          </a:xfrm>
          <a:prstGeom prst="rect">
            <a:avLst/>
          </a:prstGeom>
          <a:noFill/>
          <a:ln/>
        </p:spPr>
        <p:txBody>
          <a:bodyPr wrap="square" lIns="0" tIns="0" rIns="0" bIns="0" rtlCol="0" anchor="ctr"/>
          <a:lstStyle/>
          <a:p>
            <a:pPr marL="0" indent="0">
              <a:buNone/>
            </a:pPr>
            <a:r>
              <a:rPr lang="en-US" sz="1000" dirty="0">
                <a:solidFill>
                  <a:srgbClr val="575A5D"/>
                </a:solidFill>
                <a:latin typeface="Calibri" pitchFamily="34" charset="0"/>
                <a:ea typeface="Calibri" pitchFamily="34" charset="-122"/>
                <a:cs typeface="Calibri" pitchFamily="34" charset="-120"/>
              </a:rPr>
              <a:t>A retention call, a business-conversion outreach, or a deliberate no-action — logged with the reason either way</a:t>
            </a:r>
            <a:endParaRPr lang="en-US" sz="1000" dirty="0"/>
          </a:p>
        </p:txBody>
      </p:sp>
      <p:sp>
        <p:nvSpPr>
          <p:cNvPr id="24" name="Shape 22"/>
          <p:cNvSpPr/>
          <p:nvPr/>
        </p:nvSpPr>
        <p:spPr>
          <a:xfrm>
            <a:off x="9125712" y="2971800"/>
            <a:ext cx="182880" cy="219456"/>
          </a:xfrm>
          <a:prstGeom prst="rightArrow">
            <a:avLst/>
          </a:prstGeom>
          <a:solidFill>
            <a:srgbClr val="085CE5"/>
          </a:solidFill>
          <a:ln/>
        </p:spPr>
        <p:txBody>
          <a:bodyPr/>
          <a:lstStyle/>
          <a:p>
            <a:endParaRPr lang="en-US"/>
          </a:p>
        </p:txBody>
      </p:sp>
      <p:sp>
        <p:nvSpPr>
          <p:cNvPr id="25" name="Shape 23"/>
          <p:cNvSpPr/>
          <p:nvPr/>
        </p:nvSpPr>
        <p:spPr>
          <a:xfrm>
            <a:off x="9308592" y="1965960"/>
            <a:ext cx="1965960" cy="2331720"/>
          </a:xfrm>
          <a:prstGeom prst="roundRect">
            <a:avLst>
              <a:gd name="adj" fmla="val 3721"/>
            </a:avLst>
          </a:prstGeom>
          <a:solidFill>
            <a:srgbClr val="E8F7F7"/>
          </a:solidFill>
          <a:ln/>
          <a:effectLst>
            <a:outerShdw blurRad="127000" dist="38100" dir="5400000" algn="bl" rotWithShape="0">
              <a:srgbClr val="1B1F3B">
                <a:alpha val="10000"/>
              </a:srgbClr>
            </a:outerShdw>
          </a:effectLst>
        </p:spPr>
        <p:txBody>
          <a:bodyPr/>
          <a:lstStyle/>
          <a:p>
            <a:endParaRPr lang="en-US"/>
          </a:p>
        </p:txBody>
      </p:sp>
      <p:sp>
        <p:nvSpPr>
          <p:cNvPr id="26" name="Text 24"/>
          <p:cNvSpPr/>
          <p:nvPr/>
        </p:nvSpPr>
        <p:spPr>
          <a:xfrm>
            <a:off x="9473184" y="2103120"/>
            <a:ext cx="457200" cy="365760"/>
          </a:xfrm>
          <a:prstGeom prst="rect">
            <a:avLst/>
          </a:prstGeom>
          <a:noFill/>
          <a:ln/>
        </p:spPr>
        <p:txBody>
          <a:bodyPr wrap="square" lIns="0" tIns="0" rIns="0" bIns="0" rtlCol="0" anchor="ctr"/>
          <a:lstStyle/>
          <a:p>
            <a:pPr marL="0" indent="0">
              <a:buNone/>
            </a:pPr>
            <a:r>
              <a:rPr lang="en-US" sz="1600" b="1" dirty="0">
                <a:solidFill>
                  <a:srgbClr val="085CE5"/>
                </a:solidFill>
                <a:latin typeface="Arial" pitchFamily="34" charset="0"/>
                <a:ea typeface="Arial" pitchFamily="34" charset="-122"/>
                <a:cs typeface="Arial" pitchFamily="34" charset="-120"/>
              </a:rPr>
              <a:t>5</a:t>
            </a:r>
            <a:endParaRPr lang="en-US" sz="1600" dirty="0"/>
          </a:p>
        </p:txBody>
      </p:sp>
      <p:sp>
        <p:nvSpPr>
          <p:cNvPr id="27" name="Text 25"/>
          <p:cNvSpPr/>
          <p:nvPr/>
        </p:nvSpPr>
        <p:spPr>
          <a:xfrm>
            <a:off x="9473184" y="2468880"/>
            <a:ext cx="1636776" cy="594360"/>
          </a:xfrm>
          <a:prstGeom prst="rect">
            <a:avLst/>
          </a:prstGeom>
          <a:noFill/>
          <a:ln/>
        </p:spPr>
        <p:txBody>
          <a:bodyPr wrap="square" lIns="0" tIns="0" rIns="0" bIns="0" rtlCol="0" anchor="ctr"/>
          <a:lstStyle/>
          <a:p>
            <a:pPr marL="0" indent="0">
              <a:buNone/>
            </a:pPr>
            <a:r>
              <a:rPr lang="en-US" sz="1250" b="1" dirty="0">
                <a:solidFill>
                  <a:srgbClr val="06185F"/>
                </a:solidFill>
                <a:latin typeface="Arial" pitchFamily="34" charset="0"/>
                <a:ea typeface="Arial" pitchFamily="34" charset="-122"/>
                <a:cs typeface="Arial" pitchFamily="34" charset="-120"/>
              </a:rPr>
              <a:t>Feedback Loop</a:t>
            </a:r>
            <a:endParaRPr lang="en-US" sz="1250" dirty="0"/>
          </a:p>
        </p:txBody>
      </p:sp>
      <p:sp>
        <p:nvSpPr>
          <p:cNvPr id="28" name="Text 26"/>
          <p:cNvSpPr/>
          <p:nvPr/>
        </p:nvSpPr>
        <p:spPr>
          <a:xfrm>
            <a:off x="9473184" y="3063240"/>
            <a:ext cx="1636776" cy="1143000"/>
          </a:xfrm>
          <a:prstGeom prst="rect">
            <a:avLst/>
          </a:prstGeom>
          <a:noFill/>
          <a:ln/>
        </p:spPr>
        <p:txBody>
          <a:bodyPr wrap="square" lIns="0" tIns="0" rIns="0" bIns="0" rtlCol="0" anchor="ctr"/>
          <a:lstStyle/>
          <a:p>
            <a:pPr marL="0" indent="0">
              <a:buNone/>
            </a:pPr>
            <a:r>
              <a:rPr lang="en-US" sz="1000" dirty="0">
                <a:solidFill>
                  <a:srgbClr val="575A5D"/>
                </a:solidFill>
                <a:latin typeface="Calibri" pitchFamily="34" charset="0"/>
                <a:ea typeface="Calibri" pitchFamily="34" charset="-122"/>
                <a:cs typeface="Calibri" pitchFamily="34" charset="-120"/>
              </a:rPr>
              <a:t>Every override — on a churn flag or a business flag — retrains both models; disagreement is signal, not noise</a:t>
            </a:r>
            <a:endParaRPr lang="en-US" sz="1000" dirty="0"/>
          </a:p>
        </p:txBody>
      </p:sp>
      <p:sp>
        <p:nvSpPr>
          <p:cNvPr id="29" name="Shape 27"/>
          <p:cNvSpPr/>
          <p:nvPr/>
        </p:nvSpPr>
        <p:spPr>
          <a:xfrm>
            <a:off x="640080" y="4453128"/>
            <a:ext cx="502920" cy="502920"/>
          </a:xfrm>
          <a:prstGeom prst="ellipse">
            <a:avLst/>
          </a:prstGeom>
          <a:solidFill>
            <a:srgbClr val="085CE5"/>
          </a:solidFill>
          <a:ln/>
        </p:spPr>
        <p:txBody>
          <a:bodyPr/>
          <a:lstStyle/>
          <a:p>
            <a:endParaRPr lang="en-US"/>
          </a:p>
        </p:txBody>
      </p:sp>
      <p:sp>
        <p:nvSpPr>
          <p:cNvPr id="30" name="Shape 28"/>
          <p:cNvSpPr/>
          <p:nvPr/>
        </p:nvSpPr>
        <p:spPr>
          <a:xfrm>
            <a:off x="785927" y="4598975"/>
            <a:ext cx="211226" cy="211226"/>
          </a:xfrm>
          <a:prstGeom prst="ellipse">
            <a:avLst/>
          </a:prstGeom>
          <a:ln w="38100">
            <a:solidFill>
              <a:srgbClr val="FFFFFF"/>
            </a:solidFill>
            <a:prstDash val="solid"/>
          </a:ln>
        </p:spPr>
        <p:txBody>
          <a:bodyPr/>
          <a:lstStyle/>
          <a:p>
            <a:endParaRPr lang="en-US"/>
          </a:p>
        </p:txBody>
      </p:sp>
      <p:sp>
        <p:nvSpPr>
          <p:cNvPr id="31" name="Shape 29"/>
          <p:cNvSpPr/>
          <p:nvPr/>
        </p:nvSpPr>
        <p:spPr>
          <a:xfrm>
            <a:off x="861968" y="4675016"/>
            <a:ext cx="59143" cy="59143"/>
          </a:xfrm>
          <a:prstGeom prst="ellipse">
            <a:avLst/>
          </a:prstGeom>
          <a:solidFill>
            <a:srgbClr val="FFFFFF"/>
          </a:solidFill>
          <a:ln/>
        </p:spPr>
        <p:txBody>
          <a:bodyPr/>
          <a:lstStyle/>
          <a:p>
            <a:endParaRPr lang="en-US"/>
          </a:p>
        </p:txBody>
      </p:sp>
      <p:sp>
        <p:nvSpPr>
          <p:cNvPr id="32" name="Text 30"/>
          <p:cNvSpPr/>
          <p:nvPr/>
        </p:nvSpPr>
        <p:spPr>
          <a:xfrm>
            <a:off x="1325880" y="4572000"/>
            <a:ext cx="9601200" cy="411480"/>
          </a:xfrm>
          <a:prstGeom prst="rect">
            <a:avLst/>
          </a:prstGeom>
          <a:noFill/>
          <a:ln/>
        </p:spPr>
        <p:txBody>
          <a:bodyPr wrap="square" lIns="0" tIns="0" rIns="0" bIns="0" rtlCol="0" anchor="ctr"/>
          <a:lstStyle/>
          <a:p>
            <a:pPr marL="0" indent="0">
              <a:buNone/>
            </a:pPr>
            <a:r>
              <a:rPr lang="en-US" sz="1200" i="1" dirty="0">
                <a:solidFill>
                  <a:srgbClr val="575A5D"/>
                </a:solidFill>
                <a:latin typeface="Calibri" pitchFamily="34" charset="0"/>
                <a:ea typeface="Calibri" pitchFamily="34" charset="-122"/>
                <a:cs typeface="Calibri" pitchFamily="34" charset="-120"/>
              </a:rPr>
              <a:t>The goal was never to remove the person from the decision — it was to make sure they never see a score without a reason.</a:t>
            </a:r>
            <a:endParaRPr lang="en-US" sz="1200" dirty="0"/>
          </a:p>
        </p:txBody>
      </p:sp>
      <p:sp>
        <p:nvSpPr>
          <p:cNvPr id="33" name="Text 31"/>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900" dirty="0">
                <a:solidFill>
                  <a:srgbClr val="B6BBC0"/>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2">
    <p:bg>
      <p:bgPr>
        <a:solidFill>
          <a:srgbClr val="06185F"/>
        </a:solidFill>
        <a:effectLst/>
      </p:bgPr>
    </p:bg>
    <p:spTree>
      <p:nvGrpSpPr>
        <p:cNvPr id="1" name=""/>
        <p:cNvGrpSpPr/>
        <p:nvPr/>
      </p:nvGrpSpPr>
      <p:grpSpPr>
        <a:xfrm>
          <a:off x="0" y="0"/>
          <a:ext cx="0" cy="0"/>
          <a:chOff x="0" y="0"/>
          <a:chExt cx="0" cy="0"/>
        </a:xfrm>
      </p:grpSpPr>
      <p:sp>
        <p:nvSpPr>
          <p:cNvPr id="2" name="Shape 0"/>
          <p:cNvSpPr/>
          <p:nvPr/>
        </p:nvSpPr>
        <p:spPr>
          <a:xfrm>
            <a:off x="-1371600" y="4572000"/>
            <a:ext cx="4114800" cy="4114800"/>
          </a:xfrm>
          <a:prstGeom prst="ellipse">
            <a:avLst/>
          </a:prstGeom>
          <a:solidFill>
            <a:srgbClr val="085CE5">
              <a:alpha val="18000"/>
            </a:srgbClr>
          </a:solidFill>
          <a:ln/>
        </p:spPr>
        <p:txBody>
          <a:bodyPr/>
          <a:lstStyle/>
          <a:p>
            <a:endParaRPr lang="en-US"/>
          </a:p>
        </p:txBody>
      </p:sp>
      <p:sp>
        <p:nvSpPr>
          <p:cNvPr id="3" name="Text 1"/>
          <p:cNvSpPr/>
          <p:nvPr/>
        </p:nvSpPr>
        <p:spPr>
          <a:xfrm>
            <a:off x="822960" y="1005840"/>
            <a:ext cx="1828800" cy="1463040"/>
          </a:xfrm>
          <a:prstGeom prst="rect">
            <a:avLst/>
          </a:prstGeom>
          <a:noFill/>
          <a:ln/>
        </p:spPr>
        <p:txBody>
          <a:bodyPr wrap="square" lIns="0" tIns="0" rIns="0" bIns="0" rtlCol="0" anchor="ctr"/>
          <a:lstStyle/>
          <a:p>
            <a:pPr marL="0" indent="0">
              <a:buNone/>
            </a:pPr>
            <a:r>
              <a:rPr lang="en-US" sz="11000" b="1" dirty="0">
                <a:solidFill>
                  <a:srgbClr val="085CE5"/>
                </a:solidFill>
                <a:latin typeface="Arial" pitchFamily="34" charset="0"/>
                <a:ea typeface="Arial" pitchFamily="34" charset="-122"/>
                <a:cs typeface="Arial" pitchFamily="34" charset="-120"/>
              </a:rPr>
              <a:t>“</a:t>
            </a:r>
            <a:endParaRPr lang="en-US" sz="11000" dirty="0"/>
          </a:p>
        </p:txBody>
      </p:sp>
      <p:sp>
        <p:nvSpPr>
          <p:cNvPr id="4" name="Text 2"/>
          <p:cNvSpPr/>
          <p:nvPr/>
        </p:nvSpPr>
        <p:spPr>
          <a:xfrm>
            <a:off x="1188720" y="2194560"/>
            <a:ext cx="9601200" cy="146304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A risk score sitting in a dashboard has never once saved a relationship.</a:t>
            </a:r>
            <a:endParaRPr lang="en-US" sz="3200" dirty="0"/>
          </a:p>
        </p:txBody>
      </p:sp>
      <p:sp>
        <p:nvSpPr>
          <p:cNvPr id="5" name="Text 3"/>
          <p:cNvSpPr/>
          <p:nvPr/>
        </p:nvSpPr>
        <p:spPr>
          <a:xfrm>
            <a:off x="1188720" y="3794760"/>
            <a:ext cx="8869680" cy="822960"/>
          </a:xfrm>
          <a:prstGeom prst="rect">
            <a:avLst/>
          </a:prstGeom>
          <a:noFill/>
          <a:ln/>
        </p:spPr>
        <p:txBody>
          <a:bodyPr wrap="square" lIns="0" tIns="0" rIns="0" bIns="0" rtlCol="0" anchor="ctr"/>
          <a:lstStyle/>
          <a:p>
            <a:pPr marL="0" indent="0">
              <a:buNone/>
            </a:pPr>
            <a:r>
              <a:rPr lang="en-US" sz="1500" i="1" dirty="0">
                <a:solidFill>
                  <a:srgbClr val="CADCFC"/>
                </a:solidFill>
                <a:latin typeface="Calibri" pitchFamily="34" charset="0"/>
                <a:ea typeface="Calibri" pitchFamily="34" charset="-122"/>
                <a:cs typeface="Calibri" pitchFamily="34" charset="-120"/>
              </a:rPr>
              <a:t>Detection tells you who. It doesn't tell you what to offer, through which channel, or how urgently — that's a second model, not an afterthought.</a:t>
            </a:r>
            <a:endParaRPr lang="en-US" sz="1500" dirty="0"/>
          </a:p>
        </p:txBody>
      </p:sp>
      <p:sp>
        <p:nvSpPr>
          <p:cNvPr id="6" name="Text 4"/>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900" dirty="0">
                <a:solidFill>
                  <a:srgbClr val="B6BBC0"/>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9">
    <p:bg>
      <p:bgPr>
        <a:solidFill>
          <a:srgbClr val="06185F"/>
        </a:solidFill>
        <a:effectLst/>
      </p:bgPr>
    </p:bg>
    <p:spTree>
      <p:nvGrpSpPr>
        <p:cNvPr id="1" name=""/>
        <p:cNvGrpSpPr/>
        <p:nvPr/>
      </p:nvGrpSpPr>
      <p:grpSpPr>
        <a:xfrm>
          <a:off x="0" y="0"/>
          <a:ext cx="0" cy="0"/>
          <a:chOff x="0" y="0"/>
          <a:chExt cx="0" cy="0"/>
        </a:xfrm>
      </p:grpSpPr>
      <p:sp>
        <p:nvSpPr>
          <p:cNvPr id="2" name="Shape 0"/>
          <p:cNvSpPr/>
          <p:nvPr/>
        </p:nvSpPr>
        <p:spPr>
          <a:xfrm>
            <a:off x="9082735" y="-1463040"/>
            <a:ext cx="4023360" cy="4023360"/>
          </a:xfrm>
          <a:prstGeom prst="ellipse">
            <a:avLst/>
          </a:prstGeom>
          <a:solidFill>
            <a:srgbClr val="085CE5">
              <a:alpha val="22000"/>
            </a:srgbClr>
          </a:solidFill>
          <a:ln/>
        </p:spPr>
        <p:txBody>
          <a:bodyPr/>
          <a:lstStyle/>
          <a:p>
            <a:endParaRPr lang="en-US"/>
          </a:p>
        </p:txBody>
      </p:sp>
      <p:sp>
        <p:nvSpPr>
          <p:cNvPr id="3" name="Shape 1"/>
          <p:cNvSpPr/>
          <p:nvPr/>
        </p:nvSpPr>
        <p:spPr>
          <a:xfrm>
            <a:off x="10271455" y="-548640"/>
            <a:ext cx="2377440" cy="2377440"/>
          </a:xfrm>
          <a:prstGeom prst="ellipse">
            <a:avLst/>
          </a:prstGeom>
          <a:solidFill>
            <a:srgbClr val="76DCFD">
              <a:alpha val="45000"/>
            </a:srgbClr>
          </a:solidFill>
          <a:ln/>
        </p:spPr>
        <p:txBody>
          <a:bodyPr/>
          <a:lstStyle/>
          <a:p>
            <a:endParaRPr lang="en-US"/>
          </a:p>
        </p:txBody>
      </p:sp>
      <p:sp>
        <p:nvSpPr>
          <p:cNvPr id="4" name="Text 2"/>
          <p:cNvSpPr/>
          <p:nvPr/>
        </p:nvSpPr>
        <p:spPr>
          <a:xfrm>
            <a:off x="640080" y="2377440"/>
            <a:ext cx="5486400" cy="365760"/>
          </a:xfrm>
          <a:prstGeom prst="rect">
            <a:avLst/>
          </a:prstGeom>
          <a:noFill/>
          <a:ln/>
        </p:spPr>
        <p:txBody>
          <a:bodyPr wrap="square" lIns="0" tIns="0" rIns="0" bIns="0" rtlCol="0" anchor="ctr"/>
          <a:lstStyle/>
          <a:p>
            <a:pPr marL="0" indent="0">
              <a:buNone/>
            </a:pPr>
            <a:r>
              <a:rPr lang="en-US" sz="1400" b="1" kern="0" spc="300" dirty="0">
                <a:solidFill>
                  <a:srgbClr val="76DCFD"/>
                </a:solidFill>
                <a:latin typeface="Calibri" pitchFamily="34" charset="0"/>
                <a:ea typeface="Calibri" pitchFamily="34" charset="-122"/>
                <a:cs typeface="Calibri" pitchFamily="34" charset="-120"/>
              </a:rPr>
              <a:t>PART FOUR</a:t>
            </a:r>
            <a:endParaRPr lang="en-US" sz="1400" dirty="0"/>
          </a:p>
        </p:txBody>
      </p:sp>
      <p:sp>
        <p:nvSpPr>
          <p:cNvPr id="5" name="Text 3"/>
          <p:cNvSpPr/>
          <p:nvPr/>
        </p:nvSpPr>
        <p:spPr>
          <a:xfrm>
            <a:off x="640080" y="2743200"/>
            <a:ext cx="9144000" cy="1005840"/>
          </a:xfrm>
          <a:prstGeom prst="rect">
            <a:avLst/>
          </a:prstGeom>
          <a:noFill/>
          <a:ln/>
        </p:spPr>
        <p:txBody>
          <a:bodyPr wrap="square" lIns="0" tIns="0" rIns="0" bIns="0" rtlCol="0" anchor="ctr"/>
          <a:lstStyle/>
          <a:p>
            <a:pPr marL="0" indent="0">
              <a:buNone/>
            </a:pPr>
            <a:r>
              <a:rPr lang="en-US" sz="4200" b="1" dirty="0">
                <a:solidFill>
                  <a:srgbClr val="FFFFFF"/>
                </a:solidFill>
                <a:latin typeface="Arial" pitchFamily="34" charset="0"/>
                <a:ea typeface="Arial" pitchFamily="34" charset="-122"/>
                <a:cs typeface="Arial" pitchFamily="34" charset="-120"/>
              </a:rPr>
              <a:t>Making It Work</a:t>
            </a:r>
            <a:endParaRPr lang="en-US" sz="4200" dirty="0"/>
          </a:p>
        </p:txBody>
      </p:sp>
      <p:sp>
        <p:nvSpPr>
          <p:cNvPr id="6" name="Text 4"/>
          <p:cNvSpPr/>
          <p:nvPr/>
        </p:nvSpPr>
        <p:spPr>
          <a:xfrm>
            <a:off x="640080" y="3703320"/>
            <a:ext cx="9144000" cy="548640"/>
          </a:xfrm>
          <a:prstGeom prst="rect">
            <a:avLst/>
          </a:prstGeom>
          <a:noFill/>
          <a:ln/>
        </p:spPr>
        <p:txBody>
          <a:bodyPr wrap="square" lIns="0" tIns="0" rIns="0" bIns="0" rtlCol="0" anchor="ctr"/>
          <a:lstStyle/>
          <a:p>
            <a:pPr marL="0" indent="0">
              <a:buNone/>
            </a:pPr>
            <a:r>
              <a:rPr lang="en-US" sz="1500" i="1" dirty="0">
                <a:solidFill>
                  <a:srgbClr val="CADCFC"/>
                </a:solidFill>
                <a:latin typeface="Calibri" pitchFamily="34" charset="0"/>
                <a:ea typeface="Calibri" pitchFamily="34" charset="-122"/>
                <a:cs typeface="Calibri" pitchFamily="34" charset="-120"/>
              </a:rPr>
              <a:t>Offer optimization, the rollout roadmap, and the guardrails that keep it trustworthy</a:t>
            </a:r>
            <a:endParaRPr lang="en-US" sz="1500" dirty="0"/>
          </a:p>
        </p:txBody>
      </p:sp>
      <p:sp>
        <p:nvSpPr>
          <p:cNvPr id="7" name="Text 5"/>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900" dirty="0">
                <a:solidFill>
                  <a:srgbClr val="B6BBC0"/>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5486400" cy="320040"/>
          </a:xfrm>
          <a:prstGeom prst="rect">
            <a:avLst/>
          </a:prstGeom>
          <a:noFill/>
          <a:ln/>
        </p:spPr>
        <p:txBody>
          <a:bodyPr wrap="square" lIns="0" tIns="0" rIns="0" bIns="0" rtlCol="0" anchor="ctr"/>
          <a:lstStyle/>
          <a:p>
            <a:pPr marL="0" indent="0" algn="l">
              <a:buNone/>
            </a:pPr>
            <a:r>
              <a:rPr lang="en-US" sz="1200" b="1" kern="0" spc="200" dirty="0">
                <a:solidFill>
                  <a:srgbClr val="085CE5"/>
                </a:solidFill>
                <a:latin typeface="Calibri" pitchFamily="34" charset="0"/>
                <a:ea typeface="Calibri" pitchFamily="34" charset="-122"/>
                <a:cs typeface="Calibri" pitchFamily="34" charset="-120"/>
              </a:rPr>
              <a:t>OFFER OPTIMIZATION</a:t>
            </a:r>
            <a:endParaRPr lang="en-US" sz="1200" dirty="0"/>
          </a:p>
        </p:txBody>
      </p:sp>
      <p:sp>
        <p:nvSpPr>
          <p:cNvPr id="3" name="Text 1"/>
          <p:cNvSpPr/>
          <p:nvPr/>
        </p:nvSpPr>
        <p:spPr>
          <a:xfrm>
            <a:off x="640080" y="777240"/>
            <a:ext cx="10058400" cy="685800"/>
          </a:xfrm>
          <a:prstGeom prst="rect">
            <a:avLst/>
          </a:prstGeom>
          <a:noFill/>
          <a:ln/>
        </p:spPr>
        <p:txBody>
          <a:bodyPr wrap="square" lIns="0" tIns="0" rIns="0" bIns="0" rtlCol="0" anchor="ctr"/>
          <a:lstStyle/>
          <a:p>
            <a:pPr marL="0" indent="0">
              <a:buNone/>
            </a:pPr>
            <a:r>
              <a:rPr lang="en-US" sz="2700" b="1" dirty="0">
                <a:solidFill>
                  <a:srgbClr val="06185F"/>
                </a:solidFill>
                <a:latin typeface="Arial" pitchFamily="34" charset="0"/>
                <a:ea typeface="Arial" pitchFamily="34" charset="-122"/>
                <a:cs typeface="Arial" pitchFamily="34" charset="-120"/>
              </a:rPr>
              <a:t>One engine, two revenue plays</a:t>
            </a:r>
            <a:endParaRPr lang="en-US" sz="2700" dirty="0"/>
          </a:p>
        </p:txBody>
      </p:sp>
      <p:sp>
        <p:nvSpPr>
          <p:cNvPr id="4" name="Text 2"/>
          <p:cNvSpPr/>
          <p:nvPr/>
        </p:nvSpPr>
        <p:spPr>
          <a:xfrm>
            <a:off x="640080" y="1371600"/>
            <a:ext cx="10515600" cy="365760"/>
          </a:xfrm>
          <a:prstGeom prst="rect">
            <a:avLst/>
          </a:prstGeom>
          <a:noFill/>
          <a:ln/>
        </p:spPr>
        <p:txBody>
          <a:bodyPr wrap="square" lIns="0" tIns="0" rIns="0" bIns="0" rtlCol="0" anchor="ctr"/>
          <a:lstStyle/>
          <a:p>
            <a:pPr marL="0" indent="0">
              <a:buNone/>
            </a:pPr>
            <a:r>
              <a:rPr lang="en-US" sz="1250" dirty="0">
                <a:solidFill>
                  <a:srgbClr val="575A5D"/>
                </a:solidFill>
                <a:latin typeface="Calibri" pitchFamily="34" charset="0"/>
                <a:ea typeface="Calibri" pitchFamily="34" charset="-122"/>
                <a:cs typeface="Calibri" pitchFamily="34" charset="-120"/>
              </a:rPr>
              <a:t>Ranked by propensity × relationship value × urgency, then routed to the right channel</a:t>
            </a:r>
            <a:endParaRPr lang="en-US" sz="1250" dirty="0"/>
          </a:p>
        </p:txBody>
      </p:sp>
      <p:sp>
        <p:nvSpPr>
          <p:cNvPr id="5" name="Shape 3"/>
          <p:cNvSpPr/>
          <p:nvPr/>
        </p:nvSpPr>
        <p:spPr>
          <a:xfrm>
            <a:off x="640080" y="1965960"/>
            <a:ext cx="1965960" cy="2331720"/>
          </a:xfrm>
          <a:prstGeom prst="roundRect">
            <a:avLst>
              <a:gd name="adj" fmla="val 3721"/>
            </a:avLst>
          </a:prstGeom>
          <a:solidFill>
            <a:srgbClr val="E8F7F7"/>
          </a:solidFill>
          <a:ln/>
          <a:effectLst>
            <a:outerShdw blurRad="127000" dist="38100" dir="5400000" algn="bl" rotWithShape="0">
              <a:srgbClr val="1B1F3B">
                <a:alpha val="10000"/>
              </a:srgbClr>
            </a:outerShdw>
          </a:effectLst>
        </p:spPr>
        <p:txBody>
          <a:bodyPr/>
          <a:lstStyle/>
          <a:p>
            <a:endParaRPr lang="en-US"/>
          </a:p>
        </p:txBody>
      </p:sp>
      <p:sp>
        <p:nvSpPr>
          <p:cNvPr id="6" name="Text 4"/>
          <p:cNvSpPr/>
          <p:nvPr/>
        </p:nvSpPr>
        <p:spPr>
          <a:xfrm>
            <a:off x="804672" y="2103120"/>
            <a:ext cx="457200" cy="365760"/>
          </a:xfrm>
          <a:prstGeom prst="rect">
            <a:avLst/>
          </a:prstGeom>
          <a:noFill/>
          <a:ln/>
        </p:spPr>
        <p:txBody>
          <a:bodyPr wrap="square" lIns="0" tIns="0" rIns="0" bIns="0" rtlCol="0" anchor="ctr"/>
          <a:lstStyle/>
          <a:p>
            <a:pPr marL="0" indent="0">
              <a:buNone/>
            </a:pPr>
            <a:r>
              <a:rPr lang="en-US" sz="1600" b="1" dirty="0">
                <a:solidFill>
                  <a:srgbClr val="085CE5"/>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804672" y="2468880"/>
            <a:ext cx="1636776" cy="594360"/>
          </a:xfrm>
          <a:prstGeom prst="rect">
            <a:avLst/>
          </a:prstGeom>
          <a:noFill/>
          <a:ln/>
        </p:spPr>
        <p:txBody>
          <a:bodyPr wrap="square" lIns="0" tIns="0" rIns="0" bIns="0" rtlCol="0" anchor="ctr"/>
          <a:lstStyle/>
          <a:p>
            <a:pPr marL="0" indent="0">
              <a:buNone/>
            </a:pPr>
            <a:r>
              <a:rPr lang="en-US" sz="1250" b="1" dirty="0">
                <a:solidFill>
                  <a:srgbClr val="06185F"/>
                </a:solidFill>
                <a:latin typeface="Arial" pitchFamily="34" charset="0"/>
                <a:ea typeface="Arial" pitchFamily="34" charset="-122"/>
                <a:cs typeface="Arial" pitchFamily="34" charset="-120"/>
              </a:rPr>
              <a:t>Flag Raised</a:t>
            </a:r>
            <a:endParaRPr lang="en-US" sz="1250" dirty="0"/>
          </a:p>
        </p:txBody>
      </p:sp>
      <p:sp>
        <p:nvSpPr>
          <p:cNvPr id="8" name="Text 6"/>
          <p:cNvSpPr/>
          <p:nvPr/>
        </p:nvSpPr>
        <p:spPr>
          <a:xfrm>
            <a:off x="804672" y="3063240"/>
            <a:ext cx="1636776" cy="1143000"/>
          </a:xfrm>
          <a:prstGeom prst="rect">
            <a:avLst/>
          </a:prstGeom>
          <a:noFill/>
          <a:ln/>
        </p:spPr>
        <p:txBody>
          <a:bodyPr wrap="square" lIns="0" tIns="0" rIns="0" bIns="0" rtlCol="0" anchor="ctr"/>
          <a:lstStyle/>
          <a:p>
            <a:pPr marL="0" indent="0">
              <a:buNone/>
            </a:pPr>
            <a:r>
              <a:rPr lang="en-US" sz="1000" dirty="0">
                <a:solidFill>
                  <a:srgbClr val="575A5D"/>
                </a:solidFill>
                <a:latin typeface="Calibri" pitchFamily="34" charset="0"/>
                <a:ea typeface="Calibri" pitchFamily="34" charset="-122"/>
                <a:cs typeface="Calibri" pitchFamily="34" charset="-120"/>
              </a:rPr>
              <a:t>Churn risk or business-signal score crosses threshold</a:t>
            </a:r>
            <a:endParaRPr lang="en-US" sz="1000" dirty="0"/>
          </a:p>
        </p:txBody>
      </p:sp>
      <p:sp>
        <p:nvSpPr>
          <p:cNvPr id="9" name="Shape 7"/>
          <p:cNvSpPr/>
          <p:nvPr/>
        </p:nvSpPr>
        <p:spPr>
          <a:xfrm>
            <a:off x="2624328" y="2971800"/>
            <a:ext cx="182880" cy="219456"/>
          </a:xfrm>
          <a:prstGeom prst="rightArrow">
            <a:avLst/>
          </a:prstGeom>
          <a:solidFill>
            <a:srgbClr val="085CE5"/>
          </a:solidFill>
          <a:ln/>
        </p:spPr>
        <p:txBody>
          <a:bodyPr/>
          <a:lstStyle/>
          <a:p>
            <a:endParaRPr lang="en-US"/>
          </a:p>
        </p:txBody>
      </p:sp>
      <p:sp>
        <p:nvSpPr>
          <p:cNvPr id="10" name="Shape 8"/>
          <p:cNvSpPr/>
          <p:nvPr/>
        </p:nvSpPr>
        <p:spPr>
          <a:xfrm>
            <a:off x="2807208" y="1965960"/>
            <a:ext cx="1965960" cy="2331720"/>
          </a:xfrm>
          <a:prstGeom prst="roundRect">
            <a:avLst>
              <a:gd name="adj" fmla="val 3721"/>
            </a:avLst>
          </a:prstGeom>
          <a:solidFill>
            <a:srgbClr val="E8F7F7"/>
          </a:solidFill>
          <a:ln/>
          <a:effectLst>
            <a:outerShdw blurRad="127000" dist="38100" dir="5400000" algn="bl" rotWithShape="0">
              <a:srgbClr val="1B1F3B">
                <a:alpha val="10000"/>
              </a:srgbClr>
            </a:outerShdw>
          </a:effectLst>
        </p:spPr>
        <p:txBody>
          <a:bodyPr/>
          <a:lstStyle/>
          <a:p>
            <a:endParaRPr lang="en-US"/>
          </a:p>
        </p:txBody>
      </p:sp>
      <p:sp>
        <p:nvSpPr>
          <p:cNvPr id="11" name="Text 9"/>
          <p:cNvSpPr/>
          <p:nvPr/>
        </p:nvSpPr>
        <p:spPr>
          <a:xfrm>
            <a:off x="2971800" y="2103120"/>
            <a:ext cx="457200" cy="365760"/>
          </a:xfrm>
          <a:prstGeom prst="rect">
            <a:avLst/>
          </a:prstGeom>
          <a:noFill/>
          <a:ln/>
        </p:spPr>
        <p:txBody>
          <a:bodyPr wrap="square" lIns="0" tIns="0" rIns="0" bIns="0" rtlCol="0" anchor="ctr"/>
          <a:lstStyle/>
          <a:p>
            <a:pPr marL="0" indent="0">
              <a:buNone/>
            </a:pPr>
            <a:r>
              <a:rPr lang="en-US" sz="1600" b="1" dirty="0">
                <a:solidFill>
                  <a:srgbClr val="085CE5"/>
                </a:solidFill>
                <a:latin typeface="Arial" pitchFamily="34" charset="0"/>
                <a:ea typeface="Arial" pitchFamily="34" charset="-122"/>
                <a:cs typeface="Arial" pitchFamily="34" charset="-120"/>
              </a:rPr>
              <a:t>2</a:t>
            </a:r>
            <a:endParaRPr lang="en-US" sz="1600" dirty="0"/>
          </a:p>
        </p:txBody>
      </p:sp>
      <p:sp>
        <p:nvSpPr>
          <p:cNvPr id="12" name="Text 10"/>
          <p:cNvSpPr/>
          <p:nvPr/>
        </p:nvSpPr>
        <p:spPr>
          <a:xfrm>
            <a:off x="2971800" y="2468880"/>
            <a:ext cx="1636776" cy="594360"/>
          </a:xfrm>
          <a:prstGeom prst="rect">
            <a:avLst/>
          </a:prstGeom>
          <a:noFill/>
          <a:ln/>
        </p:spPr>
        <p:txBody>
          <a:bodyPr wrap="square" lIns="0" tIns="0" rIns="0" bIns="0" rtlCol="0" anchor="ctr"/>
          <a:lstStyle/>
          <a:p>
            <a:pPr marL="0" indent="0">
              <a:buNone/>
            </a:pPr>
            <a:r>
              <a:rPr lang="en-US" sz="1250" b="1" dirty="0">
                <a:solidFill>
                  <a:srgbClr val="06185F"/>
                </a:solidFill>
                <a:latin typeface="Arial" pitchFamily="34" charset="0"/>
                <a:ea typeface="Arial" pitchFamily="34" charset="-122"/>
                <a:cs typeface="Arial" pitchFamily="34" charset="-120"/>
              </a:rPr>
              <a:t>Reason Code</a:t>
            </a:r>
            <a:endParaRPr lang="en-US" sz="1250" dirty="0"/>
          </a:p>
        </p:txBody>
      </p:sp>
      <p:sp>
        <p:nvSpPr>
          <p:cNvPr id="13" name="Text 11"/>
          <p:cNvSpPr/>
          <p:nvPr/>
        </p:nvSpPr>
        <p:spPr>
          <a:xfrm>
            <a:off x="2971800" y="3063240"/>
            <a:ext cx="1636776" cy="1143000"/>
          </a:xfrm>
          <a:prstGeom prst="rect">
            <a:avLst/>
          </a:prstGeom>
          <a:noFill/>
          <a:ln/>
        </p:spPr>
        <p:txBody>
          <a:bodyPr wrap="square" lIns="0" tIns="0" rIns="0" bIns="0" rtlCol="0" anchor="ctr"/>
          <a:lstStyle/>
          <a:p>
            <a:pPr marL="0" indent="0">
              <a:buNone/>
            </a:pPr>
            <a:r>
              <a:rPr lang="en-US" sz="1000" dirty="0">
                <a:solidFill>
                  <a:srgbClr val="575A5D"/>
                </a:solidFill>
                <a:latin typeface="Calibri" pitchFamily="34" charset="0"/>
                <a:ea typeface="Calibri" pitchFamily="34" charset="-122"/>
                <a:cs typeface="Calibri" pitchFamily="34" charset="-120"/>
              </a:rPr>
              <a:t>TreeSHAP explanation attached automatically</a:t>
            </a:r>
            <a:endParaRPr lang="en-US" sz="1000" dirty="0"/>
          </a:p>
        </p:txBody>
      </p:sp>
      <p:sp>
        <p:nvSpPr>
          <p:cNvPr id="14" name="Shape 12"/>
          <p:cNvSpPr/>
          <p:nvPr/>
        </p:nvSpPr>
        <p:spPr>
          <a:xfrm>
            <a:off x="4791456" y="2971800"/>
            <a:ext cx="182880" cy="219456"/>
          </a:xfrm>
          <a:prstGeom prst="rightArrow">
            <a:avLst/>
          </a:prstGeom>
          <a:solidFill>
            <a:srgbClr val="085CE5"/>
          </a:solidFill>
          <a:ln/>
        </p:spPr>
        <p:txBody>
          <a:bodyPr/>
          <a:lstStyle/>
          <a:p>
            <a:endParaRPr lang="en-US"/>
          </a:p>
        </p:txBody>
      </p:sp>
      <p:sp>
        <p:nvSpPr>
          <p:cNvPr id="15" name="Shape 13"/>
          <p:cNvSpPr/>
          <p:nvPr/>
        </p:nvSpPr>
        <p:spPr>
          <a:xfrm>
            <a:off x="4974336" y="1965960"/>
            <a:ext cx="1965960" cy="2331720"/>
          </a:xfrm>
          <a:prstGeom prst="roundRect">
            <a:avLst>
              <a:gd name="adj" fmla="val 3721"/>
            </a:avLst>
          </a:prstGeom>
          <a:solidFill>
            <a:srgbClr val="06185F"/>
          </a:solidFill>
          <a:ln/>
          <a:effectLst>
            <a:outerShdw blurRad="127000" dist="38100" dir="5400000" algn="bl" rotWithShape="0">
              <a:srgbClr val="1B1F3B">
                <a:alpha val="10000"/>
              </a:srgbClr>
            </a:outerShdw>
          </a:effectLst>
        </p:spPr>
        <p:txBody>
          <a:bodyPr/>
          <a:lstStyle/>
          <a:p>
            <a:endParaRPr lang="en-US"/>
          </a:p>
        </p:txBody>
      </p:sp>
      <p:sp>
        <p:nvSpPr>
          <p:cNvPr id="16" name="Text 14"/>
          <p:cNvSpPr/>
          <p:nvPr/>
        </p:nvSpPr>
        <p:spPr>
          <a:xfrm>
            <a:off x="5138928" y="2103120"/>
            <a:ext cx="457200" cy="365760"/>
          </a:xfrm>
          <a:prstGeom prst="rect">
            <a:avLst/>
          </a:prstGeom>
          <a:noFill/>
          <a:ln/>
        </p:spPr>
        <p:txBody>
          <a:bodyPr wrap="square" lIns="0" tIns="0" rIns="0" bIns="0" rtlCol="0" anchor="ctr"/>
          <a:lstStyle/>
          <a:p>
            <a:pPr marL="0" indent="0">
              <a:buNone/>
            </a:pPr>
            <a:r>
              <a:rPr lang="en-US" sz="1600" b="1" dirty="0">
                <a:solidFill>
                  <a:srgbClr val="76DCFD"/>
                </a:solidFill>
                <a:latin typeface="Arial" pitchFamily="34" charset="0"/>
                <a:ea typeface="Arial" pitchFamily="34" charset="-122"/>
                <a:cs typeface="Arial" pitchFamily="34" charset="-120"/>
              </a:rPr>
              <a:t>3</a:t>
            </a:r>
            <a:endParaRPr lang="en-US" sz="1600" dirty="0"/>
          </a:p>
        </p:txBody>
      </p:sp>
      <p:sp>
        <p:nvSpPr>
          <p:cNvPr id="17" name="Text 15"/>
          <p:cNvSpPr/>
          <p:nvPr/>
        </p:nvSpPr>
        <p:spPr>
          <a:xfrm>
            <a:off x="5138928" y="2468880"/>
            <a:ext cx="1636776" cy="594360"/>
          </a:xfrm>
          <a:prstGeom prst="rect">
            <a:avLst/>
          </a:prstGeom>
          <a:noFill/>
          <a:ln/>
        </p:spPr>
        <p:txBody>
          <a:bodyPr wrap="square" lIns="0" tIns="0" rIns="0" bIns="0" rtlCol="0" anchor="ctr"/>
          <a:lstStyle/>
          <a:p>
            <a:pPr marL="0" indent="0">
              <a:buNone/>
            </a:pPr>
            <a:r>
              <a:rPr lang="en-US" sz="1250" b="1" dirty="0">
                <a:solidFill>
                  <a:srgbClr val="FFFFFF"/>
                </a:solidFill>
                <a:latin typeface="Arial" pitchFamily="34" charset="0"/>
                <a:ea typeface="Arial" pitchFamily="34" charset="-122"/>
                <a:cs typeface="Arial" pitchFamily="34" charset="-120"/>
              </a:rPr>
              <a:t>Best Action Ranked</a:t>
            </a:r>
            <a:endParaRPr lang="en-US" sz="1250" dirty="0"/>
          </a:p>
        </p:txBody>
      </p:sp>
      <p:sp>
        <p:nvSpPr>
          <p:cNvPr id="18" name="Text 16"/>
          <p:cNvSpPr/>
          <p:nvPr/>
        </p:nvSpPr>
        <p:spPr>
          <a:xfrm>
            <a:off x="5138928" y="3063240"/>
            <a:ext cx="1636776" cy="1143000"/>
          </a:xfrm>
          <a:prstGeom prst="rect">
            <a:avLst/>
          </a:prstGeom>
          <a:noFill/>
          <a:ln/>
        </p:spPr>
        <p:txBody>
          <a:bodyPr wrap="square" lIns="0" tIns="0" rIns="0" bIns="0" rtlCol="0" anchor="ctr"/>
          <a:lstStyle/>
          <a:p>
            <a:pPr marL="0" indent="0">
              <a:buNone/>
            </a:pPr>
            <a:r>
              <a:rPr lang="en-US" sz="1000" dirty="0">
                <a:solidFill>
                  <a:srgbClr val="CADCFC"/>
                </a:solidFill>
                <a:latin typeface="Calibri" pitchFamily="34" charset="0"/>
                <a:ea typeface="Calibri" pitchFamily="34" charset="-122"/>
                <a:cs typeface="Calibri" pitchFamily="34" charset="-120"/>
              </a:rPr>
              <a:t>Retention offer or product sequence, propensity-scored</a:t>
            </a:r>
            <a:endParaRPr lang="en-US" sz="1000" dirty="0"/>
          </a:p>
        </p:txBody>
      </p:sp>
      <p:sp>
        <p:nvSpPr>
          <p:cNvPr id="19" name="Shape 17"/>
          <p:cNvSpPr/>
          <p:nvPr/>
        </p:nvSpPr>
        <p:spPr>
          <a:xfrm>
            <a:off x="6958584" y="2971800"/>
            <a:ext cx="182880" cy="219456"/>
          </a:xfrm>
          <a:prstGeom prst="rightArrow">
            <a:avLst/>
          </a:prstGeom>
          <a:solidFill>
            <a:srgbClr val="085CE5"/>
          </a:solidFill>
          <a:ln/>
        </p:spPr>
        <p:txBody>
          <a:bodyPr/>
          <a:lstStyle/>
          <a:p>
            <a:endParaRPr lang="en-US"/>
          </a:p>
        </p:txBody>
      </p:sp>
      <p:sp>
        <p:nvSpPr>
          <p:cNvPr id="20" name="Shape 18"/>
          <p:cNvSpPr/>
          <p:nvPr/>
        </p:nvSpPr>
        <p:spPr>
          <a:xfrm>
            <a:off x="7141464" y="1965960"/>
            <a:ext cx="1965960" cy="2331720"/>
          </a:xfrm>
          <a:prstGeom prst="roundRect">
            <a:avLst>
              <a:gd name="adj" fmla="val 3721"/>
            </a:avLst>
          </a:prstGeom>
          <a:solidFill>
            <a:srgbClr val="E8F7F7"/>
          </a:solidFill>
          <a:ln/>
          <a:effectLst>
            <a:outerShdw blurRad="127000" dist="38100" dir="5400000" algn="bl" rotWithShape="0">
              <a:srgbClr val="1B1F3B">
                <a:alpha val="10000"/>
              </a:srgbClr>
            </a:outerShdw>
          </a:effectLst>
        </p:spPr>
        <p:txBody>
          <a:bodyPr/>
          <a:lstStyle/>
          <a:p>
            <a:endParaRPr lang="en-US"/>
          </a:p>
        </p:txBody>
      </p:sp>
      <p:sp>
        <p:nvSpPr>
          <p:cNvPr id="21" name="Text 19"/>
          <p:cNvSpPr/>
          <p:nvPr/>
        </p:nvSpPr>
        <p:spPr>
          <a:xfrm>
            <a:off x="7306056" y="2103120"/>
            <a:ext cx="457200" cy="365760"/>
          </a:xfrm>
          <a:prstGeom prst="rect">
            <a:avLst/>
          </a:prstGeom>
          <a:noFill/>
          <a:ln/>
        </p:spPr>
        <p:txBody>
          <a:bodyPr wrap="square" lIns="0" tIns="0" rIns="0" bIns="0" rtlCol="0" anchor="ctr"/>
          <a:lstStyle/>
          <a:p>
            <a:pPr marL="0" indent="0">
              <a:buNone/>
            </a:pPr>
            <a:r>
              <a:rPr lang="en-US" sz="1600" b="1" dirty="0">
                <a:solidFill>
                  <a:srgbClr val="085CE5"/>
                </a:solidFill>
                <a:latin typeface="Arial" pitchFamily="34" charset="0"/>
                <a:ea typeface="Arial" pitchFamily="34" charset="-122"/>
                <a:cs typeface="Arial" pitchFamily="34" charset="-120"/>
              </a:rPr>
              <a:t>4</a:t>
            </a:r>
            <a:endParaRPr lang="en-US" sz="1600" dirty="0"/>
          </a:p>
        </p:txBody>
      </p:sp>
      <p:sp>
        <p:nvSpPr>
          <p:cNvPr id="22" name="Text 20"/>
          <p:cNvSpPr/>
          <p:nvPr/>
        </p:nvSpPr>
        <p:spPr>
          <a:xfrm>
            <a:off x="7306056" y="2468880"/>
            <a:ext cx="1636776" cy="594360"/>
          </a:xfrm>
          <a:prstGeom prst="rect">
            <a:avLst/>
          </a:prstGeom>
          <a:noFill/>
          <a:ln/>
        </p:spPr>
        <p:txBody>
          <a:bodyPr wrap="square" lIns="0" tIns="0" rIns="0" bIns="0" rtlCol="0" anchor="ctr"/>
          <a:lstStyle/>
          <a:p>
            <a:pPr marL="0" indent="0">
              <a:buNone/>
            </a:pPr>
            <a:r>
              <a:rPr lang="en-US" sz="1250" b="1" dirty="0">
                <a:solidFill>
                  <a:srgbClr val="06185F"/>
                </a:solidFill>
                <a:latin typeface="Arial" pitchFamily="34" charset="0"/>
                <a:ea typeface="Arial" pitchFamily="34" charset="-122"/>
                <a:cs typeface="Arial" pitchFamily="34" charset="-120"/>
              </a:rPr>
              <a:t>Channel &amp; Timing</a:t>
            </a:r>
            <a:endParaRPr lang="en-US" sz="1250" dirty="0"/>
          </a:p>
        </p:txBody>
      </p:sp>
      <p:sp>
        <p:nvSpPr>
          <p:cNvPr id="23" name="Text 21"/>
          <p:cNvSpPr/>
          <p:nvPr/>
        </p:nvSpPr>
        <p:spPr>
          <a:xfrm>
            <a:off x="7306056" y="3063240"/>
            <a:ext cx="1636776" cy="1143000"/>
          </a:xfrm>
          <a:prstGeom prst="rect">
            <a:avLst/>
          </a:prstGeom>
          <a:noFill/>
          <a:ln/>
        </p:spPr>
        <p:txBody>
          <a:bodyPr wrap="square" lIns="0" tIns="0" rIns="0" bIns="0" rtlCol="0" anchor="ctr"/>
          <a:lstStyle/>
          <a:p>
            <a:pPr marL="0" indent="0">
              <a:buNone/>
            </a:pPr>
            <a:r>
              <a:rPr lang="en-US" sz="1000" dirty="0">
                <a:solidFill>
                  <a:srgbClr val="575A5D"/>
                </a:solidFill>
                <a:latin typeface="Calibri" pitchFamily="34" charset="0"/>
                <a:ea typeface="Calibri" pitchFamily="34" charset="-122"/>
                <a:cs typeface="Calibri" pitchFamily="34" charset="-120"/>
              </a:rPr>
              <a:t>RM call, digital nudge, or branch conversation</a:t>
            </a:r>
            <a:endParaRPr lang="en-US" sz="1000" dirty="0"/>
          </a:p>
        </p:txBody>
      </p:sp>
      <p:sp>
        <p:nvSpPr>
          <p:cNvPr id="24" name="Shape 22"/>
          <p:cNvSpPr/>
          <p:nvPr/>
        </p:nvSpPr>
        <p:spPr>
          <a:xfrm>
            <a:off x="9125712" y="2971800"/>
            <a:ext cx="182880" cy="219456"/>
          </a:xfrm>
          <a:prstGeom prst="rightArrow">
            <a:avLst/>
          </a:prstGeom>
          <a:solidFill>
            <a:srgbClr val="085CE5"/>
          </a:solidFill>
          <a:ln/>
        </p:spPr>
        <p:txBody>
          <a:bodyPr/>
          <a:lstStyle/>
          <a:p>
            <a:endParaRPr lang="en-US"/>
          </a:p>
        </p:txBody>
      </p:sp>
      <p:sp>
        <p:nvSpPr>
          <p:cNvPr id="25" name="Shape 23"/>
          <p:cNvSpPr/>
          <p:nvPr/>
        </p:nvSpPr>
        <p:spPr>
          <a:xfrm>
            <a:off x="9308592" y="1965960"/>
            <a:ext cx="1965960" cy="2331720"/>
          </a:xfrm>
          <a:prstGeom prst="roundRect">
            <a:avLst>
              <a:gd name="adj" fmla="val 3721"/>
            </a:avLst>
          </a:prstGeom>
          <a:solidFill>
            <a:srgbClr val="E8F7F7"/>
          </a:solidFill>
          <a:ln/>
          <a:effectLst>
            <a:outerShdw blurRad="127000" dist="38100" dir="5400000" algn="bl" rotWithShape="0">
              <a:srgbClr val="1B1F3B">
                <a:alpha val="10000"/>
              </a:srgbClr>
            </a:outerShdw>
          </a:effectLst>
        </p:spPr>
        <p:txBody>
          <a:bodyPr/>
          <a:lstStyle/>
          <a:p>
            <a:endParaRPr lang="en-US"/>
          </a:p>
        </p:txBody>
      </p:sp>
      <p:sp>
        <p:nvSpPr>
          <p:cNvPr id="26" name="Text 24"/>
          <p:cNvSpPr/>
          <p:nvPr/>
        </p:nvSpPr>
        <p:spPr>
          <a:xfrm>
            <a:off x="9473184" y="2103120"/>
            <a:ext cx="457200" cy="365760"/>
          </a:xfrm>
          <a:prstGeom prst="rect">
            <a:avLst/>
          </a:prstGeom>
          <a:noFill/>
          <a:ln/>
        </p:spPr>
        <p:txBody>
          <a:bodyPr wrap="square" lIns="0" tIns="0" rIns="0" bIns="0" rtlCol="0" anchor="ctr"/>
          <a:lstStyle/>
          <a:p>
            <a:pPr marL="0" indent="0">
              <a:buNone/>
            </a:pPr>
            <a:r>
              <a:rPr lang="en-US" sz="1600" b="1" dirty="0">
                <a:solidFill>
                  <a:srgbClr val="085CE5"/>
                </a:solidFill>
                <a:latin typeface="Arial" pitchFamily="34" charset="0"/>
                <a:ea typeface="Arial" pitchFamily="34" charset="-122"/>
                <a:cs typeface="Arial" pitchFamily="34" charset="-120"/>
              </a:rPr>
              <a:t>5</a:t>
            </a:r>
            <a:endParaRPr lang="en-US" sz="1600" dirty="0"/>
          </a:p>
        </p:txBody>
      </p:sp>
      <p:sp>
        <p:nvSpPr>
          <p:cNvPr id="27" name="Text 25"/>
          <p:cNvSpPr/>
          <p:nvPr/>
        </p:nvSpPr>
        <p:spPr>
          <a:xfrm>
            <a:off x="9473184" y="2468880"/>
            <a:ext cx="1636776" cy="594360"/>
          </a:xfrm>
          <a:prstGeom prst="rect">
            <a:avLst/>
          </a:prstGeom>
          <a:noFill/>
          <a:ln/>
        </p:spPr>
        <p:txBody>
          <a:bodyPr wrap="square" lIns="0" tIns="0" rIns="0" bIns="0" rtlCol="0" anchor="ctr"/>
          <a:lstStyle/>
          <a:p>
            <a:pPr marL="0" indent="0">
              <a:buNone/>
            </a:pPr>
            <a:r>
              <a:rPr lang="en-US" sz="1250" b="1" dirty="0">
                <a:solidFill>
                  <a:srgbClr val="06185F"/>
                </a:solidFill>
                <a:latin typeface="Arial" pitchFamily="34" charset="0"/>
                <a:ea typeface="Arial" pitchFamily="34" charset="-122"/>
                <a:cs typeface="Arial" pitchFamily="34" charset="-120"/>
              </a:rPr>
              <a:t>Outcome Logged</a:t>
            </a:r>
            <a:endParaRPr lang="en-US" sz="1250" dirty="0"/>
          </a:p>
        </p:txBody>
      </p:sp>
      <p:sp>
        <p:nvSpPr>
          <p:cNvPr id="28" name="Text 26"/>
          <p:cNvSpPr/>
          <p:nvPr/>
        </p:nvSpPr>
        <p:spPr>
          <a:xfrm>
            <a:off x="9473184" y="3063240"/>
            <a:ext cx="1636776" cy="1143000"/>
          </a:xfrm>
          <a:prstGeom prst="rect">
            <a:avLst/>
          </a:prstGeom>
          <a:noFill/>
          <a:ln/>
        </p:spPr>
        <p:txBody>
          <a:bodyPr wrap="square" lIns="0" tIns="0" rIns="0" bIns="0" rtlCol="0" anchor="ctr"/>
          <a:lstStyle/>
          <a:p>
            <a:pPr marL="0" indent="0">
              <a:buNone/>
            </a:pPr>
            <a:r>
              <a:rPr lang="en-US" sz="1000" dirty="0">
                <a:solidFill>
                  <a:srgbClr val="575A5D"/>
                </a:solidFill>
                <a:latin typeface="Calibri" pitchFamily="34" charset="0"/>
                <a:ea typeface="Calibri" pitchFamily="34" charset="-122"/>
                <a:cs typeface="Calibri" pitchFamily="34" charset="-120"/>
              </a:rPr>
              <a:t>Accepted, declined, or no response — feeds back</a:t>
            </a:r>
            <a:endParaRPr lang="en-US" sz="1000" dirty="0"/>
          </a:p>
        </p:txBody>
      </p:sp>
      <p:sp>
        <p:nvSpPr>
          <p:cNvPr id="29" name="Shape 27"/>
          <p:cNvSpPr/>
          <p:nvPr/>
        </p:nvSpPr>
        <p:spPr>
          <a:xfrm>
            <a:off x="640080" y="4453128"/>
            <a:ext cx="502920" cy="502920"/>
          </a:xfrm>
          <a:prstGeom prst="ellipse">
            <a:avLst/>
          </a:prstGeom>
          <a:solidFill>
            <a:srgbClr val="085CE5"/>
          </a:solidFill>
          <a:ln/>
        </p:spPr>
        <p:txBody>
          <a:bodyPr/>
          <a:lstStyle/>
          <a:p>
            <a:endParaRPr lang="en-US"/>
          </a:p>
        </p:txBody>
      </p:sp>
      <p:sp>
        <p:nvSpPr>
          <p:cNvPr id="30" name="Shape 28"/>
          <p:cNvSpPr/>
          <p:nvPr/>
        </p:nvSpPr>
        <p:spPr>
          <a:xfrm>
            <a:off x="785927" y="4598975"/>
            <a:ext cx="211226" cy="211226"/>
          </a:xfrm>
          <a:prstGeom prst="ellipse">
            <a:avLst/>
          </a:prstGeom>
          <a:ln w="38100">
            <a:solidFill>
              <a:srgbClr val="FFFFFF"/>
            </a:solidFill>
            <a:prstDash val="solid"/>
          </a:ln>
        </p:spPr>
        <p:txBody>
          <a:bodyPr/>
          <a:lstStyle/>
          <a:p>
            <a:endParaRPr lang="en-US"/>
          </a:p>
        </p:txBody>
      </p:sp>
      <p:sp>
        <p:nvSpPr>
          <p:cNvPr id="31" name="Shape 29"/>
          <p:cNvSpPr/>
          <p:nvPr/>
        </p:nvSpPr>
        <p:spPr>
          <a:xfrm>
            <a:off x="861968" y="4675016"/>
            <a:ext cx="59143" cy="59143"/>
          </a:xfrm>
          <a:prstGeom prst="ellipse">
            <a:avLst/>
          </a:prstGeom>
          <a:solidFill>
            <a:srgbClr val="FFFFFF"/>
          </a:solidFill>
          <a:ln/>
        </p:spPr>
        <p:txBody>
          <a:bodyPr/>
          <a:lstStyle/>
          <a:p>
            <a:endParaRPr lang="en-US"/>
          </a:p>
        </p:txBody>
      </p:sp>
      <p:sp>
        <p:nvSpPr>
          <p:cNvPr id="32" name="Text 30"/>
          <p:cNvSpPr/>
          <p:nvPr/>
        </p:nvSpPr>
        <p:spPr>
          <a:xfrm>
            <a:off x="1325880" y="4572000"/>
            <a:ext cx="9601200" cy="411480"/>
          </a:xfrm>
          <a:prstGeom prst="rect">
            <a:avLst/>
          </a:prstGeom>
          <a:noFill/>
          <a:ln/>
        </p:spPr>
        <p:txBody>
          <a:bodyPr wrap="square" lIns="0" tIns="0" rIns="0" bIns="0" rtlCol="0" anchor="ctr"/>
          <a:lstStyle/>
          <a:p>
            <a:pPr marL="0" indent="0">
              <a:buNone/>
            </a:pPr>
            <a:r>
              <a:rPr lang="en-US" sz="1200" i="1" dirty="0">
                <a:solidFill>
                  <a:srgbClr val="575A5D"/>
                </a:solidFill>
                <a:latin typeface="Calibri" pitchFamily="34" charset="0"/>
                <a:ea typeface="Calibri" pitchFamily="34" charset="-122"/>
                <a:cs typeface="Calibri" pitchFamily="34" charset="-120"/>
              </a:rPr>
              <a:t>Outcomes retrain the model every cycle — a declined retention offer or a converted business account both sharpen the next score.</a:t>
            </a:r>
            <a:endParaRPr lang="en-US" sz="1200" dirty="0"/>
          </a:p>
        </p:txBody>
      </p:sp>
      <p:sp>
        <p:nvSpPr>
          <p:cNvPr id="33" name="Text 31"/>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900" dirty="0">
                <a:solidFill>
                  <a:srgbClr val="B6BBC0"/>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9144000" cy="320040"/>
          </a:xfrm>
          <a:prstGeom prst="rect">
            <a:avLst/>
          </a:prstGeom>
          <a:noFill/>
          <a:ln/>
        </p:spPr>
        <p:txBody>
          <a:bodyPr wrap="square" lIns="0" tIns="0" rIns="0" bIns="0" rtlCol="0" anchor="ctr"/>
          <a:lstStyle/>
          <a:p>
            <a:pPr marL="0" indent="0" algn="l">
              <a:buNone/>
            </a:pPr>
            <a:r>
              <a:rPr lang="en-US" sz="1200" b="1" kern="0" spc="200" dirty="0">
                <a:solidFill>
                  <a:srgbClr val="085CE5"/>
                </a:solidFill>
                <a:latin typeface="Calibri" pitchFamily="34" charset="0"/>
                <a:ea typeface="Calibri" pitchFamily="34" charset="-122"/>
                <a:cs typeface="Calibri" pitchFamily="34" charset="-120"/>
              </a:rPr>
              <a:t>WHY COMMUNITY FIS ARE POSITIONED TO WIN THIS</a:t>
            </a:r>
            <a:endParaRPr lang="en-US" sz="1200" dirty="0"/>
          </a:p>
        </p:txBody>
      </p:sp>
      <p:sp>
        <p:nvSpPr>
          <p:cNvPr id="3" name="Text 1"/>
          <p:cNvSpPr/>
          <p:nvPr/>
        </p:nvSpPr>
        <p:spPr>
          <a:xfrm>
            <a:off x="640080" y="868680"/>
            <a:ext cx="10058400" cy="685800"/>
          </a:xfrm>
          <a:prstGeom prst="rect">
            <a:avLst/>
          </a:prstGeom>
          <a:noFill/>
          <a:ln/>
        </p:spPr>
        <p:txBody>
          <a:bodyPr wrap="square" lIns="0" tIns="0" rIns="0" bIns="0" rtlCol="0" anchor="ctr"/>
          <a:lstStyle/>
          <a:p>
            <a:pPr marL="0" indent="0">
              <a:buNone/>
            </a:pPr>
            <a:r>
              <a:rPr lang="en-US" sz="2800" b="1" dirty="0">
                <a:solidFill>
                  <a:srgbClr val="06185F"/>
                </a:solidFill>
                <a:latin typeface="Arial" pitchFamily="34" charset="0"/>
                <a:ea typeface="Arial" pitchFamily="34" charset="-122"/>
                <a:cs typeface="Arial" pitchFamily="34" charset="-120"/>
              </a:rPr>
              <a:t>Local trust, at data-science scale</a:t>
            </a:r>
            <a:endParaRPr lang="en-US" sz="2800" dirty="0"/>
          </a:p>
        </p:txBody>
      </p:sp>
      <p:sp>
        <p:nvSpPr>
          <p:cNvPr id="4" name="Shape 2"/>
          <p:cNvSpPr/>
          <p:nvPr/>
        </p:nvSpPr>
        <p:spPr>
          <a:xfrm>
            <a:off x="640080" y="1920240"/>
            <a:ext cx="3429000" cy="3200400"/>
          </a:xfrm>
          <a:prstGeom prst="roundRect">
            <a:avLst>
              <a:gd name="adj" fmla="val 2286"/>
            </a:avLst>
          </a:prstGeom>
          <a:solidFill>
            <a:srgbClr val="E8F7F7"/>
          </a:solidFill>
          <a:ln/>
          <a:effectLst>
            <a:outerShdw blurRad="127000" dist="38100" dir="5400000" algn="bl" rotWithShape="0">
              <a:srgbClr val="1B1F3B">
                <a:alpha val="10000"/>
              </a:srgbClr>
            </a:outerShdw>
          </a:effectLst>
        </p:spPr>
        <p:txBody>
          <a:bodyPr/>
          <a:lstStyle/>
          <a:p>
            <a:endParaRPr lang="en-US"/>
          </a:p>
        </p:txBody>
      </p:sp>
      <p:sp>
        <p:nvSpPr>
          <p:cNvPr id="5" name="Shape 3"/>
          <p:cNvSpPr/>
          <p:nvPr/>
        </p:nvSpPr>
        <p:spPr>
          <a:xfrm>
            <a:off x="914400" y="2194560"/>
            <a:ext cx="548640" cy="548640"/>
          </a:xfrm>
          <a:prstGeom prst="ellipse">
            <a:avLst/>
          </a:prstGeom>
          <a:solidFill>
            <a:srgbClr val="085CE5"/>
          </a:solidFill>
          <a:ln/>
        </p:spPr>
        <p:txBody>
          <a:bodyPr/>
          <a:lstStyle/>
          <a:p>
            <a:endParaRPr lang="en-US"/>
          </a:p>
        </p:txBody>
      </p:sp>
      <p:sp>
        <p:nvSpPr>
          <p:cNvPr id="6" name="Shape 4"/>
          <p:cNvSpPr/>
          <p:nvPr/>
        </p:nvSpPr>
        <p:spPr>
          <a:xfrm>
            <a:off x="1073506" y="2353666"/>
            <a:ext cx="230429" cy="230429"/>
          </a:xfrm>
          <a:prstGeom prst="ellipse">
            <a:avLst/>
          </a:prstGeom>
          <a:ln w="31750">
            <a:solidFill>
              <a:srgbClr val="FFFFFF"/>
            </a:solidFill>
            <a:prstDash val="solid"/>
          </a:ln>
        </p:spPr>
        <p:txBody>
          <a:bodyPr/>
          <a:lstStyle/>
          <a:p>
            <a:endParaRPr lang="en-US"/>
          </a:p>
        </p:txBody>
      </p:sp>
      <p:sp>
        <p:nvSpPr>
          <p:cNvPr id="7" name="Text 5"/>
          <p:cNvSpPr/>
          <p:nvPr/>
        </p:nvSpPr>
        <p:spPr>
          <a:xfrm>
            <a:off x="914400" y="2926080"/>
            <a:ext cx="2880360" cy="457200"/>
          </a:xfrm>
          <a:prstGeom prst="rect">
            <a:avLst/>
          </a:prstGeom>
          <a:noFill/>
          <a:ln/>
        </p:spPr>
        <p:txBody>
          <a:bodyPr wrap="square" lIns="0" tIns="0" rIns="0" bIns="0" rtlCol="0" anchor="ctr"/>
          <a:lstStyle/>
          <a:p>
            <a:pPr marL="0" indent="0">
              <a:buNone/>
            </a:pPr>
            <a:r>
              <a:rPr lang="en-US" sz="1600" b="1" dirty="0">
                <a:solidFill>
                  <a:srgbClr val="06185F"/>
                </a:solidFill>
                <a:latin typeface="Arial" pitchFamily="34" charset="0"/>
                <a:ea typeface="Arial" pitchFamily="34" charset="-122"/>
                <a:cs typeface="Arial" pitchFamily="34" charset="-120"/>
              </a:rPr>
              <a:t>Relationship trust</a:t>
            </a:r>
            <a:endParaRPr lang="en-US" sz="1600" dirty="0"/>
          </a:p>
        </p:txBody>
      </p:sp>
      <p:sp>
        <p:nvSpPr>
          <p:cNvPr id="8" name="Text 6"/>
          <p:cNvSpPr/>
          <p:nvPr/>
        </p:nvSpPr>
        <p:spPr>
          <a:xfrm>
            <a:off x="914400" y="3429000"/>
            <a:ext cx="2880360" cy="1554480"/>
          </a:xfrm>
          <a:prstGeom prst="rect">
            <a:avLst/>
          </a:prstGeom>
          <a:noFill/>
          <a:ln/>
        </p:spPr>
        <p:txBody>
          <a:bodyPr wrap="square" lIns="0" tIns="0" rIns="0" bIns="0" rtlCol="0" anchor="ctr"/>
          <a:lstStyle/>
          <a:p>
            <a:pPr marL="0" indent="0">
              <a:buNone/>
            </a:pPr>
            <a:r>
              <a:rPr lang="en-US" sz="1200" dirty="0">
                <a:solidFill>
                  <a:srgbClr val="575A5D"/>
                </a:solidFill>
                <a:latin typeface="Calibri" pitchFamily="34" charset="0"/>
                <a:ea typeface="Calibri" pitchFamily="34" charset="-122"/>
                <a:cs typeface="Calibri" pitchFamily="34" charset="-120"/>
              </a:rPr>
              <a:t>60% of SMB decision-makers say they'd switch to a community FI with comparable digital tools — trust already exists</a:t>
            </a:r>
            <a:endParaRPr lang="en-US" sz="1200" dirty="0"/>
          </a:p>
        </p:txBody>
      </p:sp>
      <p:sp>
        <p:nvSpPr>
          <p:cNvPr id="9" name="Shape 7"/>
          <p:cNvSpPr/>
          <p:nvPr/>
        </p:nvSpPr>
        <p:spPr>
          <a:xfrm>
            <a:off x="4389120" y="1920240"/>
            <a:ext cx="3429000" cy="3200400"/>
          </a:xfrm>
          <a:prstGeom prst="roundRect">
            <a:avLst>
              <a:gd name="adj" fmla="val 2286"/>
            </a:avLst>
          </a:prstGeom>
          <a:solidFill>
            <a:srgbClr val="E8F7F7"/>
          </a:solidFill>
          <a:ln/>
          <a:effectLst>
            <a:outerShdw blurRad="127000" dist="38100" dir="5400000" algn="bl" rotWithShape="0">
              <a:srgbClr val="1B1F3B">
                <a:alpha val="10000"/>
              </a:srgbClr>
            </a:outerShdw>
          </a:effectLst>
        </p:spPr>
        <p:txBody>
          <a:bodyPr/>
          <a:lstStyle/>
          <a:p>
            <a:endParaRPr lang="en-US"/>
          </a:p>
        </p:txBody>
      </p:sp>
      <p:sp>
        <p:nvSpPr>
          <p:cNvPr id="10" name="Shape 8"/>
          <p:cNvSpPr/>
          <p:nvPr/>
        </p:nvSpPr>
        <p:spPr>
          <a:xfrm>
            <a:off x="4663440" y="2194560"/>
            <a:ext cx="548640" cy="548640"/>
          </a:xfrm>
          <a:prstGeom prst="ellipse">
            <a:avLst/>
          </a:prstGeom>
          <a:solidFill>
            <a:srgbClr val="085CE5"/>
          </a:solidFill>
          <a:ln/>
        </p:spPr>
        <p:txBody>
          <a:bodyPr/>
          <a:lstStyle/>
          <a:p>
            <a:endParaRPr lang="en-US"/>
          </a:p>
        </p:txBody>
      </p:sp>
      <p:sp>
        <p:nvSpPr>
          <p:cNvPr id="11" name="Shape 9"/>
          <p:cNvSpPr/>
          <p:nvPr/>
        </p:nvSpPr>
        <p:spPr>
          <a:xfrm rot="5400000">
            <a:off x="4822546" y="2380254"/>
            <a:ext cx="230429" cy="161300"/>
          </a:xfrm>
          <a:prstGeom prst="chevron">
            <a:avLst/>
          </a:prstGeom>
          <a:solidFill>
            <a:srgbClr val="FFFFFF"/>
          </a:solidFill>
          <a:ln/>
        </p:spPr>
        <p:txBody>
          <a:bodyPr/>
          <a:lstStyle/>
          <a:p>
            <a:endParaRPr lang="en-US"/>
          </a:p>
        </p:txBody>
      </p:sp>
      <p:sp>
        <p:nvSpPr>
          <p:cNvPr id="12" name="Text 10"/>
          <p:cNvSpPr/>
          <p:nvPr/>
        </p:nvSpPr>
        <p:spPr>
          <a:xfrm>
            <a:off x="4663440" y="2926080"/>
            <a:ext cx="2880360" cy="457200"/>
          </a:xfrm>
          <a:prstGeom prst="rect">
            <a:avLst/>
          </a:prstGeom>
          <a:noFill/>
          <a:ln/>
        </p:spPr>
        <p:txBody>
          <a:bodyPr wrap="square" lIns="0" tIns="0" rIns="0" bIns="0" rtlCol="0" anchor="ctr"/>
          <a:lstStyle/>
          <a:p>
            <a:pPr marL="0" indent="0">
              <a:buNone/>
            </a:pPr>
            <a:r>
              <a:rPr lang="en-US" sz="1600" b="1" dirty="0">
                <a:solidFill>
                  <a:srgbClr val="06185F"/>
                </a:solidFill>
                <a:latin typeface="Arial" pitchFamily="34" charset="0"/>
                <a:ea typeface="Arial" pitchFamily="34" charset="-122"/>
                <a:cs typeface="Arial" pitchFamily="34" charset="-120"/>
              </a:rPr>
              <a:t>Approval advantage</a:t>
            </a:r>
            <a:endParaRPr lang="en-US" sz="1600" dirty="0"/>
          </a:p>
        </p:txBody>
      </p:sp>
      <p:sp>
        <p:nvSpPr>
          <p:cNvPr id="13" name="Text 11"/>
          <p:cNvSpPr/>
          <p:nvPr/>
        </p:nvSpPr>
        <p:spPr>
          <a:xfrm>
            <a:off x="4663440" y="3429000"/>
            <a:ext cx="2880360" cy="1554480"/>
          </a:xfrm>
          <a:prstGeom prst="rect">
            <a:avLst/>
          </a:prstGeom>
          <a:noFill/>
          <a:ln/>
        </p:spPr>
        <p:txBody>
          <a:bodyPr wrap="square" lIns="0" tIns="0" rIns="0" bIns="0" rtlCol="0" anchor="ctr"/>
          <a:lstStyle/>
          <a:p>
            <a:pPr marL="0" indent="0">
              <a:buNone/>
            </a:pPr>
            <a:r>
              <a:rPr lang="en-US" sz="1200" dirty="0">
                <a:solidFill>
                  <a:srgbClr val="575A5D"/>
                </a:solidFill>
                <a:latin typeface="Calibri" pitchFamily="34" charset="0"/>
                <a:ea typeface="Calibri" pitchFamily="34" charset="-122"/>
                <a:cs typeface="Calibri" pitchFamily="34" charset="-120"/>
              </a:rPr>
              <a:t>Community FIs approve 82% of SMB loan applications vs. 68% at large banks — the appetite is real, not just marketing</a:t>
            </a:r>
            <a:endParaRPr lang="en-US" sz="1200" dirty="0"/>
          </a:p>
        </p:txBody>
      </p:sp>
      <p:sp>
        <p:nvSpPr>
          <p:cNvPr id="14" name="Shape 12"/>
          <p:cNvSpPr/>
          <p:nvPr/>
        </p:nvSpPr>
        <p:spPr>
          <a:xfrm>
            <a:off x="8138160" y="1920240"/>
            <a:ext cx="3429000" cy="3200400"/>
          </a:xfrm>
          <a:prstGeom prst="roundRect">
            <a:avLst>
              <a:gd name="adj" fmla="val 2286"/>
            </a:avLst>
          </a:prstGeom>
          <a:solidFill>
            <a:srgbClr val="E8F7F7"/>
          </a:solidFill>
          <a:ln/>
          <a:effectLst>
            <a:outerShdw blurRad="127000" dist="38100" dir="5400000" algn="bl" rotWithShape="0">
              <a:srgbClr val="1B1F3B">
                <a:alpha val="10000"/>
              </a:srgbClr>
            </a:outerShdw>
          </a:effectLst>
        </p:spPr>
        <p:txBody>
          <a:bodyPr/>
          <a:lstStyle/>
          <a:p>
            <a:endParaRPr lang="en-US"/>
          </a:p>
        </p:txBody>
      </p:sp>
      <p:sp>
        <p:nvSpPr>
          <p:cNvPr id="15" name="Shape 13"/>
          <p:cNvSpPr/>
          <p:nvPr/>
        </p:nvSpPr>
        <p:spPr>
          <a:xfrm>
            <a:off x="8412480" y="2194560"/>
            <a:ext cx="548640" cy="548640"/>
          </a:xfrm>
          <a:prstGeom prst="ellipse">
            <a:avLst/>
          </a:prstGeom>
          <a:solidFill>
            <a:srgbClr val="085CE5"/>
          </a:solidFill>
          <a:ln/>
        </p:spPr>
        <p:txBody>
          <a:bodyPr/>
          <a:lstStyle/>
          <a:p>
            <a:endParaRPr lang="en-US"/>
          </a:p>
        </p:txBody>
      </p:sp>
      <p:sp>
        <p:nvSpPr>
          <p:cNvPr id="16" name="Shape 14"/>
          <p:cNvSpPr/>
          <p:nvPr/>
        </p:nvSpPr>
        <p:spPr>
          <a:xfrm>
            <a:off x="8571586" y="2353666"/>
            <a:ext cx="230429" cy="230429"/>
          </a:xfrm>
          <a:prstGeom prst="ellipse">
            <a:avLst/>
          </a:prstGeom>
          <a:ln w="38100">
            <a:solidFill>
              <a:srgbClr val="FFFFFF"/>
            </a:solidFill>
            <a:prstDash val="solid"/>
          </a:ln>
        </p:spPr>
        <p:txBody>
          <a:bodyPr/>
          <a:lstStyle/>
          <a:p>
            <a:endParaRPr lang="en-US"/>
          </a:p>
        </p:txBody>
      </p:sp>
      <p:sp>
        <p:nvSpPr>
          <p:cNvPr id="17" name="Shape 15"/>
          <p:cNvSpPr/>
          <p:nvPr/>
        </p:nvSpPr>
        <p:spPr>
          <a:xfrm>
            <a:off x="8654540" y="2436620"/>
            <a:ext cx="64520" cy="64520"/>
          </a:xfrm>
          <a:prstGeom prst="ellipse">
            <a:avLst/>
          </a:prstGeom>
          <a:solidFill>
            <a:srgbClr val="FFFFFF"/>
          </a:solidFill>
          <a:ln/>
        </p:spPr>
        <p:txBody>
          <a:bodyPr/>
          <a:lstStyle/>
          <a:p>
            <a:endParaRPr lang="en-US"/>
          </a:p>
        </p:txBody>
      </p:sp>
      <p:sp>
        <p:nvSpPr>
          <p:cNvPr id="18" name="Text 16"/>
          <p:cNvSpPr/>
          <p:nvPr/>
        </p:nvSpPr>
        <p:spPr>
          <a:xfrm>
            <a:off x="8412480" y="2926080"/>
            <a:ext cx="2880360" cy="457200"/>
          </a:xfrm>
          <a:prstGeom prst="rect">
            <a:avLst/>
          </a:prstGeom>
          <a:noFill/>
          <a:ln/>
        </p:spPr>
        <p:txBody>
          <a:bodyPr wrap="square" lIns="0" tIns="0" rIns="0" bIns="0" rtlCol="0" anchor="ctr"/>
          <a:lstStyle/>
          <a:p>
            <a:pPr marL="0" indent="0">
              <a:buNone/>
            </a:pPr>
            <a:r>
              <a:rPr lang="en-US" sz="1600" b="1" dirty="0">
                <a:solidFill>
                  <a:srgbClr val="06185F"/>
                </a:solidFill>
                <a:latin typeface="Arial" pitchFamily="34" charset="0"/>
                <a:ea typeface="Arial" pitchFamily="34" charset="-122"/>
                <a:cs typeface="Arial" pitchFamily="34" charset="-120"/>
              </a:rPr>
              <a:t>Shared infrastructure</a:t>
            </a:r>
            <a:endParaRPr lang="en-US" sz="1600" dirty="0"/>
          </a:p>
        </p:txBody>
      </p:sp>
      <p:sp>
        <p:nvSpPr>
          <p:cNvPr id="19" name="Text 17"/>
          <p:cNvSpPr/>
          <p:nvPr/>
        </p:nvSpPr>
        <p:spPr>
          <a:xfrm>
            <a:off x="8412480" y="3429000"/>
            <a:ext cx="2880360" cy="1554480"/>
          </a:xfrm>
          <a:prstGeom prst="rect">
            <a:avLst/>
          </a:prstGeom>
          <a:noFill/>
          <a:ln/>
        </p:spPr>
        <p:txBody>
          <a:bodyPr wrap="square" lIns="0" tIns="0" rIns="0" bIns="0" rtlCol="0" anchor="ctr"/>
          <a:lstStyle/>
          <a:p>
            <a:pPr marL="0" indent="0">
              <a:buNone/>
            </a:pPr>
            <a:r>
              <a:rPr lang="en-US" sz="1200" dirty="0">
                <a:solidFill>
                  <a:srgbClr val="575A5D"/>
                </a:solidFill>
                <a:latin typeface="Calibri" pitchFamily="34" charset="0"/>
                <a:ea typeface="Calibri" pitchFamily="34" charset="-122"/>
                <a:cs typeface="Calibri" pitchFamily="34" charset="-120"/>
              </a:rPr>
              <a:t>Nearly 1,000 community and regional institutions run on Jack Henry core, with Banno Business named a market leader in digital small-business banking</a:t>
            </a:r>
            <a:endParaRPr lang="en-US" sz="1200" dirty="0"/>
          </a:p>
        </p:txBody>
      </p:sp>
      <p:sp>
        <p:nvSpPr>
          <p:cNvPr id="20" name="Text 18"/>
          <p:cNvSpPr/>
          <p:nvPr/>
        </p:nvSpPr>
        <p:spPr>
          <a:xfrm>
            <a:off x="640080" y="5257800"/>
            <a:ext cx="10058400" cy="274320"/>
          </a:xfrm>
          <a:prstGeom prst="rect">
            <a:avLst/>
          </a:prstGeom>
          <a:noFill/>
          <a:ln/>
        </p:spPr>
        <p:txBody>
          <a:bodyPr wrap="square" lIns="0" tIns="0" rIns="0" bIns="0" rtlCol="0" anchor="ctr"/>
          <a:lstStyle/>
          <a:p>
            <a:pPr marL="0" indent="0">
              <a:buNone/>
            </a:pPr>
            <a:r>
              <a:rPr lang="en-US" sz="950" i="1" dirty="0">
                <a:solidFill>
                  <a:srgbClr val="B6BBC0"/>
                </a:solidFill>
                <a:latin typeface="Calibri" pitchFamily="34" charset="0"/>
                <a:ea typeface="Calibri" pitchFamily="34" charset="-122"/>
                <a:cs typeface="Calibri" pitchFamily="34" charset="-120"/>
              </a:rPr>
              <a:t>Source: Datos Insights, 2025 digital small-business banking market recognition.</a:t>
            </a:r>
            <a:endParaRPr lang="en-US" sz="950" dirty="0"/>
          </a:p>
        </p:txBody>
      </p:sp>
      <p:sp>
        <p:nvSpPr>
          <p:cNvPr id="21" name="Text 19"/>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900" dirty="0">
                <a:solidFill>
                  <a:srgbClr val="B6BBC0"/>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5486400" cy="320040"/>
          </a:xfrm>
          <a:prstGeom prst="rect">
            <a:avLst/>
          </a:prstGeom>
          <a:noFill/>
          <a:ln/>
        </p:spPr>
        <p:txBody>
          <a:bodyPr wrap="square" lIns="0" tIns="0" rIns="0" bIns="0" rtlCol="0" anchor="ctr"/>
          <a:lstStyle/>
          <a:p>
            <a:pPr marL="0" indent="0" algn="l">
              <a:buNone/>
            </a:pPr>
            <a:r>
              <a:rPr lang="en-US" sz="1200" b="1" kern="0" spc="200" dirty="0">
                <a:solidFill>
                  <a:srgbClr val="085CE5"/>
                </a:solidFill>
                <a:latin typeface="Calibri" pitchFamily="34" charset="0"/>
                <a:ea typeface="Calibri" pitchFamily="34" charset="-122"/>
                <a:cs typeface="Calibri" pitchFamily="34" charset="-120"/>
              </a:rPr>
              <a:t>THE ROADMAP</a:t>
            </a:r>
            <a:endParaRPr lang="en-US" sz="1200" dirty="0"/>
          </a:p>
        </p:txBody>
      </p:sp>
      <p:sp>
        <p:nvSpPr>
          <p:cNvPr id="3" name="Text 1"/>
          <p:cNvSpPr/>
          <p:nvPr/>
        </p:nvSpPr>
        <p:spPr>
          <a:xfrm>
            <a:off x="640080" y="822960"/>
            <a:ext cx="7315200" cy="731520"/>
          </a:xfrm>
          <a:prstGeom prst="rect">
            <a:avLst/>
          </a:prstGeom>
          <a:noFill/>
          <a:ln/>
        </p:spPr>
        <p:txBody>
          <a:bodyPr wrap="square" lIns="0" tIns="0" rIns="0" bIns="0" rtlCol="0" anchor="ctr"/>
          <a:lstStyle/>
          <a:p>
            <a:pPr marL="0" indent="0">
              <a:buNone/>
            </a:pPr>
            <a:r>
              <a:rPr lang="en-US" sz="3000" b="1" dirty="0">
                <a:solidFill>
                  <a:srgbClr val="06185F"/>
                </a:solidFill>
                <a:latin typeface="Arial" pitchFamily="34" charset="0"/>
                <a:ea typeface="Arial" pitchFamily="34" charset="-122"/>
                <a:cs typeface="Arial" pitchFamily="34" charset="-120"/>
              </a:rPr>
              <a:t>Crawl, walk, run</a:t>
            </a:r>
            <a:endParaRPr lang="en-US" sz="3000" dirty="0"/>
          </a:p>
        </p:txBody>
      </p:sp>
      <p:sp>
        <p:nvSpPr>
          <p:cNvPr id="4" name="Shape 2"/>
          <p:cNvSpPr/>
          <p:nvPr/>
        </p:nvSpPr>
        <p:spPr>
          <a:xfrm>
            <a:off x="640080" y="2011680"/>
            <a:ext cx="2514600" cy="3383280"/>
          </a:xfrm>
          <a:prstGeom prst="roundRect">
            <a:avLst>
              <a:gd name="adj" fmla="val 2909"/>
            </a:avLst>
          </a:prstGeom>
          <a:solidFill>
            <a:srgbClr val="E8F7F7"/>
          </a:solidFill>
          <a:ln/>
          <a:effectLst>
            <a:outerShdw blurRad="127000" dist="38100" dir="5400000" algn="bl" rotWithShape="0">
              <a:srgbClr val="1B1F3B">
                <a:alpha val="10000"/>
              </a:srgbClr>
            </a:outerShdw>
          </a:effectLst>
        </p:spPr>
        <p:txBody>
          <a:bodyPr/>
          <a:lstStyle/>
          <a:p>
            <a:endParaRPr lang="en-US"/>
          </a:p>
        </p:txBody>
      </p:sp>
      <p:sp>
        <p:nvSpPr>
          <p:cNvPr id="5" name="Text 3"/>
          <p:cNvSpPr/>
          <p:nvPr/>
        </p:nvSpPr>
        <p:spPr>
          <a:xfrm>
            <a:off x="868680" y="2240280"/>
            <a:ext cx="2057400" cy="320040"/>
          </a:xfrm>
          <a:prstGeom prst="rect">
            <a:avLst/>
          </a:prstGeom>
          <a:noFill/>
          <a:ln/>
        </p:spPr>
        <p:txBody>
          <a:bodyPr wrap="square" lIns="0" tIns="0" rIns="0" bIns="0" rtlCol="0" anchor="ctr"/>
          <a:lstStyle/>
          <a:p>
            <a:pPr marL="0" indent="0">
              <a:buNone/>
            </a:pPr>
            <a:r>
              <a:rPr lang="en-US" sz="1100" b="1" kern="0" spc="150" dirty="0">
                <a:solidFill>
                  <a:srgbClr val="085CE5"/>
                </a:solidFill>
                <a:latin typeface="Calibri" pitchFamily="34" charset="0"/>
                <a:ea typeface="Calibri" pitchFamily="34" charset="-122"/>
                <a:cs typeface="Calibri" pitchFamily="34" charset="-120"/>
              </a:rPr>
              <a:t>Phase 1</a:t>
            </a:r>
            <a:endParaRPr lang="en-US" sz="1100" dirty="0"/>
          </a:p>
        </p:txBody>
      </p:sp>
      <p:sp>
        <p:nvSpPr>
          <p:cNvPr id="6" name="Text 4"/>
          <p:cNvSpPr/>
          <p:nvPr/>
        </p:nvSpPr>
        <p:spPr>
          <a:xfrm>
            <a:off x="868680" y="2606040"/>
            <a:ext cx="2057400" cy="914400"/>
          </a:xfrm>
          <a:prstGeom prst="rect">
            <a:avLst/>
          </a:prstGeom>
          <a:noFill/>
          <a:ln/>
        </p:spPr>
        <p:txBody>
          <a:bodyPr wrap="square" lIns="0" tIns="0" rIns="0" bIns="0" rtlCol="0" anchor="ctr"/>
          <a:lstStyle/>
          <a:p>
            <a:pPr marL="0" indent="0">
              <a:buNone/>
            </a:pPr>
            <a:r>
              <a:rPr lang="en-US" sz="1500" b="1" dirty="0">
                <a:solidFill>
                  <a:srgbClr val="06185F"/>
                </a:solidFill>
                <a:latin typeface="Arial" pitchFamily="34" charset="0"/>
                <a:ea typeface="Arial" pitchFamily="34" charset="-122"/>
                <a:cs typeface="Arial" pitchFamily="34" charset="-120"/>
              </a:rPr>
              <a:t>Data Foundation &amp; Churn Pilot</a:t>
            </a:r>
            <a:endParaRPr lang="en-US" sz="1500" dirty="0"/>
          </a:p>
        </p:txBody>
      </p:sp>
      <p:sp>
        <p:nvSpPr>
          <p:cNvPr id="7" name="Text 5"/>
          <p:cNvSpPr/>
          <p:nvPr/>
        </p:nvSpPr>
        <p:spPr>
          <a:xfrm>
            <a:off x="868680" y="3611880"/>
            <a:ext cx="2057400" cy="1645920"/>
          </a:xfrm>
          <a:prstGeom prst="rect">
            <a:avLst/>
          </a:prstGeom>
          <a:noFill/>
          <a:ln/>
        </p:spPr>
        <p:txBody>
          <a:bodyPr wrap="square" lIns="0" tIns="0" rIns="0" bIns="0" rtlCol="0" anchor="ctr"/>
          <a:lstStyle/>
          <a:p>
            <a:pPr marL="0" indent="0">
              <a:buNone/>
            </a:pPr>
            <a:r>
              <a:rPr lang="en-US" sz="1150" dirty="0">
                <a:solidFill>
                  <a:srgbClr val="575A5D"/>
                </a:solidFill>
                <a:latin typeface="Calibri" pitchFamily="34" charset="0"/>
                <a:ea typeface="Calibri" pitchFamily="34" charset="-122"/>
                <a:cs typeface="Calibri" pitchFamily="34" charset="-120"/>
              </a:rPr>
              <a:t>Consolidate the five data domains; ship a first churn model on a limited segment</a:t>
            </a:r>
            <a:endParaRPr lang="en-US" sz="1150" dirty="0"/>
          </a:p>
        </p:txBody>
      </p:sp>
      <p:sp>
        <p:nvSpPr>
          <p:cNvPr id="8" name="Shape 6"/>
          <p:cNvSpPr/>
          <p:nvPr/>
        </p:nvSpPr>
        <p:spPr>
          <a:xfrm>
            <a:off x="3191256" y="3566160"/>
            <a:ext cx="237744" cy="256032"/>
          </a:xfrm>
          <a:prstGeom prst="rightArrow">
            <a:avLst/>
          </a:prstGeom>
          <a:solidFill>
            <a:srgbClr val="085CE5"/>
          </a:solidFill>
          <a:ln/>
        </p:spPr>
        <p:txBody>
          <a:bodyPr/>
          <a:lstStyle/>
          <a:p>
            <a:endParaRPr lang="en-US"/>
          </a:p>
        </p:txBody>
      </p:sp>
      <p:sp>
        <p:nvSpPr>
          <p:cNvPr id="9" name="Shape 7"/>
          <p:cNvSpPr/>
          <p:nvPr/>
        </p:nvSpPr>
        <p:spPr>
          <a:xfrm>
            <a:off x="3447288" y="2011680"/>
            <a:ext cx="2514600" cy="3383280"/>
          </a:xfrm>
          <a:prstGeom prst="roundRect">
            <a:avLst>
              <a:gd name="adj" fmla="val 2909"/>
            </a:avLst>
          </a:prstGeom>
          <a:solidFill>
            <a:srgbClr val="E7ECF0"/>
          </a:solidFill>
          <a:ln/>
          <a:effectLst>
            <a:outerShdw blurRad="127000" dist="38100" dir="5400000" algn="bl" rotWithShape="0">
              <a:srgbClr val="1B1F3B">
                <a:alpha val="10000"/>
              </a:srgbClr>
            </a:outerShdw>
          </a:effectLst>
        </p:spPr>
        <p:txBody>
          <a:bodyPr/>
          <a:lstStyle/>
          <a:p>
            <a:endParaRPr lang="en-US"/>
          </a:p>
        </p:txBody>
      </p:sp>
      <p:sp>
        <p:nvSpPr>
          <p:cNvPr id="10" name="Text 8"/>
          <p:cNvSpPr/>
          <p:nvPr/>
        </p:nvSpPr>
        <p:spPr>
          <a:xfrm>
            <a:off x="3675888" y="2240280"/>
            <a:ext cx="2057400" cy="320040"/>
          </a:xfrm>
          <a:prstGeom prst="rect">
            <a:avLst/>
          </a:prstGeom>
          <a:noFill/>
          <a:ln/>
        </p:spPr>
        <p:txBody>
          <a:bodyPr wrap="square" lIns="0" tIns="0" rIns="0" bIns="0" rtlCol="0" anchor="ctr"/>
          <a:lstStyle/>
          <a:p>
            <a:pPr marL="0" indent="0">
              <a:buNone/>
            </a:pPr>
            <a:r>
              <a:rPr lang="en-US" sz="1100" b="1" kern="0" spc="150" dirty="0">
                <a:solidFill>
                  <a:srgbClr val="085CE5"/>
                </a:solidFill>
                <a:latin typeface="Calibri" pitchFamily="34" charset="0"/>
                <a:ea typeface="Calibri" pitchFamily="34" charset="-122"/>
                <a:cs typeface="Calibri" pitchFamily="34" charset="-120"/>
              </a:rPr>
              <a:t>Phase 2</a:t>
            </a:r>
            <a:endParaRPr lang="en-US" sz="1100" dirty="0"/>
          </a:p>
        </p:txBody>
      </p:sp>
      <p:sp>
        <p:nvSpPr>
          <p:cNvPr id="11" name="Text 9"/>
          <p:cNvSpPr/>
          <p:nvPr/>
        </p:nvSpPr>
        <p:spPr>
          <a:xfrm>
            <a:off x="3675888" y="2606040"/>
            <a:ext cx="2057400" cy="914400"/>
          </a:xfrm>
          <a:prstGeom prst="rect">
            <a:avLst/>
          </a:prstGeom>
          <a:noFill/>
          <a:ln/>
        </p:spPr>
        <p:txBody>
          <a:bodyPr wrap="square" lIns="0" tIns="0" rIns="0" bIns="0" rtlCol="0" anchor="ctr"/>
          <a:lstStyle/>
          <a:p>
            <a:pPr marL="0" indent="0">
              <a:buNone/>
            </a:pPr>
            <a:r>
              <a:rPr lang="en-US" sz="1500" b="1" dirty="0">
                <a:solidFill>
                  <a:srgbClr val="06185F"/>
                </a:solidFill>
                <a:latin typeface="Arial" pitchFamily="34" charset="0"/>
                <a:ea typeface="Arial" pitchFamily="34" charset="-122"/>
                <a:cs typeface="Arial" pitchFamily="34" charset="-120"/>
              </a:rPr>
              <a:t>Explainability &amp; Governance</a:t>
            </a:r>
            <a:endParaRPr lang="en-US" sz="1500" dirty="0"/>
          </a:p>
        </p:txBody>
      </p:sp>
      <p:sp>
        <p:nvSpPr>
          <p:cNvPr id="12" name="Text 10"/>
          <p:cNvSpPr/>
          <p:nvPr/>
        </p:nvSpPr>
        <p:spPr>
          <a:xfrm>
            <a:off x="3675888" y="3611880"/>
            <a:ext cx="2057400" cy="1645920"/>
          </a:xfrm>
          <a:prstGeom prst="rect">
            <a:avLst/>
          </a:prstGeom>
          <a:noFill/>
          <a:ln/>
        </p:spPr>
        <p:txBody>
          <a:bodyPr wrap="square" lIns="0" tIns="0" rIns="0" bIns="0" rtlCol="0" anchor="ctr"/>
          <a:lstStyle/>
          <a:p>
            <a:pPr marL="0" indent="0">
              <a:buNone/>
            </a:pPr>
            <a:r>
              <a:rPr lang="en-US" sz="1150" dirty="0">
                <a:solidFill>
                  <a:srgbClr val="575A5D"/>
                </a:solidFill>
                <a:latin typeface="Calibri" pitchFamily="34" charset="0"/>
                <a:ea typeface="Calibri" pitchFamily="34" charset="-122"/>
                <a:cs typeface="Calibri" pitchFamily="34" charset="-120"/>
              </a:rPr>
              <a:t>Stand up the TreeSHAP layer and SR 11-7-aligned documentation for that model</a:t>
            </a:r>
            <a:endParaRPr lang="en-US" sz="1150" dirty="0"/>
          </a:p>
        </p:txBody>
      </p:sp>
      <p:sp>
        <p:nvSpPr>
          <p:cNvPr id="13" name="Shape 11"/>
          <p:cNvSpPr/>
          <p:nvPr/>
        </p:nvSpPr>
        <p:spPr>
          <a:xfrm>
            <a:off x="5998464" y="3566160"/>
            <a:ext cx="237744" cy="256032"/>
          </a:xfrm>
          <a:prstGeom prst="rightArrow">
            <a:avLst/>
          </a:prstGeom>
          <a:solidFill>
            <a:srgbClr val="085CE5"/>
          </a:solidFill>
          <a:ln/>
        </p:spPr>
        <p:txBody>
          <a:bodyPr/>
          <a:lstStyle/>
          <a:p>
            <a:endParaRPr lang="en-US"/>
          </a:p>
        </p:txBody>
      </p:sp>
      <p:sp>
        <p:nvSpPr>
          <p:cNvPr id="14" name="Shape 12"/>
          <p:cNvSpPr/>
          <p:nvPr/>
        </p:nvSpPr>
        <p:spPr>
          <a:xfrm>
            <a:off x="6254496" y="2011680"/>
            <a:ext cx="2514600" cy="3383280"/>
          </a:xfrm>
          <a:prstGeom prst="roundRect">
            <a:avLst>
              <a:gd name="adj" fmla="val 2909"/>
            </a:avLst>
          </a:prstGeom>
          <a:solidFill>
            <a:srgbClr val="E8F7F7"/>
          </a:solidFill>
          <a:ln/>
          <a:effectLst>
            <a:outerShdw blurRad="127000" dist="38100" dir="5400000" algn="bl" rotWithShape="0">
              <a:srgbClr val="1B1F3B">
                <a:alpha val="10000"/>
              </a:srgbClr>
            </a:outerShdw>
          </a:effectLst>
        </p:spPr>
        <p:txBody>
          <a:bodyPr/>
          <a:lstStyle/>
          <a:p>
            <a:endParaRPr lang="en-US"/>
          </a:p>
        </p:txBody>
      </p:sp>
      <p:sp>
        <p:nvSpPr>
          <p:cNvPr id="15" name="Text 13"/>
          <p:cNvSpPr/>
          <p:nvPr/>
        </p:nvSpPr>
        <p:spPr>
          <a:xfrm>
            <a:off x="6483096" y="2240280"/>
            <a:ext cx="2057400" cy="320040"/>
          </a:xfrm>
          <a:prstGeom prst="rect">
            <a:avLst/>
          </a:prstGeom>
          <a:noFill/>
          <a:ln/>
        </p:spPr>
        <p:txBody>
          <a:bodyPr wrap="square" lIns="0" tIns="0" rIns="0" bIns="0" rtlCol="0" anchor="ctr"/>
          <a:lstStyle/>
          <a:p>
            <a:pPr marL="0" indent="0">
              <a:buNone/>
            </a:pPr>
            <a:r>
              <a:rPr lang="en-US" sz="1100" b="1" kern="0" spc="150" dirty="0">
                <a:solidFill>
                  <a:srgbClr val="085CE5"/>
                </a:solidFill>
                <a:latin typeface="Calibri" pitchFamily="34" charset="0"/>
                <a:ea typeface="Calibri" pitchFamily="34" charset="-122"/>
                <a:cs typeface="Calibri" pitchFamily="34" charset="-120"/>
              </a:rPr>
              <a:t>Phase 3</a:t>
            </a:r>
            <a:endParaRPr lang="en-US" sz="1100" dirty="0"/>
          </a:p>
        </p:txBody>
      </p:sp>
      <p:sp>
        <p:nvSpPr>
          <p:cNvPr id="16" name="Text 14"/>
          <p:cNvSpPr/>
          <p:nvPr/>
        </p:nvSpPr>
        <p:spPr>
          <a:xfrm>
            <a:off x="6483096" y="2606040"/>
            <a:ext cx="2057400" cy="914400"/>
          </a:xfrm>
          <a:prstGeom prst="rect">
            <a:avLst/>
          </a:prstGeom>
          <a:noFill/>
          <a:ln/>
        </p:spPr>
        <p:txBody>
          <a:bodyPr wrap="square" lIns="0" tIns="0" rIns="0" bIns="0" rtlCol="0" anchor="ctr"/>
          <a:lstStyle/>
          <a:p>
            <a:pPr marL="0" indent="0">
              <a:buNone/>
            </a:pPr>
            <a:r>
              <a:rPr lang="en-US" sz="1500" b="1" dirty="0">
                <a:solidFill>
                  <a:srgbClr val="06185F"/>
                </a:solidFill>
                <a:latin typeface="Arial" pitchFamily="34" charset="0"/>
                <a:ea typeface="Arial" pitchFamily="34" charset="-122"/>
                <a:cs typeface="Arial" pitchFamily="34" charset="-120"/>
              </a:rPr>
              <a:t>Personal-to-Commercial Pilot</a:t>
            </a:r>
            <a:endParaRPr lang="en-US" sz="1500" dirty="0"/>
          </a:p>
        </p:txBody>
      </p:sp>
      <p:sp>
        <p:nvSpPr>
          <p:cNvPr id="17" name="Text 15"/>
          <p:cNvSpPr/>
          <p:nvPr/>
        </p:nvSpPr>
        <p:spPr>
          <a:xfrm>
            <a:off x="6483096" y="3611880"/>
            <a:ext cx="2057400" cy="1645920"/>
          </a:xfrm>
          <a:prstGeom prst="rect">
            <a:avLst/>
          </a:prstGeom>
          <a:noFill/>
          <a:ln/>
        </p:spPr>
        <p:txBody>
          <a:bodyPr wrap="square" lIns="0" tIns="0" rIns="0" bIns="0" rtlCol="0" anchor="ctr"/>
          <a:lstStyle/>
          <a:p>
            <a:pPr marL="0" indent="0">
              <a:buNone/>
            </a:pPr>
            <a:r>
              <a:rPr lang="en-US" sz="1150" dirty="0">
                <a:solidFill>
                  <a:srgbClr val="575A5D"/>
                </a:solidFill>
                <a:latin typeface="Calibri" pitchFamily="34" charset="0"/>
                <a:ea typeface="Calibri" pitchFamily="34" charset="-122"/>
                <a:cs typeface="Calibri" pitchFamily="34" charset="-120"/>
              </a:rPr>
              <a:t>Reuse the pipeline; add business-signal features and the blended propensity model</a:t>
            </a:r>
            <a:endParaRPr lang="en-US" sz="1150" dirty="0"/>
          </a:p>
        </p:txBody>
      </p:sp>
      <p:sp>
        <p:nvSpPr>
          <p:cNvPr id="18" name="Shape 16"/>
          <p:cNvSpPr/>
          <p:nvPr/>
        </p:nvSpPr>
        <p:spPr>
          <a:xfrm>
            <a:off x="8805672" y="3566160"/>
            <a:ext cx="237744" cy="256032"/>
          </a:xfrm>
          <a:prstGeom prst="rightArrow">
            <a:avLst/>
          </a:prstGeom>
          <a:solidFill>
            <a:srgbClr val="085CE5"/>
          </a:solidFill>
          <a:ln/>
        </p:spPr>
        <p:txBody>
          <a:bodyPr/>
          <a:lstStyle/>
          <a:p>
            <a:endParaRPr lang="en-US"/>
          </a:p>
        </p:txBody>
      </p:sp>
      <p:sp>
        <p:nvSpPr>
          <p:cNvPr id="19" name="Shape 17"/>
          <p:cNvSpPr/>
          <p:nvPr/>
        </p:nvSpPr>
        <p:spPr>
          <a:xfrm>
            <a:off x="9061704" y="2011680"/>
            <a:ext cx="2514600" cy="3383280"/>
          </a:xfrm>
          <a:prstGeom prst="roundRect">
            <a:avLst>
              <a:gd name="adj" fmla="val 2909"/>
            </a:avLst>
          </a:prstGeom>
          <a:solidFill>
            <a:srgbClr val="E7ECF0"/>
          </a:solidFill>
          <a:ln/>
          <a:effectLst>
            <a:outerShdw blurRad="127000" dist="38100" dir="5400000" algn="bl" rotWithShape="0">
              <a:srgbClr val="1B1F3B">
                <a:alpha val="10000"/>
              </a:srgbClr>
            </a:outerShdw>
          </a:effectLst>
        </p:spPr>
        <p:txBody>
          <a:bodyPr/>
          <a:lstStyle/>
          <a:p>
            <a:endParaRPr lang="en-US"/>
          </a:p>
        </p:txBody>
      </p:sp>
      <p:sp>
        <p:nvSpPr>
          <p:cNvPr id="20" name="Text 18"/>
          <p:cNvSpPr/>
          <p:nvPr/>
        </p:nvSpPr>
        <p:spPr>
          <a:xfrm>
            <a:off x="9290304" y="2240280"/>
            <a:ext cx="2057400" cy="320040"/>
          </a:xfrm>
          <a:prstGeom prst="rect">
            <a:avLst/>
          </a:prstGeom>
          <a:noFill/>
          <a:ln/>
        </p:spPr>
        <p:txBody>
          <a:bodyPr wrap="square" lIns="0" tIns="0" rIns="0" bIns="0" rtlCol="0" anchor="ctr"/>
          <a:lstStyle/>
          <a:p>
            <a:pPr marL="0" indent="0">
              <a:buNone/>
            </a:pPr>
            <a:r>
              <a:rPr lang="en-US" sz="1100" b="1" kern="0" spc="150" dirty="0">
                <a:solidFill>
                  <a:srgbClr val="085CE5"/>
                </a:solidFill>
                <a:latin typeface="Calibri" pitchFamily="34" charset="0"/>
                <a:ea typeface="Calibri" pitchFamily="34" charset="-122"/>
                <a:cs typeface="Calibri" pitchFamily="34" charset="-120"/>
              </a:rPr>
              <a:t>Phase 4</a:t>
            </a:r>
            <a:endParaRPr lang="en-US" sz="1100" dirty="0"/>
          </a:p>
        </p:txBody>
      </p:sp>
      <p:sp>
        <p:nvSpPr>
          <p:cNvPr id="21" name="Text 19"/>
          <p:cNvSpPr/>
          <p:nvPr/>
        </p:nvSpPr>
        <p:spPr>
          <a:xfrm>
            <a:off x="9290304" y="2606040"/>
            <a:ext cx="2057400" cy="914400"/>
          </a:xfrm>
          <a:prstGeom prst="rect">
            <a:avLst/>
          </a:prstGeom>
          <a:noFill/>
          <a:ln/>
        </p:spPr>
        <p:txBody>
          <a:bodyPr wrap="square" lIns="0" tIns="0" rIns="0" bIns="0" rtlCol="0" anchor="ctr"/>
          <a:lstStyle/>
          <a:p>
            <a:pPr marL="0" indent="0">
              <a:buNone/>
            </a:pPr>
            <a:r>
              <a:rPr lang="en-US" sz="1500" b="1" dirty="0">
                <a:solidFill>
                  <a:srgbClr val="06185F"/>
                </a:solidFill>
                <a:latin typeface="Arial" pitchFamily="34" charset="0"/>
                <a:ea typeface="Arial" pitchFamily="34" charset="-122"/>
                <a:cs typeface="Arial" pitchFamily="34" charset="-120"/>
              </a:rPr>
              <a:t>Unified Offer Optimization</a:t>
            </a:r>
            <a:endParaRPr lang="en-US" sz="1500" dirty="0"/>
          </a:p>
        </p:txBody>
      </p:sp>
      <p:sp>
        <p:nvSpPr>
          <p:cNvPr id="22" name="Text 20"/>
          <p:cNvSpPr/>
          <p:nvPr/>
        </p:nvSpPr>
        <p:spPr>
          <a:xfrm>
            <a:off x="9290304" y="3611880"/>
            <a:ext cx="2057400" cy="1645920"/>
          </a:xfrm>
          <a:prstGeom prst="rect">
            <a:avLst/>
          </a:prstGeom>
          <a:noFill/>
          <a:ln/>
        </p:spPr>
        <p:txBody>
          <a:bodyPr wrap="square" lIns="0" tIns="0" rIns="0" bIns="0" rtlCol="0" anchor="ctr"/>
          <a:lstStyle/>
          <a:p>
            <a:pPr marL="0" indent="0">
              <a:buNone/>
            </a:pPr>
            <a:r>
              <a:rPr lang="en-US" sz="1150" dirty="0">
                <a:solidFill>
                  <a:srgbClr val="575A5D"/>
                </a:solidFill>
                <a:latin typeface="Calibri" pitchFamily="34" charset="0"/>
                <a:ea typeface="Calibri" pitchFamily="34" charset="-122"/>
                <a:cs typeface="Calibri" pitchFamily="34" charset="-120"/>
              </a:rPr>
              <a:t>One ranking engine drives retention and conversion offers across both use cases at scale</a:t>
            </a:r>
            <a:endParaRPr lang="en-US" sz="1150" dirty="0"/>
          </a:p>
        </p:txBody>
      </p:sp>
      <p:sp>
        <p:nvSpPr>
          <p:cNvPr id="23" name="Text 21"/>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900" dirty="0">
                <a:solidFill>
                  <a:srgbClr val="B6BBC0"/>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5486400" cy="320040"/>
          </a:xfrm>
          <a:prstGeom prst="rect">
            <a:avLst/>
          </a:prstGeom>
          <a:noFill/>
          <a:ln/>
        </p:spPr>
        <p:txBody>
          <a:bodyPr wrap="square" lIns="0" tIns="0" rIns="0" bIns="0" rtlCol="0" anchor="ctr"/>
          <a:lstStyle/>
          <a:p>
            <a:pPr marL="0" indent="0" algn="l">
              <a:buNone/>
            </a:pPr>
            <a:r>
              <a:rPr lang="en-US" sz="1200" b="1" kern="0" spc="200" dirty="0">
                <a:solidFill>
                  <a:srgbClr val="085CE5"/>
                </a:solidFill>
                <a:latin typeface="Calibri" pitchFamily="34" charset="0"/>
                <a:ea typeface="Calibri" pitchFamily="34" charset="-122"/>
                <a:cs typeface="Calibri" pitchFamily="34" charset="-120"/>
              </a:rPr>
              <a:t>GUARDRAILS</a:t>
            </a:r>
            <a:endParaRPr lang="en-US" sz="1200" dirty="0"/>
          </a:p>
        </p:txBody>
      </p:sp>
      <p:sp>
        <p:nvSpPr>
          <p:cNvPr id="3" name="Text 1"/>
          <p:cNvSpPr/>
          <p:nvPr/>
        </p:nvSpPr>
        <p:spPr>
          <a:xfrm>
            <a:off x="640080" y="822960"/>
            <a:ext cx="9144000" cy="731520"/>
          </a:xfrm>
          <a:prstGeom prst="rect">
            <a:avLst/>
          </a:prstGeom>
          <a:noFill/>
          <a:ln/>
        </p:spPr>
        <p:txBody>
          <a:bodyPr wrap="square" lIns="0" tIns="0" rIns="0" bIns="0" rtlCol="0" anchor="ctr"/>
          <a:lstStyle/>
          <a:p>
            <a:pPr marL="0" indent="0">
              <a:buNone/>
            </a:pPr>
            <a:r>
              <a:rPr lang="en-US" sz="2800" b="1" dirty="0">
                <a:solidFill>
                  <a:srgbClr val="06185F"/>
                </a:solidFill>
                <a:latin typeface="Arial" pitchFamily="34" charset="0"/>
                <a:ea typeface="Arial" pitchFamily="34" charset="-122"/>
                <a:cs typeface="Arial" pitchFamily="34" charset="-120"/>
              </a:rPr>
              <a:t>What to get right from day one</a:t>
            </a:r>
            <a:endParaRPr lang="en-US" sz="2800" dirty="0"/>
          </a:p>
        </p:txBody>
      </p:sp>
      <p:sp>
        <p:nvSpPr>
          <p:cNvPr id="4" name="Shape 2"/>
          <p:cNvSpPr/>
          <p:nvPr/>
        </p:nvSpPr>
        <p:spPr>
          <a:xfrm>
            <a:off x="640080" y="1920240"/>
            <a:ext cx="5212080" cy="1645920"/>
          </a:xfrm>
          <a:prstGeom prst="roundRect">
            <a:avLst>
              <a:gd name="adj" fmla="val 4444"/>
            </a:avLst>
          </a:prstGeom>
          <a:solidFill>
            <a:srgbClr val="E8F7F7"/>
          </a:solidFill>
          <a:ln/>
          <a:effectLst>
            <a:outerShdw blurRad="127000" dist="38100" dir="5400000" algn="bl" rotWithShape="0">
              <a:srgbClr val="1B1F3B">
                <a:alpha val="10000"/>
              </a:srgbClr>
            </a:outerShdw>
          </a:effectLst>
        </p:spPr>
        <p:txBody>
          <a:bodyPr/>
          <a:lstStyle/>
          <a:p>
            <a:endParaRPr lang="en-US"/>
          </a:p>
        </p:txBody>
      </p:sp>
      <p:sp>
        <p:nvSpPr>
          <p:cNvPr id="5" name="Shape 3"/>
          <p:cNvSpPr/>
          <p:nvPr/>
        </p:nvSpPr>
        <p:spPr>
          <a:xfrm>
            <a:off x="914400" y="2176272"/>
            <a:ext cx="502920" cy="502920"/>
          </a:xfrm>
          <a:prstGeom prst="ellipse">
            <a:avLst/>
          </a:prstGeom>
          <a:solidFill>
            <a:srgbClr val="085CE5"/>
          </a:solidFill>
          <a:ln/>
        </p:spPr>
        <p:txBody>
          <a:bodyPr/>
          <a:lstStyle/>
          <a:p>
            <a:endParaRPr lang="en-US"/>
          </a:p>
        </p:txBody>
      </p:sp>
      <p:sp>
        <p:nvSpPr>
          <p:cNvPr id="6" name="Shape 4"/>
          <p:cNvSpPr/>
          <p:nvPr/>
        </p:nvSpPr>
        <p:spPr>
          <a:xfrm>
            <a:off x="1060247" y="2322119"/>
            <a:ext cx="211226" cy="211226"/>
          </a:xfrm>
          <a:prstGeom prst="ellipse">
            <a:avLst/>
          </a:prstGeom>
          <a:ln w="31750">
            <a:solidFill>
              <a:srgbClr val="FFFFFF"/>
            </a:solidFill>
            <a:prstDash val="solid"/>
          </a:ln>
        </p:spPr>
        <p:txBody>
          <a:bodyPr/>
          <a:lstStyle/>
          <a:p>
            <a:endParaRPr lang="en-US"/>
          </a:p>
        </p:txBody>
      </p:sp>
      <p:sp>
        <p:nvSpPr>
          <p:cNvPr id="7" name="Text 5"/>
          <p:cNvSpPr/>
          <p:nvPr/>
        </p:nvSpPr>
        <p:spPr>
          <a:xfrm>
            <a:off x="1600200" y="2103120"/>
            <a:ext cx="4023360" cy="365760"/>
          </a:xfrm>
          <a:prstGeom prst="rect">
            <a:avLst/>
          </a:prstGeom>
          <a:noFill/>
          <a:ln/>
        </p:spPr>
        <p:txBody>
          <a:bodyPr wrap="square" lIns="0" tIns="0" rIns="0" bIns="0" rtlCol="0" anchor="ctr"/>
          <a:lstStyle/>
          <a:p>
            <a:pPr marL="0" indent="0">
              <a:buNone/>
            </a:pPr>
            <a:r>
              <a:rPr lang="en-US" sz="1450" b="1" dirty="0">
                <a:solidFill>
                  <a:srgbClr val="06185F"/>
                </a:solidFill>
                <a:latin typeface="Arial" pitchFamily="34" charset="0"/>
                <a:ea typeface="Arial" pitchFamily="34" charset="-122"/>
                <a:cs typeface="Arial" pitchFamily="34" charset="-120"/>
              </a:rPr>
              <a:t>Model governance</a:t>
            </a:r>
            <a:endParaRPr lang="en-US" sz="1450" dirty="0"/>
          </a:p>
        </p:txBody>
      </p:sp>
      <p:sp>
        <p:nvSpPr>
          <p:cNvPr id="8" name="Text 6"/>
          <p:cNvSpPr/>
          <p:nvPr/>
        </p:nvSpPr>
        <p:spPr>
          <a:xfrm>
            <a:off x="1600200" y="2468880"/>
            <a:ext cx="4023360" cy="1005840"/>
          </a:xfrm>
          <a:prstGeom prst="rect">
            <a:avLst/>
          </a:prstGeom>
          <a:noFill/>
          <a:ln/>
        </p:spPr>
        <p:txBody>
          <a:bodyPr wrap="square" lIns="0" tIns="0" rIns="0" bIns="0" rtlCol="0" anchor="ctr"/>
          <a:lstStyle/>
          <a:p>
            <a:pPr marL="0" indent="0">
              <a:buNone/>
            </a:pPr>
            <a:r>
              <a:rPr lang="en-US" sz="1150" dirty="0">
                <a:solidFill>
                  <a:srgbClr val="575A5D"/>
                </a:solidFill>
                <a:latin typeface="Calibri" pitchFamily="34" charset="0"/>
                <a:ea typeface="Calibri" pitchFamily="34" charset="-122"/>
                <a:cs typeface="Calibri" pitchFamily="34" charset="-120"/>
              </a:rPr>
              <a:t>SR 11-7-aligned documentation and validation before any model touches a real member or customer</a:t>
            </a:r>
            <a:endParaRPr lang="en-US" sz="1150" dirty="0"/>
          </a:p>
        </p:txBody>
      </p:sp>
      <p:sp>
        <p:nvSpPr>
          <p:cNvPr id="9" name="Shape 7"/>
          <p:cNvSpPr/>
          <p:nvPr/>
        </p:nvSpPr>
        <p:spPr>
          <a:xfrm>
            <a:off x="6217920" y="1920240"/>
            <a:ext cx="5212080" cy="1645920"/>
          </a:xfrm>
          <a:prstGeom prst="roundRect">
            <a:avLst>
              <a:gd name="adj" fmla="val 4444"/>
            </a:avLst>
          </a:prstGeom>
          <a:solidFill>
            <a:srgbClr val="E8F7F7"/>
          </a:solidFill>
          <a:ln/>
          <a:effectLst>
            <a:outerShdw blurRad="127000" dist="38100" dir="5400000" algn="bl" rotWithShape="0">
              <a:srgbClr val="1B1F3B">
                <a:alpha val="10000"/>
              </a:srgbClr>
            </a:outerShdw>
          </a:effectLst>
        </p:spPr>
        <p:txBody>
          <a:bodyPr/>
          <a:lstStyle/>
          <a:p>
            <a:endParaRPr lang="en-US"/>
          </a:p>
        </p:txBody>
      </p:sp>
      <p:sp>
        <p:nvSpPr>
          <p:cNvPr id="10" name="Shape 8"/>
          <p:cNvSpPr/>
          <p:nvPr/>
        </p:nvSpPr>
        <p:spPr>
          <a:xfrm>
            <a:off x="6492240" y="2176272"/>
            <a:ext cx="502920" cy="502920"/>
          </a:xfrm>
          <a:prstGeom prst="ellipse">
            <a:avLst/>
          </a:prstGeom>
          <a:solidFill>
            <a:srgbClr val="085CE5"/>
          </a:solidFill>
          <a:ln/>
        </p:spPr>
        <p:txBody>
          <a:bodyPr/>
          <a:lstStyle/>
          <a:p>
            <a:endParaRPr lang="en-US"/>
          </a:p>
        </p:txBody>
      </p:sp>
      <p:sp>
        <p:nvSpPr>
          <p:cNvPr id="11" name="Shape 9"/>
          <p:cNvSpPr/>
          <p:nvPr/>
        </p:nvSpPr>
        <p:spPr>
          <a:xfrm rot="5400000">
            <a:off x="6638087" y="2346491"/>
            <a:ext cx="211226" cy="147858"/>
          </a:xfrm>
          <a:prstGeom prst="chevron">
            <a:avLst/>
          </a:prstGeom>
          <a:solidFill>
            <a:srgbClr val="FFFFFF"/>
          </a:solidFill>
          <a:ln/>
        </p:spPr>
        <p:txBody>
          <a:bodyPr/>
          <a:lstStyle/>
          <a:p>
            <a:endParaRPr lang="en-US"/>
          </a:p>
        </p:txBody>
      </p:sp>
      <p:sp>
        <p:nvSpPr>
          <p:cNvPr id="12" name="Text 10"/>
          <p:cNvSpPr/>
          <p:nvPr/>
        </p:nvSpPr>
        <p:spPr>
          <a:xfrm>
            <a:off x="7178040" y="2103120"/>
            <a:ext cx="4023360" cy="365760"/>
          </a:xfrm>
          <a:prstGeom prst="rect">
            <a:avLst/>
          </a:prstGeom>
          <a:noFill/>
          <a:ln/>
        </p:spPr>
        <p:txBody>
          <a:bodyPr wrap="square" lIns="0" tIns="0" rIns="0" bIns="0" rtlCol="0" anchor="ctr"/>
          <a:lstStyle/>
          <a:p>
            <a:pPr marL="0" indent="0">
              <a:buNone/>
            </a:pPr>
            <a:r>
              <a:rPr lang="en-US" sz="1450" b="1" dirty="0">
                <a:solidFill>
                  <a:srgbClr val="06185F"/>
                </a:solidFill>
                <a:latin typeface="Arial" pitchFamily="34" charset="0"/>
                <a:ea typeface="Arial" pitchFamily="34" charset="-122"/>
                <a:cs typeface="Arial" pitchFamily="34" charset="-120"/>
              </a:rPr>
              <a:t>Fairness &amp; bias testing</a:t>
            </a:r>
            <a:endParaRPr lang="en-US" sz="1450" dirty="0"/>
          </a:p>
        </p:txBody>
      </p:sp>
      <p:sp>
        <p:nvSpPr>
          <p:cNvPr id="13" name="Text 11"/>
          <p:cNvSpPr/>
          <p:nvPr/>
        </p:nvSpPr>
        <p:spPr>
          <a:xfrm>
            <a:off x="7178040" y="2468880"/>
            <a:ext cx="4023360" cy="1005840"/>
          </a:xfrm>
          <a:prstGeom prst="rect">
            <a:avLst/>
          </a:prstGeom>
          <a:noFill/>
          <a:ln/>
        </p:spPr>
        <p:txBody>
          <a:bodyPr wrap="square" lIns="0" tIns="0" rIns="0" bIns="0" rtlCol="0" anchor="ctr"/>
          <a:lstStyle/>
          <a:p>
            <a:pPr marL="0" indent="0">
              <a:buNone/>
            </a:pPr>
            <a:r>
              <a:rPr lang="en-US" sz="1150" dirty="0">
                <a:solidFill>
                  <a:srgbClr val="575A5D"/>
                </a:solidFill>
                <a:latin typeface="Calibri" pitchFamily="34" charset="0"/>
                <a:ea typeface="Calibri" pitchFamily="34" charset="-122"/>
                <a:cs typeface="Calibri" pitchFamily="34" charset="-120"/>
              </a:rPr>
              <a:t>Test scores and offers across protected classes — proactively, not after an exam finding</a:t>
            </a:r>
            <a:endParaRPr lang="en-US" sz="1150" dirty="0"/>
          </a:p>
        </p:txBody>
      </p:sp>
      <p:sp>
        <p:nvSpPr>
          <p:cNvPr id="14" name="Shape 12"/>
          <p:cNvSpPr/>
          <p:nvPr/>
        </p:nvSpPr>
        <p:spPr>
          <a:xfrm>
            <a:off x="640080" y="3794760"/>
            <a:ext cx="5212080" cy="1645920"/>
          </a:xfrm>
          <a:prstGeom prst="roundRect">
            <a:avLst>
              <a:gd name="adj" fmla="val 4444"/>
            </a:avLst>
          </a:prstGeom>
          <a:solidFill>
            <a:srgbClr val="E8F7F7"/>
          </a:solidFill>
          <a:ln/>
          <a:effectLst>
            <a:outerShdw blurRad="127000" dist="38100" dir="5400000" algn="bl" rotWithShape="0">
              <a:srgbClr val="1B1F3B">
                <a:alpha val="10000"/>
              </a:srgbClr>
            </a:outerShdw>
          </a:effectLst>
        </p:spPr>
        <p:txBody>
          <a:bodyPr/>
          <a:lstStyle/>
          <a:p>
            <a:endParaRPr lang="en-US"/>
          </a:p>
        </p:txBody>
      </p:sp>
      <p:sp>
        <p:nvSpPr>
          <p:cNvPr id="15" name="Shape 13"/>
          <p:cNvSpPr/>
          <p:nvPr/>
        </p:nvSpPr>
        <p:spPr>
          <a:xfrm>
            <a:off x="914400" y="4050792"/>
            <a:ext cx="502920" cy="502920"/>
          </a:xfrm>
          <a:prstGeom prst="ellipse">
            <a:avLst/>
          </a:prstGeom>
          <a:solidFill>
            <a:srgbClr val="085CE5"/>
          </a:solidFill>
          <a:ln/>
        </p:spPr>
        <p:txBody>
          <a:bodyPr/>
          <a:lstStyle/>
          <a:p>
            <a:endParaRPr lang="en-US"/>
          </a:p>
        </p:txBody>
      </p:sp>
      <p:sp>
        <p:nvSpPr>
          <p:cNvPr id="16" name="Shape 14"/>
          <p:cNvSpPr/>
          <p:nvPr/>
        </p:nvSpPr>
        <p:spPr>
          <a:xfrm rot="5400000">
            <a:off x="1077849" y="4196639"/>
            <a:ext cx="168981" cy="190104"/>
          </a:xfrm>
          <a:prstGeom prst="triangle">
            <a:avLst/>
          </a:prstGeom>
          <a:solidFill>
            <a:srgbClr val="FFFFFF"/>
          </a:solidFill>
          <a:ln/>
        </p:spPr>
        <p:txBody>
          <a:bodyPr/>
          <a:lstStyle/>
          <a:p>
            <a:endParaRPr lang="en-US"/>
          </a:p>
        </p:txBody>
      </p:sp>
      <p:sp>
        <p:nvSpPr>
          <p:cNvPr id="17" name="Text 15"/>
          <p:cNvSpPr/>
          <p:nvPr/>
        </p:nvSpPr>
        <p:spPr>
          <a:xfrm>
            <a:off x="1600200" y="3977640"/>
            <a:ext cx="4023360" cy="365760"/>
          </a:xfrm>
          <a:prstGeom prst="rect">
            <a:avLst/>
          </a:prstGeom>
          <a:noFill/>
          <a:ln/>
        </p:spPr>
        <p:txBody>
          <a:bodyPr wrap="square" lIns="0" tIns="0" rIns="0" bIns="0" rtlCol="0" anchor="ctr"/>
          <a:lstStyle/>
          <a:p>
            <a:pPr marL="0" indent="0">
              <a:buNone/>
            </a:pPr>
            <a:r>
              <a:rPr lang="en-US" sz="1450" b="1" dirty="0">
                <a:solidFill>
                  <a:srgbClr val="06185F"/>
                </a:solidFill>
                <a:latin typeface="Arial" pitchFamily="34" charset="0"/>
                <a:ea typeface="Arial" pitchFamily="34" charset="-122"/>
                <a:cs typeface="Arial" pitchFamily="34" charset="-120"/>
              </a:rPr>
              <a:t>False-positive cost</a:t>
            </a:r>
            <a:endParaRPr lang="en-US" sz="1450" dirty="0"/>
          </a:p>
        </p:txBody>
      </p:sp>
      <p:sp>
        <p:nvSpPr>
          <p:cNvPr id="18" name="Text 16"/>
          <p:cNvSpPr/>
          <p:nvPr/>
        </p:nvSpPr>
        <p:spPr>
          <a:xfrm>
            <a:off x="1600200" y="4343400"/>
            <a:ext cx="4023360" cy="1005840"/>
          </a:xfrm>
          <a:prstGeom prst="rect">
            <a:avLst/>
          </a:prstGeom>
          <a:noFill/>
          <a:ln/>
        </p:spPr>
        <p:txBody>
          <a:bodyPr wrap="square" lIns="0" tIns="0" rIns="0" bIns="0" rtlCol="0" anchor="ctr"/>
          <a:lstStyle/>
          <a:p>
            <a:pPr marL="0" indent="0">
              <a:buNone/>
            </a:pPr>
            <a:r>
              <a:rPr lang="en-US" sz="1150" dirty="0">
                <a:solidFill>
                  <a:srgbClr val="575A5D"/>
                </a:solidFill>
                <a:latin typeface="Calibri" pitchFamily="34" charset="0"/>
                <a:ea typeface="Calibri" pitchFamily="34" charset="-122"/>
                <a:cs typeface="Calibri" pitchFamily="34" charset="-120"/>
              </a:rPr>
              <a:t>A wrong churn flag wastes an RM's time; a wrong business flag can feel invasive — tune thresholds accordingly</a:t>
            </a:r>
            <a:endParaRPr lang="en-US" sz="1150" dirty="0"/>
          </a:p>
        </p:txBody>
      </p:sp>
      <p:sp>
        <p:nvSpPr>
          <p:cNvPr id="19" name="Shape 17"/>
          <p:cNvSpPr/>
          <p:nvPr/>
        </p:nvSpPr>
        <p:spPr>
          <a:xfrm>
            <a:off x="6217920" y="3794760"/>
            <a:ext cx="5212080" cy="1645920"/>
          </a:xfrm>
          <a:prstGeom prst="roundRect">
            <a:avLst>
              <a:gd name="adj" fmla="val 4444"/>
            </a:avLst>
          </a:prstGeom>
          <a:solidFill>
            <a:srgbClr val="E8F7F7"/>
          </a:solidFill>
          <a:ln/>
          <a:effectLst>
            <a:outerShdw blurRad="127000" dist="38100" dir="5400000" algn="bl" rotWithShape="0">
              <a:srgbClr val="1B1F3B">
                <a:alpha val="10000"/>
              </a:srgbClr>
            </a:outerShdw>
          </a:effectLst>
        </p:spPr>
        <p:txBody>
          <a:bodyPr/>
          <a:lstStyle/>
          <a:p>
            <a:endParaRPr lang="en-US"/>
          </a:p>
        </p:txBody>
      </p:sp>
      <p:sp>
        <p:nvSpPr>
          <p:cNvPr id="20" name="Shape 18"/>
          <p:cNvSpPr/>
          <p:nvPr/>
        </p:nvSpPr>
        <p:spPr>
          <a:xfrm>
            <a:off x="6492240" y="4050792"/>
            <a:ext cx="502920" cy="502920"/>
          </a:xfrm>
          <a:prstGeom prst="ellipse">
            <a:avLst/>
          </a:prstGeom>
          <a:solidFill>
            <a:srgbClr val="085CE5"/>
          </a:solidFill>
          <a:ln/>
        </p:spPr>
        <p:txBody>
          <a:bodyPr/>
          <a:lstStyle/>
          <a:p>
            <a:endParaRPr lang="en-US"/>
          </a:p>
        </p:txBody>
      </p:sp>
      <p:sp>
        <p:nvSpPr>
          <p:cNvPr id="21" name="Shape 19"/>
          <p:cNvSpPr/>
          <p:nvPr/>
        </p:nvSpPr>
        <p:spPr>
          <a:xfrm>
            <a:off x="6638087" y="4196639"/>
            <a:ext cx="211226" cy="211226"/>
          </a:xfrm>
          <a:prstGeom prst="ellipse">
            <a:avLst/>
          </a:prstGeom>
          <a:ln w="38100">
            <a:solidFill>
              <a:srgbClr val="FFFFFF"/>
            </a:solidFill>
            <a:prstDash val="solid"/>
          </a:ln>
        </p:spPr>
        <p:txBody>
          <a:bodyPr/>
          <a:lstStyle/>
          <a:p>
            <a:endParaRPr lang="en-US"/>
          </a:p>
        </p:txBody>
      </p:sp>
      <p:sp>
        <p:nvSpPr>
          <p:cNvPr id="22" name="Shape 20"/>
          <p:cNvSpPr/>
          <p:nvPr/>
        </p:nvSpPr>
        <p:spPr>
          <a:xfrm>
            <a:off x="6714128" y="4272680"/>
            <a:ext cx="59143" cy="59143"/>
          </a:xfrm>
          <a:prstGeom prst="ellipse">
            <a:avLst/>
          </a:prstGeom>
          <a:solidFill>
            <a:srgbClr val="FFFFFF"/>
          </a:solidFill>
          <a:ln/>
        </p:spPr>
        <p:txBody>
          <a:bodyPr/>
          <a:lstStyle/>
          <a:p>
            <a:endParaRPr lang="en-US"/>
          </a:p>
        </p:txBody>
      </p:sp>
      <p:sp>
        <p:nvSpPr>
          <p:cNvPr id="23" name="Text 21"/>
          <p:cNvSpPr/>
          <p:nvPr/>
        </p:nvSpPr>
        <p:spPr>
          <a:xfrm>
            <a:off x="7178040" y="3977640"/>
            <a:ext cx="4023360" cy="365760"/>
          </a:xfrm>
          <a:prstGeom prst="rect">
            <a:avLst/>
          </a:prstGeom>
          <a:noFill/>
          <a:ln/>
        </p:spPr>
        <p:txBody>
          <a:bodyPr wrap="square" lIns="0" tIns="0" rIns="0" bIns="0" rtlCol="0" anchor="ctr"/>
          <a:lstStyle/>
          <a:p>
            <a:pPr marL="0" indent="0">
              <a:buNone/>
            </a:pPr>
            <a:r>
              <a:rPr lang="en-US" sz="1450" b="1" dirty="0">
                <a:solidFill>
                  <a:srgbClr val="06185F"/>
                </a:solidFill>
                <a:latin typeface="Arial" pitchFamily="34" charset="0"/>
                <a:ea typeface="Arial" pitchFamily="34" charset="-122"/>
                <a:cs typeface="Arial" pitchFamily="34" charset="-120"/>
              </a:rPr>
              <a:t>Frontline adoption</a:t>
            </a:r>
            <a:endParaRPr lang="en-US" sz="1450" dirty="0"/>
          </a:p>
        </p:txBody>
      </p:sp>
      <p:sp>
        <p:nvSpPr>
          <p:cNvPr id="24" name="Text 22"/>
          <p:cNvSpPr/>
          <p:nvPr/>
        </p:nvSpPr>
        <p:spPr>
          <a:xfrm>
            <a:off x="7178040" y="4343400"/>
            <a:ext cx="4023360" cy="1005840"/>
          </a:xfrm>
          <a:prstGeom prst="rect">
            <a:avLst/>
          </a:prstGeom>
          <a:noFill/>
          <a:ln/>
        </p:spPr>
        <p:txBody>
          <a:bodyPr wrap="square" lIns="0" tIns="0" rIns="0" bIns="0" rtlCol="0" anchor="ctr"/>
          <a:lstStyle/>
          <a:p>
            <a:pPr marL="0" indent="0">
              <a:buNone/>
            </a:pPr>
            <a:r>
              <a:rPr lang="en-US" sz="1150" dirty="0">
                <a:solidFill>
                  <a:srgbClr val="575A5D"/>
                </a:solidFill>
                <a:latin typeface="Calibri" pitchFamily="34" charset="0"/>
                <a:ea typeface="Calibri" pitchFamily="34" charset="-122"/>
                <a:cs typeface="Calibri" pitchFamily="34" charset="-120"/>
              </a:rPr>
              <a:t>The best model fails if the RM doesn't trust or use the reason code — change management is part of the build</a:t>
            </a:r>
            <a:endParaRPr lang="en-US" sz="1150" dirty="0"/>
          </a:p>
        </p:txBody>
      </p:sp>
      <p:sp>
        <p:nvSpPr>
          <p:cNvPr id="25" name="Text 23"/>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900" dirty="0">
                <a:solidFill>
                  <a:srgbClr val="B6BBC0"/>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24">
    <p:bg>
      <p:bgPr>
        <a:solidFill>
          <a:srgbClr val="06185F"/>
        </a:solidFill>
        <a:effectLst/>
      </p:bgPr>
    </p:bg>
    <p:spTree>
      <p:nvGrpSpPr>
        <p:cNvPr id="1" name=""/>
        <p:cNvGrpSpPr/>
        <p:nvPr/>
      </p:nvGrpSpPr>
      <p:grpSpPr>
        <a:xfrm>
          <a:off x="0" y="0"/>
          <a:ext cx="0" cy="0"/>
          <a:chOff x="0" y="0"/>
          <a:chExt cx="0" cy="0"/>
        </a:xfrm>
      </p:grpSpPr>
      <p:sp>
        <p:nvSpPr>
          <p:cNvPr id="2" name="Shape 0"/>
          <p:cNvSpPr/>
          <p:nvPr/>
        </p:nvSpPr>
        <p:spPr>
          <a:xfrm>
            <a:off x="9082735" y="-1463040"/>
            <a:ext cx="4023360" cy="4023360"/>
          </a:xfrm>
          <a:prstGeom prst="ellipse">
            <a:avLst/>
          </a:prstGeom>
          <a:solidFill>
            <a:srgbClr val="085CE5">
              <a:alpha val="22000"/>
            </a:srgbClr>
          </a:solidFill>
          <a:ln/>
        </p:spPr>
        <p:txBody>
          <a:bodyPr/>
          <a:lstStyle/>
          <a:p>
            <a:endParaRPr lang="en-US"/>
          </a:p>
        </p:txBody>
      </p:sp>
      <p:sp>
        <p:nvSpPr>
          <p:cNvPr id="3" name="Shape 1"/>
          <p:cNvSpPr/>
          <p:nvPr/>
        </p:nvSpPr>
        <p:spPr>
          <a:xfrm>
            <a:off x="10271455" y="-548640"/>
            <a:ext cx="2377440" cy="2377440"/>
          </a:xfrm>
          <a:prstGeom prst="ellipse">
            <a:avLst/>
          </a:prstGeom>
          <a:solidFill>
            <a:srgbClr val="76DCFD">
              <a:alpha val="45000"/>
            </a:srgbClr>
          </a:solidFill>
          <a:ln/>
        </p:spPr>
        <p:txBody>
          <a:bodyPr/>
          <a:lstStyle/>
          <a:p>
            <a:endParaRPr lang="en-US"/>
          </a:p>
        </p:txBody>
      </p:sp>
      <p:sp>
        <p:nvSpPr>
          <p:cNvPr id="4" name="Text 2"/>
          <p:cNvSpPr/>
          <p:nvPr/>
        </p:nvSpPr>
        <p:spPr>
          <a:xfrm>
            <a:off x="640080" y="548640"/>
            <a:ext cx="5486400" cy="365760"/>
          </a:xfrm>
          <a:prstGeom prst="rect">
            <a:avLst/>
          </a:prstGeom>
          <a:noFill/>
          <a:ln/>
        </p:spPr>
        <p:txBody>
          <a:bodyPr wrap="square" lIns="0" tIns="0" rIns="0" bIns="0" rtlCol="0" anchor="ctr"/>
          <a:lstStyle/>
          <a:p>
            <a:pPr marL="0" indent="0">
              <a:buNone/>
            </a:pPr>
            <a:r>
              <a:rPr lang="en-US" sz="1300" b="1" kern="0" spc="200" dirty="0">
                <a:solidFill>
                  <a:srgbClr val="76DCFD"/>
                </a:solidFill>
                <a:latin typeface="Calibri" pitchFamily="34" charset="0"/>
                <a:ea typeface="Calibri" pitchFamily="34" charset="-122"/>
                <a:cs typeface="Calibri" pitchFamily="34" charset="-120"/>
              </a:rPr>
              <a:t>BRINGING IT TOGETHER</a:t>
            </a:r>
            <a:endParaRPr lang="en-US" sz="1300" dirty="0"/>
          </a:p>
        </p:txBody>
      </p:sp>
      <p:sp>
        <p:nvSpPr>
          <p:cNvPr id="5" name="Text 3"/>
          <p:cNvSpPr/>
          <p:nvPr/>
        </p:nvSpPr>
        <p:spPr>
          <a:xfrm>
            <a:off x="640080" y="914400"/>
            <a:ext cx="9601200" cy="82296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One engine. Two revenue plays.</a:t>
            </a:r>
            <a:endParaRPr lang="en-US" sz="3200" dirty="0"/>
          </a:p>
        </p:txBody>
      </p:sp>
      <p:sp>
        <p:nvSpPr>
          <p:cNvPr id="6" name="Shape 4"/>
          <p:cNvSpPr/>
          <p:nvPr/>
        </p:nvSpPr>
        <p:spPr>
          <a:xfrm>
            <a:off x="822960" y="2148840"/>
            <a:ext cx="2286000" cy="1005840"/>
          </a:xfrm>
          <a:prstGeom prst="roundRect">
            <a:avLst>
              <a:gd name="adj" fmla="val 7273"/>
            </a:avLst>
          </a:prstGeom>
          <a:solidFill>
            <a:srgbClr val="0E2470"/>
          </a:solidFill>
          <a:ln/>
        </p:spPr>
        <p:txBody>
          <a:bodyPr/>
          <a:lstStyle/>
          <a:p>
            <a:endParaRPr lang="en-US"/>
          </a:p>
        </p:txBody>
      </p:sp>
      <p:sp>
        <p:nvSpPr>
          <p:cNvPr id="7" name="Text 5"/>
          <p:cNvSpPr/>
          <p:nvPr/>
        </p:nvSpPr>
        <p:spPr>
          <a:xfrm>
            <a:off x="822960" y="2148840"/>
            <a:ext cx="2286000" cy="1005840"/>
          </a:xfrm>
          <a:prstGeom prst="rect">
            <a:avLst/>
          </a:prstGeom>
          <a:noFill/>
          <a:ln/>
        </p:spPr>
        <p:txBody>
          <a:bodyPr wrap="square" lIns="0" tIns="0" rIns="0" bIns="0" rtlCol="0" anchor="ctr"/>
          <a:lstStyle/>
          <a:p>
            <a:pPr marL="0" indent="0" algn="ctr">
              <a:buNone/>
            </a:pPr>
            <a:r>
              <a:rPr lang="en-US" sz="1800" b="1" dirty="0">
                <a:solidFill>
                  <a:srgbClr val="76DCFD"/>
                </a:solidFill>
                <a:latin typeface="Arial" pitchFamily="34" charset="0"/>
                <a:ea typeface="Arial" pitchFamily="34" charset="-122"/>
                <a:cs typeface="Arial" pitchFamily="34" charset="-120"/>
              </a:rPr>
              <a:t>Data</a:t>
            </a:r>
            <a:endParaRPr lang="en-US" sz="1800" dirty="0"/>
          </a:p>
        </p:txBody>
      </p:sp>
      <p:sp>
        <p:nvSpPr>
          <p:cNvPr id="8" name="Shape 6"/>
          <p:cNvSpPr/>
          <p:nvPr/>
        </p:nvSpPr>
        <p:spPr>
          <a:xfrm>
            <a:off x="3136392" y="2514600"/>
            <a:ext cx="274320" cy="274320"/>
          </a:xfrm>
          <a:prstGeom prst="rightArrow">
            <a:avLst/>
          </a:prstGeom>
          <a:solidFill>
            <a:srgbClr val="085CE5"/>
          </a:solidFill>
          <a:ln/>
        </p:spPr>
        <p:txBody>
          <a:bodyPr/>
          <a:lstStyle/>
          <a:p>
            <a:endParaRPr lang="en-US"/>
          </a:p>
        </p:txBody>
      </p:sp>
      <p:sp>
        <p:nvSpPr>
          <p:cNvPr id="9" name="Shape 7"/>
          <p:cNvSpPr/>
          <p:nvPr/>
        </p:nvSpPr>
        <p:spPr>
          <a:xfrm>
            <a:off x="3429000" y="2148840"/>
            <a:ext cx="2286000" cy="1005840"/>
          </a:xfrm>
          <a:prstGeom prst="roundRect">
            <a:avLst>
              <a:gd name="adj" fmla="val 7273"/>
            </a:avLst>
          </a:prstGeom>
          <a:solidFill>
            <a:srgbClr val="0E2470"/>
          </a:solidFill>
          <a:ln/>
        </p:spPr>
        <p:txBody>
          <a:bodyPr/>
          <a:lstStyle/>
          <a:p>
            <a:endParaRPr lang="en-US"/>
          </a:p>
        </p:txBody>
      </p:sp>
      <p:sp>
        <p:nvSpPr>
          <p:cNvPr id="10" name="Text 8"/>
          <p:cNvSpPr/>
          <p:nvPr/>
        </p:nvSpPr>
        <p:spPr>
          <a:xfrm>
            <a:off x="3429000" y="2148840"/>
            <a:ext cx="2286000" cy="1005840"/>
          </a:xfrm>
          <a:prstGeom prst="rect">
            <a:avLst/>
          </a:prstGeom>
          <a:noFill/>
          <a:ln/>
        </p:spPr>
        <p:txBody>
          <a:bodyPr wrap="square" lIns="0" tIns="0" rIns="0" bIns="0" rtlCol="0" anchor="ctr"/>
          <a:lstStyle/>
          <a:p>
            <a:pPr marL="0" indent="0" algn="ctr">
              <a:buNone/>
            </a:pPr>
            <a:r>
              <a:rPr lang="en-US" sz="1800" b="1" dirty="0">
                <a:solidFill>
                  <a:srgbClr val="76DCFD"/>
                </a:solidFill>
                <a:latin typeface="Arial" pitchFamily="34" charset="0"/>
                <a:ea typeface="Arial" pitchFamily="34" charset="-122"/>
                <a:cs typeface="Arial" pitchFamily="34" charset="-120"/>
              </a:rPr>
              <a:t>Detect</a:t>
            </a:r>
            <a:endParaRPr lang="en-US" sz="1800" dirty="0"/>
          </a:p>
        </p:txBody>
      </p:sp>
      <p:sp>
        <p:nvSpPr>
          <p:cNvPr id="11" name="Shape 9"/>
          <p:cNvSpPr/>
          <p:nvPr/>
        </p:nvSpPr>
        <p:spPr>
          <a:xfrm>
            <a:off x="5742432" y="2514600"/>
            <a:ext cx="274320" cy="274320"/>
          </a:xfrm>
          <a:prstGeom prst="rightArrow">
            <a:avLst/>
          </a:prstGeom>
          <a:solidFill>
            <a:srgbClr val="085CE5"/>
          </a:solidFill>
          <a:ln/>
        </p:spPr>
        <p:txBody>
          <a:bodyPr/>
          <a:lstStyle/>
          <a:p>
            <a:endParaRPr lang="en-US"/>
          </a:p>
        </p:txBody>
      </p:sp>
      <p:sp>
        <p:nvSpPr>
          <p:cNvPr id="12" name="Shape 10"/>
          <p:cNvSpPr/>
          <p:nvPr/>
        </p:nvSpPr>
        <p:spPr>
          <a:xfrm>
            <a:off x="6035040" y="2148840"/>
            <a:ext cx="2286000" cy="1005840"/>
          </a:xfrm>
          <a:prstGeom prst="roundRect">
            <a:avLst>
              <a:gd name="adj" fmla="val 7273"/>
            </a:avLst>
          </a:prstGeom>
          <a:solidFill>
            <a:srgbClr val="0E2470"/>
          </a:solidFill>
          <a:ln/>
        </p:spPr>
        <p:txBody>
          <a:bodyPr/>
          <a:lstStyle/>
          <a:p>
            <a:endParaRPr lang="en-US"/>
          </a:p>
        </p:txBody>
      </p:sp>
      <p:sp>
        <p:nvSpPr>
          <p:cNvPr id="13" name="Text 11"/>
          <p:cNvSpPr/>
          <p:nvPr/>
        </p:nvSpPr>
        <p:spPr>
          <a:xfrm>
            <a:off x="6035040" y="2148840"/>
            <a:ext cx="2286000" cy="1005840"/>
          </a:xfrm>
          <a:prstGeom prst="rect">
            <a:avLst/>
          </a:prstGeom>
          <a:noFill/>
          <a:ln/>
        </p:spPr>
        <p:txBody>
          <a:bodyPr wrap="square" lIns="0" tIns="0" rIns="0" bIns="0" rtlCol="0" anchor="ctr"/>
          <a:lstStyle/>
          <a:p>
            <a:pPr marL="0" indent="0" algn="ctr">
              <a:buNone/>
            </a:pPr>
            <a:r>
              <a:rPr lang="en-US" sz="1800" b="1" dirty="0">
                <a:solidFill>
                  <a:srgbClr val="76DCFD"/>
                </a:solidFill>
                <a:latin typeface="Arial" pitchFamily="34" charset="0"/>
                <a:ea typeface="Arial" pitchFamily="34" charset="-122"/>
                <a:cs typeface="Arial" pitchFamily="34" charset="-120"/>
              </a:rPr>
              <a:t>Explain</a:t>
            </a:r>
            <a:endParaRPr lang="en-US" sz="1800" dirty="0"/>
          </a:p>
        </p:txBody>
      </p:sp>
      <p:sp>
        <p:nvSpPr>
          <p:cNvPr id="14" name="Shape 12"/>
          <p:cNvSpPr/>
          <p:nvPr/>
        </p:nvSpPr>
        <p:spPr>
          <a:xfrm>
            <a:off x="8348472" y="2514600"/>
            <a:ext cx="274320" cy="274320"/>
          </a:xfrm>
          <a:prstGeom prst="rightArrow">
            <a:avLst/>
          </a:prstGeom>
          <a:solidFill>
            <a:srgbClr val="085CE5"/>
          </a:solidFill>
          <a:ln/>
        </p:spPr>
        <p:txBody>
          <a:bodyPr/>
          <a:lstStyle/>
          <a:p>
            <a:endParaRPr lang="en-US"/>
          </a:p>
        </p:txBody>
      </p:sp>
      <p:sp>
        <p:nvSpPr>
          <p:cNvPr id="15" name="Shape 13"/>
          <p:cNvSpPr/>
          <p:nvPr/>
        </p:nvSpPr>
        <p:spPr>
          <a:xfrm>
            <a:off x="8641080" y="2148840"/>
            <a:ext cx="2286000" cy="1005840"/>
          </a:xfrm>
          <a:prstGeom prst="roundRect">
            <a:avLst>
              <a:gd name="adj" fmla="val 7273"/>
            </a:avLst>
          </a:prstGeom>
          <a:solidFill>
            <a:srgbClr val="0E2470"/>
          </a:solidFill>
          <a:ln/>
        </p:spPr>
        <p:txBody>
          <a:bodyPr/>
          <a:lstStyle/>
          <a:p>
            <a:endParaRPr lang="en-US"/>
          </a:p>
        </p:txBody>
      </p:sp>
      <p:sp>
        <p:nvSpPr>
          <p:cNvPr id="16" name="Text 14"/>
          <p:cNvSpPr/>
          <p:nvPr/>
        </p:nvSpPr>
        <p:spPr>
          <a:xfrm>
            <a:off x="8641080" y="2148840"/>
            <a:ext cx="2286000" cy="1005840"/>
          </a:xfrm>
          <a:prstGeom prst="rect">
            <a:avLst/>
          </a:prstGeom>
          <a:noFill/>
          <a:ln/>
        </p:spPr>
        <p:txBody>
          <a:bodyPr wrap="square" lIns="0" tIns="0" rIns="0" bIns="0" rtlCol="0" anchor="ctr"/>
          <a:lstStyle/>
          <a:p>
            <a:pPr marL="0" indent="0" algn="ctr">
              <a:buNone/>
            </a:pPr>
            <a:r>
              <a:rPr lang="en-US" sz="1800" b="1" dirty="0">
                <a:solidFill>
                  <a:srgbClr val="76DCFD"/>
                </a:solidFill>
                <a:latin typeface="Arial" pitchFamily="34" charset="0"/>
                <a:ea typeface="Arial" pitchFamily="34" charset="-122"/>
                <a:cs typeface="Arial" pitchFamily="34" charset="-120"/>
              </a:rPr>
              <a:t>Act</a:t>
            </a:r>
            <a:endParaRPr lang="en-US" sz="1800" dirty="0"/>
          </a:p>
        </p:txBody>
      </p:sp>
      <p:sp>
        <p:nvSpPr>
          <p:cNvPr id="17" name="Shape 15"/>
          <p:cNvSpPr/>
          <p:nvPr/>
        </p:nvSpPr>
        <p:spPr>
          <a:xfrm>
            <a:off x="822960" y="3520440"/>
            <a:ext cx="4892040" cy="1737360"/>
          </a:xfrm>
          <a:prstGeom prst="roundRect">
            <a:avLst>
              <a:gd name="adj" fmla="val 4211"/>
            </a:avLst>
          </a:prstGeom>
          <a:solidFill>
            <a:srgbClr val="0E2470"/>
          </a:solidFill>
          <a:ln/>
          <a:effectLst>
            <a:outerShdw blurRad="127000" dist="38100" dir="5400000" algn="bl" rotWithShape="0">
              <a:srgbClr val="1B1F3B">
                <a:alpha val="10000"/>
              </a:srgbClr>
            </a:outerShdw>
          </a:effectLst>
        </p:spPr>
        <p:txBody>
          <a:bodyPr/>
          <a:lstStyle/>
          <a:p>
            <a:endParaRPr lang="en-US"/>
          </a:p>
        </p:txBody>
      </p:sp>
      <p:sp>
        <p:nvSpPr>
          <p:cNvPr id="18" name="Text 16"/>
          <p:cNvSpPr/>
          <p:nvPr/>
        </p:nvSpPr>
        <p:spPr>
          <a:xfrm>
            <a:off x="1051560" y="3657600"/>
            <a:ext cx="4480560" cy="365760"/>
          </a:xfrm>
          <a:prstGeom prst="rect">
            <a:avLst/>
          </a:prstGeom>
          <a:noFill/>
          <a:ln/>
        </p:spPr>
        <p:txBody>
          <a:bodyPr wrap="square" lIns="0" tIns="0" rIns="0" bIns="0" rtlCol="0" anchor="ctr"/>
          <a:lstStyle/>
          <a:p>
            <a:pPr marL="0" indent="0">
              <a:buNone/>
            </a:pPr>
            <a:r>
              <a:rPr lang="en-US" sz="1500" b="1" dirty="0">
                <a:solidFill>
                  <a:srgbClr val="76DCFD"/>
                </a:solidFill>
                <a:latin typeface="Arial" pitchFamily="34" charset="0"/>
                <a:ea typeface="Arial" pitchFamily="34" charset="-122"/>
                <a:cs typeface="Arial" pitchFamily="34" charset="-120"/>
              </a:rPr>
              <a:t>Churn Detection</a:t>
            </a:r>
            <a:endParaRPr lang="en-US" sz="1500" dirty="0"/>
          </a:p>
        </p:txBody>
      </p:sp>
      <p:sp>
        <p:nvSpPr>
          <p:cNvPr id="19" name="Text 17"/>
          <p:cNvSpPr/>
          <p:nvPr/>
        </p:nvSpPr>
        <p:spPr>
          <a:xfrm>
            <a:off x="1051560" y="4023360"/>
            <a:ext cx="4480560" cy="109728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Retains relationships worth 5x their acquisition cost, before the exit decision is final</a:t>
            </a:r>
            <a:endParaRPr lang="en-US" sz="1200" dirty="0"/>
          </a:p>
        </p:txBody>
      </p:sp>
      <p:sp>
        <p:nvSpPr>
          <p:cNvPr id="20" name="Shape 18"/>
          <p:cNvSpPr/>
          <p:nvPr/>
        </p:nvSpPr>
        <p:spPr>
          <a:xfrm>
            <a:off x="5897880" y="3520440"/>
            <a:ext cx="4892040" cy="1737360"/>
          </a:xfrm>
          <a:prstGeom prst="roundRect">
            <a:avLst>
              <a:gd name="adj" fmla="val 4211"/>
            </a:avLst>
          </a:prstGeom>
          <a:solidFill>
            <a:srgbClr val="0E2470"/>
          </a:solidFill>
          <a:ln/>
          <a:effectLst>
            <a:outerShdw blurRad="127000" dist="38100" dir="5400000" algn="bl" rotWithShape="0">
              <a:srgbClr val="1B1F3B">
                <a:alpha val="10000"/>
              </a:srgbClr>
            </a:outerShdw>
          </a:effectLst>
        </p:spPr>
        <p:txBody>
          <a:bodyPr/>
          <a:lstStyle/>
          <a:p>
            <a:endParaRPr lang="en-US"/>
          </a:p>
        </p:txBody>
      </p:sp>
      <p:sp>
        <p:nvSpPr>
          <p:cNvPr id="21" name="Text 19"/>
          <p:cNvSpPr/>
          <p:nvPr/>
        </p:nvSpPr>
        <p:spPr>
          <a:xfrm>
            <a:off x="6126480" y="3657600"/>
            <a:ext cx="4480560" cy="365760"/>
          </a:xfrm>
          <a:prstGeom prst="rect">
            <a:avLst/>
          </a:prstGeom>
          <a:noFill/>
          <a:ln/>
        </p:spPr>
        <p:txBody>
          <a:bodyPr wrap="square" lIns="0" tIns="0" rIns="0" bIns="0" rtlCol="0" anchor="ctr"/>
          <a:lstStyle/>
          <a:p>
            <a:pPr marL="0" indent="0">
              <a:buNone/>
            </a:pPr>
            <a:r>
              <a:rPr lang="en-US" sz="1500" b="1" dirty="0">
                <a:solidFill>
                  <a:srgbClr val="76DCFD"/>
                </a:solidFill>
                <a:latin typeface="Arial" pitchFamily="34" charset="0"/>
                <a:ea typeface="Arial" pitchFamily="34" charset="-122"/>
                <a:cs typeface="Arial" pitchFamily="34" charset="-120"/>
              </a:rPr>
              <a:t>Personal → Commercial</a:t>
            </a:r>
            <a:endParaRPr lang="en-US" sz="1500" dirty="0"/>
          </a:p>
        </p:txBody>
      </p:sp>
      <p:sp>
        <p:nvSpPr>
          <p:cNvPr id="22" name="Text 20"/>
          <p:cNvSpPr/>
          <p:nvPr/>
        </p:nvSpPr>
        <p:spPr>
          <a:xfrm>
            <a:off x="6126480" y="4023360"/>
            <a:ext cx="4480560" cy="109728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Converts hidden businesses into full commercial relationships, ahead of the competition</a:t>
            </a:r>
            <a:endParaRPr lang="en-US" sz="1200" dirty="0"/>
          </a:p>
        </p:txBody>
      </p:sp>
      <p:sp>
        <p:nvSpPr>
          <p:cNvPr id="23" name="Text 21"/>
          <p:cNvSpPr/>
          <p:nvPr/>
        </p:nvSpPr>
        <p:spPr>
          <a:xfrm>
            <a:off x="822960" y="5440680"/>
            <a:ext cx="9966960" cy="548640"/>
          </a:xfrm>
          <a:prstGeom prst="rect">
            <a:avLst/>
          </a:prstGeom>
          <a:noFill/>
          <a:ln/>
        </p:spPr>
        <p:txBody>
          <a:bodyPr wrap="square" lIns="0" tIns="0" rIns="0" bIns="0" rtlCol="0" anchor="ctr"/>
          <a:lstStyle/>
          <a:p>
            <a:pPr marL="0" indent="0">
              <a:buNone/>
            </a:pPr>
            <a:r>
              <a:rPr lang="en-US" sz="1350" i="1" dirty="0">
                <a:solidFill>
                  <a:srgbClr val="FFFFFF"/>
                </a:solidFill>
                <a:latin typeface="Calibri" pitchFamily="34" charset="0"/>
                <a:ea typeface="Calibri" pitchFamily="34" charset="-122"/>
                <a:cs typeface="Calibri" pitchFamily="34" charset="-120"/>
              </a:rPr>
              <a:t>Same data pipeline. Same explainability layer. Same offer-optimization engine. Two very different revenue outcomes.</a:t>
            </a:r>
            <a:endParaRPr lang="en-US" sz="1350" dirty="0"/>
          </a:p>
        </p:txBody>
      </p:sp>
      <p:sp>
        <p:nvSpPr>
          <p:cNvPr id="24" name="Text 22"/>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900" dirty="0">
                <a:solidFill>
                  <a:srgbClr val="B6BBC0"/>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26">
    <p:bg>
      <p:bgPr>
        <a:solidFill>
          <a:srgbClr val="06185F"/>
        </a:solidFill>
        <a:effectLst/>
      </p:bgPr>
    </p:bg>
    <p:spTree>
      <p:nvGrpSpPr>
        <p:cNvPr id="1" name=""/>
        <p:cNvGrpSpPr/>
        <p:nvPr/>
      </p:nvGrpSpPr>
      <p:grpSpPr>
        <a:xfrm>
          <a:off x="0" y="0"/>
          <a:ext cx="0" cy="0"/>
          <a:chOff x="0" y="0"/>
          <a:chExt cx="0" cy="0"/>
        </a:xfrm>
      </p:grpSpPr>
      <p:sp>
        <p:nvSpPr>
          <p:cNvPr id="2" name="Shape 0"/>
          <p:cNvSpPr/>
          <p:nvPr/>
        </p:nvSpPr>
        <p:spPr>
          <a:xfrm>
            <a:off x="9082735" y="-1463040"/>
            <a:ext cx="4023360" cy="4023360"/>
          </a:xfrm>
          <a:prstGeom prst="ellipse">
            <a:avLst/>
          </a:prstGeom>
          <a:solidFill>
            <a:srgbClr val="085CE5">
              <a:alpha val="22000"/>
            </a:srgbClr>
          </a:solidFill>
          <a:ln/>
        </p:spPr>
        <p:txBody>
          <a:bodyPr/>
          <a:lstStyle/>
          <a:p>
            <a:endParaRPr lang="en-US"/>
          </a:p>
        </p:txBody>
      </p:sp>
      <p:sp>
        <p:nvSpPr>
          <p:cNvPr id="3" name="Shape 1"/>
          <p:cNvSpPr/>
          <p:nvPr/>
        </p:nvSpPr>
        <p:spPr>
          <a:xfrm>
            <a:off x="10271455" y="-548640"/>
            <a:ext cx="2377440" cy="2377440"/>
          </a:xfrm>
          <a:prstGeom prst="ellipse">
            <a:avLst/>
          </a:prstGeom>
          <a:solidFill>
            <a:srgbClr val="76DCFD">
              <a:alpha val="45000"/>
            </a:srgbClr>
          </a:solidFill>
          <a:ln/>
        </p:spPr>
        <p:txBody>
          <a:bodyPr/>
          <a:lstStyle/>
          <a:p>
            <a:endParaRPr lang="en-US"/>
          </a:p>
        </p:txBody>
      </p:sp>
      <p:sp>
        <p:nvSpPr>
          <p:cNvPr id="4" name="Text 2"/>
          <p:cNvSpPr/>
          <p:nvPr/>
        </p:nvSpPr>
        <p:spPr>
          <a:xfrm>
            <a:off x="640080" y="2468880"/>
            <a:ext cx="7315200" cy="914400"/>
          </a:xfrm>
          <a:prstGeom prst="rect">
            <a:avLst/>
          </a:prstGeom>
          <a:noFill/>
          <a:ln/>
        </p:spPr>
        <p:txBody>
          <a:bodyPr wrap="square" lIns="0" tIns="0" rIns="0" bIns="0" rtlCol="0" anchor="ctr"/>
          <a:lstStyle/>
          <a:p>
            <a:pPr marL="0" indent="0">
              <a:buNone/>
            </a:pPr>
            <a:r>
              <a:rPr lang="en-US" sz="4200" b="1" dirty="0">
                <a:solidFill>
                  <a:srgbClr val="FFFFFF"/>
                </a:solidFill>
                <a:latin typeface="Arial" pitchFamily="34" charset="0"/>
                <a:ea typeface="Arial" pitchFamily="34" charset="-122"/>
                <a:cs typeface="Arial" pitchFamily="34" charset="-120"/>
              </a:rPr>
              <a:t>Thank you</a:t>
            </a:r>
            <a:endParaRPr lang="en-US" sz="4200" dirty="0"/>
          </a:p>
        </p:txBody>
      </p:sp>
      <p:sp>
        <p:nvSpPr>
          <p:cNvPr id="5" name="Text 3"/>
          <p:cNvSpPr/>
          <p:nvPr/>
        </p:nvSpPr>
        <p:spPr>
          <a:xfrm>
            <a:off x="640080" y="3337560"/>
            <a:ext cx="8229600" cy="548640"/>
          </a:xfrm>
          <a:prstGeom prst="rect">
            <a:avLst/>
          </a:prstGeom>
          <a:noFill/>
          <a:ln/>
        </p:spPr>
        <p:txBody>
          <a:bodyPr wrap="square" lIns="0" tIns="0" rIns="0" bIns="0" rtlCol="0" anchor="ctr"/>
          <a:lstStyle/>
          <a:p>
            <a:pPr marL="0" indent="0">
              <a:buNone/>
            </a:pPr>
            <a:r>
              <a:rPr lang="en-US" sz="1500" i="1" dirty="0">
                <a:solidFill>
                  <a:srgbClr val="76DCFD"/>
                </a:solidFill>
                <a:latin typeface="Calibri" pitchFamily="34" charset="0"/>
                <a:ea typeface="Calibri" pitchFamily="34" charset="-122"/>
                <a:cs typeface="Calibri" pitchFamily="34" charset="-120"/>
              </a:rPr>
              <a:t>Unlocking Revenue with Data Science: Turning Intelligence into Growth</a:t>
            </a:r>
            <a:endParaRPr lang="en-US" sz="1500" dirty="0"/>
          </a:p>
        </p:txBody>
      </p:sp>
      <p:sp>
        <p:nvSpPr>
          <p:cNvPr id="6" name="Shape 4"/>
          <p:cNvSpPr/>
          <p:nvPr/>
        </p:nvSpPr>
        <p:spPr>
          <a:xfrm>
            <a:off x="658368" y="4069080"/>
            <a:ext cx="2011680" cy="0"/>
          </a:xfrm>
          <a:prstGeom prst="line">
            <a:avLst/>
          </a:prstGeom>
          <a:noFill/>
          <a:ln w="38100">
            <a:solidFill>
              <a:srgbClr val="085CE5"/>
            </a:solidFill>
            <a:prstDash val="solid"/>
          </a:ln>
        </p:spPr>
        <p:txBody>
          <a:bodyPr/>
          <a:lstStyle/>
          <a:p>
            <a:endParaRPr lang="en-US"/>
          </a:p>
        </p:txBody>
      </p:sp>
      <p:sp>
        <p:nvSpPr>
          <p:cNvPr id="7" name="Text 5"/>
          <p:cNvSpPr/>
          <p:nvPr/>
        </p:nvSpPr>
        <p:spPr>
          <a:xfrm>
            <a:off x="640080" y="4297680"/>
            <a:ext cx="457200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Mike Ames</a:t>
            </a:r>
            <a:endParaRPr lang="en-US" sz="1300" dirty="0"/>
          </a:p>
        </p:txBody>
      </p:sp>
      <p:sp>
        <p:nvSpPr>
          <p:cNvPr id="8" name="Text 6"/>
          <p:cNvSpPr/>
          <p:nvPr/>
        </p:nvSpPr>
        <p:spPr>
          <a:xfrm>
            <a:off x="640080" y="4617720"/>
            <a:ext cx="4572000" cy="274320"/>
          </a:xfrm>
          <a:prstGeom prst="rect">
            <a:avLst/>
          </a:prstGeom>
          <a:noFill/>
          <a:ln/>
        </p:spPr>
        <p:txBody>
          <a:bodyPr wrap="square" lIns="0" tIns="0" rIns="0" bIns="0" rtlCol="0" anchor="ctr"/>
          <a:lstStyle/>
          <a:p>
            <a:pPr marL="0" indent="0">
              <a:buNone/>
            </a:pPr>
            <a:r>
              <a:rPr lang="en-US" sz="1100" dirty="0">
                <a:solidFill>
                  <a:srgbClr val="B6BBC0"/>
                </a:solidFill>
                <a:latin typeface="Calibri" pitchFamily="34" charset="0"/>
                <a:ea typeface="Calibri" pitchFamily="34" charset="-122"/>
                <a:cs typeface="Calibri" pitchFamily="34" charset="-120"/>
              </a:rPr>
              <a:t>mames@jackhenry.com</a:t>
            </a:r>
            <a:endParaRPr lang="en-US" sz="1100" dirty="0"/>
          </a:p>
        </p:txBody>
      </p:sp>
      <p:sp>
        <p:nvSpPr>
          <p:cNvPr id="9" name="Text 7"/>
          <p:cNvSpPr/>
          <p:nvPr/>
        </p:nvSpPr>
        <p:spPr>
          <a:xfrm>
            <a:off x="640080" y="5120640"/>
            <a:ext cx="4572000" cy="320040"/>
          </a:xfrm>
          <a:prstGeom prst="rect">
            <a:avLst/>
          </a:prstGeom>
          <a:noFill/>
          <a:ln/>
        </p:spPr>
        <p:txBody>
          <a:bodyPr wrap="square" lIns="0" tIns="0" rIns="0" bIns="0" rtlCol="0" anchor="ctr"/>
          <a:lstStyle/>
          <a:p>
            <a:pPr marL="0" indent="0">
              <a:buNone/>
            </a:pPr>
            <a:r>
              <a:rPr lang="en-US" sz="1300" i="1" dirty="0">
                <a:solidFill>
                  <a:srgbClr val="CADCFC"/>
                </a:solidFill>
                <a:latin typeface="Calibri" pitchFamily="34" charset="0"/>
                <a:ea typeface="Calibri" pitchFamily="34" charset="-122"/>
                <a:cs typeface="Calibri" pitchFamily="34" charset="-120"/>
              </a:rPr>
              <a:t>Questions &amp; discussion</a:t>
            </a:r>
            <a:endParaRPr lang="en-US" sz="1300" dirty="0"/>
          </a:p>
        </p:txBody>
      </p:sp>
      <p:sp>
        <p:nvSpPr>
          <p:cNvPr id="10" name="Text 8"/>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900" dirty="0">
                <a:solidFill>
                  <a:srgbClr val="B6BBC0"/>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5230</Words>
  <Application>Microsoft Macintosh PowerPoint</Application>
  <PresentationFormat>Widescreen</PresentationFormat>
  <Paragraphs>510</Paragraphs>
  <Slides>37</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37</vt:i4>
      </vt:variant>
    </vt:vector>
  </HeadingPairs>
  <TitlesOfParts>
    <vt:vector size="41"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Unlocking Revenue with Data Science</dc:title>
  <dc:subject>PptxGenJS Presentation</dc:subject>
  <dc:creator>Mike Ames</dc:creator>
  <cp:lastModifiedBy>Mike Ames</cp:lastModifiedBy>
  <cp:revision>2</cp:revision>
  <dcterms:created xsi:type="dcterms:W3CDTF">2026-07-08T15:11:45Z</dcterms:created>
  <dcterms:modified xsi:type="dcterms:W3CDTF">2026-07-13T15:19:00Z</dcterms:modified>
</cp:coreProperties>
</file>