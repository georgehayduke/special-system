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1188720"/>
            <a:ext cx="1371600" cy="640080"/>
          </a:xfrm>
          <a:prstGeom prst="line">
            <a:avLst/>
          </a:prstGeom>
          <a:noFill/>
          <a:ln w="12700">
            <a:solidFill>
              <a:srgbClr val="8FAEE0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1188720"/>
            <a:ext cx="548640" cy="1188720"/>
          </a:xfrm>
          <a:prstGeom prst="line">
            <a:avLst/>
          </a:prstGeom>
          <a:noFill/>
          <a:ln w="12700">
            <a:solidFill>
              <a:srgbClr val="8FAEE0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0" y="1828800"/>
            <a:ext cx="457200" cy="1280160"/>
          </a:xfrm>
          <a:prstGeom prst="line">
            <a:avLst/>
          </a:prstGeom>
          <a:noFill/>
          <a:ln w="12700">
            <a:solidFill>
              <a:srgbClr val="8FAEE0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0" y="2377440"/>
            <a:ext cx="365760" cy="1463040"/>
          </a:xfrm>
          <a:prstGeom prst="line">
            <a:avLst/>
          </a:prstGeom>
          <a:noFill/>
          <a:ln w="12700">
            <a:solidFill>
              <a:srgbClr val="8FAEE0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0" y="3108960"/>
            <a:ext cx="914400" cy="1097280"/>
          </a:xfrm>
          <a:prstGeom prst="line">
            <a:avLst/>
          </a:prstGeom>
          <a:noFill/>
          <a:ln w="12700">
            <a:solidFill>
              <a:srgbClr val="8FAEE0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0" y="3840480"/>
            <a:ext cx="731520" cy="914400"/>
          </a:xfrm>
          <a:prstGeom prst="line">
            <a:avLst/>
          </a:prstGeom>
          <a:noFill/>
          <a:ln w="12700">
            <a:solidFill>
              <a:srgbClr val="8FAEE0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0" y="3108960"/>
            <a:ext cx="1828800" cy="1645920"/>
          </a:xfrm>
          <a:prstGeom prst="line">
            <a:avLst/>
          </a:prstGeom>
          <a:noFill/>
          <a:ln w="12700">
            <a:solidFill>
              <a:srgbClr val="8FAEE0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0" y="4206240"/>
            <a:ext cx="1097280" cy="1097280"/>
          </a:xfrm>
          <a:prstGeom prst="line">
            <a:avLst/>
          </a:prstGeom>
          <a:noFill/>
          <a:ln w="12700">
            <a:solidFill>
              <a:srgbClr val="8FAEE0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3840480"/>
            <a:ext cx="914400" cy="1463040"/>
          </a:xfrm>
          <a:prstGeom prst="line">
            <a:avLst/>
          </a:prstGeom>
          <a:noFill/>
          <a:ln w="12700">
            <a:solidFill>
              <a:srgbClr val="8FAEE0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53728" y="1115568"/>
            <a:ext cx="146304" cy="146304"/>
          </a:xfrm>
          <a:prstGeom prst="ellipse">
            <a:avLst/>
          </a:prstGeom>
          <a:solidFill>
            <a:srgbClr val="CADCFC">
              <a:alpha val="7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625328" y="1755648"/>
            <a:ext cx="146304" cy="146304"/>
          </a:xfrm>
          <a:prstGeom prst="ellipse">
            <a:avLst/>
          </a:prstGeom>
          <a:solidFill>
            <a:srgbClr val="CADCFC">
              <a:alpha val="7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705088" y="2304288"/>
            <a:ext cx="146304" cy="146304"/>
          </a:xfrm>
          <a:prstGeom prst="ellipse">
            <a:avLst/>
          </a:prstGeom>
          <a:solidFill>
            <a:srgbClr val="CADCFC">
              <a:alpha val="7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168128" y="3035808"/>
            <a:ext cx="146304" cy="146304"/>
          </a:xfrm>
          <a:prstGeom prst="ellipse">
            <a:avLst/>
          </a:prstGeom>
          <a:solidFill>
            <a:srgbClr val="CADCFC">
              <a:alpha val="7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070848" y="3767328"/>
            <a:ext cx="146304" cy="146304"/>
          </a:xfrm>
          <a:prstGeom prst="ellipse">
            <a:avLst/>
          </a:prstGeom>
          <a:solidFill>
            <a:srgbClr val="CADCFC">
              <a:alpha val="7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082528" y="4133088"/>
            <a:ext cx="146304" cy="146304"/>
          </a:xfrm>
          <a:prstGeom prst="ellipse">
            <a:avLst/>
          </a:prstGeom>
          <a:solidFill>
            <a:srgbClr val="CADCFC">
              <a:alpha val="7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339328" y="4681728"/>
            <a:ext cx="146304" cy="146304"/>
          </a:xfrm>
          <a:prstGeom prst="ellipse">
            <a:avLst/>
          </a:prstGeom>
          <a:solidFill>
            <a:srgbClr val="CADCFC">
              <a:alpha val="7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985248" y="5230368"/>
            <a:ext cx="146304" cy="146304"/>
          </a:xfrm>
          <a:prstGeom prst="ellipse">
            <a:avLst/>
          </a:prstGeom>
          <a:solidFill>
            <a:srgbClr val="CADCFC">
              <a:alpha val="7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103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A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LEGAL STRATEGY BRIEFING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251460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network effect advantage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640080" y="3703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Cross-institution data, AI &amp; ML products at Jack Henry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40080" y="6126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17,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untapped, multi-institution data asset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383280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4884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21%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U.S. community banks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97680" y="1920240"/>
            <a:ext cx="3383280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0" y="214884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12%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297680" y="31546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credit unions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0" y="1920240"/>
            <a:ext cx="3383280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0" y="214884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1,000s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8046720" y="31546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payments clients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4297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institution sees enough data to build this alone. </a:t>
            </a:r>
            <a:pPr indent="0" marL="0">
              <a:buNone/>
            </a:pPr>
            <a:r>
              <a:rPr lang="en-US" sz="18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sit across thousands of them, simultaneously.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data lake is table stakes. The network effect is the moat.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4297680"/>
            <a:ext cx="7863840" cy="1005840"/>
          </a:xfrm>
          <a:prstGeom prst="roundRect">
            <a:avLst>
              <a:gd name="adj" fmla="val 5455"/>
            </a:avLst>
          </a:prstGeom>
          <a:solidFill>
            <a:srgbClr val="E7EDF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4434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Cross-institution data lake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4800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stakes for any multi-institution processor at our scale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51960" y="3657600"/>
            <a:ext cx="457200" cy="548640"/>
          </a:xfrm>
          <a:prstGeom prst="upArrow">
            <a:avLst/>
          </a:prstGeom>
          <a:solidFill>
            <a:srgbClr val="8FAEE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011680"/>
            <a:ext cx="7863840" cy="1463040"/>
          </a:xfrm>
          <a:prstGeom prst="roundRect">
            <a:avLst>
              <a:gd name="adj" fmla="val 3750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240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products built on the network effect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22960" y="2697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the advantage compounds — and where we differentiate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778240" y="2011680"/>
            <a:ext cx="2880360" cy="3291840"/>
          </a:xfrm>
          <a:prstGeom prst="roundRect">
            <a:avLst>
              <a:gd name="adj" fmla="val 2540"/>
            </a:avLst>
          </a:prstGeom>
          <a:solidFill>
            <a:srgbClr val="F4F6FB"/>
          </a:solidFill>
          <a:ln/>
        </p:spPr>
      </p:sp>
      <p:sp>
        <p:nvSpPr>
          <p:cNvPr id="12" name="Text 10"/>
          <p:cNvSpPr/>
          <p:nvPr/>
        </p:nvSpPr>
        <p:spPr>
          <a:xfrm>
            <a:off x="9006840" y="2286000"/>
            <a:ext cx="2423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institutions in the pool → richer patterns → better models → more institutions want in.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DE-RISK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rules, applied to every product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91640" y="194767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derived outputs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691640" y="235000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Scores, insights, and indices leave — raw PII never does.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2918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291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91640" y="327355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 keeps the relationship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691640" y="367588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institution controls its own customer relationship and data.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6177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617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459943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stay a processing service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691640" y="500176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independent data controller, furnisher, or reseller.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INTAKE FRAMEWORK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simple way to evaluate every new idea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66160" cy="3840480"/>
          </a:xfrm>
          <a:prstGeom prst="roundRect">
            <a:avLst>
              <a:gd name="adj" fmla="val 2051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94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Aggregated / statistical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&amp; indices — no single FI or consumer is exposed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1920240"/>
            <a:ext cx="3566160" cy="3840480"/>
          </a:xfrm>
          <a:prstGeom prst="roundRect">
            <a:avLst>
              <a:gd name="adj" fmla="val 2051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4709160" y="2194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09160" y="26060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FI-specific score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709160" y="352044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Churn, fraud, risk scores — delivered only to the supplying FI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321040" y="1920240"/>
            <a:ext cx="3566160" cy="3840480"/>
          </a:xfrm>
          <a:prstGeom prst="roundRect">
            <a:avLst>
              <a:gd name="adj" fmla="val 2051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595360" y="2194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595360" y="26060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Individual identity data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595360" y="352044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 identity resolution — highest inherent risk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increases left to right — governance requirements scale with it.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UNLOCKS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products the network effect makes possible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2402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45920" y="222199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&amp; indices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Cross-institution performance benchmarks no single FI could build.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80760" y="196596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6355080" y="22402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78040" y="222199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&amp; risk signals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55080" y="292608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invisible to any one institution — mule rings, bad actors.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3891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45920" y="437083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&amp; growth scores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2960" y="507492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scores delivered back to the FI that owns the data.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80760" y="411480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6355080" y="43891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78040" y="437083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resolution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355080" y="507492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Match-confidence across the network for fraud prevention and KYC.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DON'T 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lines we don't cross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166360" cy="3108960"/>
          </a:xfrm>
          <a:prstGeom prst="roundRect">
            <a:avLst>
              <a:gd name="adj" fmla="val 2353"/>
            </a:avLst>
          </a:prstGeom>
          <a:solidFill>
            <a:srgbClr val="F3E1E3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331720"/>
            <a:ext cx="594360" cy="594360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331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237744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decisioning (FCRA)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200400"/>
            <a:ext cx="4526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 is used, marketed, or contractually permitted as a factor in a credit, insurance, or eligibility decision about a specific consumer.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80760" y="2011680"/>
            <a:ext cx="5166360" cy="3108960"/>
          </a:xfrm>
          <a:prstGeom prst="roundRect">
            <a:avLst>
              <a:gd name="adj" fmla="val 2353"/>
            </a:avLst>
          </a:prstGeom>
          <a:solidFill>
            <a:srgbClr val="F3E1E3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2331720"/>
            <a:ext cx="594360" cy="594360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331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78040" y="237744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decisions (EEOC)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0" y="3200400"/>
            <a:ext cx="4526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 touches hiring, promotion, termination, or other employment decisions — even as algorithmic guidance has become a named enforcement priority.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5440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only hold if they're contractual — not just a design intention.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ACTUALLY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transaction to score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9468" y="265176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860908" y="265176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671420" y="3145536"/>
            <a:ext cx="265176" cy="201168"/>
          </a:xfrm>
          <a:prstGeom prst="rightArrow">
            <a:avLst/>
          </a:prstGeom>
          <a:solidFill>
            <a:srgbClr val="8FAEE0"/>
          </a:solidFill>
          <a:ln/>
        </p:spPr>
      </p:sp>
      <p:sp>
        <p:nvSpPr>
          <p:cNvPr id="7" name="Shape 5"/>
          <p:cNvSpPr/>
          <p:nvPr/>
        </p:nvSpPr>
        <p:spPr>
          <a:xfrm>
            <a:off x="2964028" y="265176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/>
        </p:spPr>
      </p:sp>
      <p:sp>
        <p:nvSpPr>
          <p:cNvPr id="8" name="Text 6"/>
          <p:cNvSpPr/>
          <p:nvPr/>
        </p:nvSpPr>
        <p:spPr>
          <a:xfrm>
            <a:off x="3055468" y="265176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(pretrained)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865980" y="3145536"/>
            <a:ext cx="265176" cy="201168"/>
          </a:xfrm>
          <a:prstGeom prst="rightArrow">
            <a:avLst/>
          </a:prstGeom>
          <a:solidFill>
            <a:srgbClr val="8FAEE0"/>
          </a:solidFill>
          <a:ln/>
        </p:spPr>
      </p:sp>
      <p:sp>
        <p:nvSpPr>
          <p:cNvPr id="10" name="Shape 8"/>
          <p:cNvSpPr/>
          <p:nvPr/>
        </p:nvSpPr>
        <p:spPr>
          <a:xfrm>
            <a:off x="5158588" y="265176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/>
        </p:spPr>
      </p:sp>
      <p:sp>
        <p:nvSpPr>
          <p:cNvPr id="11" name="Text 9"/>
          <p:cNvSpPr/>
          <p:nvPr/>
        </p:nvSpPr>
        <p:spPr>
          <a:xfrm>
            <a:off x="5250028" y="265176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Per-customer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060540" y="3145536"/>
            <a:ext cx="265176" cy="201168"/>
          </a:xfrm>
          <a:prstGeom prst="rightArrow">
            <a:avLst/>
          </a:prstGeom>
          <a:solidFill>
            <a:srgbClr val="8FAEE0"/>
          </a:solidFill>
          <a:ln/>
        </p:spPr>
      </p:sp>
      <p:sp>
        <p:nvSpPr>
          <p:cNvPr id="13" name="Shape 11"/>
          <p:cNvSpPr/>
          <p:nvPr/>
        </p:nvSpPr>
        <p:spPr>
          <a:xfrm>
            <a:off x="7353148" y="265176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/>
        </p:spPr>
      </p:sp>
      <p:sp>
        <p:nvSpPr>
          <p:cNvPr id="14" name="Text 12"/>
          <p:cNvSpPr/>
          <p:nvPr/>
        </p:nvSpPr>
        <p:spPr>
          <a:xfrm>
            <a:off x="7444588" y="265176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/ XGBoost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AutoGluon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255100" y="3145536"/>
            <a:ext cx="265176" cy="201168"/>
          </a:xfrm>
          <a:prstGeom prst="rightArrow">
            <a:avLst/>
          </a:prstGeom>
          <a:solidFill>
            <a:srgbClr val="8FAEE0"/>
          </a:solidFill>
          <a:ln/>
        </p:spPr>
      </p:sp>
      <p:sp>
        <p:nvSpPr>
          <p:cNvPr id="16" name="Shape 14"/>
          <p:cNvSpPr/>
          <p:nvPr/>
        </p:nvSpPr>
        <p:spPr>
          <a:xfrm>
            <a:off x="9547708" y="265176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9639148" y="265176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delivered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FI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44805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institutions in the pretraining pool → richer embeddings → better downstream scores, across every use case in one pass.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 used by Nubank, Stripe, Visa, Mastercard, and Revolut, and now available as an open NVIDIA reference architecture.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competitive window is open now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166360" cy="3657600"/>
          </a:xfrm>
          <a:prstGeom prst="roundRect">
            <a:avLst>
              <a:gd name="adj" fmla="val 2000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28600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 &amp; Fiserv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2926080"/>
            <a:ext cx="4526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Racing on agentic copilots layered over existing infrastructure — FIS with Anthropic (financial-crimes agent), Fiserv with OpenAI. Neither has published a shared, cross-institution transaction-embedding model.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80760" y="2011680"/>
            <a:ext cx="5166360" cy="3657600"/>
          </a:xfrm>
          <a:prstGeom prst="roundRect">
            <a:avLst>
              <a:gd name="adj" fmla="val 2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228600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Henry's opening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00800" y="2926080"/>
            <a:ext cx="4526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across thousands of genuinely independent institutions — the exact condition a network-effect foundation model needs, and a data pool neither competitor has at this scale.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EXPLAINABILITY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by design, not just accurate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4206240" cy="3657600"/>
          </a:xfrm>
          <a:prstGeom prst="roundRect">
            <a:avLst>
              <a:gd name="adj" fmla="val 2000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behavior score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2377440" y="2880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/100 • better than 68% of peers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reliability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0" y="3593592"/>
            <a:ext cx="1645920" cy="146304"/>
          </a:xfrm>
          <a:prstGeom prst="roundRect">
            <a:avLst/>
          </a:prstGeom>
          <a:solidFill>
            <a:srgbClr val="E3E7F0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0" y="3593592"/>
            <a:ext cx="1399032" cy="146304"/>
          </a:xfrm>
          <a:prstGeom prst="roundRect">
            <a:avLst/>
          </a:prstGeom>
          <a:solidFill>
            <a:srgbClr val="1D9E75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 stability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0" y="4050792"/>
            <a:ext cx="1645920" cy="146304"/>
          </a:xfrm>
          <a:prstGeom prst="roundRect">
            <a:avLst/>
          </a:prstGeom>
          <a:solidFill>
            <a:srgbClr val="E3E7F0"/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0" y="4050792"/>
            <a:ext cx="987552" cy="146304"/>
          </a:xfrm>
          <a:prstGeom prst="roundRect">
            <a:avLst/>
          </a:prstGeom>
          <a:solidFill>
            <a:srgbClr val="1D9E75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480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momentum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0" y="4507992"/>
            <a:ext cx="1645920" cy="146304"/>
          </a:xfrm>
          <a:prstGeom prst="roundRect">
            <a:avLst/>
          </a:prstGeom>
          <a:solidFill>
            <a:srgbClr val="E3E7F0"/>
          </a:solidFill>
          <a:ln/>
        </p:spPr>
      </p:sp>
      <p:sp>
        <p:nvSpPr>
          <p:cNvPr id="16" name="Shape 14"/>
          <p:cNvSpPr/>
          <p:nvPr/>
        </p:nvSpPr>
        <p:spPr>
          <a:xfrm>
            <a:off x="2743200" y="4507992"/>
            <a:ext cx="576072" cy="146304"/>
          </a:xfrm>
          <a:prstGeom prst="roundRect">
            <a:avLst/>
          </a:prstGeom>
          <a:solidFill>
            <a:srgbClr val="D85A30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210312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1 — Shapley scorecards: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an already-trained CatBoost/XGBoost model in an additive, points-based scorecard using Shapley values.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120640" y="356616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2 — Concept models: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model to predict named, human-meaningful factors directly — supports genuine what-if interventions, not just explanations.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things to move this forward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98424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sign-off on the tier framework and the credit/employment guardrails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94436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language that binds FI clients to the purpose limits, not just us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3931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390448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governance answer on treating embeddings as an internal-only asset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4892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892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8646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DS pilot on fraud/risk signals — the clearest network-effect win first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1024128"/>
            <a:ext cx="146304" cy="146304"/>
          </a:xfrm>
          <a:prstGeom prst="ellipse">
            <a:avLst/>
          </a:prstGeom>
          <a:solidFill>
            <a:srgbClr val="CADCFC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029968" y="1572768"/>
            <a:ext cx="146304" cy="146304"/>
          </a:xfrm>
          <a:prstGeom prst="ellipse">
            <a:avLst/>
          </a:prstGeom>
          <a:solidFill>
            <a:srgbClr val="CADCFC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75488" y="2212848"/>
            <a:ext cx="146304" cy="146304"/>
          </a:xfrm>
          <a:prstGeom prst="ellipse">
            <a:avLst/>
          </a:prstGeom>
          <a:solidFill>
            <a:srgbClr val="CADCFC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572768" y="2852928"/>
            <a:ext cx="146304" cy="146304"/>
          </a:xfrm>
          <a:prstGeom prst="ellipse">
            <a:avLst/>
          </a:prstGeom>
          <a:solidFill>
            <a:srgbClr val="CADCFC">
              <a:alpha val="7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A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 on the operating principle.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Greenlight one pilot.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4114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in 30 / 60 / 90 days.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2026-07-17T15:34:56Z</dcterms:created>
  <dcterms:modified xsi:type="dcterms:W3CDTF">2026-07-17T15:34:56Z</dcterms:modified>
</cp:coreProperties>
</file>